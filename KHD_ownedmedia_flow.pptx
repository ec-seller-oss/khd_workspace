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2B2B2B"/>
                </a:solidFill>
                <a:latin typeface="ヒラギノ角ゴシック W6"/>
              </a:rPr>
              <a:t>KHD オウンドメディア構築の流れ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AA2E26"/>
                </a:solidFill>
                <a:latin typeface="ヒラギノ角ゴシック W3"/>
              </a:rPr>
              <a:t>医療 × 不動産 × AI ／ 1ソース→各SNS→HP集約 の連動設計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A817A"/>
                </a:solidFill>
                <a:latin typeface="ヒラギノ角ゴシック W3"/>
              </a:rPr>
              <a:t>2026-06-05 時点サマリー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B2B"/>
                </a:solidFill>
                <a:latin typeface="ヒラギノ角ゴシック W6"/>
              </a:rPr>
              <a:t>① 全体像：オウンドメディアOS（連動図）</a:t>
            </a:r>
          </a:p>
        </p:txBody>
      </p:sp>
      <p:pic>
        <p:nvPicPr>
          <p:cNvPr id="5" name="Picture 4" descr="ownedmedia_hubsp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143000"/>
            <a:ext cx="9103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B2B"/>
                </a:solidFill>
                <a:latin typeface="ヒラギノ角ゴシック W6"/>
              </a:rPr>
              <a:t>② 顔＝HP（最も集客効果が高い『受け皿』）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・全SNSが集まる常設の受け皿。ゴール逆算では一番大事＝ここを先に立てる。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・参考HP＝gocinc.jp（ヒーロー→実績→信頼→Founder→SNS実績→Contact）をKHDに写像。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・中身は完成済（実行A）：FVコピー／3ブロック（共感→解決→信頼）／2段CTA。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・出口①医師＝診療圏ミニ診断（無料フォーム・設問も作成済）／②仲間＝スモビジサロン。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・残り＝site_v3への流し込み（菊池の手番）＋Googleフォーム作成。← 次の最優先。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B2B"/>
                </a:solidFill>
                <a:latin typeface="ヒラギノ角ゴシック W6"/>
              </a:rPr>
              <a:t>③ 運用組織（回すのはAI、人は判断のみ）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・SNSチーム：企画→原稿→制作→投稿→振り返り（外部マニュアルをKHD実装）。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・YouTube制作ワークフロー：編集本体は人、前後（タイトル/サムネ/字幕/切り抜き）をAI。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・役割：Director=菊池／Creator=AI＋レビュー／Analyst=AI＋秘書（1人運用→将来5人）。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・週次フロー：月=企画→火=原稿→水=制作→木=投稿→金=振り返り（午後のメディア枠）。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・中核信条：売り込まずGIVE。誇大・煽りは人が必ず止める。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B2B"/>
                </a:solidFill>
                <a:latin typeface="ヒラギノ角ゴシック W6"/>
              </a:rPr>
              <a:t>④ 器（毎週回るNotion DB・実体化済）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・📋 コンテンツ企画・投稿カレンダーDB：テーマ/媒体/優先度/CTA/状態/公開予定日。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  ビュー3つ＝テーブル／パイプライン（状態別ボード）／投稿カレンダー。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・📊 週次振り返りログDB：表示/クリック/ミニ診断申込/サロン問合せ→勝ち3・改善3・来週企画。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・初期投入済：第1ソース（進行中）＋今週のX企画10本（未着手）＝弾が装填された状態。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・全部🕸️全体連動図ページからリンクで辿れる（Notion検索で繋がる）。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2B2B"/>
                </a:solidFill>
                <a:latin typeface="ヒラギノ角ゴシック W6"/>
              </a:rPr>
              <a:t>⑤ コンテンツ実例＝1ソースが図3点・4媒体に（イメージ）</a:t>
            </a:r>
          </a:p>
        </p:txBody>
      </p:sp>
      <p:pic>
        <p:nvPicPr>
          <p:cNvPr id="5" name="Picture 4" descr="shinryoken_demo_01_st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3703320" cy="20831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3703320"/>
            <a:ext cx="3703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ヒラギノ角ゴシック W3"/>
              </a:rPr>
              <a:t>図1：受療率の積み上げ→約21人/日</a:t>
            </a:r>
          </a:p>
        </p:txBody>
      </p:sp>
      <p:pic>
        <p:nvPicPr>
          <p:cNvPr id="7" name="Picture 6" descr="shinryoken_demo_02_compet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371600"/>
            <a:ext cx="3703320" cy="20831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79392" y="3703320"/>
            <a:ext cx="3703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ヒラギノ角ゴシック W3"/>
              </a:rPr>
              <a:t>図2：競合按分 21→4〜6人/日</a:t>
            </a:r>
          </a:p>
        </p:txBody>
      </p:sp>
      <p:pic>
        <p:nvPicPr>
          <p:cNvPr id="9" name="Picture 8" descr="shinryoken_demo_03_3ax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1371600"/>
            <a:ext cx="3703320" cy="208311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47304" y="3703320"/>
            <a:ext cx="3703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ヒラギノ角ゴシック W3"/>
              </a:rPr>
              <a:t>図A：立地を数字で見る3軸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A817A"/>
                </a:solidFill>
                <a:latin typeface="ヒラギノ角ゴシック W3"/>
              </a:rPr>
              <a:t>第1ソース「診療圏調査」＝Xスレ5連／note長文／YouTube絵コンテ／デモ画像2点。</a:t>
            </a:r>
          </a:p>
          <a:p>
            <a:pPr algn="l"/>
            <a:r>
              <a:rPr sz="1600" b="0">
                <a:solidFill>
                  <a:srgbClr val="8A817A"/>
                </a:solidFill>
                <a:latin typeface="ヒラギノ角ゴシック W3"/>
              </a:rPr>
              <a:t>第2ソース「腕より立地」＝X5連／note800字／YouTube台本／HP一言＋図A。媒体ごとに別ネタを作らない＝工数1/4。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B2B"/>
                </a:solidFill>
                <a:latin typeface="ヒラギノ角ゴシック W6"/>
              </a:rPr>
              <a:t>⑥ 現在地と次の一手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A2E26"/>
                </a:solidFill>
                <a:latin typeface="ヒラギノ角ゴシック W6"/>
              </a:rPr>
              <a:t>■ できた（設計→組織→器→中身まで通電）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B2B2B"/>
                </a:solidFill>
                <a:latin typeface="ヒラギノ角ゴシック W3"/>
              </a:rPr>
              <a:t>・連動図／SNSチーム／YouTubeワークフロー／HPコピー／ミニ診断設問／DB2本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B2B2B"/>
                </a:solidFill>
                <a:latin typeface="ヒラギノ角ゴシック W3"/>
              </a:rPr>
              <a:t>・第1・第2ソースの素材（テキスト4媒体＋図3点）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A2E26"/>
                </a:solidFill>
                <a:latin typeface="ヒラギノ角ゴシック W6"/>
              </a:rPr>
              <a:t>■ 残り（受け皿＝最優先）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B2B2B"/>
                </a:solidFill>
                <a:latin typeface="ヒラギノ角ゴシック W3"/>
              </a:rPr>
              <a:t>・HP（site_v3）流し込み＋Googleフォーム作成＝送客の受け皿を立てる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B2B2B"/>
                </a:solidFill>
                <a:latin typeface="ヒラギノ角ゴシック W3"/>
              </a:rPr>
              <a:t>・X下書き保存（ログイン要）／図の手動添付／福井OK／公開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B2B2B"/>
                </a:solidFill>
                <a:latin typeface="ヒラギノ角ゴシック W6"/>
              </a:rPr>
              <a:t>→ 次の最優先＝あなたの逆算どおり「HPの受け皿」を立てる（フォーム作成＋流し込み手順）。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
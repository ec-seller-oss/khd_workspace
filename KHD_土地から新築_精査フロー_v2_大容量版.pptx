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73152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9F6EF"/>
                </a:solidFill>
                <a:latin typeface="Hiragino Kaku Gothic ProN"/>
              </a:rPr>
              <a:t>KHD 03 / 土地から新築　社内学習資産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Hiragino Kaku Gothic ProN"/>
              </a:rPr>
              <a:t>「土地から新築」精査フロー　大容量版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9F6EF"/>
                </a:solidFill>
                <a:latin typeface="Hiragino Kaku Gothic ProN"/>
              </a:rPr>
              <a:t>マイソク1枚から「何階・何造・何戸・粗利」を自分で叩く再現パイプライン</a:t>
            </a:r>
          </a:p>
          <a:p>
            <a:pPr algn="l"/>
            <a:r>
              <a:rPr sz="2100" b="0">
                <a:solidFill>
                  <a:srgbClr val="F9F6EF"/>
                </a:solidFill>
                <a:latin typeface="Hiragino Kaku Gothic ProN"/>
              </a:rPr>
              <a:t>＋ 実例14回から抽出した“数字の当て方”カタログ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605C"/>
                </a:solidFill>
                <a:latin typeface="Hiragino Kaku Gothic ProN"/>
              </a:rPr>
              <a:t>菊池研太 / 図版は全てKHD自作の模式図（建築基準法・自治体条例の一般原則を図解）。第三者有料教材の複製は含まない。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HOW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3つの資産を使い分ける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6118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11880" cy="6858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iragino Kaku Gothic ProN"/>
              </a:rPr>
              <a:t>① 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法規のタテ軸＋方法のヨコ軸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611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ボリューム検討マスター/実例メソッド要点ノート（Notion）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6118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611880" cy="6858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iragino Kaku Gothic ProN"/>
              </a:rPr>
              <a:t>② カタログ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83464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実例14回の“当て方”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57600"/>
            <a:ext cx="3611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実例Vol.1〜14 要点集（Notion）。似た条件の回を引く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6118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920240"/>
            <a:ext cx="3611880" cy="6858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iragino Kaku Gothic ProN"/>
              </a:rPr>
              <a:t>③ ツール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マイソク→当たり自動算出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57600"/>
            <a:ext cx="3611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land_screening_pipeline.py（5ステップを即出力）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2A28"/>
                </a:solidFill>
                <a:latin typeface="Hiragino Kaku Gothic ProN"/>
              </a:rPr>
              <a:t>▶ ①②で「何が建つか」を当て、ツールで一次足切り → ③KPIゲートで「儲かるか」を判定 → 専門家へ。</a:t>
            </a:r>
          </a:p>
          <a:p>
            <a:pPr algn="l"/>
            <a:r>
              <a:rPr sz="1500" b="1">
                <a:solidFill>
                  <a:srgbClr val="332A28"/>
                </a:solidFill>
                <a:latin typeface="Hiragino Kaku Gothic ProN"/>
              </a:rPr>
              <a:t>   収益判断（土地値・粗利・CF）は投資家＝KHD側の領域。建築士は建築精度の領域。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全体像：マイソク → ボリューム → 仕入判断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121408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1214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敷地を読む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用途/建蔽/容積</a:t>
            </a:r>
          </a:p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防火指定/斜線/日影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28346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Hiragino Kaku Gothic ProN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01168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1216" y="2011680"/>
            <a:ext cx="2121408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2011680"/>
            <a:ext cx="21214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278892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駐車場を先に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338328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建物より先に</a:t>
            </a:r>
          </a:p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台数と配置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8346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Hiragino Kaku Gothic ProN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201168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02352" y="2011680"/>
            <a:ext cx="2121408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011680"/>
            <a:ext cx="21214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78892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建築可能範囲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38328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斜線・離隔・</a:t>
            </a:r>
          </a:p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通路で外形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8346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Hiragino Kaku Gothic ProN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3488" y="201168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33488" y="2011680"/>
            <a:ext cx="2121408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011680"/>
            <a:ext cx="21214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78892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構造3択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338328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木造200㎡→木三共</a:t>
            </a:r>
          </a:p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→耐火木造→RC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8346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Hiragino Kaku Gothic ProN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64624" y="201168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64624" y="2011680"/>
            <a:ext cx="2121408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4624" y="2011680"/>
            <a:ext cx="21214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278892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戸数を絞る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338328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単純割り算を</a:t>
            </a:r>
          </a:p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信じない(×0.75)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▶ 毎回同じ順で回す。特に②駐車場先行と⑤現実戸数を崩さない。</a:t>
            </a:r>
          </a:p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▶ 出力＝「3階／木三共 or 耐火木造／約◯戸」→ 加工費・出口価格で粗利試算へ接続。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KEY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全14回で繰り返し出た再現パターン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92024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法定上限をそのまま信じない（狭小地は斜線・通路・採光で必ず削られる）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9232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999232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200㎡未満は“魔法のライン”：木三共A/B制約が外れ、バルコニー不要＋屋内階段＋45分準耐火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78224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8224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078224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078224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容積率は「指定 vs 道路幅員×係数(住居0.4/非住居0.6)」の小さい方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57216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57216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157216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157216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旗竿地の容積は竿幅でなく“接道する建基法上の道路幅”で算定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KEY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全14回で繰り返し出た再現パターン 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92024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日影で高さ確保しやすい順：①北側接道 ②東西に短い ③東西に長い＝多くNG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9232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999232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駐車場は建物より先・道路に直角配置で「車路(シャロ)」を作らない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78224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8224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078224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078224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竿4m以上の旗竿地は防火避難規定が外れ木三共が建つ＝安く拾える狙い目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57216"/>
            <a:ext cx="457200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57216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157216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157216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戸数増の定石：長屋×共同住宅併用／40㎡超はカウント外／3階有効範囲の精算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建築可能範囲の4要素（KHD自作模式図）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5120640" cy="3657600"/>
          </a:xfrm>
          <a:prstGeom prst="roundRect">
            <a:avLst/>
          </a:prstGeom>
          <a:solidFill>
            <a:srgbClr val="EFE9DD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5852160"/>
            <a:ext cx="5120640" cy="457200"/>
          </a:xfrm>
          <a:prstGeom prst="round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前面道路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97280" y="2194560"/>
            <a:ext cx="2011680" cy="3657600"/>
          </a:xfrm>
          <a:prstGeom prst="bentConnector3">
            <a:avLst/>
          </a:prstGeom>
          <a:ln w="31750">
            <a:solidFill>
              <a:srgbClr val="AA2E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80160" y="4389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2E26"/>
                </a:solidFill>
                <a:latin typeface="Hiragino Kaku Gothic ProN"/>
              </a:rPr>
              <a:t>道路斜線(幅員×1.25/1.5)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0" y="2194560"/>
            <a:ext cx="1463040" cy="1188720"/>
          </a:xfrm>
          <a:prstGeom prst="bentConnector3">
            <a:avLst/>
          </a:prstGeom>
          <a:ln w="31750">
            <a:solidFill>
              <a:srgbClr val="2A6E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6240" y="2148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A6EA0"/>
                </a:solidFill>
                <a:latin typeface="Hiragino Kaku Gothic ProN"/>
              </a:rPr>
              <a:t>北側斜線/高度地区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560320"/>
            <a:ext cx="4389120" cy="2926080"/>
          </a:xfrm>
          <a:prstGeom prst="roundRect">
            <a:avLst/>
          </a:prstGeom>
          <a:noFill/>
          <a:ln w="1270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651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2A28"/>
                </a:solidFill>
                <a:latin typeface="Hiragino Kaku Gothic ProN"/>
              </a:rPr>
              <a:t>隣地離隔 0.6m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Kaku Gothic ProN"/>
              </a:rPr>
              <a:t>建築可能範囲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2A28"/>
                </a:solidFill>
                <a:latin typeface="Hiragino Kaku Gothic ProN"/>
              </a:rPr>
              <a:t>4要素を引き算して外形を出す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① 道路斜線：幅員×1.25(住居)/1.5(非住居)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② 北側斜線/高度地区：北側を削る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③ 隣地離隔：約0.5〜0.6m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④ 敷地内通路2.1m/窓先空地（条例）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949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※天空率を使うと道路斜線が緩和され、セットバックは概算0.7〜0.8掛けに短縮できる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「延床200㎡未満」の効能（KHD自作模式図）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937760" cy="640080"/>
          </a:xfrm>
          <a:prstGeom prst="roundRect">
            <a:avLst/>
          </a:prstGeom>
          <a:solidFill>
            <a:srgbClr val="6B6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延床 200㎡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× バルコニー2㎡が必須（専有が痩せる）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× 屋内階段にできない（セキュリティ弱）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68496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× 60分準耐火（外壁コスト高）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35424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× 木三共は条件A/Bの充足が必要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4937760" cy="6400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延床 200㎡ 未満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◎ バルコニー不要 → 専有面積に回せる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015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◎ 屋内階段OK（セキュリティUP）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68496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◎ 45分準耐火（外壁仕様の選択肢増）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35424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◎ 木三共A/B制約が外れ配置自由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2A28"/>
                </a:solidFill>
                <a:latin typeface="Hiragino Kaku Gothic ProN"/>
              </a:rPr>
              <a:t>▶ 狭小地は「なるべく多く」でなく「200㎡の壁を超えないギリギリ」で容積参入面積を最大化する（板橋Vol.14の最適解）。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木三共：条件A/B マトリクス（200㎡超で必要）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条件Aから1つ＋条件Bから1つを満たすと、200㎡超でも木造3階を「準耐火」で建てられる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28016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280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条件A①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286000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避難上有効なバルコニー2㎡以上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64408"/>
            <a:ext cx="128016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1280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条件A②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264408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264408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共用廊下・階段を開放（屋外階段）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42816"/>
            <a:ext cx="128016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42816"/>
            <a:ext cx="1280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条件B③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242816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4242816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居室開口の外壁面から3m離隔（道路面除く）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21224"/>
            <a:ext cx="128016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21224"/>
            <a:ext cx="1280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条件B④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221224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5221224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共用廊下・階段を開放（屋外階段）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286000"/>
            <a:ext cx="5029200" cy="3657600"/>
          </a:xfrm>
          <a:prstGeom prst="roundRect">
            <a:avLst/>
          </a:prstGeom>
          <a:solidFill>
            <a:srgbClr val="F1E6E4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屋内階段にできるのは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7180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AA2E26"/>
                </a:solidFill>
                <a:latin typeface="Hiragino Kaku Gothic ProN"/>
              </a:rPr>
              <a:t>A① ＋ B③ の組合せのみ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49039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＝ バルコニーあり＋居室窓は道路側のみ。</a:t>
            </a:r>
          </a:p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それ以外はA②/B④の開放階段（踊り場2㎡以上を屋外開放→外周配置）で住戸自由度が落ちる。</a:t>
            </a:r>
          </a:p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/>
            </a:r>
          </a:p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→ 1フロア3戸かつ全室道路側は厳しい。</a:t>
            </a:r>
          </a:p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　だから狭小地は200㎡未満で組む方が強い。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日影規制：高さを確保しやすい敷地の順（KHD自作模式図）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40280" y="2331720"/>
            <a:ext cx="640080" cy="640080"/>
          </a:xfrm>
          <a:prstGeom prst="ellipse">
            <a:avLst/>
          </a:prstGeom>
          <a:solidFill>
            <a:srgbClr val="E0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20" y="3200400"/>
            <a:ext cx="1371600" cy="1005840"/>
          </a:xfrm>
          <a:prstGeom prst="roundRect">
            <a:avLst/>
          </a:prstGeom>
          <a:solidFill>
            <a:srgbClr val="CFDDE3"/>
          </a:solidFill>
          <a:ln w="1270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4343400"/>
            <a:ext cx="2377440" cy="228600"/>
          </a:xfrm>
          <a:prstGeom prst="round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315968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332A28"/>
                </a:solidFill>
                <a:latin typeface="Hiragino Kaku Gothic ProN"/>
              </a:rPr>
              <a:t>道路(北)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Kaku Gothic ProN"/>
              </a:rPr>
              <a:t>① 北側接道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32A28"/>
                </a:solidFill>
                <a:latin typeface="Hiragino Kaku Gothic ProN"/>
              </a:rPr>
              <a:t>◎ 最有利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03120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331720"/>
            <a:ext cx="640080" cy="640080"/>
          </a:xfrm>
          <a:prstGeom prst="ellipse">
            <a:avLst/>
          </a:prstGeom>
          <a:solidFill>
            <a:srgbClr val="E0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3200400"/>
            <a:ext cx="1371600" cy="1005840"/>
          </a:xfrm>
          <a:prstGeom prst="roundRect">
            <a:avLst/>
          </a:prstGeom>
          <a:solidFill>
            <a:srgbClr val="CFDDE3"/>
          </a:solidFill>
          <a:ln w="1270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031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Kaku Gothic ProN"/>
              </a:rPr>
              <a:t>② 東西に短い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6177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32A28"/>
                </a:solidFill>
                <a:latin typeface="Hiragino Kaku Gothic ProN"/>
              </a:rPr>
              <a:t>○ 有利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103120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46920" y="2331720"/>
            <a:ext cx="640080" cy="640080"/>
          </a:xfrm>
          <a:prstGeom prst="ellipse">
            <a:avLst/>
          </a:prstGeom>
          <a:solidFill>
            <a:srgbClr val="E0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0" y="3291840"/>
            <a:ext cx="2377440" cy="731520"/>
          </a:xfrm>
          <a:prstGeom prst="roundRect">
            <a:avLst/>
          </a:prstGeom>
          <a:solidFill>
            <a:srgbClr val="CFDDE3"/>
          </a:solidFill>
          <a:ln w="1270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Kaku Gothic ProN"/>
              </a:rPr>
              <a:t>③ 東西に長い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177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32A28"/>
                </a:solidFill>
                <a:latin typeface="Hiragino Kaku Gothic ProN"/>
              </a:rPr>
              <a:t>× 多くNG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2A28"/>
                </a:solidFill>
                <a:latin typeface="Hiragino Kaku Gothic ProN"/>
              </a:rPr>
              <a:t>▶ 10m基準は実質“緩和”（9.9mでも日影NGが出る敷地は多い）。北側接道でないなら半地下/盛土で高さ10m未満に抑える。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駐車場：直角配置で「車路」を作らない（KHD自作模式図）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605C"/>
                </a:solidFill>
                <a:latin typeface="Hiragino Kaku Gothic ProN"/>
              </a:rPr>
              <a:t>× NG：縦列・斜め → 車路(シャロ)が建物を圧迫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49377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1828800" cy="2743200"/>
          </a:xfrm>
          <a:prstGeom prst="roundRect">
            <a:avLst/>
          </a:prstGeom>
          <a:solidFill>
            <a:srgbClr val="DDCFA0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2A28"/>
                </a:solidFill>
                <a:latin typeface="Hiragino Kaku Gothic ProN"/>
              </a:rPr>
              <a:t>車路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560320"/>
            <a:ext cx="2286000" cy="73152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429000"/>
            <a:ext cx="2286000" cy="73152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42900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297680"/>
            <a:ext cx="2286000" cy="73152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429768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◎ OK：道路に直角 → 道路を切り返しに使う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86000"/>
            <a:ext cx="49377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2560320"/>
            <a:ext cx="960120" cy="182880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29184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560320"/>
            <a:ext cx="960120" cy="182880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29184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560320"/>
            <a:ext cx="960120" cy="182880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329184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560320"/>
            <a:ext cx="960120" cy="1828800"/>
          </a:xfrm>
          <a:prstGeom prst="roundRect">
            <a:avLst/>
          </a:prstGeom>
          <a:solidFill>
            <a:srgbClr val="CFDDE3"/>
          </a:solidFill>
          <a:ln w="10160">
            <a:solidFill>
              <a:srgbClr val="33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29184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2000"/>
            <a:ext cx="4937760" cy="411480"/>
          </a:xfrm>
          <a:prstGeom prst="round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7200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幅6m以上の道路（切り返しに使う）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3原則：①道路に直角 ②幅6m以上の道路に面して ③有効奥行5m×幅2.3m死守（寸法は自治体）。ピロティ車庫は構造体で実2.8〜3.0m要。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旗竿地：竿幅員で建つものが決まる（KHD自作模式図）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91840" cy="2377440"/>
          </a:xfrm>
          <a:prstGeom prst="roundRect">
            <a:avLst/>
          </a:prstGeom>
          <a:solidFill>
            <a:srgbClr val="EFE9DD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94560" y="4572000"/>
            <a:ext cx="731520" cy="1188720"/>
          </a:xfrm>
          <a:prstGeom prst="roundRect">
            <a:avLst/>
          </a:prstGeom>
          <a:solidFill>
            <a:srgbClr val="DDCFA0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2A28"/>
                </a:solidFill>
                <a:latin typeface="Hiragino Kaku Gothic ProN"/>
              </a:rPr>
              <a:t>竿(路地状)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3291840" cy="365760"/>
          </a:xfrm>
          <a:prstGeom prst="round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332A28"/>
                </a:solidFill>
                <a:latin typeface="Hiragino Kaku Gothic ProN"/>
              </a:rPr>
              <a:t>道路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103120"/>
            <a:ext cx="2011680" cy="640080"/>
          </a:xfrm>
          <a:prstGeom prst="roundRect">
            <a:avLst/>
          </a:prstGeom>
          <a:solidFill>
            <a:srgbClr val="332A28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0" y="2103120"/>
            <a:ext cx="4572000" cy="640080"/>
          </a:xfrm>
          <a:prstGeom prst="roundRect">
            <a:avLst/>
          </a:prstGeom>
          <a:solidFill>
            <a:srgbClr val="332A28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Kaku Gothic ProN"/>
              </a:rPr>
              <a:t>竿幅員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iragino Kaku Gothic ProN"/>
              </a:rPr>
              <a:t>建てられるもの（目安）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76148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2761488"/>
            <a:ext cx="457200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761488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2A28"/>
                </a:solidFill>
                <a:latin typeface="Hiragino Kaku Gothic ProN"/>
              </a:rPr>
              <a:t>2m未満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61488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建築不可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19856"/>
            <a:ext cx="201168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0" y="3419856"/>
            <a:ext cx="457200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419856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2A28"/>
                </a:solidFill>
                <a:latin typeface="Hiragino Kaku Gothic ProN"/>
              </a:rPr>
              <a:t>2〜3m未満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19856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竿長15m以下（横浜例）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078224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4078224"/>
            <a:ext cx="457200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07822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2A28"/>
                </a:solidFill>
                <a:latin typeface="Hiragino Kaku Gothic ProN"/>
              </a:rPr>
              <a:t>3m以上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078224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2A28"/>
                </a:solidFill>
                <a:latin typeface="Hiragino Kaku Gothic ProN"/>
              </a:rPr>
              <a:t>竿長25mまで（横浜例）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736592"/>
            <a:ext cx="2011680" cy="640080"/>
          </a:xfrm>
          <a:prstGeom prst="roundRect">
            <a:avLst/>
          </a:prstGeom>
          <a:solidFill>
            <a:srgbClr val="F1E6E4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0" y="4736592"/>
            <a:ext cx="4572000" cy="640080"/>
          </a:xfrm>
          <a:prstGeom prst="roundRect">
            <a:avLst/>
          </a:prstGeom>
          <a:solidFill>
            <a:srgbClr val="F1E6E4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73659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4m以上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736592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防火避難規定が外れ木三共OK＝狙い目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※容積率は竿幅でなく“接道する建基法上の道路幅”で算定。旗竿か否かは地域条例で変わる（要確認）。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東京都足立区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答え：耐火木造3階 12戸（延床258.99㎡）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住居系・日影測定面4m・東西に長い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単純割り算は裏切られる→日影で4階不可。RCはコスパ悪・木三共は延床伸びず→耐火木造3階が最適解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東京都新宿区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200㎡未満 9戸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第2種高度地区・ワンルーム条例10戸以上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200㎡未満の3効能＝バルコニー不要/屋内階段/45分準耐火。200㎡超は専有がむしろ痩せる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東京都大田区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答え：RC壁式 半地下4階 14戸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奥行深い東西長・日影測定面6.5m・指定容積400%優先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半地下で建物高さ9.9m&lt;10mに抑え日影規制を回避し4階を成立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東京都新宿区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答え：木造耐火3階 8戸（容積算定200㎡未満）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接道4m未満・前面道路容積273%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接道長さの罠＝200㎡以下共同住宅は4m未満でも可だが3階以下が必須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神奈川県横浜市(旗竿)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答え：木造2階 8戸（共同5+長屋3）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竿4m未満・共住100㎡未満/長屋3戸/2階以下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共同住宅と長屋の併用で戸数を捻出。旗竿は参入障壁＝狙い目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神奈川県横浜市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9戸（延床175.68㎡）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二方向避難(市条例6条)200㎡未満0.9m/以上2.0m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わずか4.5㎡差で必要敷地が約1.5倍。200㎡未満で必要敷地が激減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東京都中野区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200㎡未満 8戸（→9戸も）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北側接道でない・ワンルーム3階かつ12戸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全斜線・通路・離隔後の「3階有効範囲」を精算し200㎡÷3階が収まれば1戸増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東京都世田谷区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答え：壁式RC4階 16戸（長屋2+共同14）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西側接道・第3種高度・複合制約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日影は北側接道&gt;東西短い&gt;東西長い。天空率でSB0.7〜0.8掛け。40㎡超はカウント外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東京都豊島区(旗竿)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重層長屋 9戸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竿接道・容積は道路幅で算定160%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容積は竿幅でなく道路幅で算定。重層長屋は3300mm開口幅が何個入るか。区で扱い差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東京都足立区(旗竿)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200㎡未満 6戸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竿4m以上・旗竿の正確な理解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竿4m以上は防火避難規定が外れ木三共OK＝他人がスルーする安く拾える狙い目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東京都世田谷区(旗竿)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答え：重層長屋 8戸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路地状4m未満は3階共同住宅不可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法的採光の工夫で建物幅3300→2700mmに縮め6戸→8戸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北海道札幌市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答え：壁式RC4階 19戸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駐車場義務・建蔽100%・2面道路12m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駐車場は道路に直角で車路なし。1階1区画を駐車場+通路に充て上階すっきり。北海道は盛土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岐阜県岐阜市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答え：木三共 3層 15戸（延床502.8㎡）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大型645㎡・法22条建蔽60%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大型でも手順同じ。駐車場先行で8→15台。道路斜線vs木三共8.2mでSB0.28m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実例カタログ　Vol.14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東京都板橋区(L字)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8686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答え：木三200㎡未満 9戸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88920"/>
            <a:ext cx="8961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準工業・複合制約・建蔽70%・指定200%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794760"/>
            <a:ext cx="8961120" cy="1371600"/>
          </a:xfrm>
          <a:prstGeom prst="roundRect">
            <a:avLst/>
          </a:prstGeom>
          <a:solidFill>
            <a:srgbClr val="F1E6E4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8686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通路位置が階段→構造要件→延床に連鎖。3案比較は「容積参入面積＋コスト」で判断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72800" cy="8686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B605C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KHD 仕入KPIゲート（玉川式・辛口基準）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※わん流＝建築ボリューム精度／KHD＝収益判定。役割が違う。当たりが出たらこのゲートで足切り。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017520" cy="603504"/>
          </a:xfrm>
          <a:prstGeom prst="roundRect">
            <a:avLst/>
          </a:prstGeom>
          <a:solidFill>
            <a:srgbClr val="332A28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2194560"/>
            <a:ext cx="2194560" cy="603504"/>
          </a:xfrm>
          <a:prstGeom prst="roundRect">
            <a:avLst/>
          </a:prstGeom>
          <a:solidFill>
            <a:srgbClr val="332A28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" y="2194560"/>
            <a:ext cx="5669280" cy="603504"/>
          </a:xfrm>
          <a:prstGeom prst="roundRect">
            <a:avLst/>
          </a:prstGeom>
          <a:solidFill>
            <a:srgbClr val="332A28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Kaku Gothic ProN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Kaku Gothic ProN"/>
              </a:rPr>
              <a:t>基準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194560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N"/>
              </a:rPr>
              <a:t>意味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98064"/>
            <a:ext cx="301752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798064"/>
            <a:ext cx="219456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0" y="2798064"/>
            <a:ext cx="566928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98064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土地値割合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98064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0.4以上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798064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路線価×面積÷仕入。担保価値の最低ライン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01568"/>
            <a:ext cx="3017520" cy="603504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3401568"/>
            <a:ext cx="2194560" cy="603504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2160" y="3401568"/>
            <a:ext cx="5669280" cy="603504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01568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粗利率(キャピタル)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01568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20%以上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401568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粗利益÷売上予定額。1人デベの主軸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05072"/>
            <a:ext cx="301752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0" y="4005072"/>
            <a:ext cx="219456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0" y="4005072"/>
            <a:ext cx="566928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05072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CF率(保有時)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05072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1.5〜2.0%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005072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税引前CF÷購入価格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08576"/>
            <a:ext cx="3017520" cy="603504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0" y="4608576"/>
            <a:ext cx="2194560" cy="603504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52160" y="4608576"/>
            <a:ext cx="5669280" cy="603504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608576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CCR(保有時)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608576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15〜20%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608576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税引前CF÷自己資金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212080"/>
            <a:ext cx="301752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0" y="5212080"/>
            <a:ext cx="219456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52160" y="5212080"/>
            <a:ext cx="5669280" cy="6035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212080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再建築・接道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212080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可/要確認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212080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再建不可は出口限定。越境・共有も現調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371600"/>
            <a:ext cx="12191695" cy="73152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A2E26"/>
                </a:solidFill>
                <a:latin typeface="Hiragino Kaku Gothic ProN"/>
              </a:rPr>
              <a:t>確認作業フロー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iragino Kaku Gothic ProN"/>
              </a:rPr>
              <a:t>実物件1件で回す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① マイソクの数値を land_screening_pipeline.py に入れる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    → 「3階／木三共 or 耐火木造／約◯戸」の当たりを出す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/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② 実例Vol要点集で似た条件の回を引いて照合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    → 旗竿なら竿幅、駐車場ありなら直角配置、狭小なら200㎡未満…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/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③ KPIゲートで収益判定（土地値0.4／粗利20%）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    → 通れば建築士・自治体で正式確認へ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Kaku Gothic ProN"/>
              </a:rPr>
              <a:t>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32A28"/>
                </a:solidFill>
                <a:latin typeface="Hiragino Kaku Gothic ProN"/>
              </a:rPr>
              <a:t>本デッキの位置づけ（出典・権利）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828800" cy="4572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・本デッキは菊池研太が「土地から新築」の仕入判断を自走するために、建築基準法・各自治体条例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  という公知の法令の一般的な考え方を、自分の言葉とワークフローに落とし込んだKHDの社内資産です。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/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・図版はすべてKHDが自作した模式図であり、特定の有料教材の本文・図面・スクリーンショットの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  複製は一切含みません。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/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・学びの土台として「わん1級建築士塾」(@taka5588) の有料記事を課金会員として参照しましたが、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  本デッキはその要点を抽象化・再構成した学習成果であり、再配布・自社コンテンツ転用はしません。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/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・「▢ プレースホルダ」には、菊池自身が権利を持つ自社物件（栄町・船橋等）のマイソク・写真・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  自作ボリューム図のみを差し込んでください。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
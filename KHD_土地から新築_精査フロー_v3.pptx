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39B4E"/>
                </a:solidFill>
                <a:latin typeface="Hiragino Kaku Gothic ProN"/>
              </a:rPr>
              <a:t>KHD 03 ｜ 土地から新築 ｜ 社内学習資産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424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>
                <a:solidFill>
                  <a:srgbClr val="FFFFFF"/>
                </a:solidFill>
                <a:latin typeface="Hiragino Kaku Gothic ProN"/>
              </a:rPr>
              <a:t>「土地から新築」</a:t>
            </a:r>
          </a:p>
          <a:p>
            <a:pPr algn="l">
              <a:lnSpc>
                <a:spcPct val="102000"/>
              </a:lnSpc>
            </a:pPr>
            <a:r>
              <a:rPr sz="5200" b="1">
                <a:solidFill>
                  <a:srgbClr val="FFFFFF"/>
                </a:solidFill>
                <a:latin typeface="Hiragino Kaku Gothic ProN"/>
              </a:rPr>
              <a:t>精査フロー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78992" y="4114800"/>
            <a:ext cx="2926080" cy="0"/>
          </a:xfrm>
          <a:prstGeom prst="bentConnector3">
            <a:avLst/>
          </a:prstGeom>
          <a:ln w="3810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4343400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9F6EF"/>
                </a:solidFill>
                <a:latin typeface="Hiragino Kaku Gothic ProN"/>
              </a:rPr>
              <a:t>マイソク1枚から「何階・何造・何戸・粗利」を自分で叩く再現パイプライン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F9F6EF"/>
                </a:solidFill>
                <a:latin typeface="Hiragino Kaku Gothic ProN"/>
              </a:rPr>
              <a:t>＋ 実例14回から抽出した“数字の当て方”カタログ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715000"/>
            <a:ext cx="2468880" cy="457200"/>
          </a:xfrm>
          <a:prstGeom prst="roundRect">
            <a:avLst/>
          </a:prstGeom>
          <a:solidFill>
            <a:srgbClr val="82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7150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9F6EF"/>
                </a:solidFill>
                <a:latin typeface="Hiragino Kaku Gothic ProN"/>
              </a:rPr>
              <a:t>v3 大容量版 / 全32枚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760720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A908A"/>
                </a:solidFill>
                <a:latin typeface="Hiragino Kaku Gothic ProN"/>
              </a:rPr>
              <a:t>菊池研太｜図版は全てKHD自作の模式図。第三者有料教材の複製は含まない。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HOW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3つの資産を使い分ける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04088" y="1938527"/>
            <a:ext cx="3611880" cy="3200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611880" cy="109728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59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CDAD7"/>
                </a:solidFill>
                <a:latin typeface="Hiragino Kaku Gothic Pro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AA2E26"/>
                </a:solidFill>
                <a:latin typeface="Hiragino Kaku Gothic ProN"/>
              </a:rPr>
              <a:t>ルール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" y="3520439"/>
            <a:ext cx="1005840" cy="0"/>
          </a:xfrm>
          <a:prstGeom prst="bentConnector3">
            <a:avLst/>
          </a:prstGeom>
          <a:ln w="2540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657599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2422"/>
                </a:solidFill>
                <a:latin typeface="Hiragino Kaku Gothic ProN"/>
              </a:rPr>
              <a:t>法規のタテ軸＋方法のヨコ軸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39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ボリューム検討マスター／実例メソッド要点ノート（Notion）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938527"/>
            <a:ext cx="3611880" cy="3200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874519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874519"/>
            <a:ext cx="3611880" cy="109728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194559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CDAD7"/>
                </a:solidFill>
                <a:latin typeface="Hiragino Kaku Gothic ProN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926079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AA2E26"/>
                </a:solidFill>
                <a:latin typeface="Hiragino Kaku Gothic ProN"/>
              </a:rPr>
              <a:t>カタログ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27448" y="3520439"/>
            <a:ext cx="1005840" cy="0"/>
          </a:xfrm>
          <a:prstGeom prst="bentConnector3">
            <a:avLst/>
          </a:prstGeom>
          <a:ln w="2540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09160" y="3657599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2422"/>
                </a:solidFill>
                <a:latin typeface="Hiragino Kaku Gothic ProN"/>
              </a:rPr>
              <a:t>実例14回の“当て方”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06239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実例Vol.1〜14 要点集（Notion）。似た条件の回を引く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1938527"/>
            <a:ext cx="3611880" cy="3200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1874519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874519"/>
            <a:ext cx="3611880" cy="109728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194559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CDAD7"/>
                </a:solidFill>
                <a:latin typeface="Hiragino Kaku Gothic ProN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926079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AA2E26"/>
                </a:solidFill>
                <a:latin typeface="Hiragino Kaku Gothic ProN"/>
              </a:rPr>
              <a:t>ツール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22208" y="3520439"/>
            <a:ext cx="1005840" cy="0"/>
          </a:xfrm>
          <a:prstGeom prst="bentConnector3">
            <a:avLst/>
          </a:prstGeom>
          <a:ln w="2540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03920" y="3657599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2422"/>
                </a:solidFill>
                <a:latin typeface="Hiragino Kaku Gothic ProN"/>
              </a:rPr>
              <a:t>マイソク→当たり自動算出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06239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land_screening_pipeline.py（5ステップを即出力）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" y="5413248"/>
            <a:ext cx="10881360" cy="86868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F3ECEB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422"/>
                </a:solidFill>
                <a:latin typeface="Hiragino Kaku Gothic ProN"/>
              </a:rPr>
              <a:t>▶ ①②で「何が建つか」を当て、ツールで一次足切り → ③KPIゲートで「儲かるか」を判定 → 専門家へ。  収益判断（土地値・粗利・CF）は投資家＝KHD側、建築精度は建築士の領域。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39B4E"/>
                </a:solidFill>
                <a:latin typeface="Hiragino Kaku Gothic ProN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iragino Kaku Gothic ProN"/>
              </a:rPr>
              <a:t>5ステップ・メソッド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0432" y="4114800"/>
            <a:ext cx="2377440" cy="0"/>
          </a:xfrm>
          <a:prstGeom prst="bentConnector3">
            <a:avLst/>
          </a:prstGeom>
          <a:ln w="3810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42976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9F6EF"/>
                </a:solidFill>
                <a:latin typeface="Hiragino Kaku Gothic ProN"/>
              </a:rPr>
              <a:t>どの敷地でも同じ順番で回す。これが精査の背骨。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全体像：マイソク → ボリューム → 仕入判断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04088" y="2029968"/>
            <a:ext cx="2130552" cy="246888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130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2130552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2130552" cy="5486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130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2130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敷地を読む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21305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用途/建蔽/容積</a:t>
            </a:r>
          </a:p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防火指定/斜線/日影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344" y="288036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39B4E"/>
                </a:solidFill>
                <a:latin typeface="Hiragino Kaku Gothic ProN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4368" y="2029968"/>
            <a:ext cx="2130552" cy="246888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0360" y="1965960"/>
            <a:ext cx="2130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1965960"/>
            <a:ext cx="2130552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360" y="2606040"/>
            <a:ext cx="2130552" cy="5486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1965960"/>
            <a:ext cx="2130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807208"/>
            <a:ext cx="2130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駐車場を先に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383280"/>
            <a:ext cx="21305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建物より先に</a:t>
            </a:r>
          </a:p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台数と配置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288036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39B4E"/>
                </a:solidFill>
                <a:latin typeface="Hiragino Kaku Gothic ProN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84648" y="2029968"/>
            <a:ext cx="2130552" cy="246888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1965960"/>
            <a:ext cx="2130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1965960"/>
            <a:ext cx="2130552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2606040"/>
            <a:ext cx="2130552" cy="5486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1965960"/>
            <a:ext cx="2130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807208"/>
            <a:ext cx="2130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建築可能範囲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383280"/>
            <a:ext cx="21305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斜線・離隔・</a:t>
            </a:r>
          </a:p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通路で外形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288036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39B4E"/>
                </a:solidFill>
                <a:latin typeface="Hiragino Kaku Gothic ProN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24928" y="2029968"/>
            <a:ext cx="2130552" cy="246888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60920" y="1965960"/>
            <a:ext cx="2130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0920" y="1965960"/>
            <a:ext cx="2130552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2606040"/>
            <a:ext cx="2130552" cy="5486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1965960"/>
            <a:ext cx="2130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807208"/>
            <a:ext cx="2130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構造3択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383280"/>
            <a:ext cx="21305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木造200㎡→木三共</a:t>
            </a:r>
          </a:p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→耐火木造→RC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288036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39B4E"/>
                </a:solidFill>
                <a:latin typeface="Hiragino Kaku Gothic ProN"/>
              </a:rPr>
              <a:t>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65208" y="2029968"/>
            <a:ext cx="2130552" cy="246888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01200" y="1965960"/>
            <a:ext cx="2130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0" y="1965960"/>
            <a:ext cx="2130552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01200" y="2606040"/>
            <a:ext cx="2130552" cy="5486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1965960"/>
            <a:ext cx="2130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STEP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2807208"/>
            <a:ext cx="2130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A2E26"/>
                </a:solidFill>
                <a:latin typeface="Hiragino Kaku Gothic ProN"/>
              </a:rPr>
              <a:t>戸数を絞る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383280"/>
            <a:ext cx="21305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単純割り算を</a:t>
            </a:r>
          </a:p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605C"/>
                </a:solidFill>
                <a:latin typeface="Hiragino Kaku Gothic ProN"/>
              </a:rPr>
              <a:t>信じない(×0.75)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8" y="4864608"/>
            <a:ext cx="10881360" cy="13716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" y="4800600"/>
            <a:ext cx="10881360" cy="1371600"/>
          </a:xfrm>
          <a:prstGeom prst="roundRect">
            <a:avLst/>
          </a:prstGeom>
          <a:solidFill>
            <a:srgbClr val="F3ECEB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800600"/>
            <a:ext cx="10424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B2422"/>
                </a:solidFill>
                <a:latin typeface="Hiragino Kaku Gothic ProN"/>
              </a:rPr>
              <a:t>▶ 毎回同じ順で回す。特に②駐車場先行と⑤現実戸数を崩さない。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2B2422"/>
                </a:solidFill>
                <a:latin typeface="Hiragino Kaku Gothic ProN"/>
              </a:rPr>
              <a:t>▶ 出力＝「3階／木三共 or 耐火木造／約◯戸」→ 加工費・出口価格で粗利試算へ接続。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KEY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全14回で繰り返し出た再現パターン 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920239"/>
            <a:ext cx="10881360" cy="914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40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74519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B2422"/>
                </a:solidFill>
                <a:latin typeface="Hiragino Kaku Gothic ProN"/>
              </a:rPr>
              <a:t>法定上限をそのまま信じない（狭小地は斜線・通路・採光で必ず削られる）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99231"/>
            <a:ext cx="10881360" cy="914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953511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53511"/>
            <a:ext cx="64008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53511"/>
            <a:ext cx="640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53511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B2422"/>
                </a:solidFill>
                <a:latin typeface="Hiragino Kaku Gothic ProN"/>
              </a:rPr>
              <a:t>200㎡未満は“魔法のライン”：木三共A/B制約が外れ、バルコニー不要＋屋内階段＋45分準耐火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78223"/>
            <a:ext cx="10881360" cy="914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032503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32503"/>
            <a:ext cx="64008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32503"/>
            <a:ext cx="640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32503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B2422"/>
                </a:solidFill>
                <a:latin typeface="Hiragino Kaku Gothic ProN"/>
              </a:rPr>
              <a:t>容積率は「指定 vs 道路幅員×係数(住居0.4/非住居0.6)」の小さい方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57215"/>
            <a:ext cx="10881360" cy="914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111495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11495"/>
            <a:ext cx="64008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11495"/>
            <a:ext cx="640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111495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B2422"/>
                </a:solidFill>
                <a:latin typeface="Hiragino Kaku Gothic ProN"/>
              </a:rPr>
              <a:t>旗竿地の容積は竿幅でなく“接道する建基法上の道路幅”で算定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KEY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全14回で繰り返し出た再現パターン 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920239"/>
            <a:ext cx="10881360" cy="914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40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74519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B2422"/>
                </a:solidFill>
                <a:latin typeface="Hiragino Kaku Gothic ProN"/>
              </a:rPr>
              <a:t>日影で高さ確保しやすい順：①北側接道 ②東西に短い ③東西に長い＝多くNG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99231"/>
            <a:ext cx="10881360" cy="914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953511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53511"/>
            <a:ext cx="64008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53511"/>
            <a:ext cx="640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53511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B2422"/>
                </a:solidFill>
                <a:latin typeface="Hiragino Kaku Gothic ProN"/>
              </a:rPr>
              <a:t>駐車場は建物より先・道路に直角配置で「車路(シャロ)」を作らない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78223"/>
            <a:ext cx="10881360" cy="914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032503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32503"/>
            <a:ext cx="64008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32503"/>
            <a:ext cx="640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32503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B2422"/>
                </a:solidFill>
                <a:latin typeface="Hiragino Kaku Gothic ProN"/>
              </a:rPr>
              <a:t>竿4m以上の旗竿地は防火避難規定が外れ木三共が建つ＝安く拾える狙い目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57215"/>
            <a:ext cx="10881360" cy="914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111495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11495"/>
            <a:ext cx="64008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11495"/>
            <a:ext cx="640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Kaku Gothic ProN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111495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B2422"/>
                </a:solidFill>
                <a:latin typeface="Hiragino Kaku Gothic ProN"/>
              </a:rPr>
              <a:t>戸数増の定石：長屋×共同住宅併用／40㎡超はカウント外／3階有効範囲の精算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39B4E"/>
                </a:solidFill>
                <a:latin typeface="Hiragino Kaku Gothic ProN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iragino Kaku Gothic ProN"/>
              </a:rPr>
              <a:t>図解で理解する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0432" y="4114800"/>
            <a:ext cx="2377440" cy="0"/>
          </a:xfrm>
          <a:prstGeom prst="bentConnector3">
            <a:avLst/>
          </a:prstGeom>
          <a:ln w="3810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42976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9F6EF"/>
                </a:solidFill>
                <a:latin typeface="Hiragino Kaku Gothic ProN"/>
              </a:rPr>
              <a:t>公知の建築ルールをKHD自作の模式図で。第三者図面の複製は無し。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建築可能範囲の4要素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97280" y="2194560"/>
            <a:ext cx="4937760" cy="3383280"/>
          </a:xfrm>
          <a:prstGeom prst="rect">
            <a:avLst/>
          </a:prstGeom>
          <a:solidFill>
            <a:srgbClr val="EFE9DD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5577840"/>
            <a:ext cx="4937760" cy="4114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B2422"/>
                </a:solidFill>
                <a:latin typeface="Hiragino Kaku Gothic ProN"/>
              </a:rPr>
              <a:t>前面道路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97280" y="2194560"/>
            <a:ext cx="1920240" cy="3383280"/>
          </a:xfrm>
          <a:prstGeom prst="bentConnector3">
            <a:avLst/>
          </a:prstGeom>
          <a:ln w="31750">
            <a:solidFill>
              <a:srgbClr val="AA2E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4440" y="44805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2E26"/>
                </a:solidFill>
                <a:latin typeface="Hiragino Kaku Gothic ProN"/>
              </a:rPr>
              <a:t>道路斜線(幅員×1.25/1.5)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63440" y="2194560"/>
            <a:ext cx="1371600" cy="1097280"/>
          </a:xfrm>
          <a:prstGeom prst="bentConnector3">
            <a:avLst/>
          </a:prstGeom>
          <a:ln w="31750">
            <a:solidFill>
              <a:srgbClr val="2A6E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31920" y="217627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2A6EA0"/>
                </a:solidFill>
                <a:latin typeface="Hiragino Kaku Gothic ProN"/>
              </a:rPr>
              <a:t>北側斜線/高度地区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560320"/>
            <a:ext cx="4206240" cy="2651760"/>
          </a:xfrm>
          <a:prstGeom prst="rect">
            <a:avLst/>
          </a:prstGeom>
          <a:noFill/>
          <a:ln w="1270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2651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B2422"/>
                </a:solidFill>
                <a:latin typeface="Hiragino Kaku Gothic ProN"/>
              </a:rPr>
              <a:t>隣地離隔 0.6m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2211B"/>
                </a:solidFill>
                <a:latin typeface="Hiragino Kaku Gothic ProN"/>
              </a:rPr>
              <a:t>建築可能範囲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B2422"/>
                </a:solidFill>
                <a:latin typeface="Hiragino Kaku Gothic ProN"/>
              </a:rPr>
              <a:t>4要素を引き算して外形を出す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97480"/>
            <a:ext cx="109728" cy="4572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65176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① 道路斜線：幅員×1.25(住居)/1.5(非住居)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300984"/>
            <a:ext cx="109728" cy="4572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255264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② 北側斜線/高度地区：北側を削る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04488"/>
            <a:ext cx="109728" cy="4572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858768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③ 隣地離隔：約0.5〜0.6m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507992"/>
            <a:ext cx="109728" cy="4572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462272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④ 敷地内通路2.1m／窓先空地（条例）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5303520"/>
            <a:ext cx="5120640" cy="9144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5257800"/>
            <a:ext cx="5120640" cy="914400"/>
          </a:xfrm>
          <a:prstGeom prst="roundRect">
            <a:avLst/>
          </a:prstGeom>
          <a:solidFill>
            <a:srgbClr val="F3ECEB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257800"/>
            <a:ext cx="4663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605C"/>
                </a:solidFill>
                <a:latin typeface="Hiragino Kaku Gothic ProN"/>
              </a:rPr>
              <a:t>※天空率を使うと道路斜線が緩和され、セットバックは概算0.7〜0.8掛けに短縮できる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「延床200㎡未満」の効能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965960"/>
            <a:ext cx="4937760" cy="640080"/>
          </a:xfrm>
          <a:prstGeom prst="rect">
            <a:avLst/>
          </a:prstGeom>
          <a:solidFill>
            <a:srgbClr val="6B6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Kaku Gothic ProN"/>
              </a:rPr>
              <a:t>延床 200㎡ 以上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88920"/>
            <a:ext cx="4937760" cy="27432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4937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718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05C"/>
                </a:solidFill>
                <a:latin typeface="Hiragino Kaku Gothic ProN"/>
              </a:rPr>
              <a:t>× バルコニー2㎡が必須（専有が痩せる）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38728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05C"/>
                </a:solidFill>
                <a:latin typeface="Hiragino Kaku Gothic ProN"/>
              </a:rPr>
              <a:t>× 屋内階段にできない（防犯弱）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05656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05C"/>
                </a:solidFill>
                <a:latin typeface="Hiragino Kaku Gothic ProN"/>
              </a:rPr>
              <a:t>× 60分準耐火（外壁コスト高）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72584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05C"/>
                </a:solidFill>
                <a:latin typeface="Hiragino Kaku Gothic ProN"/>
              </a:rPr>
              <a:t>× 木三共は条件A/Bの充足が必要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65960"/>
            <a:ext cx="493776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Kaku Gothic ProN"/>
              </a:rPr>
              <a:t>延床 200㎡ 未満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788920"/>
            <a:ext cx="4937760" cy="27432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743200"/>
            <a:ext cx="4937760" cy="274320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9718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◎ バルコニー不要 → 専有面積に回せる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38728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◎ 屋内階段OK（防犯UP）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105656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◎ 45分準耐火（外壁仕様の選択肢増）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672584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◎ 木三共A/B制約が外れ配置自由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2422"/>
                </a:solidFill>
                <a:latin typeface="Hiragino Kaku Gothic ProN"/>
              </a:rPr>
              <a:t>▶ 狭小地は「なるべく多く」でなく「200㎡の壁を超えないギリギリ」で容積参入面積を最大化（板橋Vol.14の最適解）。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木三共：条件A/B マトリクス（200㎡超で必要）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05C"/>
                </a:solidFill>
                <a:latin typeface="Hiragino Kaku Gothic ProN"/>
              </a:rPr>
              <a:t>条件Aから1つ＋条件Bから1つを満たすと、200㎡超でも木造3階を「準耐火」で建てられる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280160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280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条件A①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1136" y="2276856"/>
            <a:ext cx="4114800" cy="841248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94560" y="2240280"/>
            <a:ext cx="4114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240280"/>
            <a:ext cx="3931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2422"/>
                </a:solidFill>
                <a:latin typeface="Hiragino Kaku Gothic ProN"/>
              </a:rPr>
              <a:t>避難上有効なバルコニー2㎡以上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1280160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91256"/>
            <a:ext cx="1280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条件A②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31136" y="3227832"/>
            <a:ext cx="4114800" cy="841248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94560" y="3191256"/>
            <a:ext cx="4114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3191256"/>
            <a:ext cx="3931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2422"/>
                </a:solidFill>
                <a:latin typeface="Hiragino Kaku Gothic ProN"/>
              </a:rPr>
              <a:t>共用廊下・階段を開放（屋外階段）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42232"/>
            <a:ext cx="1280160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42232"/>
            <a:ext cx="1280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条件B③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136" y="4178808"/>
            <a:ext cx="4114800" cy="841248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4560" y="4142232"/>
            <a:ext cx="4114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4142232"/>
            <a:ext cx="3931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2422"/>
                </a:solidFill>
                <a:latin typeface="Hiragino Kaku Gothic ProN"/>
              </a:rPr>
              <a:t>居室開口の外壁面から3m離隔（道路面除く）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093208"/>
            <a:ext cx="1280160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93208"/>
            <a:ext cx="1280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条件B④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31136" y="5129784"/>
            <a:ext cx="4114800" cy="841248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4560" y="5093208"/>
            <a:ext cx="41148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5093208"/>
            <a:ext cx="3931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2422"/>
                </a:solidFill>
                <a:latin typeface="Hiragino Kaku Gothic ProN"/>
              </a:rPr>
              <a:t>共用廊下・階段を開放（屋外階段）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01384" y="2295144"/>
            <a:ext cx="5074920" cy="37033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2240280"/>
            <a:ext cx="5074920" cy="3703320"/>
          </a:xfrm>
          <a:prstGeom prst="roundRect">
            <a:avLst/>
          </a:prstGeom>
          <a:solidFill>
            <a:srgbClr val="F3ECEB"/>
          </a:solidFill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4688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2422"/>
                </a:solidFill>
                <a:latin typeface="Hiragino Kaku Gothic ProN"/>
              </a:rPr>
              <a:t>屋内階段にできるのは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92608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82211B"/>
                </a:solidFill>
                <a:latin typeface="Hiragino Kaku Gothic ProN"/>
              </a:rPr>
              <a:t>A① ＋ B③ の組合せのみ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84848" y="3611880"/>
            <a:ext cx="1828800" cy="0"/>
          </a:xfrm>
          <a:prstGeom prst="bentConnector3">
            <a:avLst/>
          </a:prstGeom>
          <a:ln w="2540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766560" y="3749039"/>
            <a:ext cx="44805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>＝ バルコニーあり＋居室窓は道路側のみ。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>それ以外はA②/B④の開放階段（踊り場2㎡以上を屋外開放→外周配置）で住戸自由度が落ちる。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>→ 1フロア3戸かつ全室道路側は厳しい。だから狭小地は200㎡未満で組む方が強い。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日影規制：高さを確保しやすい敷地の順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78408" y="2075688"/>
            <a:ext cx="3291840" cy="30175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32918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3291840" cy="9144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0280" y="2331720"/>
            <a:ext cx="640080" cy="640080"/>
          </a:xfrm>
          <a:prstGeom prst="ellipse">
            <a:avLst/>
          </a:prstGeom>
          <a:solidFill>
            <a:srgbClr val="E0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4520" y="3200400"/>
            <a:ext cx="1371600" cy="1005840"/>
          </a:xfrm>
          <a:prstGeom prst="rect">
            <a:avLst/>
          </a:prstGeom>
          <a:solidFill>
            <a:srgbClr val="CFDDE3"/>
          </a:solidFill>
          <a:ln w="1270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4343400"/>
            <a:ext cx="2377440" cy="2286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315968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B2422"/>
                </a:solidFill>
                <a:latin typeface="Hiragino Kaku Gothic ProN"/>
              </a:rPr>
              <a:t>道路(北)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Kaku Gothic ProN"/>
              </a:rPr>
              <a:t>① 北側接道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B2422"/>
                </a:solidFill>
                <a:latin typeface="Hiragino Kaku Gothic ProN"/>
              </a:rPr>
              <a:t>◎ 最有利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2075688"/>
            <a:ext cx="3291840" cy="30175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2011680"/>
            <a:ext cx="32918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011680"/>
            <a:ext cx="3291840" cy="91440"/>
          </a:xfrm>
          <a:prstGeom prst="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0" y="2331720"/>
            <a:ext cx="640080" cy="640080"/>
          </a:xfrm>
          <a:prstGeom prst="ellipse">
            <a:avLst/>
          </a:prstGeom>
          <a:solidFill>
            <a:srgbClr val="E0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3200400"/>
            <a:ext cx="1371600" cy="1005840"/>
          </a:xfrm>
          <a:prstGeom prst="rect">
            <a:avLst/>
          </a:prstGeom>
          <a:solidFill>
            <a:srgbClr val="CFDDE3"/>
          </a:solidFill>
          <a:ln w="1270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9456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Kaku Gothic ProN"/>
              </a:rPr>
              <a:t>② 東西に短い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6177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B2422"/>
                </a:solidFill>
                <a:latin typeface="Hiragino Kaku Gothic ProN"/>
              </a:rPr>
              <a:t>○ 有利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5048" y="2075688"/>
            <a:ext cx="3291840" cy="30175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2011680"/>
            <a:ext cx="32918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011680"/>
            <a:ext cx="3291840" cy="91440"/>
          </a:xfrm>
          <a:prstGeom prst="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46920" y="2331720"/>
            <a:ext cx="640080" cy="640080"/>
          </a:xfrm>
          <a:prstGeom prst="ellipse">
            <a:avLst/>
          </a:prstGeom>
          <a:solidFill>
            <a:srgbClr val="E0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3291840"/>
            <a:ext cx="2377440" cy="731520"/>
          </a:xfrm>
          <a:prstGeom prst="rect">
            <a:avLst/>
          </a:prstGeom>
          <a:solidFill>
            <a:srgbClr val="CFDDE3"/>
          </a:solidFill>
          <a:ln w="1270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19456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Kaku Gothic ProN"/>
              </a:rPr>
              <a:t>③ 東西に長い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6177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B2422"/>
                </a:solidFill>
                <a:latin typeface="Hiragino Kaku Gothic ProN"/>
              </a:rPr>
              <a:t>× 多くNG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5394960"/>
            <a:ext cx="10561320" cy="86868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5349240"/>
            <a:ext cx="10561320" cy="868680"/>
          </a:xfrm>
          <a:prstGeom prst="roundRect">
            <a:avLst/>
          </a:prstGeom>
          <a:solidFill>
            <a:srgbClr val="F3ECEB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349240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B2422"/>
                </a:solidFill>
                <a:latin typeface="Hiragino Kaku Gothic ProN"/>
              </a:rPr>
              <a:t>▶ 10m基準は実質“緩和”（9.9mでも日影NGが出る敷地は多い）。北側接道でないなら半地下/盛土で高さ10m未満に抑える。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駐車場：直角配置で「車路」を作らない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605C"/>
                </a:solidFill>
                <a:latin typeface="Hiragino Kaku Gothic ProN"/>
              </a:rPr>
              <a:t>× NG：縦列・斜め → 車路(シャロ)が建物を圧迫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4937760" cy="30175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49377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377440"/>
            <a:ext cx="1828800" cy="2651760"/>
          </a:xfrm>
          <a:prstGeom prst="rect">
            <a:avLst/>
          </a:prstGeom>
          <a:solidFill>
            <a:srgbClr val="E7D9B7"/>
          </a:solidFill>
          <a:ln w="635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2211B"/>
                </a:solidFill>
                <a:latin typeface="Hiragino Kaku Gothic ProN"/>
              </a:rPr>
              <a:t>車路(無駄)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68880"/>
            <a:ext cx="2286000" cy="713232"/>
          </a:xfrm>
          <a:prstGeom prst="rect">
            <a:avLst/>
          </a:prstGeom>
          <a:solidFill>
            <a:srgbClr val="D7E2E7"/>
          </a:solidFill>
          <a:ln w="1016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2286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B2422"/>
                </a:solidFill>
                <a:latin typeface="Hiragino Kaku Gothic ProN"/>
              </a:rPr>
              <a:t>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3310128"/>
            <a:ext cx="2286000" cy="713232"/>
          </a:xfrm>
          <a:prstGeom prst="rect">
            <a:avLst/>
          </a:prstGeom>
          <a:solidFill>
            <a:srgbClr val="D7E2E7"/>
          </a:solidFill>
          <a:ln w="1016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310128"/>
            <a:ext cx="2286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B2422"/>
                </a:solidFill>
                <a:latin typeface="Hiragino Kaku Gothic ProN"/>
              </a:rPr>
              <a:t>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151376"/>
            <a:ext cx="2286000" cy="713232"/>
          </a:xfrm>
          <a:prstGeom prst="rect">
            <a:avLst/>
          </a:prstGeom>
          <a:solidFill>
            <a:srgbClr val="D7E2E7"/>
          </a:solidFill>
          <a:ln w="1016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151376"/>
            <a:ext cx="2286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B2422"/>
                </a:solidFill>
                <a:latin typeface="Hiragino Kaku Gothic ProN"/>
              </a:rPr>
              <a:t>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2211B"/>
                </a:solidFill>
                <a:latin typeface="Hiragino Kaku Gothic ProN"/>
              </a:rPr>
              <a:t>◎ OK：道路に直角 → 道路を切り返しに使う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240280"/>
            <a:ext cx="4937760" cy="30175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2194560"/>
            <a:ext cx="4937760" cy="301752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2468880"/>
            <a:ext cx="960120" cy="1828800"/>
          </a:xfrm>
          <a:prstGeom prst="rect">
            <a:avLst/>
          </a:prstGeom>
          <a:solidFill>
            <a:srgbClr val="D7E2E7"/>
          </a:solidFill>
          <a:ln w="1016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200400"/>
            <a:ext cx="960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B2422"/>
                </a:solidFill>
                <a:latin typeface="Hiragino Kaku Gothic ProN"/>
              </a:rPr>
              <a:t>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2468880"/>
            <a:ext cx="960120" cy="1828800"/>
          </a:xfrm>
          <a:prstGeom prst="rect">
            <a:avLst/>
          </a:prstGeom>
          <a:solidFill>
            <a:srgbClr val="D7E2E7"/>
          </a:solidFill>
          <a:ln w="1016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3200400"/>
            <a:ext cx="960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B2422"/>
                </a:solidFill>
                <a:latin typeface="Hiragino Kaku Gothic ProN"/>
              </a:rPr>
              <a:t>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2468880"/>
            <a:ext cx="960120" cy="1828800"/>
          </a:xfrm>
          <a:prstGeom prst="rect">
            <a:avLst/>
          </a:prstGeom>
          <a:solidFill>
            <a:srgbClr val="D7E2E7"/>
          </a:solidFill>
          <a:ln w="1016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3200400"/>
            <a:ext cx="960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B2422"/>
                </a:solidFill>
                <a:latin typeface="Hiragino Kaku Gothic ProN"/>
              </a:rPr>
              <a:t>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2468880"/>
            <a:ext cx="960120" cy="1828800"/>
          </a:xfrm>
          <a:prstGeom prst="rect">
            <a:avLst/>
          </a:prstGeom>
          <a:solidFill>
            <a:srgbClr val="D7E2E7"/>
          </a:solidFill>
          <a:ln w="10160">
            <a:solidFill>
              <a:srgbClr val="2B2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3200400"/>
            <a:ext cx="960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B2422"/>
                </a:solidFill>
                <a:latin typeface="Hiragino Kaku Gothic ProN"/>
              </a:rPr>
              <a:t>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480560"/>
            <a:ext cx="4937760" cy="4114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480560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B2422"/>
                </a:solidFill>
                <a:latin typeface="Hiragino Kaku Gothic ProN"/>
              </a:rPr>
              <a:t>幅6m以上の道路（切り返しに使う）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486400"/>
            <a:ext cx="105156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544068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440680"/>
            <a:ext cx="10149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422"/>
                </a:solidFill>
                <a:latin typeface="Hiragino Kaku Gothic ProN"/>
              </a:rPr>
              <a:t>3原則：①道路に直角 ②幅6m以上の道路に面して ③有効奥行5m×幅2.3m死守（寸法は自治体）。ピロティ車庫は構造体で実2.8〜3.0m要。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旗竿地：竿幅員で建つものが決まる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2148840"/>
            <a:ext cx="3108960" cy="2286000"/>
          </a:xfrm>
          <a:prstGeom prst="rect">
            <a:avLst/>
          </a:prstGeom>
          <a:solidFill>
            <a:srgbClr val="EFE9DD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B2422"/>
                </a:solidFill>
                <a:latin typeface="Hiragino Kaku Gothic ProN"/>
              </a:rPr>
              <a:t>旗(敷地)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4434840"/>
            <a:ext cx="731520" cy="1143000"/>
          </a:xfrm>
          <a:prstGeom prst="rect">
            <a:avLst/>
          </a:prstGeom>
          <a:solidFill>
            <a:srgbClr val="E7D9B7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475488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82211B"/>
                </a:solidFill>
                <a:latin typeface="Hiragino Kaku Gothic ProN"/>
              </a:rPr>
              <a:t>竿(路地状)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577840"/>
            <a:ext cx="3108960" cy="36576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2B2422"/>
                </a:solidFill>
                <a:latin typeface="Hiragino Kaku Gothic ProN"/>
              </a:rPr>
              <a:t>道路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148840"/>
            <a:ext cx="2011680" cy="640080"/>
          </a:xfrm>
          <a:prstGeom prst="rect">
            <a:avLst/>
          </a:prstGeom>
          <a:solidFill>
            <a:srgbClr val="2B2422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148840"/>
            <a:ext cx="4937760" cy="640080"/>
          </a:xfrm>
          <a:prstGeom prst="rect">
            <a:avLst/>
          </a:prstGeom>
          <a:solidFill>
            <a:srgbClr val="2B2422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4884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Kaku Gothic ProN"/>
              </a:rPr>
              <a:t>竿幅員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4884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iragino Kaku Gothic ProN"/>
              </a:rPr>
              <a:t>建てられるもの（目安）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807208"/>
            <a:ext cx="20116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807208"/>
            <a:ext cx="49377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807208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B2422"/>
                </a:solidFill>
                <a:latin typeface="Hiragino Kaku Gothic ProN"/>
              </a:rPr>
              <a:t>2m未満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807208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2422"/>
                </a:solidFill>
                <a:latin typeface="Hiragino Kaku Gothic ProN"/>
              </a:rPr>
              <a:t>建築不可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465576"/>
            <a:ext cx="2011680" cy="640080"/>
          </a:xfrm>
          <a:prstGeom prst="rect">
            <a:avLst/>
          </a:prstGeom>
          <a:solidFill>
            <a:srgbClr val="F9F6E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465576"/>
            <a:ext cx="4937760" cy="640080"/>
          </a:xfrm>
          <a:prstGeom prst="rect">
            <a:avLst/>
          </a:prstGeom>
          <a:solidFill>
            <a:srgbClr val="F9F6E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465576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B2422"/>
                </a:solidFill>
                <a:latin typeface="Hiragino Kaku Gothic ProN"/>
              </a:rPr>
              <a:t>2〜3m未満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465576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2422"/>
                </a:solidFill>
                <a:latin typeface="Hiragino Kaku Gothic ProN"/>
              </a:rPr>
              <a:t>竿長15m以下（横浜例）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123944"/>
            <a:ext cx="20116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4123944"/>
            <a:ext cx="49377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123944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B2422"/>
                </a:solidFill>
                <a:latin typeface="Hiragino Kaku Gothic ProN"/>
              </a:rPr>
              <a:t>3m以上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123944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2422"/>
                </a:solidFill>
                <a:latin typeface="Hiragino Kaku Gothic ProN"/>
              </a:rPr>
              <a:t>竿長25mまで（横浜例）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782312"/>
            <a:ext cx="2011680" cy="640080"/>
          </a:xfrm>
          <a:prstGeom prst="rect">
            <a:avLst/>
          </a:prstGeom>
          <a:solidFill>
            <a:srgbClr val="F3ECEB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4782312"/>
            <a:ext cx="4937760" cy="640080"/>
          </a:xfrm>
          <a:prstGeom prst="rect">
            <a:avLst/>
          </a:prstGeom>
          <a:solidFill>
            <a:srgbClr val="F3ECEB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4782312"/>
            <a:ext cx="91440" cy="6400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782312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422"/>
                </a:solidFill>
                <a:latin typeface="Hiragino Kaku Gothic ProN"/>
              </a:rPr>
              <a:t>4m以上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782312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2211B"/>
                </a:solidFill>
                <a:latin typeface="Hiragino Kaku Gothic ProN"/>
              </a:rPr>
              <a:t>防火避難規定が外れ木三共OK＝狙い目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199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※容積率は竿幅でなく“接道する建基法上の道路幅”で算定。旗竿か否かは地域条例で変わる（要確認）。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39B4E"/>
                </a:solidFill>
                <a:latin typeface="Hiragino Kaku Gothic ProN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iragino Kaku Gothic ProN"/>
              </a:rPr>
              <a:t>実例カタログ 全14回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0432" y="4114800"/>
            <a:ext cx="2377440" cy="0"/>
          </a:xfrm>
          <a:prstGeom prst="bentConnector3">
            <a:avLst/>
          </a:prstGeom>
          <a:ln w="3810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42976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9F6EF"/>
                </a:solidFill>
                <a:latin typeface="Hiragino Kaku Gothic ProN"/>
              </a:rPr>
              <a:t>土地を見るたびに、似た条件の回を引いて当てる引き出し。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東京都足立区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狭小・構造選択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答え：耐火木造3階 12戸（延床258.99㎡）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住居系・日影測定面4m・東西に長い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単純割り算は裏切られる→日影で4階不可。RCはコスパ悪・木三共は延床伸びず→耐火木造3階が最適解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東京都新宿区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狭小・200㎡未満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200㎡未満 9戸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第2種高度地区・ワンルーム条例10戸以上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200㎡未満の3効能＝バルコニー不要/屋内階段/45分準耐火。200㎡超は専有がむしろ痩せる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東京都大田区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日影・半地下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答え：RC壁式 半地下4階 14戸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奥行深い東西長・日影測定面6.5m・指定容積400%優先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半地下で建物高さ9.9m&lt;10mに抑え日影規制を回避し4階を成立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東京都新宿区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狭小・接道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答え：木造耐火3階 8戸（容積算定200㎡未満）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接道4m未満・前面道路容積273%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接道長さの罠＝200㎡以下共同住宅は4m未満でも可だが3階以下が必須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神奈川県横浜市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旗竿・長屋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答え：木造2階 8戸（共同5+長屋3）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竿4m未満・共住100㎡未満/長屋3戸/2階以下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共同住宅と長屋の併用で戸数を捻出。旗竿は参入障壁＝狙い目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神奈川県横浜市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狭小・200㎡未満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9戸（延床175.68㎡）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二方向避難(市条例6条)200㎡未満0.9m/以上2.0m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わずか4.5㎡差で必要敷地が約1.5倍。200㎡未満で必要敷地が激減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東京都中野区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狭小・戸数増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200㎡未満 8戸（→9戸も）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北側接道でない・ワンルーム3階かつ12戸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全斜線・通路・離隔後の「3階有効範囲」を精算し200㎡÷3階が収まれば1戸増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東京都世田谷区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複合・日影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答え：壁式RC4階 16戸（長屋2+共同14）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西側接道・第3種高度・複合制約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日影は北側接道&gt;東西短い&gt;東西長い。天空率でSB0.7〜0.8掛け。40㎡超はカウント外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東京都豊島区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旗竿・長屋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重層長屋 9戸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竿接道・容積は道路幅で算定160%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容積は竿幅でなく道路幅で算定。重層長屋は3300mm開口幅が何個入るか。区で扱い差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東京都足立区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旗竿・狙い目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答え：木造3階 200㎡未満 6戸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竿4m以上・旗竿の正確な理解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竿4m以上は防火避難規定が外れ木三共OK＝他人がスルーする安く拾える狙い目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東京都世田谷区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旗竿・長屋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答え：重層長屋 8戸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路地状4m未満は3階共同住宅不可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法的採光の工夫で建物幅3300→2700mmに縮め6戸→8戸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北海道札幌市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駐車場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答え：壁式RC4階 19戸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駐車場義務・建蔽100%・2面道路12m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駐車場は道路に直角で車路なし。1階1区画を駐車場+通路に充て上階すっきり。北海道は盛土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岐阜県岐阜市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大型・駐車場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答え：木三共 3層 15戸（延床502.8㎡）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大型645㎡・法22条建蔽60%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大型でも手順同じ。駐車場先行で8→15台。道路斜線vs木三共8.2mでSB0.28m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実例カタログ　Vol.14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東京都板橋区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0" y="3200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400" b="1">
                <a:solidFill>
                  <a:srgbClr val="ECDAD7"/>
                </a:solidFill>
                <a:latin typeface="Hiragino Kaku Gothic ProN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194560" cy="384048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2211B"/>
                </a:solidFill>
                <a:latin typeface="Hiragino Kaku Gothic ProN"/>
              </a:rPr>
              <a:t>複合・木三共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9728" cy="86868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iragino Kaku Gothic ProN"/>
              </a:rPr>
              <a:t>答え：木三200㎡未満 9戸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敷地条件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46120"/>
            <a:ext cx="8915400" cy="77724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3200400"/>
            <a:ext cx="8915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B2422"/>
                </a:solidFill>
                <a:latin typeface="Hiragino Kaku Gothic ProN"/>
              </a:rPr>
              <a:t>準工業・L字・複合制約・建蔽70%・指定200%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Kaku Gothic ProN"/>
              </a:rPr>
              <a:t>この回の核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4261104"/>
            <a:ext cx="8915400" cy="12801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4206240"/>
            <a:ext cx="8915400" cy="1280160"/>
          </a:xfrm>
          <a:prstGeom prst="roundRect">
            <a:avLst/>
          </a:prstGeom>
          <a:solidFill>
            <a:srgbClr val="F3ECEB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206240"/>
            <a:ext cx="8503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B2422"/>
                </a:solidFill>
                <a:latin typeface="Hiragino Kaku Gothic ProN"/>
              </a:rPr>
              <a:t>通路位置が階段→構造要件→延床に連鎖。3案比較は「容積参入面積＋コスト」で判断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927080" cy="640080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9A9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27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A908A"/>
                </a:solidFill>
                <a:latin typeface="Hiragino Kaku Gothic ProN"/>
              </a:rPr>
              <a:t>▢ ここに自社物件（栄町・船橋など）のマイソク/写真/自作ボリューム図を差し込む（任意）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39B4E"/>
                </a:solidFill>
                <a:latin typeface="Hiragino Kaku Gothic ProN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iragino Kaku Gothic ProN"/>
              </a:rPr>
              <a:t>判定と運用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0432" y="4114800"/>
            <a:ext cx="2377440" cy="0"/>
          </a:xfrm>
          <a:prstGeom prst="bentConnector3">
            <a:avLst/>
          </a:prstGeom>
          <a:ln w="3810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42976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9F6EF"/>
                </a:solidFill>
                <a:latin typeface="Hiragino Kaku Gothic ProN"/>
              </a:rPr>
              <a:t>建つと分かったら「儲かるか」。最後はKPIゲートと専門家へ。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KHD 仕入KPIゲート（玉川式・辛口基準）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605C"/>
                </a:solidFill>
                <a:latin typeface="Hiragino Kaku Gothic ProN"/>
              </a:rPr>
              <a:t>※わん流＝建築ボリューム精度／KHD＝収益判定。役割が違う。当たりが出たらこのゲートで足切り。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017520" cy="603504"/>
          </a:xfrm>
          <a:prstGeom prst="rect">
            <a:avLst/>
          </a:prstGeom>
          <a:solidFill>
            <a:srgbClr val="2B2422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2148840"/>
            <a:ext cx="2194560" cy="603504"/>
          </a:xfrm>
          <a:prstGeom prst="rect">
            <a:avLst/>
          </a:prstGeom>
          <a:solidFill>
            <a:srgbClr val="2B2422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2148840"/>
            <a:ext cx="5715000" cy="603504"/>
          </a:xfrm>
          <a:prstGeom prst="rect">
            <a:avLst/>
          </a:prstGeom>
          <a:solidFill>
            <a:srgbClr val="2B2422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Kaku Gothic ProN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Kaku Gothic ProN"/>
              </a:rPr>
              <a:t>基準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48840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N"/>
              </a:rPr>
              <a:t>意味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52344"/>
            <a:ext cx="30175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2752344"/>
            <a:ext cx="21945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752344"/>
            <a:ext cx="57150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2752344"/>
            <a:ext cx="73152" cy="60350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52344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422"/>
                </a:solidFill>
                <a:latin typeface="Hiragino Kaku Gothic ProN"/>
              </a:rPr>
              <a:t>土地値割合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52344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82211B"/>
                </a:solidFill>
                <a:latin typeface="Hiragino Kaku Gothic ProN"/>
              </a:rPr>
              <a:t>0.4以上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752344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路線価×面積÷仕入。担保価値の最低ライン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55848"/>
            <a:ext cx="3017520" cy="603504"/>
          </a:xfrm>
          <a:prstGeom prst="rect">
            <a:avLst/>
          </a:prstGeom>
          <a:solidFill>
            <a:srgbClr val="F9F6E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3355848"/>
            <a:ext cx="2194560" cy="603504"/>
          </a:xfrm>
          <a:prstGeom prst="rect">
            <a:avLst/>
          </a:prstGeom>
          <a:solidFill>
            <a:srgbClr val="F9F6E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3355848"/>
            <a:ext cx="5715000" cy="603504"/>
          </a:xfrm>
          <a:prstGeom prst="rect">
            <a:avLst/>
          </a:prstGeom>
          <a:solidFill>
            <a:srgbClr val="F9F6E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0" y="3355848"/>
            <a:ext cx="73152" cy="60350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355848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422"/>
                </a:solidFill>
                <a:latin typeface="Hiragino Kaku Gothic ProN"/>
              </a:rPr>
              <a:t>粗利率(キャピタル)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355848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82211B"/>
                </a:solidFill>
                <a:latin typeface="Hiragino Kaku Gothic ProN"/>
              </a:rPr>
              <a:t>20%以上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355848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粗利益÷売上予定額。1人デベの主軸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59352"/>
            <a:ext cx="30175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3959352"/>
            <a:ext cx="21945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3959352"/>
            <a:ext cx="57150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3959352"/>
            <a:ext cx="73152" cy="60350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959352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422"/>
                </a:solidFill>
                <a:latin typeface="Hiragino Kaku Gothic ProN"/>
              </a:rPr>
              <a:t>CF率(保有時)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959352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82211B"/>
                </a:solidFill>
                <a:latin typeface="Hiragino Kaku Gothic ProN"/>
              </a:rPr>
              <a:t>1.5〜2.0%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959352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税引前CF÷購入価格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62856"/>
            <a:ext cx="3017520" cy="603504"/>
          </a:xfrm>
          <a:prstGeom prst="rect">
            <a:avLst/>
          </a:prstGeom>
          <a:solidFill>
            <a:srgbClr val="F9F6E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0" y="4562856"/>
            <a:ext cx="2194560" cy="603504"/>
          </a:xfrm>
          <a:prstGeom prst="rect">
            <a:avLst/>
          </a:prstGeom>
          <a:solidFill>
            <a:srgbClr val="F9F6E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4562856"/>
            <a:ext cx="5715000" cy="603504"/>
          </a:xfrm>
          <a:prstGeom prst="rect">
            <a:avLst/>
          </a:prstGeom>
          <a:solidFill>
            <a:srgbClr val="F9F6E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0" y="4562856"/>
            <a:ext cx="73152" cy="60350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562856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422"/>
                </a:solidFill>
                <a:latin typeface="Hiragino Kaku Gothic ProN"/>
              </a:rPr>
              <a:t>CCR(保有時)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562856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82211B"/>
                </a:solidFill>
                <a:latin typeface="Hiragino Kaku Gothic ProN"/>
              </a:rPr>
              <a:t>15〜20%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562856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税引前CF÷自己資金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166360"/>
            <a:ext cx="30175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0" y="5166360"/>
            <a:ext cx="21945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2160" y="5166360"/>
            <a:ext cx="57150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0" y="5166360"/>
            <a:ext cx="73152" cy="603504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166360"/>
            <a:ext cx="2834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422"/>
                </a:solidFill>
                <a:latin typeface="Hiragino Kaku Gothic ProN"/>
              </a:rPr>
              <a:t>再建築・接道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166360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82211B"/>
                </a:solidFill>
                <a:latin typeface="Hiragino Kaku Gothic ProN"/>
              </a:rPr>
              <a:t>可/要確認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5166360"/>
            <a:ext cx="5486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05C"/>
                </a:solidFill>
                <a:latin typeface="Hiragino Kaku Gothic ProN"/>
              </a:rPr>
              <a:t>再建不可は出口限定。越境・共有も現調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39B4E"/>
                </a:solidFill>
                <a:latin typeface="Hiragino Kaku Gothic ProN"/>
              </a:rPr>
              <a:t>確認作業フロー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iragino Kaku Gothic ProN"/>
              </a:rPr>
              <a:t>実物件1件で回す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606040"/>
            <a:ext cx="82296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822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Kaku Gothic ProN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65176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iragino Kaku Gothic ProN"/>
              </a:rPr>
              <a:t>マイソクの数値を land_screening_pipeline.py に入れる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3639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9F6EF"/>
                </a:solidFill>
                <a:latin typeface="Hiragino Kaku Gothic ProN"/>
              </a:rPr>
              <a:t>「3階／木三共 or 耐火木造／約◯戸」の当たりを出す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749040"/>
            <a:ext cx="82296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822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Kaku Gothic ProN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79476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iragino Kaku Gothic ProN"/>
              </a:rPr>
              <a:t>実例Vol要点集で似た条件の回を引いて照合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27939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9F6EF"/>
                </a:solidFill>
                <a:latin typeface="Hiragino Kaku Gothic ProN"/>
              </a:rPr>
              <a:t>旗竿は竿幅、駐車場ありは直角配置、狭小は200㎡未満…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892040"/>
            <a:ext cx="82296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822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Kaku Gothic ProN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93776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iragino Kaku Gothic ProN"/>
              </a:rPr>
              <a:t>KPIゲートで収益判定（土地値0.4／粗利20%）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42239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9F6EF"/>
                </a:solidFill>
                <a:latin typeface="Hiragino Kaku Gothic ProN"/>
              </a:rPr>
              <a:t>通れば建築士・自治体で正式確認へ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B2422"/>
                </a:solidFill>
                <a:latin typeface="Hiragino Kaku Gothic ProN"/>
              </a:rPr>
              <a:t>本デッキの位置づけ（出典・権利）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9888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20239"/>
            <a:ext cx="10698480" cy="9601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109728" cy="96012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10149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B2422"/>
                </a:solidFill>
                <a:latin typeface="Hiragino Kaku Gothic ProN"/>
              </a:rPr>
              <a:t>本デッキは菊池研太が「土地から新築」の仕入判断を自走するために、建築基準法・各自治体条例という公知の法令の一般的な考え方を、自分の言葉とワークフローに落とし込んだKHDの社内資産です。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17519"/>
            <a:ext cx="10698480" cy="9601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97179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71799"/>
            <a:ext cx="109728" cy="96012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71799"/>
            <a:ext cx="10149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B2422"/>
                </a:solidFill>
                <a:latin typeface="Hiragino Kaku Gothic ProN"/>
              </a:rPr>
              <a:t>図版はすべてKHDが自作した模式図であり、特定の有料教材の本文・図面・スクリーンショットの複製は一切含みません。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799"/>
            <a:ext cx="10698480" cy="9601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06907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69079"/>
            <a:ext cx="109728" cy="96012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069079"/>
            <a:ext cx="10149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B2422"/>
                </a:solidFill>
                <a:latin typeface="Hiragino Kaku Gothic ProN"/>
              </a:rPr>
              <a:t>学びの土台として「わん1級建築士塾」(@taka5588) の有料記事を課金会員として参照しましたが、本デッキはその要点を抽象化・再構成した学習成果であり、再配布・自社コンテンツ転用はしません。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212079"/>
            <a:ext cx="10698480" cy="9601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16635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166359"/>
            <a:ext cx="109728" cy="96012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166359"/>
            <a:ext cx="10149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B2422"/>
                </a:solidFill>
                <a:latin typeface="Hiragino Kaku Gothic ProN"/>
              </a:rPr>
              <a:t>「▢ プレースホルダ」には、菊池自身が権利を持つ自社物件（栄町・船橋等）のマイソク・写真・自作ボリューム図のみを差し込んでください。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03 ｜ 土地から新築 精査フロー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
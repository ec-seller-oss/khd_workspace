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103120"/>
            <a:ext cx="12191695" cy="26517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4D9D5"/>
                </a:solidFill>
                <a:latin typeface="Hiragino Sans"/>
              </a:rPr>
              <a:t>KHD｜社内マニュアル  2026-06-22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Hiragino Sans"/>
              </a:rPr>
              <a:t>新MacBook Air M4 セットアップ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Hiragino Sans"/>
              </a:rPr>
              <a:t>＆ Claude開発環境 まるごと移行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8A8A8A"/>
                </a:solidFill>
                <a:latin typeface="Hiragino Sans"/>
              </a:rPr>
              <a:t>対象機：13インチ MacBook Air（整備済）M4 10コアCPU/10コアGPU・ミッドナイト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8A8A8A"/>
                </a:solidFill>
                <a:latin typeface="Hiragino Sans"/>
              </a:rPr>
              <a:t>本書 = 買う物リスト＋移行ハード／ソフト／手順／MCP再接続／動作確認（詳細はスプシ連動）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CONCLUSION｜最短ルート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結論：『移行アシスタント』＋『再ログイン3点』で9割終わる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9496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AA2E26"/>
                </a:solidFill>
                <a:latin typeface="Hiragino Sans"/>
              </a:rPr>
              <a:t>✅ 最短(推奨)：手順A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①  </a:t>
            </a:r>
            <a:r>
              <a:rPr sz="1500" b="0">
                <a:solidFill>
                  <a:srgbClr val="2B2B2B"/>
                </a:solidFill>
                <a:latin typeface="Hiragino Sans"/>
              </a:rPr>
              <a:t>旧Macを横に置く（電源ON・同Wi-Fi）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②  </a:t>
            </a:r>
            <a:r>
              <a:rPr sz="1500" b="1">
                <a:solidFill>
                  <a:srgbClr val="2B2B2B"/>
                </a:solidFill>
                <a:latin typeface="Hiragino Sans"/>
              </a:rPr>
              <a:t>新Mac初期設定で『移行アシスタント』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③  </a:t>
            </a:r>
            <a:r>
              <a:rPr sz="1500" b="0">
                <a:solidFill>
                  <a:srgbClr val="2B2B2B"/>
                </a:solidFill>
                <a:latin typeface="Hiragino Sans"/>
              </a:rPr>
              <a:t>~/.claude 一式・.claude.json・自作CLI・プロジェクトが丸ごと移動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④  </a:t>
            </a:r>
            <a:r>
              <a:rPr sz="1500" b="1">
                <a:solidFill>
                  <a:srgbClr val="2B2B2B"/>
                </a:solidFill>
                <a:latin typeface="Hiragino Sans"/>
              </a:rPr>
              <a:t>再ログイン3点：Claude / Google Drive / Apple ID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⑤  </a:t>
            </a:r>
            <a:r>
              <a:rPr sz="1500" b="0">
                <a:solidFill>
                  <a:srgbClr val="2B2B2B"/>
                </a:solidFill>
                <a:latin typeface="Hiragino Sans"/>
              </a:rPr>
              <a:t>/mcp が全部緑＝完了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94960" cy="4937760"/>
          </a:xfrm>
          <a:prstGeom prst="roundRect">
            <a:avLst>
              <a:gd name="adj" fmla="val 6000"/>
            </a:avLst>
          </a:prstGeom>
          <a:solidFill>
            <a:srgbClr val="F2ECE0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AA2E26"/>
                </a:solidFill>
                <a:latin typeface="Hiragino Sans"/>
              </a:rPr>
              <a:t>🧱 同アーキで安心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●  </a:t>
            </a:r>
            <a:r>
              <a:rPr sz="1500" b="1">
                <a:solidFill>
                  <a:srgbClr val="2B2B2B"/>
                </a:solidFill>
                <a:latin typeface="Hiragino Sans"/>
              </a:rPr>
              <a:t>旧Mac＝Apple Silicon、新Mac＝M4 → 同じarm64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●  </a:t>
            </a:r>
            <a:r>
              <a:rPr sz="1500" b="0">
                <a:solidFill>
                  <a:srgbClr val="2B2B2B"/>
                </a:solidFill>
                <a:latin typeface="Hiragino Sans"/>
              </a:rPr>
              <a:t>Node・Claude・Pythonライブラリがそのまま動く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●  </a:t>
            </a:r>
            <a:r>
              <a:rPr sz="1500" b="0">
                <a:solidFill>
                  <a:srgbClr val="2B2B2B"/>
                </a:solidFill>
                <a:latin typeface="Hiragino Sans"/>
              </a:rPr>
              <a:t>移行アシスタントが使えない時のみ『手順B＝手動再構築』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⚠  </a:t>
            </a:r>
            <a:r>
              <a:rPr sz="1500" b="1">
                <a:solidFill>
                  <a:srgbClr val="2B2B2B"/>
                </a:solidFill>
                <a:latin typeface="Hiragino Sans"/>
              </a:rPr>
              <a:t>トークン/URLは表に書かず旧.claude.jsonから移す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📅  </a:t>
            </a:r>
            <a:r>
              <a:rPr sz="1500" b="1">
                <a:solidFill>
                  <a:srgbClr val="2B2B2B"/>
                </a:solidFill>
                <a:latin typeface="Hiragino Sans"/>
              </a:rPr>
              <a:t>AppleCare+は購入30日以内が期限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DEVICE｜購入機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購入した1台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機種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7276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13インチ MacBook Air（整備済製品）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チップ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212848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32257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Apple M4（10コアCPU / 10コアGPU）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62656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7238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カラー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962656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ミッドナイト（※指紋が目立つ→クロス常備）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12463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221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アーキ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712463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822191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Apple Silicon arm64（旧Macと同一＝移行容易）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62272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ポート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462272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45720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Thunderbolt 4(USB-C)×2 / MagSafe / イヤホン端子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2377440" cy="64008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iragino Sans"/>
              </a:rPr>
              <a:t>外部出力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212080"/>
            <a:ext cx="8138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532180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Hiragino Sans"/>
              </a:rPr>
              <a:t>M4から外部ディスプレイ2台対応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ACCESSORIES｜備品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買うべき備品（保護＝AppleCare+が最優先）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iragino Sans"/>
              </a:rPr>
              <a:t>🛡 最優先：AppleCare+（落下・水濡れ補償／購入30日以内のみ加入可・約2.5万前後）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📺 アンチグレアフィルム 3種ランキング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2B2B2B"/>
                </a:solidFill>
                <a:latin typeface="Hiragino Sans"/>
              </a:rP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B2B2B"/>
                </a:solidFill>
                <a:latin typeface="Hiragino Sans"/>
              </a:rPr>
              <a:t>パワーサポート アンチグレア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3347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8A8A8A"/>
                </a:solidFill>
                <a:latin typeface="Hiragino Sans"/>
              </a:rPr>
              <a:t>映り込み・指紋を自然に抑え見やすさNo.1。貼り精度◎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72968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8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2B2B2B"/>
                </a:solidFill>
                <a:latin typeface="Hiragino Sans"/>
              </a:rPr>
              <a:t>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B2B2B"/>
                </a:solidFill>
                <a:latin typeface="Hiragino Sans"/>
              </a:rPr>
              <a:t>NIMASO アンチグレア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91839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8A8A8A"/>
                </a:solidFill>
                <a:latin typeface="Hiragino Sans"/>
              </a:rPr>
              <a:t>コスパ最強・2枚入りガイド付きで失敗しにくい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31335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5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2B2B2B"/>
                </a:solidFill>
                <a:latin typeface="Hiragino Sans"/>
              </a:rPr>
              <a:t>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41063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B2B2B"/>
                </a:solidFill>
                <a:latin typeface="Hiragino Sans"/>
              </a:rPr>
              <a:t>ミヤビックス OverLay 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950207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8A8A8A"/>
                </a:solidFill>
                <a:latin typeface="Hiragino Sans"/>
              </a:rPr>
              <a:t>専用カット精度高・反射防止強・のぞき見版も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35423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Sans"/>
              </a:rPr>
              <a:t>🔌 USB-Cハブ7in1（ポート2つ補完・必須）／🧹 クロス／💼 スリーブ／🎨 天板スキン(任意)／🔋 GaN35W(任意)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Sans"/>
              </a:rPr>
              <a:t>⛔ キーボードカバーは非推奨（液晶にキー跡・放熱阻害・打鍵感低下）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SOFTWARE｜導入順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新Macに入れるソフト（この順で）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173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macOS更新＋Apple IDサインイン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3317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Xcode Command Line Tools（xcode-select --install）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107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2461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3375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Node.js v24系（nodejs.org .pkg）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1605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251959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npm設定：prefix ~/.npm-global / cache ~/.npm-cache-khd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395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50749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166359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PATH追加：~/.npm-global/bin と ~/.local/bin を ~/.zshrc 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4173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5819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4173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5087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Claude Code：npm i -g @anthropic-ai/claude-code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3317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4963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23317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4231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uv / uvx（curl -LsSf https://astral.sh/uv/install.sh | sh）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2461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4107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32461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337560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pip：python-pptx openpyxl pandas google-api-python-client 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1605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3251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41605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4251959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Google Drive デスクトップ（ec-seller@… でサインイン）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074920"/>
            <a:ext cx="640080" cy="7772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2395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50749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5166359"/>
            <a:ext cx="4434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Chrome / Cursor / VS Code（任意）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STEPS｜移行手順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手順A（推奨：自動）と 手順B（手動：クリーン再構築）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4068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AA2E26"/>
                </a:solidFill>
                <a:latin typeface="Hiragino Sans"/>
              </a:rPr>
              <a:t>A. 移行アシスタント（推奨）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A-0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旧MacでTime Machineバックアップ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A-1  </a:t>
            </a:r>
            <a:r>
              <a:rPr sz="1400" b="1">
                <a:solidFill>
                  <a:srgbClr val="2B2B2B"/>
                </a:solidFill>
                <a:latin typeface="Hiragino Sans"/>
              </a:rPr>
              <a:t>新Mac初期設定→『情報を転送』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A-2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~/.claude/.claude.json/.local/bin/プロジェクト等が丸ごと移動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A-3  </a:t>
            </a:r>
            <a:r>
              <a:rPr sz="1400" b="1">
                <a:solidFill>
                  <a:srgbClr val="2B2B2B"/>
                </a:solidFill>
                <a:latin typeface="Hiragino Sans"/>
              </a:rPr>
              <a:t>再ログイン：Claude / Drive / Apple ID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A-4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/mcp と 06動作確認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40680" cy="5029200"/>
          </a:xfrm>
          <a:prstGeom prst="roundRect">
            <a:avLst>
              <a:gd name="adj" fmla="val 6000"/>
            </a:avLst>
          </a:prstGeom>
          <a:solidFill>
            <a:srgbClr val="F2ECE0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AA2E26"/>
                </a:solidFill>
                <a:latin typeface="Hiragino Sans"/>
              </a:rPr>
              <a:t>B. 手動再構築（クリーンに作る時）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B-1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ソフトを03の順で導入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B-2  </a:t>
            </a:r>
            <a:r>
              <a:rPr sz="1400" b="1">
                <a:solidFill>
                  <a:srgbClr val="2B2B2B"/>
                </a:solidFill>
                <a:latin typeface="Hiragino Sans"/>
              </a:rPr>
              <a:t>~/.claude をコピー(CLAUDE.md/agents/skills/projects/memory…)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B-3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.claude.json移植 or 05で手動再追加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B-4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~/.local/bin の自作CLIをコピー＋chmod +x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B-5  </a:t>
            </a:r>
            <a:r>
              <a:rPr sz="1400" b="1">
                <a:solidFill>
                  <a:srgbClr val="2B2B2B"/>
                </a:solidFill>
                <a:latin typeface="Hiragino Sans"/>
              </a:rPr>
              <a:t>~/01_honbu_docs_automation を丸ごとコピー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B-6  </a:t>
            </a:r>
            <a:r>
              <a:rPr sz="1400" b="0">
                <a:solidFill>
                  <a:srgbClr val="2B2B2B"/>
                </a:solidFill>
                <a:latin typeface="Hiragino Sans"/>
              </a:rPr>
              <a:t>plugin: company@cc-company 再追加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AA2E26"/>
                </a:solidFill>
                <a:latin typeface="Hiragino Sans"/>
              </a:rPr>
              <a:t>B-7  </a:t>
            </a:r>
            <a:r>
              <a:rPr sz="1400" b="1">
                <a:solidFill>
                  <a:srgbClr val="2B2B2B"/>
                </a:solidFill>
                <a:latin typeface="Hiragino Sans"/>
              </a:rPr>
              <a:t>MCP再接続（05）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4D9D5"/>
                </a:solidFill>
                <a:latin typeface="Hiragino Sans"/>
              </a:rPr>
              <a:t>MCP &amp; CHECK｜仕上げ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MCP再接続 ＆ 動作確認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🔌 MCP再接続（要OAuth/トークン）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743200" cy="5486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Hiragino Sans"/>
              </a:rPr>
              <a:t>notion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8046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19072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npx @notionhq/notion-mcp-server＋NOTION_TOKEN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743200" cy="5486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Hiragino Sans"/>
              </a:rPr>
              <a:t>googletasks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286000"/>
            <a:ext cx="8046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59152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Composio tool_router URL を再登録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2743200" cy="5486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992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Hiragino Sans"/>
              </a:rPr>
              <a:t>tradingview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926080"/>
            <a:ext cx="8046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999232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プロジェクト.mcp.json＋uvx（自動）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2743200" cy="548640"/>
          </a:xfrm>
          <a:prstGeom prst="roundRect">
            <a:avLst>
              <a:gd name="adj" fmla="val 6000"/>
            </a:avLst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Hiragino Sans"/>
              </a:rPr>
              <a:t>Drive/Gmail/Calendar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566160"/>
            <a:ext cx="8046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639312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Hiragino Sans"/>
              </a:rPr>
              <a:t>Claude同一アカウントでログイン→同期/再認可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AA2E26"/>
                </a:solidFill>
                <a:latin typeface="Hiragino Sans"/>
              </a:rPr>
              <a:t>🟦 動作確認（抜粋）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Sans"/>
              </a:rPr>
              <a:t>□ claude --version が 2.1.x  □ /mcp が全部緑  □ Notionで『COMPANY KHDまとめ』が引ける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Hiragino Sans"/>
              </a:rPr>
              <a:t>□ python3 -c 'import pptx,openpyxl,pandas' でエラー無し  □ memory が揃う  □ /company で秘書室が読める  □ AppleCare+有効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AA2E26"/>
                </a:solidFill>
                <a:latin typeface="Hiragino Sans"/>
              </a:rPr>
              <a:t>⚠ トークン/URLはスライド・スプシに書かない。旧Mac ~/.claude.json か 1Password から移すこと。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
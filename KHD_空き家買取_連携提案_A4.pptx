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10689336" cy="7562088"/>
  <p:notesSz cx="7562088" cy="10689336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image" Target="../media/image-1-3.png"/><Relationship Id="rId4" Type="http://schemas.openxmlformats.org/officeDocument/2006/relationships/image" Target="../media/image-1-4.png"/><Relationship Id="rId5" Type="http://schemas.openxmlformats.org/officeDocument/2006/relationships/image" Target="../media/image-1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749040" cy="7562088"/>
          </a:xfrm>
          <a:prstGeom prst="rect">
            <a:avLst/>
          </a:prstGeom>
          <a:solidFill>
            <a:srgbClr val="2C5F2D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3749040" cy="7562088"/>
          </a:xfrm>
          <a:prstGeom prst="rect">
            <a:avLst/>
          </a:prstGeom>
          <a:solidFill>
            <a:srgbClr val="1F3520">
              <a:alpha val="45000"/>
            </a:srgbClr>
          </a:solidFill>
          <a:ln/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11480" y="457200"/>
            <a:ext cx="384048" cy="384048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914400" y="457200"/>
            <a:ext cx="2743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97BC6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空き家・訳あり物件 買取のご提案</a:t>
            </a:r>
            <a:endParaRPr lang="en-US" sz="1200" dirty="0"/>
          </a:p>
        </p:txBody>
      </p:sp>
      <p:sp>
        <p:nvSpPr>
          <p:cNvPr id="6" name="Text 3"/>
          <p:cNvSpPr/>
          <p:nvPr/>
        </p:nvSpPr>
        <p:spPr>
          <a:xfrm>
            <a:off x="411480" y="1234440"/>
            <a:ext cx="3108960" cy="2468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4600"/>
              </a:lnSpc>
              <a:buNone/>
            </a:pPr>
            <a:r>
              <a:rPr lang="en-US" sz="34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残置物ごと、
</a:t>
            </a:r>
            <a:pPr algn="l" indent="0" marL="0">
              <a:lnSpc>
                <a:spcPts val="4600"/>
              </a:lnSpc>
              <a:buNone/>
            </a:pPr>
            <a:r>
              <a:rPr lang="en-US" sz="3400" b="1" dirty="0">
                <a:solidFill>
                  <a:srgbClr val="97BC6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そのまま
</a:t>
            </a:r>
            <a:pPr algn="l" indent="0" marL="0">
              <a:lnSpc>
                <a:spcPts val="4600"/>
              </a:lnSpc>
              <a:buNone/>
            </a:pPr>
            <a:r>
              <a:rPr lang="en-US" sz="34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買い取ります。</a:t>
            </a:r>
            <a:endParaRPr lang="en-US" sz="3400" dirty="0"/>
          </a:p>
        </p:txBody>
      </p:sp>
      <p:sp>
        <p:nvSpPr>
          <p:cNvPr id="7" name="Text 4"/>
          <p:cNvSpPr/>
          <p:nvPr/>
        </p:nvSpPr>
        <p:spPr>
          <a:xfrm>
            <a:off x="411480" y="3886200"/>
            <a:ext cx="306324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100"/>
              </a:lnSpc>
              <a:buNone/>
            </a:pPr>
            <a:r>
              <a:rPr lang="en-US" sz="1250" dirty="0">
                <a:solidFill>
                  <a:srgbClr val="E9F0E4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片付け不要・現状のまま・スピード決済。</a:t>
            </a:r>
            <a:endParaRPr lang="en-US" sz="1250" dirty="0"/>
          </a:p>
          <a:p>
            <a:pPr indent="0" marL="0">
              <a:lnSpc>
                <a:spcPts val="2100"/>
              </a:lnSpc>
              <a:buNone/>
            </a:pPr>
            <a:r>
              <a:rPr lang="en-US" sz="1250" dirty="0">
                <a:solidFill>
                  <a:srgbClr val="E9F0E4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家財や遺品は自社の買取・販売網で</a:t>
            </a:r>
            <a:endParaRPr lang="en-US" sz="1250" dirty="0"/>
          </a:p>
          <a:p>
            <a:pPr indent="0" marL="0">
              <a:lnSpc>
                <a:spcPts val="2100"/>
              </a:lnSpc>
              <a:buNone/>
            </a:pPr>
            <a:r>
              <a:rPr lang="en-US" sz="1250" dirty="0">
                <a:solidFill>
                  <a:srgbClr val="E9F0E4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換金できるため、その分だけ</a:t>
            </a:r>
            <a:endParaRPr lang="en-US" sz="1250" dirty="0"/>
          </a:p>
          <a:p>
            <a:pPr indent="0" marL="0">
              <a:lnSpc>
                <a:spcPts val="2100"/>
              </a:lnSpc>
              <a:buNone/>
            </a:pPr>
            <a:r>
              <a:rPr lang="en-US" sz="1250" dirty="0">
                <a:solidFill>
                  <a:srgbClr val="E9F0E4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高い買取価格をご提示できます。</a:t>
            </a:r>
            <a:endParaRPr lang="en-US" sz="1250" dirty="0"/>
          </a:p>
        </p:txBody>
      </p:sp>
      <p:sp>
        <p:nvSpPr>
          <p:cNvPr id="8" name="Shape 5"/>
          <p:cNvSpPr/>
          <p:nvPr/>
        </p:nvSpPr>
        <p:spPr>
          <a:xfrm>
            <a:off x="411480" y="5806440"/>
            <a:ext cx="2834640" cy="0"/>
          </a:xfrm>
          <a:prstGeom prst="line">
            <a:avLst/>
          </a:prstGeom>
          <a:noFill/>
          <a:ln w="12700">
            <a:solidFill>
              <a:srgbClr val="97BC62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411480" y="5989320"/>
            <a:ext cx="306324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700"/>
              </a:lnSpc>
              <a:buNone/>
            </a:pPr>
            <a:r>
              <a:rPr lang="en-US" sz="14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KHD（菊池HD）
</a:t>
            </a:r>
            <a:pPr indent="0" marL="0">
              <a:lnSpc>
                <a:spcPts val="1700"/>
              </a:lnSpc>
              <a:buNone/>
            </a:pPr>
            <a:r>
              <a:rPr lang="en-US" sz="1050" dirty="0">
                <a:solidFill>
                  <a:srgbClr val="E9F0E4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岩手県内（盛岡・県央エリア中心）対応
</a:t>
            </a:r>
            <a:pPr indent="0" marL="0">
              <a:lnSpc>
                <a:spcPts val="1700"/>
              </a:lnSpc>
              <a:buNone/>
            </a:pPr>
            <a:r>
              <a:rPr lang="en-US" sz="1050" dirty="0">
                <a:solidFill>
                  <a:srgbClr val="E9F0E4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Mail: ec-seller@kikuchi-hd.net
</a:t>
            </a:r>
            <a:pPr indent="0" marL="0">
              <a:lnSpc>
                <a:spcPts val="1700"/>
              </a:lnSpc>
              <a:buNone/>
            </a:pPr>
            <a:r>
              <a:rPr lang="en-US" sz="1050" dirty="0">
                <a:solidFill>
                  <a:srgbClr val="97BC6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TEL: 000-0000-0000（差し替え）</a:t>
            </a:r>
            <a:endParaRPr lang="en-US" sz="1400" dirty="0"/>
          </a:p>
        </p:txBody>
      </p:sp>
      <p:sp>
        <p:nvSpPr>
          <p:cNvPr id="10" name="Text 7"/>
          <p:cNvSpPr/>
          <p:nvPr/>
        </p:nvSpPr>
        <p:spPr>
          <a:xfrm>
            <a:off x="4114800" y="384048"/>
            <a:ext cx="6126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B2B2B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こんな物件、扱いに困っていませんか？</a:t>
            </a:r>
            <a:endParaRPr lang="en-US" sz="1600" dirty="0"/>
          </a:p>
        </p:txBody>
      </p:sp>
      <p:sp>
        <p:nvSpPr>
          <p:cNvPr id="11" name="Shape 8"/>
          <p:cNvSpPr/>
          <p:nvPr/>
        </p:nvSpPr>
        <p:spPr>
          <a:xfrm>
            <a:off x="4114800" y="841248"/>
            <a:ext cx="1481328" cy="402336"/>
          </a:xfrm>
          <a:prstGeom prst="roundRect">
            <a:avLst>
              <a:gd name="adj" fmla="val 50000"/>
            </a:avLst>
          </a:prstGeom>
          <a:solidFill>
            <a:srgbClr val="F2F6EF"/>
          </a:solidFill>
          <a:ln w="12700">
            <a:solidFill>
              <a:srgbClr val="97BC62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4114800" y="841248"/>
            <a:ext cx="148132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2C5F2D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残置物が満載</a:t>
            </a:r>
            <a:endParaRPr lang="en-US" sz="1100" dirty="0"/>
          </a:p>
        </p:txBody>
      </p:sp>
      <p:sp>
        <p:nvSpPr>
          <p:cNvPr id="13" name="Shape 10"/>
          <p:cNvSpPr/>
          <p:nvPr/>
        </p:nvSpPr>
        <p:spPr>
          <a:xfrm>
            <a:off x="5669280" y="841248"/>
            <a:ext cx="1481328" cy="402336"/>
          </a:xfrm>
          <a:prstGeom prst="roundRect">
            <a:avLst>
              <a:gd name="adj" fmla="val 50000"/>
            </a:avLst>
          </a:prstGeom>
          <a:solidFill>
            <a:srgbClr val="F2F6EF"/>
          </a:solidFill>
          <a:ln w="12700">
            <a:solidFill>
              <a:srgbClr val="97BC62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5669280" y="841248"/>
            <a:ext cx="148132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2C5F2D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相続・共有持分</a:t>
            </a:r>
            <a:endParaRPr lang="en-US" sz="1100" dirty="0"/>
          </a:p>
        </p:txBody>
      </p:sp>
      <p:sp>
        <p:nvSpPr>
          <p:cNvPr id="15" name="Shape 12"/>
          <p:cNvSpPr/>
          <p:nvPr/>
        </p:nvSpPr>
        <p:spPr>
          <a:xfrm>
            <a:off x="7223760" y="841248"/>
            <a:ext cx="1481328" cy="402336"/>
          </a:xfrm>
          <a:prstGeom prst="roundRect">
            <a:avLst>
              <a:gd name="adj" fmla="val 50000"/>
            </a:avLst>
          </a:prstGeom>
          <a:solidFill>
            <a:srgbClr val="F2F6EF"/>
          </a:solidFill>
          <a:ln w="12700">
            <a:solidFill>
              <a:srgbClr val="97BC62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7223760" y="841248"/>
            <a:ext cx="148132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2C5F2D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再建築不可・老朽</a:t>
            </a:r>
            <a:endParaRPr lang="en-US" sz="1100" dirty="0"/>
          </a:p>
        </p:txBody>
      </p:sp>
      <p:sp>
        <p:nvSpPr>
          <p:cNvPr id="17" name="Shape 14"/>
          <p:cNvSpPr/>
          <p:nvPr/>
        </p:nvSpPr>
        <p:spPr>
          <a:xfrm>
            <a:off x="8778240" y="841248"/>
            <a:ext cx="1481328" cy="402336"/>
          </a:xfrm>
          <a:prstGeom prst="roundRect">
            <a:avLst>
              <a:gd name="adj" fmla="val 50000"/>
            </a:avLst>
          </a:prstGeom>
          <a:solidFill>
            <a:srgbClr val="F2F6EF"/>
          </a:solidFill>
          <a:ln w="12700">
            <a:solidFill>
              <a:srgbClr val="97BC62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8778240" y="841248"/>
            <a:ext cx="148132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2C5F2D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長期売れ残り</a:t>
            </a:r>
            <a:endParaRPr lang="en-US" sz="1100" dirty="0"/>
          </a:p>
        </p:txBody>
      </p:sp>
      <p:sp>
        <p:nvSpPr>
          <p:cNvPr id="19" name="Text 16"/>
          <p:cNvSpPr/>
          <p:nvPr/>
        </p:nvSpPr>
        <p:spPr>
          <a:xfrm>
            <a:off x="4114800" y="1481328"/>
            <a:ext cx="6126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B2B2B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当社ができること</a:t>
            </a:r>
            <a:endParaRPr lang="en-US" sz="1600" dirty="0"/>
          </a:p>
        </p:txBody>
      </p:sp>
      <p:sp>
        <p:nvSpPr>
          <p:cNvPr id="20" name="Shape 17"/>
          <p:cNvSpPr/>
          <p:nvPr/>
        </p:nvSpPr>
        <p:spPr>
          <a:xfrm>
            <a:off x="4114800" y="1901952"/>
            <a:ext cx="1956816" cy="2212848"/>
          </a:xfrm>
          <a:prstGeom prst="roundRect">
            <a:avLst>
              <a:gd name="adj" fmla="val 3738"/>
            </a:avLst>
          </a:prstGeom>
          <a:solidFill>
            <a:srgbClr val="F2F6EF"/>
          </a:solidFill>
          <a:ln/>
          <a:effectLst>
            <a:outerShdw sx="100000" sy="100000" kx="0" ky="0" algn="bl" rotWithShape="0" blurRad="76200" dist="25400" dir="5400000">
              <a:srgbClr val="999999">
                <a:alpha val="25000"/>
              </a:srgbClr>
            </a:outerShdw>
          </a:effectLst>
        </p:spPr>
      </p:sp>
      <p:sp>
        <p:nvSpPr>
          <p:cNvPr id="21" name="Shape 18"/>
          <p:cNvSpPr/>
          <p:nvPr/>
        </p:nvSpPr>
        <p:spPr>
          <a:xfrm>
            <a:off x="4279392" y="2084832"/>
            <a:ext cx="475488" cy="475488"/>
          </a:xfrm>
          <a:prstGeom prst="ellipse">
            <a:avLst/>
          </a:prstGeom>
          <a:solidFill>
            <a:srgbClr val="2C5F2D"/>
          </a:solidFill>
          <a:ln/>
        </p:spPr>
      </p:sp>
      <p:pic>
        <p:nvPicPr>
          <p:cNvPr id="2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98264" y="2203704"/>
            <a:ext cx="237744" cy="237744"/>
          </a:xfrm>
          <a:prstGeom prst="rect">
            <a:avLst/>
          </a:prstGeom>
        </p:spPr>
      </p:pic>
      <p:sp>
        <p:nvSpPr>
          <p:cNvPr id="23" name="Text 19"/>
          <p:cNvSpPr/>
          <p:nvPr/>
        </p:nvSpPr>
        <p:spPr>
          <a:xfrm>
            <a:off x="4279392" y="2670048"/>
            <a:ext cx="162763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2C5F2D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現状のまま買取</a:t>
            </a:r>
            <a:endParaRPr lang="en-US" sz="1350" dirty="0"/>
          </a:p>
        </p:txBody>
      </p:sp>
      <p:sp>
        <p:nvSpPr>
          <p:cNvPr id="24" name="Text 20"/>
          <p:cNvSpPr/>
          <p:nvPr/>
        </p:nvSpPr>
        <p:spPr>
          <a:xfrm>
            <a:off x="4279392" y="3017520"/>
            <a:ext cx="1627632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450"/>
              </a:lnSpc>
              <a:buNone/>
            </a:pPr>
            <a:r>
              <a:rPr lang="en-US" sz="980" dirty="0">
                <a:solidFill>
                  <a:srgbClr val="2B2B2B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家財・遺品・在庫が残っていてもそのまま。動産は自社買取網（カメラ等の専門買取・EC販売）で換金し、価格に還元します。</a:t>
            </a:r>
            <a:endParaRPr lang="en-US" sz="980" dirty="0"/>
          </a:p>
        </p:txBody>
      </p:sp>
      <p:sp>
        <p:nvSpPr>
          <p:cNvPr id="25" name="Shape 21"/>
          <p:cNvSpPr/>
          <p:nvPr/>
        </p:nvSpPr>
        <p:spPr>
          <a:xfrm>
            <a:off x="6199632" y="1901952"/>
            <a:ext cx="1956816" cy="2212848"/>
          </a:xfrm>
          <a:prstGeom prst="roundRect">
            <a:avLst>
              <a:gd name="adj" fmla="val 3738"/>
            </a:avLst>
          </a:prstGeom>
          <a:solidFill>
            <a:srgbClr val="F2F6EF"/>
          </a:solidFill>
          <a:ln/>
          <a:effectLst>
            <a:outerShdw sx="100000" sy="100000" kx="0" ky="0" algn="bl" rotWithShape="0" blurRad="76200" dist="25400" dir="5400000">
              <a:srgbClr val="999999">
                <a:alpha val="25000"/>
              </a:srgbClr>
            </a:outerShdw>
          </a:effectLst>
        </p:spPr>
      </p:sp>
      <p:sp>
        <p:nvSpPr>
          <p:cNvPr id="26" name="Shape 22"/>
          <p:cNvSpPr/>
          <p:nvPr/>
        </p:nvSpPr>
        <p:spPr>
          <a:xfrm>
            <a:off x="6364224" y="2084832"/>
            <a:ext cx="475488" cy="475488"/>
          </a:xfrm>
          <a:prstGeom prst="ellipse">
            <a:avLst/>
          </a:prstGeom>
          <a:solidFill>
            <a:srgbClr val="2C5F2D"/>
          </a:solidFill>
          <a:ln/>
        </p:spPr>
      </p:sp>
      <p:pic>
        <p:nvPicPr>
          <p:cNvPr id="2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83096" y="2203704"/>
            <a:ext cx="237744" cy="237744"/>
          </a:xfrm>
          <a:prstGeom prst="rect">
            <a:avLst/>
          </a:prstGeom>
        </p:spPr>
      </p:pic>
      <p:sp>
        <p:nvSpPr>
          <p:cNvPr id="28" name="Text 23"/>
          <p:cNvSpPr/>
          <p:nvPr/>
        </p:nvSpPr>
        <p:spPr>
          <a:xfrm>
            <a:off x="6364224" y="2670048"/>
            <a:ext cx="162763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2C5F2D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スピード対応</a:t>
            </a:r>
            <a:endParaRPr lang="en-US" sz="1350" dirty="0"/>
          </a:p>
        </p:txBody>
      </p:sp>
      <p:sp>
        <p:nvSpPr>
          <p:cNvPr id="29" name="Text 24"/>
          <p:cNvSpPr/>
          <p:nvPr/>
        </p:nvSpPr>
        <p:spPr>
          <a:xfrm>
            <a:off x="6364224" y="3017520"/>
            <a:ext cx="1627632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450"/>
              </a:lnSpc>
              <a:buNone/>
            </a:pPr>
            <a:r>
              <a:rPr lang="en-US" sz="980" dirty="0">
                <a:solidFill>
                  <a:srgbClr val="2B2B2B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査定から決済まで最短で。仲介で値が付かない案件、他社が断る訳あり案件もまずはご相談ください。</a:t>
            </a:r>
            <a:endParaRPr lang="en-US" sz="980" dirty="0"/>
          </a:p>
        </p:txBody>
      </p:sp>
      <p:sp>
        <p:nvSpPr>
          <p:cNvPr id="30" name="Shape 25"/>
          <p:cNvSpPr/>
          <p:nvPr/>
        </p:nvSpPr>
        <p:spPr>
          <a:xfrm>
            <a:off x="8284464" y="1901952"/>
            <a:ext cx="1956816" cy="2212848"/>
          </a:xfrm>
          <a:prstGeom prst="roundRect">
            <a:avLst>
              <a:gd name="adj" fmla="val 3738"/>
            </a:avLst>
          </a:prstGeom>
          <a:solidFill>
            <a:srgbClr val="F2F6EF"/>
          </a:solidFill>
          <a:ln/>
          <a:effectLst>
            <a:outerShdw sx="100000" sy="100000" kx="0" ky="0" algn="bl" rotWithShape="0" blurRad="76200" dist="25400" dir="5400000">
              <a:srgbClr val="999999">
                <a:alpha val="25000"/>
              </a:srgbClr>
            </a:outerShdw>
          </a:effectLst>
        </p:spPr>
      </p:sp>
      <p:sp>
        <p:nvSpPr>
          <p:cNvPr id="31" name="Shape 26"/>
          <p:cNvSpPr/>
          <p:nvPr/>
        </p:nvSpPr>
        <p:spPr>
          <a:xfrm>
            <a:off x="8449056" y="2084832"/>
            <a:ext cx="475488" cy="475488"/>
          </a:xfrm>
          <a:prstGeom prst="ellipse">
            <a:avLst/>
          </a:prstGeom>
          <a:solidFill>
            <a:srgbClr val="2C5F2D"/>
          </a:solidFill>
          <a:ln/>
        </p:spPr>
      </p:sp>
      <p:pic>
        <p:nvPicPr>
          <p:cNvPr id="32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567928" y="2203704"/>
            <a:ext cx="237744" cy="237744"/>
          </a:xfrm>
          <a:prstGeom prst="rect">
            <a:avLst/>
          </a:prstGeom>
        </p:spPr>
      </p:pic>
      <p:sp>
        <p:nvSpPr>
          <p:cNvPr id="33" name="Text 27"/>
          <p:cNvSpPr/>
          <p:nvPr/>
        </p:nvSpPr>
        <p:spPr>
          <a:xfrm>
            <a:off x="8449056" y="2670048"/>
            <a:ext cx="162763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2C5F2D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工事は地元へ発注</a:t>
            </a:r>
            <a:endParaRPr lang="en-US" sz="1350" dirty="0"/>
          </a:p>
        </p:txBody>
      </p:sp>
      <p:sp>
        <p:nvSpPr>
          <p:cNvPr id="34" name="Text 28"/>
          <p:cNvSpPr/>
          <p:nvPr/>
        </p:nvSpPr>
        <p:spPr>
          <a:xfrm>
            <a:off x="8449056" y="3017520"/>
            <a:ext cx="1627632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450"/>
              </a:lnSpc>
              <a:buNone/>
            </a:pPr>
            <a:r>
              <a:rPr lang="en-US" sz="980" dirty="0">
                <a:solidFill>
                  <a:srgbClr val="2B2B2B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買取後のリフォーム・塗装・解体は県内の工務店・職人パートナーへ発注。地域にお金が回る形で再生します。</a:t>
            </a:r>
            <a:endParaRPr lang="en-US" sz="980" dirty="0"/>
          </a:p>
        </p:txBody>
      </p:sp>
      <p:pic>
        <p:nvPicPr>
          <p:cNvPr id="35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114800" y="4370832"/>
            <a:ext cx="310896" cy="310896"/>
          </a:xfrm>
          <a:prstGeom prst="rect">
            <a:avLst/>
          </a:prstGeom>
        </p:spPr>
      </p:pic>
      <p:sp>
        <p:nvSpPr>
          <p:cNvPr id="36" name="Text 29"/>
          <p:cNvSpPr/>
          <p:nvPr/>
        </p:nvSpPr>
        <p:spPr>
          <a:xfrm>
            <a:off x="4517136" y="4334256"/>
            <a:ext cx="5760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B2B2B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ご連携先さまへの「GIVE」— 当社は競合しません、出口です</a:t>
            </a:r>
            <a:endParaRPr lang="en-US" sz="1500" dirty="0"/>
          </a:p>
        </p:txBody>
      </p:sp>
      <p:sp>
        <p:nvSpPr>
          <p:cNvPr id="37" name="Shape 30"/>
          <p:cNvSpPr/>
          <p:nvPr/>
        </p:nvSpPr>
        <p:spPr>
          <a:xfrm>
            <a:off x="4114800" y="4791456"/>
            <a:ext cx="1956816" cy="1572768"/>
          </a:xfrm>
          <a:prstGeom prst="roundRect">
            <a:avLst>
              <a:gd name="adj" fmla="val 4651"/>
            </a:avLst>
          </a:prstGeom>
          <a:solidFill>
            <a:srgbClr val="FFFFFF"/>
          </a:solidFill>
          <a:ln w="15875">
            <a:solidFill>
              <a:srgbClr val="97BC62"/>
            </a:solidFill>
            <a:prstDash val="solid"/>
          </a:ln>
        </p:spPr>
      </p:sp>
      <p:sp>
        <p:nvSpPr>
          <p:cNvPr id="38" name="Text 31"/>
          <p:cNvSpPr/>
          <p:nvPr/>
        </p:nvSpPr>
        <p:spPr>
          <a:xfrm>
            <a:off x="4261104" y="4919472"/>
            <a:ext cx="166420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C5F2D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不動産会社さま</a:t>
            </a:r>
            <a:endParaRPr lang="en-US" sz="1200" dirty="0"/>
          </a:p>
        </p:txBody>
      </p:sp>
      <p:sp>
        <p:nvSpPr>
          <p:cNvPr id="39" name="Text 32"/>
          <p:cNvSpPr/>
          <p:nvPr/>
        </p:nvSpPr>
        <p:spPr>
          <a:xfrm>
            <a:off x="4261104" y="5212080"/>
            <a:ext cx="1664208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400"/>
              </a:lnSpc>
              <a:buNone/>
            </a:pPr>
            <a:r>
              <a:rPr lang="en-US" sz="960" dirty="0">
                <a:solidFill>
                  <a:srgbClr val="2B2B2B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断っていた案件が収益に。買取後の再販・賃貸募集は御社へお戻しします（仲介手数料は御社に）。</a:t>
            </a:r>
            <a:endParaRPr lang="en-US" sz="960" dirty="0"/>
          </a:p>
        </p:txBody>
      </p:sp>
      <p:sp>
        <p:nvSpPr>
          <p:cNvPr id="40" name="Shape 33"/>
          <p:cNvSpPr/>
          <p:nvPr/>
        </p:nvSpPr>
        <p:spPr>
          <a:xfrm>
            <a:off x="6199632" y="4791456"/>
            <a:ext cx="1956816" cy="1572768"/>
          </a:xfrm>
          <a:prstGeom prst="roundRect">
            <a:avLst>
              <a:gd name="adj" fmla="val 4651"/>
            </a:avLst>
          </a:prstGeom>
          <a:solidFill>
            <a:srgbClr val="FFFFFF"/>
          </a:solidFill>
          <a:ln w="15875">
            <a:solidFill>
              <a:srgbClr val="97BC62"/>
            </a:solidFill>
            <a:prstDash val="solid"/>
          </a:ln>
        </p:spPr>
      </p:sp>
      <p:sp>
        <p:nvSpPr>
          <p:cNvPr id="41" name="Text 34"/>
          <p:cNvSpPr/>
          <p:nvPr/>
        </p:nvSpPr>
        <p:spPr>
          <a:xfrm>
            <a:off x="6345936" y="4919472"/>
            <a:ext cx="166420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C5F2D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工務店さま</a:t>
            </a:r>
            <a:endParaRPr lang="en-US" sz="1200" dirty="0"/>
          </a:p>
        </p:txBody>
      </p:sp>
      <p:sp>
        <p:nvSpPr>
          <p:cNvPr id="42" name="Text 35"/>
          <p:cNvSpPr/>
          <p:nvPr/>
        </p:nvSpPr>
        <p:spPr>
          <a:xfrm>
            <a:off x="6345936" y="5212080"/>
            <a:ext cx="1664208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400"/>
              </a:lnSpc>
              <a:buNone/>
            </a:pPr>
            <a:r>
              <a:rPr lang="en-US" sz="960" dirty="0">
                <a:solidFill>
                  <a:srgbClr val="2B2B2B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買取物件の性能改修・修繕工事を継続発注。空き家相談・OB客の住み替え相談は相互送客で。</a:t>
            </a:r>
            <a:endParaRPr lang="en-US" sz="960" dirty="0"/>
          </a:p>
        </p:txBody>
      </p:sp>
      <p:sp>
        <p:nvSpPr>
          <p:cNvPr id="43" name="Shape 36"/>
          <p:cNvSpPr/>
          <p:nvPr/>
        </p:nvSpPr>
        <p:spPr>
          <a:xfrm>
            <a:off x="8284464" y="4791456"/>
            <a:ext cx="1956816" cy="1572768"/>
          </a:xfrm>
          <a:prstGeom prst="roundRect">
            <a:avLst>
              <a:gd name="adj" fmla="val 4651"/>
            </a:avLst>
          </a:prstGeom>
          <a:solidFill>
            <a:srgbClr val="FFFFFF"/>
          </a:solidFill>
          <a:ln w="15875">
            <a:solidFill>
              <a:srgbClr val="97BC62"/>
            </a:solidFill>
            <a:prstDash val="solid"/>
          </a:ln>
        </p:spPr>
      </p:sp>
      <p:sp>
        <p:nvSpPr>
          <p:cNvPr id="44" name="Text 37"/>
          <p:cNvSpPr/>
          <p:nvPr/>
        </p:nvSpPr>
        <p:spPr>
          <a:xfrm>
            <a:off x="8430768" y="4919472"/>
            <a:ext cx="166420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C5F2D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士業・管理会社さま</a:t>
            </a:r>
            <a:endParaRPr lang="en-US" sz="1200" dirty="0"/>
          </a:p>
        </p:txBody>
      </p:sp>
      <p:sp>
        <p:nvSpPr>
          <p:cNvPr id="45" name="Text 38"/>
          <p:cNvSpPr/>
          <p:nvPr/>
        </p:nvSpPr>
        <p:spPr>
          <a:xfrm>
            <a:off x="8430768" y="5212080"/>
            <a:ext cx="1664208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400"/>
              </a:lnSpc>
              <a:buNone/>
            </a:pPr>
            <a:r>
              <a:rPr lang="en-US" sz="960" dirty="0">
                <a:solidFill>
                  <a:srgbClr val="2B2B2B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相続・残置物・管理切れ案件の相互紹介。所有者さまへの提案資料もこちらで用意します。</a:t>
            </a:r>
            <a:endParaRPr lang="en-US" sz="960" dirty="0"/>
          </a:p>
        </p:txBody>
      </p:sp>
      <p:sp>
        <p:nvSpPr>
          <p:cNvPr id="46" name="Shape 39"/>
          <p:cNvSpPr/>
          <p:nvPr/>
        </p:nvSpPr>
        <p:spPr>
          <a:xfrm>
            <a:off x="4114800" y="6528816"/>
            <a:ext cx="6126480" cy="621792"/>
          </a:xfrm>
          <a:prstGeom prst="roundRect">
            <a:avLst>
              <a:gd name="adj" fmla="val 11765"/>
            </a:avLst>
          </a:prstGeom>
          <a:solidFill>
            <a:srgbClr val="2C5F2D"/>
          </a:solidFill>
          <a:ln/>
        </p:spPr>
      </p:sp>
      <p:sp>
        <p:nvSpPr>
          <p:cNvPr id="47" name="Text 40"/>
          <p:cNvSpPr/>
          <p:nvPr/>
        </p:nvSpPr>
        <p:spPr>
          <a:xfrm>
            <a:off x="4297680" y="6528816"/>
            <a:ext cx="576072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まずは1件、査定のご相談から。</a:t>
            </a:r>
            <a:pPr indent="0" marL="0">
              <a:buNone/>
            </a:pPr>
            <a:r>
              <a:rPr lang="en-US" sz="1050" dirty="0">
                <a:solidFill>
                  <a:srgbClr val="E9F0E4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　図面・写真・住所だけでも概算をお出しします（秘密厳守）</a:t>
            </a:r>
            <a:endParaRPr lang="en-US" sz="1300" dirty="0"/>
          </a:p>
        </p:txBody>
      </p:sp>
      <p:sp>
        <p:nvSpPr>
          <p:cNvPr id="48" name="Text 41"/>
          <p:cNvSpPr/>
          <p:nvPr/>
        </p:nvSpPr>
        <p:spPr>
          <a:xfrm>
            <a:off x="4114800" y="7223760"/>
            <a:ext cx="6126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00" dirty="0">
                <a:solidFill>
                  <a:srgbClr val="777777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※宅地建物取引業者さまとの連携を前提としたご提案です。動産の買取は古物営業法に基づき許可を取得のうえ実施します（許可番号は名刺に記載）。</a:t>
            </a:r>
            <a:endParaRPr lang="en-US" sz="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2026-08-01T23:33:34Z</dcterms:created>
  <dcterms:modified xsi:type="dcterms:W3CDTF">2026-08-01T23:33:34Z</dcterms:modified>
</cp:coreProperties>
</file>
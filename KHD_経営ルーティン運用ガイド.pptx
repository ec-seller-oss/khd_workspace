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AA2E26"/>
                </a:solidFill>
                <a:latin typeface="Hiragino Kaku Gothic ProN"/>
              </a:rPr>
              <a:t>KHD 経営ルーティン 運用ガイド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8892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Hiragino Kaku Gothic ProN"/>
              </a:rPr>
              <a:t>毎朝 ・ 週次(事業部報告会) ・ 月次(家族会議) で家族と事業を回す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9784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・初めて見る人（家族・本部長）でも、これ1冊で「いつ・どこを見て・何をするか」が分かる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・正本は1つ＝Googleスプレッドシート「2026_KHD PJ一覧_v2」。迷ったらここへ戻る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・合言葉：①統合司令塔だけ見る／月初は📸1クリック／時間は営業へ寄せる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Hiragino Kaku Gothic ProN"/>
              </a:rPr>
              <a:t>菊池ホールディングス（KHD）  2026-06　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WHY ・ なぜこの仕組みが要るか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「現在地」を常に見て、時間を営業に寄せるため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KHDの事業群が唯一の収入源（安定給与ゼロ）。だから――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46304" cy="1143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E7D5B"/>
                </a:solidFill>
                <a:latin typeface="Hiragino Kaku Gothic ProN"/>
              </a:rPr>
              <a:t>①  毎日 現在地を知る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Kaku Gothic ProN"/>
              </a:rPr>
              <a:t>あと何ヶ月もつ(ランウェイ)・黒字か。不安でなく数字で経営する。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146304" cy="1143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AA2E26"/>
                </a:solidFill>
                <a:latin typeface="Hiragino Kaku Gothic ProN"/>
              </a:rPr>
              <a:t>②  内務を減らし営業へ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5935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Kaku Gothic ProN"/>
              </a:rPr>
              <a:t>ツール磨きは0円。時間を商談・追客・仕込みに寄せる(目標60%)。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46304" cy="1143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28031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C99A2E"/>
                </a:solidFill>
                <a:latin typeface="Hiragino Kaku Gothic ProN"/>
              </a:rPr>
              <a:t>③  家族で同じ数字を見る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1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Kaku Gothic ProN"/>
              </a:rPr>
              <a:t>妻も同じ画面で納得→『今これに集中』が家族の合意になる。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OVERVIEW ・ 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3つのリズム ＋ 1つの正本(SSoT)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371600"/>
            <a:ext cx="320040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481328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0D6D2"/>
                </a:solidFill>
                <a:latin typeface="Hiragino Kaku Gothic ProN"/>
              </a:rPr>
              <a:t>正本 SSoT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Hiragino Kaku Gothic ProN"/>
              </a:rPr>
              <a:t>KHD PJ一覧_v2 (スプレッドシート)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3200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3200400" cy="6400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毎朝 (5分)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Hiragino Kaku Gothic ProN"/>
              </a:rPr>
              <a:t>現在地を見る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①統合司令塔で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ランウェイ/損益/今日の営業1点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834640"/>
            <a:ext cx="3200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2834640"/>
            <a:ext cx="3200400" cy="64008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907792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週次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118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99A2E"/>
                </a:solidFill>
                <a:latin typeface="Hiragino Kaku Gothic ProN"/>
              </a:rPr>
              <a:t>事業部報告会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6本部KPI・時間配分(②)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パイプライン更新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834640"/>
            <a:ext cx="3200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834640"/>
            <a:ext cx="320040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907792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月次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59" y="36118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AA2E26"/>
                </a:solidFill>
                <a:latin typeface="Hiragino Kaku Gothic ProN"/>
              </a:rPr>
              <a:t>家族会議＋月初締め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16052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📸残高反映→純資産・ランウェイ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妻と資源配分を決める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すべて同じ正本を見る。日々→週→月で粒度が上がるだけ。迷ったら正本に戻る。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TOOLS ・ 使う道具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どのツールを・何に使うか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AA2E26"/>
                </a:solidFill>
                <a:latin typeface="Hiragino Kaku Gothic ProN"/>
              </a:rPr>
              <a:t>📗 Googleスプレッドシート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正本(SSoT)。BS/資金繰り/損益/借入/司令塔。数字はここに集約。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819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AA2E26"/>
                </a:solidFill>
                <a:latin typeface="Hiragino Kaku Gothic ProN"/>
              </a:rPr>
              <a:t>💰 「財務」メニュー(自作)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75688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スプシ上部の専用ボタン。残高反映・スナップショット等を1クリック。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AA2E26"/>
                </a:solidFill>
                <a:latin typeface="Hiragino Kaku Gothic ProN"/>
              </a:rPr>
              <a:t>📥 MF(マネーフォワード)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75887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口座/カード残高の自動取得元。Claudeが読んで反映。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0175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821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AA2E26"/>
                </a:solidFill>
                <a:latin typeface="Hiragino Kaku Gothic ProN"/>
              </a:rPr>
              <a:t>🗓 Googleカレンダー /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75887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予定と今日の締切タスク。実績時間も自動集計。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AA2E26"/>
                </a:solidFill>
                <a:latin typeface="Hiragino Kaku Gothic ProN"/>
              </a:rPr>
              <a:t>🗒 Notion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76088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成果物・議事録・ルール・作業ログの保管(検索で全部辿れる)。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6177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AA2E26"/>
                </a:solidFill>
                <a:latin typeface="Hiragino Kaku Gothic ProN"/>
              </a:rPr>
              <a:t>🤖 Claude(私) + Chrome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76088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MF読取・明細DL・資料作成を代行。月初の残高更新を担当。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RULES ・ 大原則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迷ったらこの5つに従う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Kaku Gothic Pro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3619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B2B2B"/>
                </a:solidFill>
                <a:latin typeface="Hiragino Kaku Gothic ProN"/>
              </a:rPr>
              <a:t>①統合司令塔だけ見る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普段はここだけ。現在地(ランウェイ/損益)が1枚で分かる。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04872"/>
            <a:ext cx="82296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04872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Kaku Gothic Pro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23744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B2B2B"/>
                </a:solidFill>
                <a:latin typeface="Hiragino Kaku Gothic ProN"/>
              </a:rPr>
              <a:t>月初は『📸今日のスナップショット』を1クリック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07791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MF残高反映＋その日の記録。手入力ほぼゼロ。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92424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92424"/>
            <a:ext cx="82296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92424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Kaku Gothic Pro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11296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B2B2B"/>
                </a:solidFill>
                <a:latin typeface="Hiragino Kaku Gothic ProN"/>
              </a:rPr>
              <a:t>信金(朝日/大東京/法人TB)は2ヶ月毎に手入力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95344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MF非対応。窓口/電話で取得→🏦タブに打つだけ。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79976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79976"/>
            <a:ext cx="82296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79976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Kaku Gothic Pro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9884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B2B2B"/>
                </a:solidFill>
                <a:latin typeface="Hiragino Kaku Gothic ProN"/>
              </a:rPr>
              <a:t>営業の入金見込みは『売上見込み』に1行足す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82896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案件が出たらここに。資金繰りへ自動反映。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67528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367528"/>
            <a:ext cx="82296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67528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Kaku Gothic ProN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4864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B2B2B"/>
                </a:solidFill>
                <a:latin typeface="Hiragino Kaku Gothic ProN"/>
              </a:rPr>
              <a:t>成果物・決定はNotionへ。推測の数字は書かない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870448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証票(MF/明細)が根拠。ベタ打ちで埋めない。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DAILY ・ 毎朝ルーティン(約5分)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現在地を見て、今日の営業を1点決める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554480" cy="12344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5544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556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B2B2B"/>
                </a:solidFill>
                <a:latin typeface="Hiragino Kaku Gothic ProN"/>
              </a:rPr>
              <a:t>スプシ『①統合司令塔』を開く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6771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ランウェイ(あと何ヶ月)・全社損益・時間配分%を確認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1554480" cy="12344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15544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17296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B2B2B"/>
                </a:solidFill>
                <a:latin typeface="Hiragino Kaku Gothic ProN"/>
              </a:rPr>
              <a:t>Google Tasksで今日の締切を見る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8503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期限つきタスク。営業直結を最優先に並べ替え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554480" cy="12344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5544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9028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B2B2B"/>
                </a:solidFill>
                <a:latin typeface="Hiragino Kaku Gothic ProN"/>
              </a:rPr>
              <a:t>今日の『営業1点』を宣言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10235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iragino Kaku Gothic ProN"/>
              </a:rPr>
              <a:t>例：福井宛送信／栄町決済プッシュ／医療追客1件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AA2E26"/>
                </a:solidFill>
                <a:latin typeface="Hiragino Kaku Gothic ProN"/>
              </a:rPr>
              <a:t>ポイント：財務タブをいじらない。見るだけ→手は営業へ。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WEEKLY ・ 週次 事業部報告会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6本部のKPIと時間配分を点検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AA2E26"/>
                </a:solidFill>
                <a:latin typeface="Hiragino Kaku Gothic ProN"/>
              </a:rPr>
              <a:t>アジェンダ（順に・15〜30分）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46304" cy="80467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99A2E"/>
                </a:solidFill>
                <a:latin typeface="Hiragino Kaku Gothic ProN"/>
              </a:rPr>
              <a:t>① 現在地共有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0195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①統合司令塔：ランウェイ・損益・営業直結%(目標60%)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146304" cy="80467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99A2E"/>
                </a:solidFill>
                <a:latin typeface="Hiragino Kaku Gothic ProN"/>
              </a:rPr>
              <a:t>② 6本部KPI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1635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01経営/02資金/03事業/04コンサル/05物件＋秘書室。各①数字②次の打ち手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146304" cy="80467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033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99A2E"/>
                </a:solidFill>
                <a:latin typeface="Hiragino Kaku Gothic ProN"/>
              </a:rPr>
              <a:t>③ パイプライン更新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3075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『売上見込み』で確度・着金月を更新→資金繰りに反映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146304" cy="80467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99A2E"/>
                </a:solidFill>
                <a:latin typeface="Hiragino Kaku Gothic ProN"/>
              </a:rPr>
              <a:t>④ 時間配分レビュー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64515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②本部マトリクス：実績h(カレンダー自動)。内務過多なら営業へ寄せる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4068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440680"/>
            <a:ext cx="146304" cy="80467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99A2E"/>
                </a:solidFill>
                <a:latin typeface="Hiragino Kaku Gothic ProN"/>
              </a:rPr>
              <a:t>⑤ 来週の集中1つ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55955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本部横断で『最も収益に効く1手』を決める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Hiragino Kaku Gothic ProN"/>
              </a:rPr>
              <a:t>使うタブ：①統合司令塔 / ②本部マトリクス / 売上見込み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MONTHLY ・ 月次 家族会議＋月初締め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数字を締めて、家族で資源配分を決める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AA2E26"/>
                </a:solidFill>
                <a:latin typeface="Hiragino Kaku Gothic ProN"/>
              </a:rPr>
              <a:t>手順（毎月1日・約20分）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77240" cy="822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777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Hiragino Kaku Gothic Pro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74519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残高を締める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01952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>
                <a:solidFill>
                  <a:srgbClr val="6B6B6B"/>
                </a:solidFill>
                <a:latin typeface="Hiragino Kaku Gothic ProN"/>
              </a:rPr>
              <a:t>『💰財務→📸今日のスナップショット』1クリック(MF反映＋当月記録)。信金は2ヶ月毎に🏦へ手入力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15768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15768"/>
            <a:ext cx="777240" cy="822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15768"/>
            <a:ext cx="777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Hiragino Kaku Gothic Pro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0720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純資産・ランウェイ確認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34639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>
                <a:solidFill>
                  <a:srgbClr val="6B6B6B"/>
                </a:solidFill>
                <a:latin typeface="Hiragino Kaku Gothic ProN"/>
              </a:rPr>
              <a:t>③BS(純資産)・④資金繰り(現金/ランウェイ)。先6ヶ月で谷(ショート)が無いか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48456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48456"/>
            <a:ext cx="777240" cy="822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48456"/>
            <a:ext cx="777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Hiragino Kaku Gothic Pro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3989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損益を確認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67328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>
                <a:solidFill>
                  <a:srgbClr val="6B6B6B"/>
                </a:solidFill>
                <a:latin typeface="Hiragino Kaku Gothic ProN"/>
              </a:rPr>
              <a:t>⑦損益：事業が黒字か・損益分岐に届くか。EC粗利は実績連動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81144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81144"/>
            <a:ext cx="777240" cy="822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81144"/>
            <a:ext cx="777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Hiragino Kaku Gothic Pro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672583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家族で資源配分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00016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>
                <a:solidFill>
                  <a:srgbClr val="6B6B6B"/>
                </a:solidFill>
                <a:latin typeface="Hiragino Kaku Gothic ProN"/>
              </a:rPr>
              <a:t>②マトリクス(時間×金×家族)を見て『来月どこに時間とお金を割くか』を妻と合意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13832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513832"/>
            <a:ext cx="777240" cy="822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13832"/>
            <a:ext cx="777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Hiragino Kaku Gothic ProN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60527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記録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632704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>
                <a:solidFill>
                  <a:srgbClr val="6B6B6B"/>
                </a:solidFill>
                <a:latin typeface="Hiragino Kaku Gothic ProN"/>
              </a:rPr>
              <a:t>決定事項をNotionへ。次月の家族会議で振り返る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LITERACY ・ 数字の読み方(初めての人へ)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この4つだけ分かればOK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94960" cy="6400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Kaku Gothic ProN"/>
              </a:rPr>
              <a:t>ランウェイ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Kaku Gothic ProN"/>
              </a:rPr>
              <a:t>今の現金で、あと何ヶ月もつか。3未満=危険/6以上=安全。今は約11ヶ月。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39496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54480"/>
            <a:ext cx="5394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Kaku Gothic ProN"/>
              </a:rPr>
              <a:t>損益分岐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Kaku Gothic ProN"/>
              </a:rPr>
              <a:t>事業が黒字になる粗利ライン。粗利がこれを超えれば事業はプラス。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5394960" cy="64008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5394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Kaku Gothic ProN"/>
              </a:rPr>
              <a:t>純資産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4805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Kaku Gothic ProN"/>
              </a:rPr>
              <a:t>資産−負債。家族の本当の財産。月次で増えてるかを見る。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61188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611880"/>
            <a:ext cx="5394960" cy="6400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703320"/>
            <a:ext cx="5394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Kaku Gothic ProN"/>
              </a:rPr>
              <a:t>粗利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805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Kaku Gothic ProN"/>
              </a:rPr>
              <a:t>売上−原価。EC等が稼いだ実額。固定費を賄えるかの源泉。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AUTO/MANUAL ・ 自動と手動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何が自動で、何を手で入れるか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5943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iragino Kaku Gothic ProN"/>
              </a:rPr>
              <a:t>🟢 自動（触らなくていい）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8463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・MF連携の銀行/証券/ポイント残高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・EC粗利（販売管理表→自動集計）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・借入返済・残高（⑤借入=証票連動）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・売上見込み→資金繰りの入金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・総資産・自己資本・ランウェイ(数式)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2E7D5B"/>
                </a:solidFill>
                <a:latin typeface="Hiragino Kaku Gothic ProN"/>
              </a:rPr>
              <a:t>→ 月初に『📸』を押すだけで最新化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440680" cy="59436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81328"/>
            <a:ext cx="5440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iragino Kaku Gothic ProN"/>
              </a:rPr>
              <a:t>🟡 手動（人が入れる・理由あり）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8463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・信金(朝日/大東京/法人TB)＝MF非対応・2ヶ月毎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・MF連携不調(みずほ/PayPay等)＝要再連携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・証券の銘柄内訳/Amazonポイント＝MFは合算のみ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・現金・売掛金・現物＝実数を見て入力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Kaku Gothic ProN"/>
              </a:rPr>
              <a:t>・法人の案件売上/原価＝成約時に入力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C99A2E"/>
                </a:solidFill>
                <a:latin typeface="Hiragino Kaku Gothic ProN"/>
              </a:rPr>
              <a:t>→ BSのBL/BM列に『理由』を常時表示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0D6D2"/>
                </a:solidFill>
                <a:latin typeface="Hiragino Kaku Gothic ProN"/>
              </a:rPr>
              <a:t>MAP ・ タブの歩き方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①統合司令塔を中心に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108960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🎯 毎日見る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91640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①統合司令塔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14016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14016"/>
            <a:ext cx="3108960" cy="8229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14016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📊 中身を見る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42616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③BS / ④資金繰り / ⑦損益 / ②本部マトリクス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64992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64992"/>
            <a:ext cx="3108960" cy="822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2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🔧 月初に更新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593592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📥MF残高 / 🏦残高クイック入力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15968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15968"/>
            <a:ext cx="3108960" cy="82296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🗄 データ源(自動)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4456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⑤借入 / 売上見込み / 役員報酬 / 諸経費 / 税金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66944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66944"/>
            <a:ext cx="3108960" cy="82296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66944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iragino Kaku Gothic ProN"/>
              </a:rPr>
              <a:t>🧹 整理候補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495544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Hiragino Kaku Gothic ProN"/>
              </a:rPr>
              <a:t>借入返済・借入条件(旧) / 🕛KPI / パス(機密)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Hiragino Kaku Gothic ProN"/>
              </a:rPr>
              <a:t>まとめ ― これだけ覚える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784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AA2E26"/>
                </a:solidFill>
                <a:latin typeface="Hiragino Kaku Gothic ProN"/>
              </a:rPr>
              <a:t>毎朝　</a:t>
            </a:r>
            <a:r>
              <a:rPr sz="1600" b="0">
                <a:solidFill>
                  <a:srgbClr val="2B2B2B"/>
                </a:solidFill>
                <a:latin typeface="Hiragino Kaku Gothic ProN"/>
              </a:rPr>
              <a:t>①統合司令塔を見て、今日の営業を1点決める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99A2E"/>
                </a:solidFill>
                <a:latin typeface="Hiragino Kaku Gothic ProN"/>
              </a:rPr>
              <a:t>週次　</a:t>
            </a:r>
            <a:r>
              <a:rPr sz="1600" b="0">
                <a:solidFill>
                  <a:srgbClr val="2B2B2B"/>
                </a:solidFill>
                <a:latin typeface="Hiragino Kaku Gothic ProN"/>
              </a:rPr>
              <a:t>事業部報告会＝6本部KPI＋時間配分(②)＋パイプライン更新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AA2E26"/>
                </a:solidFill>
                <a:latin typeface="Hiragino Kaku Gothic ProN"/>
              </a:rPr>
              <a:t>月初　</a:t>
            </a:r>
            <a:r>
              <a:rPr sz="1600" b="0">
                <a:solidFill>
                  <a:srgbClr val="2B2B2B"/>
                </a:solidFill>
                <a:latin typeface="Hiragino Kaku Gothic ProN"/>
              </a:rPr>
              <a:t>『📸』1クリックで残高反映→純資産/ランウェイ→妻と資源配分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6B6B6B"/>
                </a:solidFill>
                <a:latin typeface="Hiragino Kaku Gothic ProN"/>
              </a:rPr>
              <a:t>信金　</a:t>
            </a:r>
            <a:r>
              <a:rPr sz="1500" b="0">
                <a:solidFill>
                  <a:srgbClr val="2B2B2B"/>
                </a:solidFill>
                <a:latin typeface="Hiragino Kaku Gothic ProN"/>
              </a:rPr>
              <a:t>朝日/大東京/法人TB だけ2ヶ月毎に手入力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2E7D5B"/>
                </a:solidFill>
                <a:latin typeface="Hiragino Kaku Gothic ProN"/>
              </a:rPr>
              <a:t>原則　</a:t>
            </a:r>
            <a:r>
              <a:rPr sz="1600" b="0">
                <a:solidFill>
                  <a:srgbClr val="2B2B2B"/>
                </a:solidFill>
                <a:latin typeface="Hiragino Kaku Gothic ProN"/>
              </a:rPr>
              <a:t>数字は証票が根拠・成果物はNotion・時間は営業へ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800" b="0">
                <a:solidFill>
                  <a:srgbClr val="2B2B2B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AA2E26"/>
                </a:solidFill>
                <a:latin typeface="Hiragino Kaku Gothic ProN"/>
              </a:rPr>
              <a:t>迷ったら → 正本『KHD PJ一覧_v2』の ①統合司令塔 に戻る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
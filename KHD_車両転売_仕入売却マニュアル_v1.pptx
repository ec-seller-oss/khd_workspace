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9728" cy="6858000"/>
          </a:xfrm>
          <a:prstGeom prst="rect">
            <a:avLst/>
          </a:prstGeom>
          <a:solidFill>
            <a:srgbClr val="C39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051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39B4E"/>
                </a:solidFill>
                <a:latin typeface="Hiragino Kaku Gothic ProN"/>
              </a:rPr>
              <a:t>KHD ｜ 新規事業 ｜ 社内マニュアル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Hiragino Kaku Gothic ProN"/>
              </a:rPr>
              <a:t>車両転売事業マニュアル v1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Hiragino Kaku Gothic ProN"/>
              </a:rPr>
              <a:t>公用車入札 仕入〜売却 一気通貫フロー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7D9B7"/>
                </a:solidFill>
                <a:latin typeface="Hiragino Kaku Gothic ProN"/>
              </a:rPr>
              <a:t>不動産査定と同じ「型」で回す：発掘 → 資格 → 机上査定 → 現物 → 収支 → 入札 → 決済 → 売却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E7D9B7"/>
                </a:solidFill>
                <a:latin typeface="Hiragino Kaku Gothic ProN"/>
              </a:rPr>
              <a:t>全8STEPチェックリスト同梱 ／ 実例：岩手中部水道企業団 ランドクルーザー案件（2026）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0350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A908A"/>
                </a:solidFill>
                <a:latin typeface="Hiragino Kaku Gothic ProN"/>
              </a:rPr>
              <a:t>KIKUCHIホールディングス株式会社 ｜ 2026-07-15 作成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全体フロー：不動産と同じ8ステップの「型」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883664"/>
            <a:ext cx="1316736" cy="2286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316736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B2422"/>
                </a:solidFill>
                <a:latin typeface="Hiragino Kaku Gothic ProN"/>
              </a:rPr>
              <a:t>案件発掘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131673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官公庁の売払い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公告を拾う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4268" y="1883664"/>
            <a:ext cx="1316736" cy="2286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89404" y="1828800"/>
            <a:ext cx="1316736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89404" y="182880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9404" y="182880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89404" y="237744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B2422"/>
                </a:solidFill>
                <a:latin typeface="Hiragino Kaku Gothic ProN"/>
              </a:rPr>
              <a:t>参加資格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9404" y="2880360"/>
            <a:ext cx="131673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地域要件・書類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＝門前払い回避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3592" y="1883664"/>
            <a:ext cx="1316736" cy="2286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38728" y="1828800"/>
            <a:ext cx="1316736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38728" y="182880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182880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37744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B2422"/>
                </a:solidFill>
                <a:latin typeface="Hiragino Kaku Gothic ProN"/>
              </a:rPr>
              <a:t>机上査定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8728" y="2880360"/>
            <a:ext cx="131673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仕様書精読＋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相見積りで相場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2916" y="1883664"/>
            <a:ext cx="1316736" cy="2286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88052" y="1828800"/>
            <a:ext cx="1316736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8052" y="182880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88052" y="182880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8052" y="237744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B2422"/>
                </a:solidFill>
                <a:latin typeface="Hiragino Kaku Gothic ProN"/>
              </a:rPr>
              <a:t>現物確認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8052" y="2880360"/>
            <a:ext cx="131673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下回り・始動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＝内見と同じ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883664"/>
            <a:ext cx="1316736" cy="2286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37376" y="1828800"/>
            <a:ext cx="1316736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37376" y="1828800"/>
            <a:ext cx="1316736" cy="457200"/>
          </a:xfrm>
          <a:prstGeom prst="rect">
            <a:avLst/>
          </a:prstGeom>
          <a:solidFill>
            <a:srgbClr val="82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182880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237744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B2422"/>
                </a:solidFill>
                <a:latin typeface="Hiragino Kaku Gothic ProN"/>
              </a:rPr>
              <a:t>収支確定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2880360"/>
            <a:ext cx="131673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逆算で入札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上限を決める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41564" y="1883664"/>
            <a:ext cx="1316736" cy="2286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886700" y="1828800"/>
            <a:ext cx="1316736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86700" y="1828800"/>
            <a:ext cx="1316736" cy="457200"/>
          </a:xfrm>
          <a:prstGeom prst="rect">
            <a:avLst/>
          </a:prstGeom>
          <a:solidFill>
            <a:srgbClr val="82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86700" y="182880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86700" y="237744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B2422"/>
                </a:solidFill>
                <a:latin typeface="Hiragino Kaku Gothic ProN"/>
              </a:rPr>
              <a:t>入札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6700" y="2880360"/>
            <a:ext cx="131673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一発勝負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端数を付ける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390888" y="1883664"/>
            <a:ext cx="1316736" cy="2286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36024" y="1828800"/>
            <a:ext cx="1316736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6024" y="182880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36024" y="182880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36024" y="237744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B2422"/>
                </a:solidFill>
                <a:latin typeface="Hiragino Kaku Gothic ProN"/>
              </a:rPr>
              <a:t>決済・搬出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36024" y="2880360"/>
            <a:ext cx="131673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全額前払い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期限厳守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40212" y="1883664"/>
            <a:ext cx="1316736" cy="228600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785348" y="1828800"/>
            <a:ext cx="1316736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85348" y="1828800"/>
            <a:ext cx="1316736" cy="4572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785348" y="1828800"/>
            <a:ext cx="13167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N"/>
              </a:rPr>
              <a:t>S8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5348" y="2377440"/>
            <a:ext cx="13167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50" b="1">
                <a:solidFill>
                  <a:srgbClr val="2B2422"/>
                </a:solidFill>
                <a:latin typeface="Hiragino Kaku Gothic ProN"/>
              </a:rPr>
              <a:t>売却・記録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5348" y="2880360"/>
            <a:ext cx="1316736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最高値で売却</a:t>
            </a:r>
          </a:p>
          <a:p>
            <a:pPr algn="ctr">
              <a:lnSpc>
                <a:spcPct val="110000"/>
              </a:lnSpc>
            </a:pPr>
            <a:r>
              <a:rPr sz="1000" b="0">
                <a:solidFill>
                  <a:srgbClr val="6B605C"/>
                </a:solidFill>
                <a:latin typeface="Hiragino Kaku Gothic ProN"/>
              </a:rPr>
              <a:t>担当者と関係構築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4944" y="4626864"/>
            <a:ext cx="10972800" cy="155448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" y="4572000"/>
            <a:ext cx="10972800" cy="1554480"/>
          </a:xfrm>
          <a:prstGeom prst="roundRect">
            <a:avLst/>
          </a:prstGeom>
          <a:solidFill>
            <a:srgbClr val="F3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4754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2211B"/>
                </a:solidFill>
                <a:latin typeface="Hiragino Kaku Gothic ProN"/>
              </a:rPr>
              <a:t>不動産との対応関係（同じ筋肉で回せる）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166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レインズ発掘=売払い公告ウォッチ ／ 謄本・重説=物件仕様書・入札公告 ／ 内見・現調=現物公開日 ／ 買付=入札書（ただし一発・撤回不可）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決済=契約締結・全額前払い ／ 転売先=買取・輸出業者（レインズの代わりに相見積りで最高値を作る）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案件発掘：官公庁の売払い公告を拾う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548640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探す場所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・市町村/水道企業団/一部事務組合のHP「入札情報」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・「公用車 売払い 入札」「不用物品 売払い」で検索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・官公庁オークション（KSI官公庁オークション等）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・地域要件が緩い案件＝競争が激しい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地域限定案件＝参入障壁が高い分、安く取れる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狙い目の型：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・地方の水道/消防/土木系＝ランクル・ハイエース等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海外needsの高い車が出やすい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・「最低売却価格が明らかに安い」＝役所は相場を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取りに行かない。ここが利益の源泉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00784"/>
            <a:ext cx="521208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140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公告日・入札方式（一般競争/条件付/せり）を確認した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4320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70662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最低売却価格と車種で「勝ち筋」があるか10分で仮判定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723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3580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参加資格（地域要件・法人/個人）を最初に読んだ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0156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649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締切から逆算したスケジュール表を作った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3075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69417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設計図書（仕様書）・様式類を全てDLして保存した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599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現物公開日をカレンダー登録（事前連絡の要否も）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38912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35254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過去の同種案件の落札結果を検索した（相場観）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参加資格・書類：門前払いを回避する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548640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最初に確認する3点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① 地域要件：住民登録 or 本店/支店/営業所の所在地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→ KHDは花巻支店登記で岩手中部圏域をクリア済み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→ 他地域の案件は「支店登記の追加」も戦略になる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② 欠格要件：破産/更生/税滞納/反社でないこと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③ 添付書類の有効期限：発行後3ヶ月以内が通例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→ 締切から逆算して取得日を決める（早取りは失効リスク）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法人申込の標準セット：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全部事項証明書／印鑑登録証明書／市町村税納税証明書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／誓約書（様式）／（代理人なら委任状＋身分証写し）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00784"/>
            <a:ext cx="521208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140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地域要件を自社の登記で満たすことを謄本で確認した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4320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70662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税の未納がないこと（誓約書と矛盾しない）を確認した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723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3580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添付書類の取得日を締切から逆算して決めた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0156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649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様式（申込書/誓約書）を正確な商号・住所で下書きした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3075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69417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不明点は質問書で企業団に事前照会した（期限内）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599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提出は持参 or 簡易書留等の記録が残る方法にした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38912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35254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受付期間内「必着」を確認した（消印有効ではない）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机上査定：仕様書精読 × 相見積りで「売値」を作る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548640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仕様書から読み取る査定因子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・型式→グレードを特定（MT/AT・バン/ワゴンで絞れる）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・走行距離／初度登録＝国内価値。ランクル等は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過走行でも海外価値が残る（50万kmからが本番）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・車検/自賠責の残＝自走可否・搬出コストに直結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・特殊装備（赤色灯等）＝撤去・用途変更の手間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相見積りの鉄則：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・最低3〜5社。国内買取/旧車専門/輸出系/知人ルート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と「タイプの違う」先に当てる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・提示額は相互に伏せる（アンカリング回避）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・車台番号は概算段階では渡さない（本命1社のみ）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00784"/>
            <a:ext cx="521208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140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型式・年式・走行・装備からグレードを特定した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4320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70662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排ガス規制(NOx・PM法)の適合を確認した※重要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723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3580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査定先を3〜5社リストアップ（タイプ分散）した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0156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649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競合化リスクを精査した（地域要件を満たす業者は除外）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3075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69417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概算査定を取り「保守/中央/強気」の3シナリオにした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599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査定根拠（メール・査定書）を証跡として保存した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38912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35254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想定vs実際の比較表を作り、取得のたび埋めている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現物確認：不動産の内見と同じ「唯一の実査機会」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548640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当日の段取り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・公開日は事前予約制が通例。必ず電話で時間を確保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・現状渡し＋契約不適合責任なし＝ここで見落とすと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全部自分持ち。写真は「多すぎるくらい」撮る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・査定業者に送る前提で撮る：外装4方向/下回り/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エンジンルーム/内装/メーター/タイヤ/装備品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最重要は下回り：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・降雪地の公用車は融雪剤による錆が最大の減点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・フレームの貫通錆の有無で輸出価値が激変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・その場で判断できなければ写真を整備工場・買取業者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に即送して所見をもらう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00784"/>
            <a:ext cx="521208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140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事前予約の電話を入れ、訪問時間を確定した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4320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70662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下回り（フレーム・足回り）の錆を撮影・打診した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723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3580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始動・アイドリング・白煙黒煙・オイル漏れを動画で記録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0156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649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車台番号と書類（車検証等）の一致を確認した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3075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69417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特殊装備の脱着可否を担当者に直接質問した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599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付属品（鍵・取説・リサイクル券・タイヤ等）を実見した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38912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35254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写真20枚以上を撮り、当日中に査定先へ送付した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収支確定：売値から逆算して入札上限を決める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6766560" cy="26517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766560" cy="26517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逆算式（転売前提・車検不要が基本）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63093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入札上限 ＝（保守シナリオ売却額 − 目標利益 − 諸費用）÷ 1.10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・契約金額＝入札額×1.10（消費税相当加算）が通例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・諸費用＝陸送(0〜10万・業者引取無料もある)＋名義変更等(1〜3万)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・保有するなら＋車検整備(15〜40万)＋排ガス規制の登録可否を確認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4535424"/>
            <a:ext cx="6766560" cy="164592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6766560" cy="1645920"/>
          </a:xfrm>
          <a:prstGeom prst="roundRect">
            <a:avLst/>
          </a:prstGeom>
          <a:solidFill>
            <a:srgbClr val="DDE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3F7D4E"/>
                </a:solidFill>
                <a:latin typeface="Hiragino Kaku Gothic ProN"/>
              </a:rPr>
              <a:t>実例：岩手中部ランクル（旧車王 実査定100〜200万円）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6309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保守100万で利益30万狙い → 上限52万 ／ 中央150万なら → 上限98万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2B2422"/>
                </a:solidFill>
                <a:latin typeface="Hiragino Kaku Gothic ProN"/>
              </a:rPr>
              <a:t>→ 推奨入札 55〜65万円・絶対上限80万円（保守の損益分岐）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35824" y="1700784"/>
            <a:ext cx="393192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80960" y="1645920"/>
            <a:ext cx="393192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4140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23774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売却3シナリオ（保守/中央/強気）を実査定で裏付けた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81635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9" y="277977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諸費用を業者別の実見積りで確定した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321868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9" y="318211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入札締切1週間前までに全見積りを回収した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362102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358444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「絶対上限」を先に決め、書面に残した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402336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9" y="398678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端数を付けた入札額にした（同額くじ回避）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442569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9" y="43891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資金（契約金額の全額前払い）を確保した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入札：一発勝負のルールを間違えない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548640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絶対に落とせない実務ルール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・入札回数1回／提出後の書換・撤回不可が通例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・金額は税抜で記入（契約金額は×1.10）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・「￥」記入・アラビア数字・訂正不可ペン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・封筒に件名明記・封印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・郵送は「必着」。簡易書留/特定記録で記録を残す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無効になる典型：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記名押印漏れ／金額訂正／指定様式以外／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資本・人的関係のある複数者の入札（連合とみなし）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00784"/>
            <a:ext cx="521208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140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入札書は指定様式・ボールペン・訂正なしで記入した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4320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70662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金額の頭に￥、桁ズレがないか2人ダブルチェックした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723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3580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記名・押印（法人は代表者印）を確認した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0156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649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封筒に件名を明記し封印した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3075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69417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提出期限の前日までに到達する手段で発送した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599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開札日・結果公表の確認方法を控えた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38912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35254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落札できなかった場合の次案件リストを用意した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落札後：契約・全額前払い・搬出を期限内に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548640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期限が3つ走る（1つでも落とすと決定取消も）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① 契約締結期限（例：落札から1週間）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② 代金全額前払い（納入通知書で契約締結までに）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③ 搬出期限（例：月末まで・費用は落札者負担）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搬出の実務：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・車検切れ＝公道自走不可 → 積載車を事前手配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（仮ナンバー自走は老朽車ではリスク高・非推奨）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・買取業者への直送も検討（引取無料の業者なら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陸送費が丸ごと浮く＝実質利益+5〜10万）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・名義変更登録は速やかに（自動車税・責任の切替）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00784"/>
            <a:ext cx="521208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140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契約締結・支払・搬出の3期限をカレンダー登録した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4320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70662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納入通知書での支払方法・期日を確認した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723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3580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陸送 or 業者引取を確定し、搬出日を予約した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0156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649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売却先と引取場所・日程を握った（直送できれば最良）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3075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69417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名義変更（または抹消）の段取りを決めた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599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特殊装備の撤去有無・タイミングを確定した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38912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35254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実費の領収書を全て保存した（比較表に反映）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売却・関係構築・記録：次の案件につなげる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548640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売却と事業化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・相見積りの最高値＋対応の質で売却先を決定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・取引完了時に「今後も官公庁売払いを継続的に扱う」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と伝え、担当者の直通連絡先を確保する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・担当者は名刺DB/顧客マスターに登録（次回は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電話1本で査定が回る状態を作る）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事業化の法規：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・古物商許可＝反復継続で転売するなら必須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（無許可営業は3年以下の懲役/100万円以下の罰金）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・2台目に着手する前に取得完了（申請〜許可1〜2ヶ月）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00784"/>
            <a:ext cx="521208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828800"/>
            <a:ext cx="2194560" cy="365760"/>
          </a:xfrm>
          <a:prstGeom prst="roundRect">
            <a:avLst/>
          </a:prstGeom>
          <a:solidFill>
            <a:srgbClr val="E7D9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1945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82211B"/>
                </a:solidFill>
                <a:latin typeface="Hiragino Kaku Gothic ProN"/>
              </a:rPr>
              <a:t>☑ チェックリスト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1401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本番査定（車台番号開示）は最有力1社に絞った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274320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70662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売買契約書・振込記録を保存した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072384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3035808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担当者名・直通連絡先を名刺DBに登録した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401568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3649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想定vs実際の比較表を完成させ、差異を分析した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5120" y="3730752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694176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案件全体の学び（次回の入札精度向上）をnotesに記録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59936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023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古物商許可の取得状況を確認した（2台目の前提）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389120"/>
            <a:ext cx="155448" cy="155448"/>
          </a:xfrm>
          <a:prstGeom prst="rect">
            <a:avLst/>
          </a:prstGeom>
          <a:noFill/>
          <a:ln w="1651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352544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B2422"/>
                </a:solidFill>
                <a:latin typeface="Hiragino Kaku Gothic ProN"/>
              </a:rPr>
              <a:t>次の売払い案件のウォッチを再開した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RISK &amp;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リスクと法規：先に知らないと即死する4つ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10972800" cy="1042415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0972800" cy="10424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28016" cy="1042415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NOx・PM法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28216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旧年式ディーゼルは首都圏・大阪・愛知等の対策地域で登録不可。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「東京で保有」が物理的に不可能な車がある。転売(輸出)なら無関係。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975104"/>
            <a:ext cx="868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20" y="197510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最重要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" y="2889504"/>
            <a:ext cx="10972800" cy="1042415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834640"/>
            <a:ext cx="10972800" cy="10424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128016" cy="1042415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92608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現状渡し・責任なし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916936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引渡し後の故障・瑕疵は全て自己責任。現物確認が唯一の防衛線。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下回り腐食は売値を数十万単位で変える。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61320" y="3163824"/>
            <a:ext cx="868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61320" y="316382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4078224"/>
            <a:ext cx="10972800" cy="1042415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023360"/>
            <a:ext cx="10972800" cy="10424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023360"/>
            <a:ext cx="128016" cy="1042415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11480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一発入札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105656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書換・撤回・再入札なし。相場を外すと高値掴みか未落札。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「絶対上限」を先に書面化してから入札書を書く。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61320" y="4352544"/>
            <a:ext cx="868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61320" y="435254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5266944"/>
            <a:ext cx="10972800" cy="1042415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5212080"/>
            <a:ext cx="10972800" cy="104241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5212080"/>
            <a:ext cx="128016" cy="1042415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3520"/>
            <a:ext cx="2377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50" b="1">
                <a:solidFill>
                  <a:srgbClr val="82211B"/>
                </a:solidFill>
                <a:latin typeface="Hiragino Kaku Gothic ProN"/>
              </a:rPr>
              <a:t>古物商許可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294376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反復継続の転売は許可必須。1台の単発は直ちに違法ではないが、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2B2422"/>
                </a:solidFill>
                <a:latin typeface="Hiragino Kaku Gothic ProN"/>
              </a:rPr>
              <a:t>事業化宣言済みなら2台目までに取得完了が必須。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61320" y="5541264"/>
            <a:ext cx="868680" cy="365760"/>
          </a:xfrm>
          <a:prstGeom prst="roundRect">
            <a:avLst/>
          </a:prstGeom>
          <a:solidFill>
            <a:srgbClr val="EC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5541264"/>
            <a:ext cx="868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82211B"/>
                </a:solidFill>
                <a:latin typeface="Hiragino Kaku Gothic ProN"/>
              </a:rPr>
              <a:t>中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39B4E"/>
                </a:solidFill>
                <a:latin typeface="Hiragino Kaku Gothic ProN"/>
              </a:rP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B2422"/>
                </a:solidFill>
                <a:latin typeface="Hiragino Kaku Gothic ProN"/>
              </a:rPr>
              <a:t>実例：岩手中部水道企業団 ランドクルーザー案件（2026）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1316736"/>
            <a:ext cx="1828800" cy="0"/>
          </a:xfrm>
          <a:prstGeom prst="bentConnector3">
            <a:avLst/>
          </a:prstGeom>
          <a:ln w="31750">
            <a:solidFill>
              <a:srgbClr val="C39B4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94944" y="1700784"/>
            <a:ext cx="548640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5486400" cy="4480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案件データ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車両：ランクル100 バンVX ディーゼル5MT(KG-HDJ101K)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平成10年式／28万km／車検切れ／公共応急作業車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最低売却価格：15万円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実査定：旧車王 概算100〜200万円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推奨入札：55〜65万円（上限80万円）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スケジュール：8/20現物確認 → 8/21書類締切 →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9/7入札 → 9/8開札 → 9/15契約・支払 → 9/30搬出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700784"/>
            <a:ext cx="5212080" cy="4480560"/>
          </a:xfrm>
          <a:prstGeom prst="roundRect">
            <a:avLst/>
          </a:prstGeom>
          <a:solidFill>
            <a:srgbClr val="E2D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5212080" cy="4480560"/>
          </a:xfrm>
          <a:prstGeom prst="roundRect">
            <a:avLst/>
          </a:prstGeom>
          <a:solidFill>
            <a:srgbClr val="F3E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2211B"/>
                </a:solidFill>
                <a:latin typeface="Hiragino Kaku Gothic ProN"/>
              </a:rPr>
              <a:t>この案件で確立した「型」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・地域要件は支店登記でクリアできる（参入障壁を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自分だけ越える＝安く仕入れる構造）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・役所の最低売却価格は市場価格と無関係。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仕様書の精読とプロ査定で「本当の値段」を掴む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・買取業者は地域要件を満たせない＝情報を渡しても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入札で競合しない。ただし買い叩きには注意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・全記録は .company/secretary/notes/ に集約。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B2422"/>
                </a:solidFill>
                <a:latin typeface="Hiragino Kaku Gothic ProN"/>
              </a:rPr>
              <a:t>　想定vs実際の差異が次回案件の精度になる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419088"/>
            <a:ext cx="10908792" cy="0"/>
          </a:xfrm>
          <a:prstGeom prst="bentConnector3">
            <a:avLst/>
          </a:prstGeom>
          <a:ln w="12700">
            <a:solidFill>
              <a:srgbClr val="ECDAD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437376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9A908A"/>
                </a:solidFill>
                <a:latin typeface="Hiragino Kaku Gothic ProN"/>
              </a:rPr>
              <a:t>KHD ｜ 車両転売事業マニュアル v1（公用車入札）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11247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A2E26"/>
                </a:solidFill>
                <a:latin typeface="Hiragino Kaku Gothic ProN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
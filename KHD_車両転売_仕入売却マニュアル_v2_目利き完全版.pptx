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0"/>
            <a:ext cx="109728" cy="6858000"/>
          </a:xfrm>
          <a:prstGeom prst="rect">
            <a:avLst/>
          </a:prstGeom>
          <a:solidFill>
            <a:srgbClr val="C3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9144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C39B4E"/>
                </a:solidFill>
                <a:latin typeface="Hiragino Kaku Gothic ProN"/>
              </a:rPr>
              <a:t>KHD ｜ 新規事業 ｜ 社内マニュアル（全社標準デザイン）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106070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>
                <a:solidFill>
                  <a:srgbClr val="FFFFFF"/>
                </a:solidFill>
                <a:latin typeface="Hiragino Kaku Gothic ProN"/>
              </a:rPr>
              <a:t>車両転売事業マニュアル v2</a:t>
            </a:r>
          </a:p>
          <a:p>
            <a:pPr algn="l">
              <a:lnSpc>
                <a:spcPct val="110000"/>
              </a:lnSpc>
            </a:pPr>
            <a:r>
              <a:rPr sz="3800" b="1">
                <a:solidFill>
                  <a:srgbClr val="FFFFFF"/>
                </a:solidFill>
                <a:latin typeface="Hiragino Kaku Gothic ProN"/>
              </a:rPr>
              <a:t>公用車入札 仕入〜売却 ＋ 目利き完全版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657600"/>
            <a:ext cx="1024128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E7D9B7"/>
                </a:solidFill>
                <a:latin typeface="Hiragino Kaku Gothic ProN"/>
              </a:rPr>
              <a:t>不動産と同じ8STEPの型 ＋ 最重要の「目利き」を図解と実車写真で徹底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E7D9B7"/>
                </a:solidFill>
                <a:latin typeface="Hiragino Kaku Gothic ProN"/>
              </a:rPr>
              <a:t>目利き章（模式図×12ポイント／実車写真9枚の見方）／ 8STEPチェックリスト ／ 撮影構図テンプレ ／ 総覧1枚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E7D9B7"/>
                </a:solidFill>
                <a:latin typeface="Hiragino Kaku Gothic ProN"/>
              </a:rPr>
              <a:t>実例：岩手中部水道企業団 ランドクルーザー100 バンVX（2026・公告148号）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98932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A908A"/>
                </a:solidFill>
                <a:latin typeface="Hiragino Kaku Gothic ProN"/>
              </a:rPr>
              <a:t>KIKUCHIホールディングス株式会社 ｜ 2026-07-15 v2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39B4E"/>
                </a:solidFill>
                <a:latin typeface="Hiragino Kaku Gothic ProN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B2422"/>
                </a:solidFill>
                <a:latin typeface="Hiragino Kaku Gothic ProN"/>
              </a:rPr>
              <a:t>全体フロー：不動産と同じ8ステップ ＋ 目利きが背骨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298448"/>
            <a:ext cx="1828800" cy="0"/>
          </a:xfrm>
          <a:prstGeom prst="bentConnector3">
            <a:avLst/>
          </a:prstGeom>
          <a:ln w="31750">
            <a:solidFill>
              <a:srgbClr val="C39B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94944" y="1792224"/>
            <a:ext cx="1316736" cy="192024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1316736" cy="1920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37360"/>
            <a:ext cx="1316736" cy="4572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131673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Hiragino Kaku Gothic ProN"/>
              </a:rPr>
              <a:t>S1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86000"/>
            <a:ext cx="13167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B2422"/>
                </a:solidFill>
                <a:latin typeface="Hiragino Kaku Gothic ProN"/>
              </a:rPr>
              <a:t>案件発掘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88920"/>
            <a:ext cx="1316736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6B605C"/>
                </a:solidFill>
                <a:latin typeface="Hiragino Kaku Gothic ProN"/>
              </a:rPr>
              <a:t>公告を拾う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44268" y="1792224"/>
            <a:ext cx="1316736" cy="192024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089404" y="1737360"/>
            <a:ext cx="1316736" cy="1920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89404" y="1737360"/>
            <a:ext cx="1316736" cy="4572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89404" y="1737360"/>
            <a:ext cx="131673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Hiragino Kaku Gothic ProN"/>
              </a:rPr>
              <a:t>S2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89404" y="2286000"/>
            <a:ext cx="13167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B2422"/>
                </a:solidFill>
                <a:latin typeface="Hiragino Kaku Gothic ProN"/>
              </a:rPr>
              <a:t>参加資格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89404" y="2788920"/>
            <a:ext cx="1316736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6B605C"/>
                </a:solidFill>
                <a:latin typeface="Hiragino Kaku Gothic ProN"/>
              </a:rPr>
              <a:t>門前払い回避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93592" y="1792224"/>
            <a:ext cx="1316736" cy="192024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538728" y="1737360"/>
            <a:ext cx="1316736" cy="1920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38728" y="1737360"/>
            <a:ext cx="1316736" cy="4572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38728" y="1737360"/>
            <a:ext cx="131673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Hiragino Kaku Gothic ProN"/>
              </a:rPr>
              <a:t>S3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8728" y="2286000"/>
            <a:ext cx="13167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B2422"/>
                </a:solidFill>
                <a:latin typeface="Hiragino Kaku Gothic ProN"/>
              </a:rPr>
              <a:t>机上査定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38728" y="2788920"/>
            <a:ext cx="1316736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6B605C"/>
                </a:solidFill>
                <a:latin typeface="Hiragino Kaku Gothic ProN"/>
              </a:rPr>
              <a:t>相場を作る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42916" y="1792224"/>
            <a:ext cx="1316736" cy="192024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988052" y="1737360"/>
            <a:ext cx="1316736" cy="1920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88052" y="1737360"/>
            <a:ext cx="1316736" cy="457200"/>
          </a:xfrm>
          <a:prstGeom prst="rect">
            <a:avLst/>
          </a:prstGeom>
          <a:solidFill>
            <a:srgbClr val="822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88052" y="1737360"/>
            <a:ext cx="131673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Hiragino Kaku Gothic ProN"/>
              </a:rPr>
              <a:t>S4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88052" y="2286000"/>
            <a:ext cx="13167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B2422"/>
                </a:solidFill>
                <a:latin typeface="Hiragino Kaku Gothic ProN"/>
              </a:rPr>
              <a:t>現物確認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88052" y="2788920"/>
            <a:ext cx="1316736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6B605C"/>
                </a:solidFill>
                <a:latin typeface="Hiragino Kaku Gothic ProN"/>
              </a:rPr>
              <a:t>目利き＝内見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92240" y="1792224"/>
            <a:ext cx="1316736" cy="192024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437376" y="1737360"/>
            <a:ext cx="1316736" cy="1920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37376" y="1737360"/>
            <a:ext cx="1316736" cy="4572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37376" y="1737360"/>
            <a:ext cx="131673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Hiragino Kaku Gothic ProN"/>
              </a:rPr>
              <a:t>S5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37376" y="2286000"/>
            <a:ext cx="13167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B2422"/>
                </a:solidFill>
                <a:latin typeface="Hiragino Kaku Gothic ProN"/>
              </a:rPr>
              <a:t>収支確定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37376" y="2788920"/>
            <a:ext cx="1316736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6B605C"/>
                </a:solidFill>
                <a:latin typeface="Hiragino Kaku Gothic ProN"/>
              </a:rPr>
              <a:t>逆算で上限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41564" y="1792224"/>
            <a:ext cx="1316736" cy="192024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886700" y="1737360"/>
            <a:ext cx="1316736" cy="1920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886700" y="1737360"/>
            <a:ext cx="1316736" cy="4572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86700" y="1737360"/>
            <a:ext cx="131673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Hiragino Kaku Gothic ProN"/>
              </a:rPr>
              <a:t>S6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86700" y="2286000"/>
            <a:ext cx="13167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B2422"/>
                </a:solidFill>
                <a:latin typeface="Hiragino Kaku Gothic ProN"/>
              </a:rPr>
              <a:t>入札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86700" y="2788920"/>
            <a:ext cx="1316736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6B605C"/>
                </a:solidFill>
                <a:latin typeface="Hiragino Kaku Gothic ProN"/>
              </a:rPr>
              <a:t>一発勝負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390888" y="1792224"/>
            <a:ext cx="1316736" cy="192024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336024" y="1737360"/>
            <a:ext cx="1316736" cy="1920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336024" y="1737360"/>
            <a:ext cx="1316736" cy="4572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36024" y="1737360"/>
            <a:ext cx="131673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Hiragino Kaku Gothic ProN"/>
              </a:rPr>
              <a:t>S7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36024" y="2286000"/>
            <a:ext cx="13167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B2422"/>
                </a:solidFill>
                <a:latin typeface="Hiragino Kaku Gothic ProN"/>
              </a:rPr>
              <a:t>決済・搬出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36024" y="2788920"/>
            <a:ext cx="1316736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6B605C"/>
                </a:solidFill>
                <a:latin typeface="Hiragino Kaku Gothic ProN"/>
              </a:rPr>
              <a:t>期限3本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840212" y="1792224"/>
            <a:ext cx="1316736" cy="192024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785348" y="1737360"/>
            <a:ext cx="1316736" cy="1920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785348" y="1737360"/>
            <a:ext cx="1316736" cy="4572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785348" y="1737360"/>
            <a:ext cx="131673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Hiragino Kaku Gothic ProN"/>
              </a:rPr>
              <a:t>S8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785348" y="2286000"/>
            <a:ext cx="13167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B2422"/>
                </a:solidFill>
                <a:latin typeface="Hiragino Kaku Gothic ProN"/>
              </a:rPr>
              <a:t>売却・記録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785348" y="2788920"/>
            <a:ext cx="1316736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6B605C"/>
                </a:solidFill>
                <a:latin typeface="Hiragino Kaku Gothic ProN"/>
              </a:rPr>
              <a:t>最高値＋関係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94944" y="4032503"/>
            <a:ext cx="10972800" cy="100584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640080" y="3977639"/>
            <a:ext cx="10972800" cy="1005840"/>
          </a:xfrm>
          <a:prstGeom prst="roundRect">
            <a:avLst/>
          </a:prstGeom>
          <a:solidFill>
            <a:srgbClr val="E7D9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14400" y="4114800"/>
            <a:ext cx="10424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82211B"/>
                </a:solidFill>
                <a:latin typeface="Hiragino Kaku Gothic ProN"/>
              </a:rPr>
              <a:t>★ 目利き（S4）が全STEPの背骨：不動産で「内見・現調しない買付はない」のと同じ。</a:t>
            </a:r>
          </a:p>
          <a:p>
            <a:pPr algn="l">
              <a:lnSpc>
                <a:spcPct val="125000"/>
              </a:lnSpc>
            </a:pPr>
            <a:r>
              <a:rPr sz="1350" b="1">
                <a:solidFill>
                  <a:srgbClr val="82211B"/>
                </a:solidFill>
                <a:latin typeface="Hiragino Kaku Gothic ProN"/>
              </a:rPr>
              <a:t>机上査定(S3)は仮説、現物確認(S4)が検証、収支(S5)は検証済みの数字だけで組む。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94944" y="5221224"/>
            <a:ext cx="10972800" cy="105156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640080" y="5166360"/>
            <a:ext cx="10972800" cy="1051560"/>
          </a:xfrm>
          <a:prstGeom prst="roundRect">
            <a:avLst/>
          </a:prstGeom>
          <a:solidFill>
            <a:srgbClr val="F3E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14400" y="5285232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不動産との対応：レインズ発掘=公告ウォッチ ／ 謄本・重説=仕様書・公告 ／ 内見・現調=現物公開日 ／ 買付=入札書（一発・撤回不可）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決済=契約・全額前払い ／ 転売先=買取・輸出業者（相見積りで最高値を作る）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640080" y="6419088"/>
            <a:ext cx="10908792" cy="0"/>
          </a:xfrm>
          <a:prstGeom prst="bentConnector3">
            <a:avLst/>
          </a:prstGeom>
          <a:ln w="12700">
            <a:solidFill>
              <a:srgbClr val="ECDAD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640080" y="6437376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A908A"/>
                </a:solidFill>
                <a:latin typeface="Hiragino Kaku Gothic ProN"/>
              </a:rPr>
              <a:t>KHD ｜ 車両転売事業マニュアル v2（公用車入札・目利き完全版）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424160" y="6437376"/>
            <a:ext cx="11247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A2E26"/>
                </a:solidFill>
                <a:latin typeface="Hiragino Kaku Gothic ProN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39B4E"/>
                </a:solidFill>
                <a:latin typeface="Hiragino Kaku Gothic ProN"/>
              </a:rPr>
              <a:t>INSPECTION MAP ｜ 最重要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B2422"/>
                </a:solidFill>
                <a:latin typeface="Hiragino Kaku Gothic ProN"/>
              </a:rPr>
              <a:t>車両目利きマップ：見るべき12ポイント（側面模式図）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298448"/>
            <a:ext cx="1828800" cy="0"/>
          </a:xfrm>
          <a:prstGeom prst="bentConnector3">
            <a:avLst/>
          </a:prstGeom>
          <a:ln w="31750">
            <a:solidFill>
              <a:srgbClr val="C39B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94944" y="1609344"/>
            <a:ext cx="7498079" cy="329184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7498079" cy="3291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97280" y="2880360"/>
            <a:ext cx="6309360" cy="1051560"/>
          </a:xfrm>
          <a:prstGeom prst="roundRect">
            <a:avLst/>
          </a:prstGeom>
          <a:solidFill>
            <a:srgbClr val="C9D2D8"/>
          </a:solidFill>
          <a:ln w="15240">
            <a:solidFill>
              <a:srgbClr val="8F9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103120" y="2240280"/>
            <a:ext cx="3840480" cy="868680"/>
          </a:xfrm>
          <a:prstGeom prst="roundRect">
            <a:avLst/>
          </a:prstGeom>
          <a:solidFill>
            <a:srgbClr val="C9D2D8"/>
          </a:solidFill>
          <a:ln w="15240">
            <a:solidFill>
              <a:srgbClr val="8F9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331720" y="2377440"/>
            <a:ext cx="1463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8F9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77639" y="2377440"/>
            <a:ext cx="16916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8F9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6000" y="2084831"/>
            <a:ext cx="3474720" cy="146304"/>
          </a:xfrm>
          <a:prstGeom prst="rect">
            <a:avLst/>
          </a:prstGeom>
          <a:solidFill>
            <a:srgbClr val="8F9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120640" y="1847088"/>
            <a:ext cx="274320" cy="274320"/>
          </a:xfrm>
          <a:prstGeom prst="ellipse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874519" y="3611880"/>
            <a:ext cx="960120" cy="960120"/>
          </a:xfrm>
          <a:prstGeom prst="ellipse">
            <a:avLst/>
          </a:prstGeom>
          <a:solidFill>
            <a:srgbClr val="2B2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806440" y="3611880"/>
            <a:ext cx="960120" cy="960120"/>
          </a:xfrm>
          <a:prstGeom prst="ellipse">
            <a:avLst/>
          </a:prstGeom>
          <a:solidFill>
            <a:srgbClr val="2B2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130552" y="3867912"/>
            <a:ext cx="457200" cy="457200"/>
          </a:xfrm>
          <a:prstGeom prst="ellipse">
            <a:avLst/>
          </a:prstGeom>
          <a:solidFill>
            <a:srgbClr val="C9D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062472" y="3867912"/>
            <a:ext cx="457200" cy="457200"/>
          </a:xfrm>
          <a:prstGeom prst="ellipse">
            <a:avLst/>
          </a:prstGeom>
          <a:solidFill>
            <a:srgbClr val="C9D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1097280" y="4224528"/>
            <a:ext cx="6309360" cy="0"/>
          </a:xfrm>
          <a:prstGeom prst="bentConnector3">
            <a:avLst/>
          </a:prstGeom>
          <a:ln w="19050">
            <a:solidFill>
              <a:srgbClr val="8F9D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1371600" y="4041648"/>
            <a:ext cx="5760720" cy="128016"/>
          </a:xfrm>
          <a:prstGeom prst="rect">
            <a:avLst/>
          </a:prstGeom>
          <a:solidFill>
            <a:srgbClr val="ECDA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566160" y="4160520"/>
            <a:ext cx="310896" cy="310896"/>
          </a:xfrm>
          <a:prstGeom prst="ellipse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6160" y="4146804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Hiragino Kaku Gothic ProN"/>
              </a:rPr>
              <a:t>1</a:t>
            </a:r>
          </a:p>
        </p:txBody>
      </p:sp>
      <p:sp>
        <p:nvSpPr>
          <p:cNvPr id="22" name="Oval 21"/>
          <p:cNvSpPr/>
          <p:nvPr/>
        </p:nvSpPr>
        <p:spPr>
          <a:xfrm>
            <a:off x="2057400" y="3703320"/>
            <a:ext cx="310896" cy="310896"/>
          </a:xfrm>
          <a:prstGeom prst="ellipse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57400" y="3689604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Hiragino Kaku Gothic ProN"/>
              </a:rPr>
              <a:t>2</a:t>
            </a:r>
          </a:p>
        </p:txBody>
      </p:sp>
      <p:sp>
        <p:nvSpPr>
          <p:cNvPr id="24" name="Oval 23"/>
          <p:cNvSpPr/>
          <p:nvPr/>
        </p:nvSpPr>
        <p:spPr>
          <a:xfrm>
            <a:off x="1234440" y="3063240"/>
            <a:ext cx="310896" cy="310896"/>
          </a:xfrm>
          <a:prstGeom prst="ellipse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4440" y="3049524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Hiragino Kaku Gothic ProN"/>
              </a:rPr>
              <a:t>3</a:t>
            </a:r>
          </a:p>
        </p:txBody>
      </p:sp>
      <p:sp>
        <p:nvSpPr>
          <p:cNvPr id="26" name="Oval 25"/>
          <p:cNvSpPr/>
          <p:nvPr/>
        </p:nvSpPr>
        <p:spPr>
          <a:xfrm>
            <a:off x="4480560" y="2395728"/>
            <a:ext cx="310896" cy="310896"/>
          </a:xfrm>
          <a:prstGeom prst="ellipse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80560" y="2382012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Hiragino Kaku Gothic ProN"/>
              </a:rPr>
              <a:t>4</a:t>
            </a:r>
          </a:p>
        </p:txBody>
      </p:sp>
      <p:sp>
        <p:nvSpPr>
          <p:cNvPr id="28" name="Oval 27"/>
          <p:cNvSpPr/>
          <p:nvPr/>
        </p:nvSpPr>
        <p:spPr>
          <a:xfrm>
            <a:off x="5074920" y="1783080"/>
            <a:ext cx="310896" cy="310896"/>
          </a:xfrm>
          <a:prstGeom prst="ellipse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74920" y="1769364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Hiragino Kaku Gothic ProN"/>
              </a:rPr>
              <a:t>5</a:t>
            </a:r>
          </a:p>
        </p:txBody>
      </p:sp>
      <p:sp>
        <p:nvSpPr>
          <p:cNvPr id="30" name="Oval 29"/>
          <p:cNvSpPr/>
          <p:nvPr/>
        </p:nvSpPr>
        <p:spPr>
          <a:xfrm>
            <a:off x="6858000" y="2834640"/>
            <a:ext cx="310896" cy="310896"/>
          </a:xfrm>
          <a:prstGeom prst="ellipse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0" y="2820924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Hiragino Kaku Gothic ProN"/>
              </a:rPr>
              <a:t>6</a:t>
            </a:r>
          </a:p>
        </p:txBody>
      </p:sp>
      <p:sp>
        <p:nvSpPr>
          <p:cNvPr id="32" name="Oval 31"/>
          <p:cNvSpPr/>
          <p:nvPr/>
        </p:nvSpPr>
        <p:spPr>
          <a:xfrm>
            <a:off x="3657600" y="3200400"/>
            <a:ext cx="310896" cy="310896"/>
          </a:xfrm>
          <a:prstGeom prst="ellipse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0" y="3186684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Hiragino Kaku Gothic ProN"/>
              </a:rPr>
              <a:t>7</a:t>
            </a:r>
          </a:p>
        </p:txBody>
      </p:sp>
      <p:sp>
        <p:nvSpPr>
          <p:cNvPr id="34" name="Oval 33"/>
          <p:cNvSpPr/>
          <p:nvPr/>
        </p:nvSpPr>
        <p:spPr>
          <a:xfrm>
            <a:off x="2834640" y="2651760"/>
            <a:ext cx="310896" cy="310896"/>
          </a:xfrm>
          <a:prstGeom prst="ellipse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34640" y="2638044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Hiragino Kaku Gothic ProN"/>
              </a:rP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4590288"/>
            <a:ext cx="6766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A908A"/>
                </a:solidFill>
                <a:latin typeface="Hiragino Kaku Gothic ProN"/>
              </a:rPr>
              <a:t>※KHD自作の模式図（車両を横から見た図）。番号=右の目利きポイントに対応。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421624" y="1609344"/>
            <a:ext cx="3246120" cy="457200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366760" y="1554480"/>
            <a:ext cx="3246120" cy="4572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95360" y="169164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82211B"/>
                </a:solidFill>
                <a:latin typeface="Hiragino Kaku Gothic ProN"/>
              </a:rPr>
              <a:t>12の目利きポイント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0" y="210312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B2422"/>
                </a:solidFill>
                <a:latin typeface="Hiragino Kaku Gothic ProN"/>
              </a:rPr>
              <a:t>① 下回り・フレーム錆（最重要）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0" y="2427732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B2422"/>
                </a:solidFill>
                <a:latin typeface="Hiragino Kaku Gothic ProN"/>
              </a:rPr>
              <a:t>② タイヤ・足回り・ブッシュ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95360" y="2752344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B2422"/>
                </a:solidFill>
                <a:latin typeface="Hiragino Kaku Gothic ProN"/>
              </a:rPr>
              <a:t>③ ボディ下部パネルの錆・膨れ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95360" y="3076956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B2422"/>
                </a:solidFill>
                <a:latin typeface="Hiragino Kaku Gothic ProN"/>
              </a:rPr>
              <a:t>④ ガラス・モール・ドア開閉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95360" y="3401568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B2422"/>
                </a:solidFill>
                <a:latin typeface="Hiragino Kaku Gothic ProN"/>
              </a:rPr>
              <a:t>⑤ 特殊装備（赤色灯・ラック）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95360" y="372618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B2422"/>
                </a:solidFill>
                <a:latin typeface="Hiragino Kaku Gothic ProN"/>
              </a:rPr>
              <a:t>⑥ エンジンルーム（漏れ・煙）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95360" y="4050792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B2422"/>
                </a:solidFill>
                <a:latin typeface="Hiragino Kaku Gothic ProN"/>
              </a:rPr>
              <a:t>⑦ 室内・シート・floor錆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95360" y="4375404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B2422"/>
                </a:solidFill>
                <a:latin typeface="Hiragino Kaku Gothic ProN"/>
              </a:rPr>
              <a:t>⑧ メーター（ODOと書類一致）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95360" y="4700016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B2422"/>
                </a:solidFill>
                <a:latin typeface="Hiragino Kaku Gothic ProN"/>
              </a:rPr>
              <a:t>⑨ シフト・クラッチ（MT）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95360" y="5024628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B2422"/>
                </a:solidFill>
                <a:latin typeface="Hiragino Kaku Gothic ProN"/>
              </a:rPr>
              <a:t>⑩ 付属品（鍵・タイヤ・書類）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95360" y="534924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B2422"/>
                </a:solidFill>
                <a:latin typeface="Hiragino Kaku Gothic ProN"/>
              </a:rPr>
              <a:t>⑪ 車台番号打刻と書類一致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95360" y="5673852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B2422"/>
                </a:solidFill>
                <a:latin typeface="Hiragino Kaku Gothic ProN"/>
              </a:rPr>
              <a:t>⑫ 排気（白煙/黒煙・異音）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94944" y="5084064"/>
            <a:ext cx="7498079" cy="109728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640080" y="5029200"/>
            <a:ext cx="7498079" cy="1097280"/>
          </a:xfrm>
          <a:prstGeom prst="roundRect">
            <a:avLst/>
          </a:prstGeom>
          <a:solidFill>
            <a:srgbClr val="E7D9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14400" y="5138928"/>
            <a:ext cx="7040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82211B"/>
                </a:solidFill>
                <a:latin typeface="Hiragino Kaku Gothic ProN"/>
              </a:rPr>
              <a:t>配点イメージ：①下回り40点 ／ ⑥機関20点 ／ ③外装15点 ／ ⑧⑪整合10点 ／ その他15点。</a:t>
            </a:r>
          </a:p>
          <a:p>
            <a:pPr algn="l">
              <a:lnSpc>
                <a:spcPct val="125000"/>
              </a:lnSpc>
            </a:pPr>
            <a:r>
              <a:rPr sz="1250" b="1">
                <a:solidFill>
                  <a:srgbClr val="82211B"/>
                </a:solidFill>
                <a:latin typeface="Hiragino Kaku Gothic ProN"/>
              </a:rPr>
              <a:t>①が崩れたら（貫通錆）他が満点でも降りる。不動産の「構造・傾き」と同じ扱い。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40080" y="6419088"/>
            <a:ext cx="10908792" cy="0"/>
          </a:xfrm>
          <a:prstGeom prst="bentConnector3">
            <a:avLst/>
          </a:prstGeom>
          <a:ln w="12700">
            <a:solidFill>
              <a:srgbClr val="ECDAD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640080" y="6437376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A908A"/>
                </a:solidFill>
                <a:latin typeface="Hiragino Kaku Gothic ProN"/>
              </a:rPr>
              <a:t>KHD ｜ 車両転売事業マニュアル v2（公用車入札・目利き完全版）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424160" y="6437376"/>
            <a:ext cx="11247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A2E26"/>
                </a:solidFill>
                <a:latin typeface="Hiragino Kaku Gothic ProN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39B4E"/>
                </a:solidFill>
                <a:latin typeface="Hiragino Kaku Gothic ProN"/>
              </a:rPr>
              <a:t>INSPECTION 1/4 ｜ 配点40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B2422"/>
                </a:solidFill>
                <a:latin typeface="Hiragino Kaku Gothic ProN"/>
              </a:rPr>
              <a:t>下回り・フレーム：ここで買値が数十万動く（下面模式図）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298448"/>
            <a:ext cx="1828800" cy="0"/>
          </a:xfrm>
          <a:prstGeom prst="bentConnector3">
            <a:avLst/>
          </a:prstGeom>
          <a:ln w="31750">
            <a:solidFill>
              <a:srgbClr val="C39B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94944" y="1609344"/>
            <a:ext cx="5852160" cy="448056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5852160" cy="4480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17320" y="2011680"/>
            <a:ext cx="274320" cy="3291840"/>
          </a:xfrm>
          <a:prstGeom prst="rect">
            <a:avLst/>
          </a:prstGeom>
          <a:solidFill>
            <a:srgbClr val="C9D2D8"/>
          </a:solidFill>
          <a:ln w="12700">
            <a:solidFill>
              <a:srgbClr val="8F9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49240" y="2011680"/>
            <a:ext cx="274320" cy="3291840"/>
          </a:xfrm>
          <a:prstGeom prst="rect">
            <a:avLst/>
          </a:prstGeom>
          <a:solidFill>
            <a:srgbClr val="C9D2D8"/>
          </a:solidFill>
          <a:ln w="12700">
            <a:solidFill>
              <a:srgbClr val="8F9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91640" y="2176272"/>
            <a:ext cx="3657600" cy="201168"/>
          </a:xfrm>
          <a:prstGeom prst="rect">
            <a:avLst/>
          </a:prstGeom>
          <a:solidFill>
            <a:srgbClr val="C9D2D8"/>
          </a:solidFill>
          <a:ln w="12700">
            <a:solidFill>
              <a:srgbClr val="8F9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691640" y="2907792"/>
            <a:ext cx="3657600" cy="201168"/>
          </a:xfrm>
          <a:prstGeom prst="rect">
            <a:avLst/>
          </a:prstGeom>
          <a:solidFill>
            <a:srgbClr val="C9D2D8"/>
          </a:solidFill>
          <a:ln w="12700">
            <a:solidFill>
              <a:srgbClr val="8F9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91640" y="3639312"/>
            <a:ext cx="3657600" cy="201168"/>
          </a:xfrm>
          <a:prstGeom prst="rect">
            <a:avLst/>
          </a:prstGeom>
          <a:solidFill>
            <a:srgbClr val="C9D2D8"/>
          </a:solidFill>
          <a:ln w="12700">
            <a:solidFill>
              <a:srgbClr val="8F9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691640" y="4370832"/>
            <a:ext cx="3657600" cy="201168"/>
          </a:xfrm>
          <a:prstGeom prst="rect">
            <a:avLst/>
          </a:prstGeom>
          <a:solidFill>
            <a:srgbClr val="C9D2D8"/>
          </a:solidFill>
          <a:ln w="12700">
            <a:solidFill>
              <a:srgbClr val="8F9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691640" y="5102352"/>
            <a:ext cx="3657600" cy="201168"/>
          </a:xfrm>
          <a:prstGeom prst="rect">
            <a:avLst/>
          </a:prstGeom>
          <a:solidFill>
            <a:srgbClr val="C9D2D8"/>
          </a:solidFill>
          <a:ln w="12700">
            <a:solidFill>
              <a:srgbClr val="8F9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33272" y="2240280"/>
            <a:ext cx="384048" cy="868680"/>
          </a:xfrm>
          <a:prstGeom prst="ellipse">
            <a:avLst/>
          </a:prstGeom>
          <a:solidFill>
            <a:srgbClr val="2B2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623560" y="2240280"/>
            <a:ext cx="384048" cy="868680"/>
          </a:xfrm>
          <a:prstGeom prst="ellipse">
            <a:avLst/>
          </a:prstGeom>
          <a:solidFill>
            <a:srgbClr val="2B2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4251960"/>
            <a:ext cx="384048" cy="868680"/>
          </a:xfrm>
          <a:prstGeom prst="ellipse">
            <a:avLst/>
          </a:prstGeom>
          <a:solidFill>
            <a:srgbClr val="2B2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623560" y="4251960"/>
            <a:ext cx="384048" cy="868680"/>
          </a:xfrm>
          <a:prstGeom prst="ellipse">
            <a:avLst/>
          </a:prstGeom>
          <a:solidFill>
            <a:srgbClr val="2B2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417320" y="4389120"/>
            <a:ext cx="274320" cy="9144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49240" y="4389120"/>
            <a:ext cx="274320" cy="9144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691640" y="5102352"/>
            <a:ext cx="3657600" cy="201168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154680" y="5010912"/>
            <a:ext cx="310896" cy="310896"/>
          </a:xfrm>
          <a:prstGeom prst="ellipse">
            <a:avLst/>
          </a:prstGeom>
          <a:solidFill>
            <a:srgbClr val="822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54680" y="4997196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Hiragino Kaku Gothic ProN"/>
              </a:rPr>
              <a:t>A</a:t>
            </a:r>
          </a:p>
        </p:txBody>
      </p:sp>
      <p:sp>
        <p:nvSpPr>
          <p:cNvPr id="24" name="Oval 23"/>
          <p:cNvSpPr/>
          <p:nvPr/>
        </p:nvSpPr>
        <p:spPr>
          <a:xfrm>
            <a:off x="1280160" y="3383280"/>
            <a:ext cx="310896" cy="310896"/>
          </a:xfrm>
          <a:prstGeom prst="ellipse">
            <a:avLst/>
          </a:prstGeom>
          <a:solidFill>
            <a:srgbClr val="C3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80160" y="3369564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2B2422"/>
                </a:solidFill>
                <a:latin typeface="Hiragino Kaku Gothic ProN"/>
              </a:rPr>
              <a:t>B</a:t>
            </a:r>
          </a:p>
        </p:txBody>
      </p:sp>
      <p:sp>
        <p:nvSpPr>
          <p:cNvPr id="26" name="Oval 25"/>
          <p:cNvSpPr/>
          <p:nvPr/>
        </p:nvSpPr>
        <p:spPr>
          <a:xfrm>
            <a:off x="3154680" y="2103120"/>
            <a:ext cx="310896" cy="310896"/>
          </a:xfrm>
          <a:prstGeom prst="ellipse">
            <a:avLst/>
          </a:prstGeom>
          <a:solidFill>
            <a:srgbClr val="C3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54680" y="2089404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2B2422"/>
                </a:solidFill>
                <a:latin typeface="Hiragino Kaku Gothic ProN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532120"/>
            <a:ext cx="5303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9A908A"/>
                </a:solidFill>
                <a:latin typeface="Hiragino Kaku Gothic ProN"/>
              </a:rPr>
              <a:t>上から見たラダーフレーム模式図。■赤=融雪剤地域で錆が集中する「後部」ホットゾーン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21424" y="1609344"/>
            <a:ext cx="4846320" cy="448056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766560" y="1554480"/>
            <a:ext cx="4846320" cy="4480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40880" y="173736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82211B"/>
                </a:solidFill>
                <a:latin typeface="Hiragino Kaku Gothic ProN"/>
              </a:rPr>
              <a:t>見方と判定基準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2194560"/>
            <a:ext cx="438912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A 後部フレーム・リアクロスメンバー（最頻発）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　→ドライバーの柄などで軽く叩く。「ボコッ」と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　　鈍い音・ボロボロ剥がれる＝内部腐食進行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B サイドレール全長（下に潜って目視）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　→表面サビ(茶色)はOK。「膨れ・層状剥離」はNG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C 前部クロス・足回り取付部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　→ブッシュ/ボルト周りの固着と亀裂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判定：表面サビのみ=減点小（輸出値ほぼ維持）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　　　膨れ・剥離=要減額交渉材料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　　　貫通穴=入札額を大幅に下げるか撤退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040880" y="5257800"/>
            <a:ext cx="4297680" cy="365760"/>
          </a:xfrm>
          <a:prstGeom prst="roundRect">
            <a:avLst/>
          </a:prstGeom>
          <a:solidFill>
            <a:srgbClr val="ECDA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40880" y="5257800"/>
            <a:ext cx="4297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82211B"/>
                </a:solidFill>
                <a:latin typeface="Hiragino Kaku Gothic ProN"/>
              </a:rPr>
              <a:t>岩手=融雪剤地域。ここが本案件最大の変数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40080" y="6419088"/>
            <a:ext cx="10908792" cy="0"/>
          </a:xfrm>
          <a:prstGeom prst="bentConnector3">
            <a:avLst/>
          </a:prstGeom>
          <a:ln w="12700">
            <a:solidFill>
              <a:srgbClr val="ECDAD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40080" y="6437376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A908A"/>
                </a:solidFill>
                <a:latin typeface="Hiragino Kaku Gothic ProN"/>
              </a:rPr>
              <a:t>KHD ｜ 車両転売事業マニュアル v2（公用車入札・目利き完全版）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24160" y="6437376"/>
            <a:ext cx="11247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A2E26"/>
                </a:solidFill>
                <a:latin typeface="Hiragino Kaku Gothic ProN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39B4E"/>
                </a:solidFill>
                <a:latin typeface="Hiragino Kaku Gothic ProN"/>
              </a:rPr>
              <a:t>INSPECTION 2/4 ｜ 配点20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B2422"/>
                </a:solidFill>
                <a:latin typeface="Hiragino Kaku Gothic ProN"/>
              </a:rPr>
              <a:t>機関（エンジン・排気）：実車写真で見る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298448"/>
            <a:ext cx="1828800" cy="0"/>
          </a:xfrm>
          <a:prstGeom prst="bentConnector3">
            <a:avLst/>
          </a:prstGeom>
          <a:ln w="31750">
            <a:solidFill>
              <a:srgbClr val="C39B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engi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91640"/>
            <a:ext cx="5669280" cy="378959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1673352"/>
            <a:ext cx="1920240" cy="329184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73352"/>
            <a:ext cx="19202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Hiragino Kaku Gothic ProN"/>
              </a:rPr>
              <a:t>実車：エンジンルーム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623560"/>
            <a:ext cx="5669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605C"/>
                </a:solidFill>
                <a:latin typeface="Hiragino Kaku Gothic ProN"/>
              </a:rPr>
              <a:t>1HD-FTE 4.2Lディーゼルターボ。ツインバッテリー（寒冷地/ディーゼル標準）。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605C"/>
                </a:solidFill>
                <a:latin typeface="Hiragino Kaku Gothic ProN"/>
              </a:rPr>
              <a:t>写真上：大きなオイル飛散・冷却水漏れ痕は見えず、年式比で良好な印象。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38544" y="1746504"/>
            <a:ext cx="5029200" cy="438912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0" y="1691640"/>
            <a:ext cx="5029200" cy="4389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1874519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82211B"/>
                </a:solidFill>
                <a:latin typeface="Hiragino Kaku Gothic ProN"/>
              </a:rPr>
              <a:t>現地で確認する7点（写真では分からない）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0" y="2368296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2331720"/>
            <a:ext cx="4206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B2422"/>
                </a:solidFill>
                <a:latin typeface="Hiragino Kaku Gothic ProN"/>
              </a:rPr>
              <a:t>冷間始動の一発始動性（ディーゼルの健康診断）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2752344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0" y="2715768"/>
            <a:ext cx="4206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B2422"/>
                </a:solidFill>
                <a:latin typeface="Hiragino Kaku Gothic ProN"/>
              </a:rPr>
              <a:t>アイドリング安定・異音（カラカラ/ガラガラ）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0" y="3136392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0" y="3099816"/>
            <a:ext cx="4206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B2422"/>
                </a:solidFill>
                <a:latin typeface="Hiragino Kaku Gothic ProN"/>
              </a:rPr>
              <a:t>排気色：白煙(オイル下がり)/黒煙(燃調・詰まり)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0" y="3520440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0" y="3483864"/>
            <a:ext cx="4206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B2422"/>
                </a:solidFill>
                <a:latin typeface="Hiragino Kaku Gothic ProN"/>
              </a:rPr>
              <a:t>オイルにじみ：ヘッドカバー・タービン周り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0" y="3904488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0" y="3867912"/>
            <a:ext cx="4206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B2422"/>
                </a:solidFill>
                <a:latin typeface="Hiragino Kaku Gothic ProN"/>
              </a:rPr>
              <a:t>冷却水の色（サビ色=管理不良のサイン）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0" y="4288536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0" y="4251960"/>
            <a:ext cx="4206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B2422"/>
                </a:solidFill>
                <a:latin typeface="Hiragino Kaku Gothic ProN"/>
              </a:rPr>
              <a:t>バッテリー端子の腐食・補機ベルトの亀裂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4672584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0" y="4636008"/>
            <a:ext cx="4206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B2422"/>
                </a:solidFill>
                <a:latin typeface="Hiragino Kaku Gothic ProN"/>
              </a:rPr>
              <a:t>ターボの効き（可能なら短距離の構内試走）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0" y="5394960"/>
            <a:ext cx="4480560" cy="365760"/>
          </a:xfrm>
          <a:prstGeom prst="roundRect">
            <a:avLst/>
          </a:prstGeom>
          <a:solidFill>
            <a:srgbClr val="E7D9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5394960"/>
            <a:ext cx="4480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82211B"/>
                </a:solidFill>
                <a:latin typeface="Hiragino Kaku Gothic ProN"/>
              </a:rPr>
              <a:t>28万km級1HDは「壊れる」より「漏れ・煙」を見る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40080" y="6419088"/>
            <a:ext cx="10908792" cy="0"/>
          </a:xfrm>
          <a:prstGeom prst="bentConnector3">
            <a:avLst/>
          </a:prstGeom>
          <a:ln w="12700">
            <a:solidFill>
              <a:srgbClr val="ECDAD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40080" y="6437376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A908A"/>
                </a:solidFill>
                <a:latin typeface="Hiragino Kaku Gothic ProN"/>
              </a:rPr>
              <a:t>KHD ｜ 車両転売事業マニュアル v2（公用車入札・目利き完全版）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24160" y="6437376"/>
            <a:ext cx="11247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A2E26"/>
                </a:solidFill>
                <a:latin typeface="Hiragino Kaku Gothic ProN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39B4E"/>
                </a:solidFill>
                <a:latin typeface="Hiragino Kaku Gothic ProN"/>
              </a:rPr>
              <a:t>INSPECTION 3/4 ｜ 配点10+α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B2422"/>
                </a:solidFill>
                <a:latin typeface="Hiragino Kaku Gothic ProN"/>
              </a:rPr>
              <a:t>内装・書類整合：メーターと書類の一致は「登記と現況の照合」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298448"/>
            <a:ext cx="1828800" cy="0"/>
          </a:xfrm>
          <a:prstGeom prst="bentConnector3">
            <a:avLst/>
          </a:prstGeom>
          <a:ln w="31750">
            <a:solidFill>
              <a:srgbClr val="C39B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meter_od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91640"/>
            <a:ext cx="5120640" cy="342104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1673352"/>
            <a:ext cx="1920240" cy="329184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73352"/>
            <a:ext cx="19202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Hiragino Kaku Gothic ProN"/>
              </a:rPr>
              <a:t>実車：メーター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257800"/>
            <a:ext cx="5120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605C"/>
                </a:solidFill>
                <a:latin typeface="Hiragino Kaku Gothic ProN"/>
              </a:rPr>
              <a:t>★ODO実写 280,113km ＝ 物件仕様書の記載(280,113km/R8.7.9時点)と完全一致。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605C"/>
                </a:solidFill>
                <a:latin typeface="Hiragino Kaku Gothic ProN"/>
              </a:rPr>
              <a:t>メーター整合OKの現物証拠。タコメーター6,000スケール＝ディーゼルの証明。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605C"/>
                </a:solidFill>
                <a:latin typeface="Hiragino Kaku Gothic ProN"/>
              </a:rPr>
              <a:t>警告灯はエンジン停止状態の点灯（油圧・充電）で正常。</a:t>
            </a:r>
          </a:p>
        </p:txBody>
      </p:sp>
      <p:pic>
        <p:nvPicPr>
          <p:cNvPr id="10" name="Picture 9" descr="cockpit_m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691640"/>
            <a:ext cx="5120640" cy="341737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126480" y="1673352"/>
            <a:ext cx="1920240" cy="329184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673352"/>
            <a:ext cx="19202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Hiragino Kaku Gothic ProN"/>
              </a:rPr>
              <a:t>実車：運転席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5257800"/>
            <a:ext cx="5120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605C"/>
                </a:solidFill>
                <a:latin typeface="Hiragino Kaku Gothic ProN"/>
              </a:rPr>
              <a:t>★5速MTシフト＋トランスファーレバーを実写確認 ＝ バンVXディーゼル5MTの現物証拠。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605C"/>
                </a:solidFill>
                <a:latin typeface="Hiragino Kaku Gothic ProN"/>
              </a:rPr>
              <a:t>業務無線マイク残置（撤去対象）。シート・内装は業務車として並〜良好。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605C"/>
                </a:solidFill>
                <a:latin typeface="Hiragino Kaku Gothic ProN"/>
              </a:rPr>
              <a:t>現地では：クラッチの繋がり位置（奥すぎ=摩耗）、シートレール下の床錆も確認。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0080" y="6419088"/>
            <a:ext cx="10908792" cy="0"/>
          </a:xfrm>
          <a:prstGeom prst="bentConnector3">
            <a:avLst/>
          </a:prstGeom>
          <a:ln w="12700">
            <a:solidFill>
              <a:srgbClr val="ECDAD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0080" y="6437376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A908A"/>
                </a:solidFill>
                <a:latin typeface="Hiragino Kaku Gothic ProN"/>
              </a:rPr>
              <a:t>KHD ｜ 車両転売事業マニュアル v2（公用車入札・目利き完全版）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437376"/>
            <a:ext cx="11247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A2E26"/>
                </a:solidFill>
                <a:latin typeface="Hiragino Kaku Gothic ProN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39B4E"/>
                </a:solidFill>
                <a:latin typeface="Hiragino Kaku Gothic ProN"/>
              </a:rPr>
              <a:t>INSPECTION 4/4 ｜ 配点15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B2422"/>
                </a:solidFill>
                <a:latin typeface="Hiragino Kaku Gothic ProN"/>
              </a:rPr>
              <a:t>装備・付属品：足す価値と引く手間を仕分ける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298448"/>
            <a:ext cx="1828800" cy="0"/>
          </a:xfrm>
          <a:prstGeom prst="bentConnector3">
            <a:avLst/>
          </a:prstGeom>
          <a:ln w="31750">
            <a:solidFill>
              <a:srgbClr val="C39B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clus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91640"/>
            <a:ext cx="5120640" cy="342102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1673352"/>
            <a:ext cx="1920240" cy="329184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73352"/>
            <a:ext cx="19202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Hiragino Kaku Gothic ProN"/>
              </a:rPr>
              <a:t>実車：センター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257800"/>
            <a:ext cx="5120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605C"/>
                </a:solidFill>
                <a:latin typeface="Hiragino Kaku Gothic ProN"/>
              </a:rPr>
              <a:t>業務無線・広報アンプ類が残置（「さぎょうだん18」ラベル＝作業団車両）。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605C"/>
                </a:solidFill>
                <a:latin typeface="Hiragino Kaku Gothic ProN"/>
              </a:rPr>
              <a:t>→引く手間：無線・広報設備・赤色灯は転売前に撤去が基本（企業団に外して引渡し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605C"/>
                </a:solidFill>
                <a:latin typeface="Hiragino Kaku Gothic ProN"/>
              </a:rPr>
              <a:t>可能かを質問書で確認済みの論点）。エアコン・オーディオは作動確認済(仕様書)。</a:t>
            </a:r>
          </a:p>
        </p:txBody>
      </p:sp>
      <p:pic>
        <p:nvPicPr>
          <p:cNvPr id="10" name="Picture 9" descr="trunk_tir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691640"/>
            <a:ext cx="5120640" cy="3420887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126480" y="1673352"/>
            <a:ext cx="1920240" cy="329184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673352"/>
            <a:ext cx="19202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Hiragino Kaku Gothic ProN"/>
              </a:rPr>
              <a:t>実車：荷室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5257800"/>
            <a:ext cx="5120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605C"/>
                </a:solidFill>
                <a:latin typeface="Hiragino Kaku Gothic ProN"/>
              </a:rPr>
              <a:t>★スタッドレス4本（2021年12月購入・比較的新しい）が付属 ＝ 足す価値（+2〜5万円相当）。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605C"/>
                </a:solidFill>
                <a:latin typeface="Hiragino Kaku Gothic ProN"/>
              </a:rPr>
              <a:t>テールゲート開閉・ダンパー保持OK。荷室フロアの錆・水染みを現地で確認。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605C"/>
                </a:solidFill>
                <a:latin typeface="Hiragino Kaku Gothic ProN"/>
              </a:rPr>
              <a:t>付属品：鍵3本・車検証・取説・リサイクル券（現地で全点実物照合）。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0080" y="6419088"/>
            <a:ext cx="10908792" cy="0"/>
          </a:xfrm>
          <a:prstGeom prst="bentConnector3">
            <a:avLst/>
          </a:prstGeom>
          <a:ln w="12700">
            <a:solidFill>
              <a:srgbClr val="ECDAD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0080" y="6437376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A908A"/>
                </a:solidFill>
                <a:latin typeface="Hiragino Kaku Gothic ProN"/>
              </a:rPr>
              <a:t>KHD ｜ 車両転売事業マニュアル v2（公用車入札・目利き完全版）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437376"/>
            <a:ext cx="11247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A2E26"/>
                </a:solidFill>
                <a:latin typeface="Hiragino Kaku Gothic ProN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39B4E"/>
                </a:solidFill>
                <a:latin typeface="Hiragino Kaku Gothic ProN"/>
              </a:rPr>
              <a:t>PHOTO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B2422"/>
                </a:solidFill>
                <a:latin typeface="Hiragino Kaku Gothic ProN"/>
              </a:rPr>
              <a:t>実車写真の現時点評価：写真で分かったこと／8/20で埋めること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298448"/>
            <a:ext cx="1828800" cy="0"/>
          </a:xfrm>
          <a:prstGeom prst="bentConnector3">
            <a:avLst/>
          </a:prstGeom>
          <a:ln w="31750">
            <a:solidFill>
              <a:srgbClr val="C39B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side_lef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91640"/>
            <a:ext cx="4572000" cy="305128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1673352"/>
            <a:ext cx="1920240" cy="329184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73352"/>
            <a:ext cx="19202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Hiragino Kaku Gothic ProN"/>
              </a:rPr>
              <a:t>実車：左側面</a:t>
            </a:r>
          </a:p>
        </p:txBody>
      </p:sp>
      <p:pic>
        <p:nvPicPr>
          <p:cNvPr id="9" name="Picture 8" descr="rear_vx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206240"/>
            <a:ext cx="3291840" cy="219805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40080" y="4187952"/>
            <a:ext cx="1920240" cy="329184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187952"/>
            <a:ext cx="19202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Hiragino Kaku Gothic ProN"/>
              </a:rPr>
              <a:t>実車：後方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4251960"/>
            <a:ext cx="17373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82211B"/>
                </a:solidFill>
                <a:latin typeface="Hiragino Kaku Gothic ProN"/>
              </a:rPr>
              <a:t>← VXバッジ</a:t>
            </a:r>
          </a:p>
          <a:p>
            <a:pPr algn="l">
              <a:lnSpc>
                <a:spcPct val="120000"/>
              </a:lnSpc>
            </a:pPr>
            <a:r>
              <a:rPr sz="1100" b="1">
                <a:solidFill>
                  <a:srgbClr val="82211B"/>
                </a:solidFill>
                <a:latin typeface="Hiragino Kaku Gothic ProN"/>
              </a:rPr>
              <a:t>実写確認。</a:t>
            </a:r>
          </a:p>
          <a:p>
            <a:pPr algn="l">
              <a:lnSpc>
                <a:spcPct val="120000"/>
              </a:lnSpc>
            </a:pPr>
            <a:r>
              <a:rPr sz="1100" b="1">
                <a:solidFill>
                  <a:srgbClr val="82211B"/>
                </a:solidFill>
                <a:latin typeface="Hiragino Kaku Gothic ProN"/>
              </a:rPr>
              <a:t>グレード確定</a:t>
            </a:r>
          </a:p>
          <a:p>
            <a:pPr algn="l">
              <a:lnSpc>
                <a:spcPct val="120000"/>
              </a:lnSpc>
            </a:pPr>
            <a:r>
              <a:rPr sz="1100" b="1">
                <a:solidFill>
                  <a:srgbClr val="82211B"/>
                </a:solidFill>
                <a:latin typeface="Hiragino Kaku Gothic ProN"/>
              </a:rPr>
              <a:t>の現物証拠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24144" y="1746504"/>
            <a:ext cx="5943600" cy="443484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69280" y="1691640"/>
            <a:ext cx="5943600" cy="4434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0" y="1874519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82211B"/>
                </a:solidFill>
                <a:latin typeface="Hiragino Kaku Gothic ProN"/>
              </a:rPr>
              <a:t>写真9枚から言えること（2026-07-15時点）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331720"/>
            <a:ext cx="539496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◎ 外装：ツヤあり・大きな凹み/事故痕は視認できず。年式比で良好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◎ グレード：後方VXバッジ・5MT・貨物登録 → バンVX確定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◎ 整合：ODO実写=仕様書=280,113km一致。メーター信頼できる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◎ 装備：ルーフラック・リアラダー・赤色灯・無線（撤去要否は判断）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○ 機関：エンジンルーム表層はきれい。ただし写真では音・煙・漏れ不明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△ 内装：業務使用感あり（減点小）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4572000"/>
            <a:ext cx="5394960" cy="18288"/>
          </a:xfrm>
          <a:prstGeom prst="rect">
            <a:avLst/>
          </a:prstGeom>
          <a:solidFill>
            <a:srgbClr val="ECDA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4681728"/>
            <a:ext cx="53949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82211B"/>
                </a:solidFill>
                <a:latin typeface="Hiragino Kaku Gothic ProN"/>
              </a:rPr>
              <a:t>✖ 写真に「下回り」が1枚もない ＝ 最大配点(40点)が未評価のまま。</a:t>
            </a:r>
          </a:p>
          <a:p>
            <a:pPr algn="l">
              <a:lnSpc>
                <a:spcPct val="130000"/>
              </a:lnSpc>
            </a:pPr>
            <a:r>
              <a:rPr sz="1250" b="1">
                <a:solidFill>
                  <a:srgbClr val="82211B"/>
                </a:solidFill>
                <a:latin typeface="Hiragino Kaku Gothic ProN"/>
              </a:rPr>
              <a:t>企業団の公開写真は上物だけ。だから8/20の現物確認が全て。</a:t>
            </a:r>
          </a:p>
          <a:p>
            <a:pPr algn="l">
              <a:lnSpc>
                <a:spcPct val="130000"/>
              </a:lnSpc>
            </a:pPr>
            <a:r>
              <a:rPr sz="1250" b="1">
                <a:solidFill>
                  <a:srgbClr val="82211B"/>
                </a:solidFill>
                <a:latin typeface="Hiragino Kaku Gothic ProN"/>
              </a:rPr>
              <a:t>下回りが表面サビ止まりなら、旧車王レンジ(100〜200万)の中央〜上限が狙える。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0080" y="6419088"/>
            <a:ext cx="10908792" cy="0"/>
          </a:xfrm>
          <a:prstGeom prst="bentConnector3">
            <a:avLst/>
          </a:prstGeom>
          <a:ln w="12700">
            <a:solidFill>
              <a:srgbClr val="ECDAD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0080" y="6437376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A908A"/>
                </a:solidFill>
                <a:latin typeface="Hiragino Kaku Gothic ProN"/>
              </a:rPr>
              <a:t>KHD ｜ 車両転売事業マニュアル v2（公用車入札・目利き完全版）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6437376"/>
            <a:ext cx="11247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A2E26"/>
                </a:solidFill>
                <a:latin typeface="Hiragino Kaku Gothic ProN"/>
              </a:rP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39B4E"/>
                </a:solidFill>
                <a:latin typeface="Hiragino Kaku Gothic ProN"/>
              </a:rPr>
              <a:t>PHOTO REVIEW 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B2422"/>
                </a:solidFill>
                <a:latin typeface="Hiragino Kaku Gothic ProN"/>
              </a:rPr>
              <a:t>外観の記録：前方・右側面（公式写真）と見るポイント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298448"/>
            <a:ext cx="1828800" cy="0"/>
          </a:xfrm>
          <a:prstGeom prst="bentConnector3">
            <a:avLst/>
          </a:prstGeom>
          <a:ln w="31750">
            <a:solidFill>
              <a:srgbClr val="C39B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fro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91640"/>
            <a:ext cx="5120640" cy="341558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1673352"/>
            <a:ext cx="1920240" cy="329184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73352"/>
            <a:ext cx="19202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Hiragino Kaku Gothic ProN"/>
              </a:rPr>
              <a:t>実車：前方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257800"/>
            <a:ext cx="5120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605C"/>
                </a:solidFill>
                <a:latin typeface="Hiragino Kaku Gothic ProN"/>
              </a:rPr>
              <a:t>岩手800「さ・134」＝8ナンバー特種登録の現物確認。赤色灯・ルーフラック・フォグ付き。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605C"/>
                </a:solidFill>
                <a:latin typeface="Hiragino Kaku Gothic ProN"/>
              </a:rPr>
              <a:t>バンパー・グリルに大きな損傷なし。ヘッドライトのくもりは年式なり（研磨で改善可）。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605C"/>
                </a:solidFill>
                <a:latin typeface="Hiragino Kaku Gothic ProN"/>
              </a:rPr>
              <a:t>現地では：ボンネット先端・ルーフ前縁の飛び石サビ、ガラスの飛び石傷を確認。</a:t>
            </a:r>
          </a:p>
        </p:txBody>
      </p:sp>
      <p:pic>
        <p:nvPicPr>
          <p:cNvPr id="10" name="Picture 9" descr="side_righ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691640"/>
            <a:ext cx="5120640" cy="341738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126480" y="1673352"/>
            <a:ext cx="1920240" cy="329184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673352"/>
            <a:ext cx="19202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Hiragino Kaku Gothic ProN"/>
              </a:rPr>
              <a:t>実車：右側面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5257800"/>
            <a:ext cx="5120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605C"/>
                </a:solidFill>
                <a:latin typeface="Hiragino Kaku Gothic ProN"/>
              </a:rPr>
              <a:t>右側面もライン通り・パネル波打ちなし（写真上）。サイドステップ下端は錆やすい部位。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605C"/>
                </a:solidFill>
                <a:latin typeface="Hiragino Kaku Gothic ProN"/>
              </a:rPr>
              <a:t>現地では：ドア下端・リアフェンダーアーチ内側を指で触って膨れを確認。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605C"/>
                </a:solidFill>
                <a:latin typeface="Hiragino Kaku Gothic ProN"/>
              </a:rPr>
              <a:t>ミラー・モール・ドアハンドルの欠品/割れも減点対象なので個別撮影する。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0080" y="6419088"/>
            <a:ext cx="10908792" cy="0"/>
          </a:xfrm>
          <a:prstGeom prst="bentConnector3">
            <a:avLst/>
          </a:prstGeom>
          <a:ln w="12700">
            <a:solidFill>
              <a:srgbClr val="ECDAD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0080" y="6437376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A908A"/>
                </a:solidFill>
                <a:latin typeface="Hiragino Kaku Gothic ProN"/>
              </a:rPr>
              <a:t>KHD ｜ 車両転売事業マニュアル v2（公用車入札・目利き完全版）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437376"/>
            <a:ext cx="11247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A2E26"/>
                </a:solidFill>
                <a:latin typeface="Hiragino Kaku Gothic ProN"/>
              </a:rP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39B4E"/>
                </a:solidFill>
                <a:latin typeface="Hiragino Kaku Gothic ProN"/>
              </a:rPr>
              <a:t>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B2422"/>
                </a:solidFill>
                <a:latin typeface="Hiragino Kaku Gothic ProN"/>
              </a:rPr>
              <a:t>案件発掘：官公庁の売払い公告を拾う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298448"/>
            <a:ext cx="1828800" cy="0"/>
          </a:xfrm>
          <a:prstGeom prst="bentConnector3">
            <a:avLst/>
          </a:prstGeom>
          <a:ln w="31750">
            <a:solidFill>
              <a:srgbClr val="C39B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94944" y="1609344"/>
            <a:ext cx="5486400" cy="457200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54864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82211B"/>
                </a:solidFill>
                <a:latin typeface="Hiragino Kaku Gothic ProN"/>
              </a:rPr>
              <a:t>探す場所と狙い目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5029200" cy="3749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・市町村/水道企業団/一部事務組合HPの「入札情報」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・「公用車 売払い 入札」「不用物品 売払い」で定期検索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・官公庁オークション（KSI等）も併読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狙い目の型：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・地方の水道/消防/土木系＝ランクル/ハイエース等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　海外需要の高い車が出やすい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・地域限定案件＝参入障壁が高い分、安く取れる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・最低売却価格は市場価格と無関係（役所は相場を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　取りに行かない）。ここが利益の源泉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55664" y="1609344"/>
            <a:ext cx="5212080" cy="457200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1554480"/>
            <a:ext cx="5212080" cy="4572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675120" y="1737360"/>
            <a:ext cx="2194560" cy="365760"/>
          </a:xfrm>
          <a:prstGeom prst="roundRect">
            <a:avLst/>
          </a:prstGeom>
          <a:solidFill>
            <a:srgbClr val="E7D9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737360"/>
            <a:ext cx="2194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82211B"/>
                </a:solidFill>
                <a:latin typeface="Hiragino Kaku Gothic ProN"/>
              </a:rPr>
              <a:t>☑ チェックリスト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0" y="2322576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0" y="228600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公告日・入札方式（一般競争/条件付/せり）を確認した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75120" y="2688336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0" y="265176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最低売却価格と車種で「勝ち筋」を10分で仮判定した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3054096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0" y="301752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参加資格（地域要件・法人/個人）を最初に読んだ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3419856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0" y="338328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締切から逆算したスケジュール表を作った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75120" y="3785616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0" y="374904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設計図書・様式類を全てDLして保存した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75120" y="4151376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0" y="411480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現物公開日をカレンダー登録した（事前連絡要否も）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0" y="4517136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0" y="448056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過去の同種案件の落札結果を検索した（相場観）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40080" y="6419088"/>
            <a:ext cx="10908792" cy="0"/>
          </a:xfrm>
          <a:prstGeom prst="bentConnector3">
            <a:avLst/>
          </a:prstGeom>
          <a:ln w="12700">
            <a:solidFill>
              <a:srgbClr val="ECDAD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40080" y="6437376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A908A"/>
                </a:solidFill>
                <a:latin typeface="Hiragino Kaku Gothic ProN"/>
              </a:rPr>
              <a:t>KHD ｜ 車両転売事業マニュアル v2（公用車入札・目利き完全版）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24160" y="6437376"/>
            <a:ext cx="11247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A2E26"/>
                </a:solidFill>
                <a:latin typeface="Hiragino Kaku Gothic ProN"/>
              </a:rP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39B4E"/>
                </a:solidFill>
                <a:latin typeface="Hiragino Kaku Gothic ProN"/>
              </a:rPr>
              <a:t>STEP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B2422"/>
                </a:solidFill>
                <a:latin typeface="Hiragino Kaku Gothic ProN"/>
              </a:rPr>
              <a:t>参加資格・書類：門前払いを回避する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298448"/>
            <a:ext cx="1828800" cy="0"/>
          </a:xfrm>
          <a:prstGeom prst="bentConnector3">
            <a:avLst/>
          </a:prstGeom>
          <a:ln w="31750">
            <a:solidFill>
              <a:srgbClr val="C39B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94944" y="1609344"/>
            <a:ext cx="5486400" cy="457200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54864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82211B"/>
                </a:solidFill>
                <a:latin typeface="Hiragino Kaku Gothic ProN"/>
              </a:rPr>
              <a:t>最初に確認する3点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5029200" cy="3749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① 地域要件：住民登録 or 本店/支店/営業所の所在地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　→ KHDは花巻支店登記で岩手中部圏域クリア済み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　→ 他地域案件は「支店登記の追加」も戦略になる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② 欠格要件：破産/更生/税滞納/反社でないこと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③ 添付書類の有効期限：発行後3ヶ月以内が通例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　→ 締切から逆算して取得（早取りは失効リスク）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法人申込の標準セット：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全部事項証明書／印鑑登録証明書／市町村税納税証明書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／誓約書／（代理人なら委任状＋身分証写し）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55664" y="1609344"/>
            <a:ext cx="5212080" cy="457200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1554480"/>
            <a:ext cx="5212080" cy="4572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675120" y="1737360"/>
            <a:ext cx="2194560" cy="365760"/>
          </a:xfrm>
          <a:prstGeom prst="roundRect">
            <a:avLst/>
          </a:prstGeom>
          <a:solidFill>
            <a:srgbClr val="E7D9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737360"/>
            <a:ext cx="2194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82211B"/>
                </a:solidFill>
                <a:latin typeface="Hiragino Kaku Gothic ProN"/>
              </a:rPr>
              <a:t>☑ チェックリスト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0" y="2322576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0" y="228600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地域要件を自社の登記で満たすことを謄本で確認した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75120" y="2688336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0" y="265176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税の未納なし（誓約書と矛盾しない）を確認した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3054096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0" y="301752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添付書類の取得日を締切から逆算して決めた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3419856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0" y="338328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様式を正確な商号・住所で下書きした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75120" y="3785616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0" y="374904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不明点は質問書で事前照会した（期限内）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75120" y="4151376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0" y="411480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提出は持参 or 簡易書留等の記録が残る方法にした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0" y="4517136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0" y="448056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受付期間内「必着」を確認した（消印有効ではない）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40080" y="6419088"/>
            <a:ext cx="10908792" cy="0"/>
          </a:xfrm>
          <a:prstGeom prst="bentConnector3">
            <a:avLst/>
          </a:prstGeom>
          <a:ln w="12700">
            <a:solidFill>
              <a:srgbClr val="ECDAD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40080" y="6437376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A908A"/>
                </a:solidFill>
                <a:latin typeface="Hiragino Kaku Gothic ProN"/>
              </a:rPr>
              <a:t>KHD ｜ 車両転売事業マニュアル v2（公用車入札・目利き完全版）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24160" y="6437376"/>
            <a:ext cx="11247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A2E26"/>
                </a:solidFill>
                <a:latin typeface="Hiragino Kaku Gothic ProN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39B4E"/>
                </a:solidFill>
                <a:latin typeface="Hiragino Kaku Gothic ProN"/>
              </a:rPr>
              <a:t>STEP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B2422"/>
                </a:solidFill>
                <a:latin typeface="Hiragino Kaku Gothic ProN"/>
              </a:rPr>
              <a:t>机上査定：仕様書精読 × 相見積りで「売値」を作る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298448"/>
            <a:ext cx="1828800" cy="0"/>
          </a:xfrm>
          <a:prstGeom prst="bentConnector3">
            <a:avLst/>
          </a:prstGeom>
          <a:ln w="31750">
            <a:solidFill>
              <a:srgbClr val="C39B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94944" y="1609344"/>
            <a:ext cx="5486400" cy="457200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54864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82211B"/>
                </a:solidFill>
                <a:latin typeface="Hiragino Kaku Gothic ProN"/>
              </a:rPr>
              <a:t>仕様書から読み取る査定因子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5029200" cy="3749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・型式→グレード特定（MT/AT・バン/ワゴンで絞れる）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・走行距離/初度登録＝国内価値。ランクル等は過走行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　でも海外価値が残る（50万kmからが本番）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・車検/自賠責の残＝自走可否・搬出コストに直結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・特殊装備（赤色灯等）＝撤去・用途変更の手間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相見積りの鉄則：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・3〜5社、タイプの違う先（国内買取/旧車専門/輸出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　/知人ルート）に当てる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・提示額は相互に伏せる（アンカリング回避）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・車台番号は概算段階では渡さない（本命1社のみ）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55664" y="1609344"/>
            <a:ext cx="5212080" cy="457200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1554480"/>
            <a:ext cx="5212080" cy="4572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675120" y="1737360"/>
            <a:ext cx="2194560" cy="365760"/>
          </a:xfrm>
          <a:prstGeom prst="roundRect">
            <a:avLst/>
          </a:prstGeom>
          <a:solidFill>
            <a:srgbClr val="E7D9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737360"/>
            <a:ext cx="2194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82211B"/>
                </a:solidFill>
                <a:latin typeface="Hiragino Kaku Gothic ProN"/>
              </a:rPr>
              <a:t>☑ チェックリスト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0" y="2322576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0" y="228600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型式・年式・走行・装備からグレードを特定した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75120" y="2688336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0" y="265176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排ガス規制(NOx・PM法)の適合を確認した ※重要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3054096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0" y="301752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査定先を3〜5社リストアップ（タイプ分散）した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3419856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0" y="338328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競合化リスクを精査した（地域要件を満たす業者は除外）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75120" y="3785616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0" y="374904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概算査定で「保守/中央/強気」の3シナリオを作った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75120" y="4151376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0" y="411480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査定根拠（メール・査定書）を証跡保存した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0" y="4517136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0" y="448056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想定vs実際の比較表を作り、取得のたび埋めている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40080" y="6419088"/>
            <a:ext cx="10908792" cy="0"/>
          </a:xfrm>
          <a:prstGeom prst="bentConnector3">
            <a:avLst/>
          </a:prstGeom>
          <a:ln w="12700">
            <a:solidFill>
              <a:srgbClr val="ECDAD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40080" y="6437376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A908A"/>
                </a:solidFill>
                <a:latin typeface="Hiragino Kaku Gothic ProN"/>
              </a:rPr>
              <a:t>KHD ｜ 車両転売事業マニュアル v2（公用車入札・目利き完全版）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24160" y="6437376"/>
            <a:ext cx="11247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A2E26"/>
                </a:solidFill>
                <a:latin typeface="Hiragino Kaku Gothic ProN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39B4E"/>
                </a:solidFill>
                <a:latin typeface="Hiragino Kaku Gothic ProN"/>
              </a:rPr>
              <a:t>STEP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B2422"/>
                </a:solidFill>
                <a:latin typeface="Hiragino Kaku Gothic ProN"/>
              </a:rPr>
              <a:t>現物確認：目利きマップ(p03〜08)を現場で回す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298448"/>
            <a:ext cx="1828800" cy="0"/>
          </a:xfrm>
          <a:prstGeom prst="bentConnector3">
            <a:avLst/>
          </a:prstGeom>
          <a:ln w="31750">
            <a:solidFill>
              <a:srgbClr val="C39B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94944" y="1609344"/>
            <a:ext cx="5486400" cy="457200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54864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82211B"/>
                </a:solidFill>
                <a:latin typeface="Hiragino Kaku Gothic ProN"/>
              </a:rPr>
              <a:t>当日の動線（60〜90分）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5029200" cy="3749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① 書類照合(10分)：車台番号打刻・車検証・付属品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② 外周(15分)：外装4方向→パネル隙間→ガラス→装備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③ 下回り(20分)：フレーム後部→サイドレール→足回り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　※ここに最長時間。マット・ライト・軍手持参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④ 機関(15分)：冷間始動→アイドル→排気色→漏れ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⑤ 内装(10分)：ODO→クラッチ→床錆→装備作動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⑥ 質問(10分)：装備撤去可否・整備記録の有無・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　過去の修理歴を担当者に直接確認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撮影は次ページの構図テンプレ20枚に沿って撮る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55664" y="1609344"/>
            <a:ext cx="5212080" cy="457200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1554480"/>
            <a:ext cx="5212080" cy="4572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675120" y="1737360"/>
            <a:ext cx="2194560" cy="365760"/>
          </a:xfrm>
          <a:prstGeom prst="roundRect">
            <a:avLst/>
          </a:prstGeom>
          <a:solidFill>
            <a:srgbClr val="E7D9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737360"/>
            <a:ext cx="2194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82211B"/>
                </a:solidFill>
                <a:latin typeface="Hiragino Kaku Gothic ProN"/>
              </a:rPr>
              <a:t>☑ チェックリスト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0" y="2322576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0" y="228600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事前予約の電話を入れ、訪問時間を確定した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75120" y="2688336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0" y="265176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持ち物を揃えた（ライト/軍手/マット/磁石/脚立）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3054096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0" y="301752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目利き12ポイントを順番どおり全て見た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3419856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0" y="338328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下回りは叩き＋目視で3ゾーン(A/B/C)判定した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75120" y="3785616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0" y="374904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冷間始動と排気色を動画で記録した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75120" y="4151376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0" y="411480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車台番号打刻と書類の一致を確認した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0" y="4517136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0" y="448056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写真20枚を撮り、当日中に査定先へ送付した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40080" y="6419088"/>
            <a:ext cx="10908792" cy="0"/>
          </a:xfrm>
          <a:prstGeom prst="bentConnector3">
            <a:avLst/>
          </a:prstGeom>
          <a:ln w="12700">
            <a:solidFill>
              <a:srgbClr val="ECDAD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40080" y="6437376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A908A"/>
                </a:solidFill>
                <a:latin typeface="Hiragino Kaku Gothic ProN"/>
              </a:rPr>
              <a:t>KHD ｜ 車両転売事業マニュアル v2（公用車入札・目利き完全版）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24160" y="6437376"/>
            <a:ext cx="11247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A2E26"/>
                </a:solidFill>
                <a:latin typeface="Hiragino Kaku Gothic ProN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39B4E"/>
                </a:solidFill>
                <a:latin typeface="Hiragino Kaku Gothic ProN"/>
              </a:rPr>
              <a:t>STEP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B2422"/>
                </a:solidFill>
                <a:latin typeface="Hiragino Kaku Gothic ProN"/>
              </a:rPr>
              <a:t>収支確定：売値から逆算して入札上限を決める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298448"/>
            <a:ext cx="1828800" cy="0"/>
          </a:xfrm>
          <a:prstGeom prst="bentConnector3">
            <a:avLst/>
          </a:prstGeom>
          <a:ln w="31750">
            <a:solidFill>
              <a:srgbClr val="C39B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94944" y="1609344"/>
            <a:ext cx="5486400" cy="457200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54864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82211B"/>
                </a:solidFill>
                <a:latin typeface="Hiragino Kaku Gothic ProN"/>
              </a:rPr>
              <a:t>逆算式と本案件の当てはめ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5029200" cy="3749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入札上限 ＝（保守売却額 − 目標利益 − 諸費用）÷ 1.10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・契約金額＝入札額×1.10（消費税相当）が通例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・諸費用＝陸送(0〜10万・業者引取無料なら0)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　＋名義変更等(1〜3万)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・保有なら＋車検整備(15〜40万)＋NOx・PM登録可否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本案件（旧車王実査定100〜200万円）：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保守100万・利益30万狙い → 上限52万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中央150万 → 上限98万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→ 推奨入札 55〜65万円／絶対上限80万円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55664" y="1609344"/>
            <a:ext cx="5212080" cy="457200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1554480"/>
            <a:ext cx="5212080" cy="4572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675120" y="1737360"/>
            <a:ext cx="2194560" cy="365760"/>
          </a:xfrm>
          <a:prstGeom prst="roundRect">
            <a:avLst/>
          </a:prstGeom>
          <a:solidFill>
            <a:srgbClr val="E7D9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737360"/>
            <a:ext cx="2194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82211B"/>
                </a:solidFill>
                <a:latin typeface="Hiragino Kaku Gothic ProN"/>
              </a:rPr>
              <a:t>☑ チェックリスト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0" y="2322576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0" y="228600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売却3シナリオを実査定で裏付けた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75120" y="2688336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0" y="265176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諸費用を業者別の実見積りで確定した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3054096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0" y="301752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入札締切1週間前までに全見積りを回収した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3419856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0" y="338328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「絶対上限」を先に決め、書面に残した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75120" y="3785616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0" y="374904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端数を付けた入札額にした（同額くじ回避）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75120" y="4151376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0" y="411480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資金（契約金額の全額前払い）を確保した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0" y="4517136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0" y="448056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現物確認の結果を入札額に反映した（下回り減点等）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40080" y="6419088"/>
            <a:ext cx="10908792" cy="0"/>
          </a:xfrm>
          <a:prstGeom prst="bentConnector3">
            <a:avLst/>
          </a:prstGeom>
          <a:ln w="12700">
            <a:solidFill>
              <a:srgbClr val="ECDAD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40080" y="6437376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A908A"/>
                </a:solidFill>
                <a:latin typeface="Hiragino Kaku Gothic ProN"/>
              </a:rPr>
              <a:t>KHD ｜ 車両転売事業マニュアル v2（公用車入札・目利き完全版）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24160" y="6437376"/>
            <a:ext cx="11247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A2E26"/>
                </a:solidFill>
                <a:latin typeface="Hiragino Kaku Gothic ProN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39B4E"/>
                </a:solidFill>
                <a:latin typeface="Hiragino Kaku Gothic ProN"/>
              </a:rPr>
              <a:t>STEP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B2422"/>
                </a:solidFill>
                <a:latin typeface="Hiragino Kaku Gothic ProN"/>
              </a:rPr>
              <a:t>入札：一発勝負のルールを間違えない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298448"/>
            <a:ext cx="1828800" cy="0"/>
          </a:xfrm>
          <a:prstGeom prst="bentConnector3">
            <a:avLst/>
          </a:prstGeom>
          <a:ln w="31750">
            <a:solidFill>
              <a:srgbClr val="C39B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94944" y="1609344"/>
            <a:ext cx="5486400" cy="457200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54864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82211B"/>
                </a:solidFill>
                <a:latin typeface="Hiragino Kaku Gothic ProN"/>
              </a:rPr>
              <a:t>絶対に落とせない実務ルール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5029200" cy="3749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・入札回数1回／提出後の書換・撤回不可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・金額は税抜で記入（契約金額は×1.10）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・「￥」記入・アラビア数字・訂正不可のペン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・封筒に件名明記・封印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・郵送は「必着」。簡易書留/特定記録で記録を残す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無効になる典型：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記名押印漏れ／金額訂正／指定様式以外／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資本・人的関係のある複数者の入札（連合とみなし）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55664" y="1609344"/>
            <a:ext cx="5212080" cy="457200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1554480"/>
            <a:ext cx="5212080" cy="4572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675120" y="1737360"/>
            <a:ext cx="2194560" cy="365760"/>
          </a:xfrm>
          <a:prstGeom prst="roundRect">
            <a:avLst/>
          </a:prstGeom>
          <a:solidFill>
            <a:srgbClr val="E7D9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737360"/>
            <a:ext cx="2194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82211B"/>
                </a:solidFill>
                <a:latin typeface="Hiragino Kaku Gothic ProN"/>
              </a:rPr>
              <a:t>☑ チェックリスト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0" y="2322576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0" y="228600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入札書は指定様式・訂正なしで記入した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75120" y="2688336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0" y="265176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金額の頭に￥、桁ズレがないかダブルチェックした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3054096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0" y="301752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記名・押印（法人は代表者印）を確認した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3419856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0" y="338328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封筒に件名を明記し封印した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75120" y="3785616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0" y="374904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提出期限の前日までに到達する手段で発送した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75120" y="4151376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0" y="411480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開札日・結果公表の確認方法を控えた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0" y="4517136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0" y="448056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落札できなかった場合の次案件リストを用意した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40080" y="6419088"/>
            <a:ext cx="10908792" cy="0"/>
          </a:xfrm>
          <a:prstGeom prst="bentConnector3">
            <a:avLst/>
          </a:prstGeom>
          <a:ln w="12700">
            <a:solidFill>
              <a:srgbClr val="ECDAD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40080" y="6437376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A908A"/>
                </a:solidFill>
                <a:latin typeface="Hiragino Kaku Gothic ProN"/>
              </a:rPr>
              <a:t>KHD ｜ 車両転売事業マニュアル v2（公用車入札・目利き完全版）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24160" y="6437376"/>
            <a:ext cx="11247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A2E26"/>
                </a:solidFill>
                <a:latin typeface="Hiragino Kaku Gothic ProN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39B4E"/>
                </a:solidFill>
                <a:latin typeface="Hiragino Kaku Gothic ProN"/>
              </a:rPr>
              <a:t>STEP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B2422"/>
                </a:solidFill>
                <a:latin typeface="Hiragino Kaku Gothic ProN"/>
              </a:rPr>
              <a:t>落札後：契約・全額前払い・搬出を期限内に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298448"/>
            <a:ext cx="1828800" cy="0"/>
          </a:xfrm>
          <a:prstGeom prst="bentConnector3">
            <a:avLst/>
          </a:prstGeom>
          <a:ln w="31750">
            <a:solidFill>
              <a:srgbClr val="C39B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94944" y="1609344"/>
            <a:ext cx="5486400" cy="457200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54864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82211B"/>
                </a:solidFill>
                <a:latin typeface="Hiragino Kaku Gothic ProN"/>
              </a:rPr>
              <a:t>期限が3本走る（1本落とすと決定取消も）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5029200" cy="3749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① 契約締結期限（例：落札から約1週間）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② 代金全額前払い（納入通知書で契約締結までに）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③ 搬出期限（例：月末・費用は落札者負担）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搬出の実務：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・車検切れ＝公道自走不可 → 積載車を事前手配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　（仮ナンバー自走は老朽車ではリスク高・非推奨）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・買取業者への直送も検討：引取無料の業者なら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　陸送費が丸ごと浮く＝実質利益+5〜10万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・名義変更/抹消は速やかに（税・責任の切替）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55664" y="1609344"/>
            <a:ext cx="5212080" cy="457200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1554480"/>
            <a:ext cx="5212080" cy="4572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675120" y="1737360"/>
            <a:ext cx="2194560" cy="365760"/>
          </a:xfrm>
          <a:prstGeom prst="roundRect">
            <a:avLst/>
          </a:prstGeom>
          <a:solidFill>
            <a:srgbClr val="E7D9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737360"/>
            <a:ext cx="2194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82211B"/>
                </a:solidFill>
                <a:latin typeface="Hiragino Kaku Gothic ProN"/>
              </a:rPr>
              <a:t>☑ チェックリスト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0" y="2322576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0" y="228600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契約・支払・搬出の3期限をカレンダー登録した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75120" y="2688336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0" y="265176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納入通知書での支払方法・期日を確認した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3054096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0" y="301752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陸送 or 業者引取を確定し、搬出日を予約した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3419856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0" y="338328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売却先と引取場所・日程を握った（直送が最良）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75120" y="3785616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0" y="374904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名義変更（または抹消）の段取りを決めた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75120" y="4151376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0" y="411480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特殊装備の撤去有無・タイミングを確定した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0" y="4517136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0" y="448056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実費の領収書を全て保存した（比較表に反映）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40080" y="6419088"/>
            <a:ext cx="10908792" cy="0"/>
          </a:xfrm>
          <a:prstGeom prst="bentConnector3">
            <a:avLst/>
          </a:prstGeom>
          <a:ln w="12700">
            <a:solidFill>
              <a:srgbClr val="ECDAD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40080" y="6437376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A908A"/>
                </a:solidFill>
                <a:latin typeface="Hiragino Kaku Gothic ProN"/>
              </a:rPr>
              <a:t>KHD ｜ 車両転売事業マニュアル v2（公用車入札・目利き完全版）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24160" y="6437376"/>
            <a:ext cx="11247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A2E26"/>
                </a:solidFill>
                <a:latin typeface="Hiragino Kaku Gothic ProN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39B4E"/>
                </a:solidFill>
                <a:latin typeface="Hiragino Kaku Gothic ProN"/>
              </a:rPr>
              <a:t>STEP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B2422"/>
                </a:solidFill>
                <a:latin typeface="Hiragino Kaku Gothic ProN"/>
              </a:rPr>
              <a:t>売却・関係構築・記録：次の案件につなげる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298448"/>
            <a:ext cx="1828800" cy="0"/>
          </a:xfrm>
          <a:prstGeom prst="bentConnector3">
            <a:avLst/>
          </a:prstGeom>
          <a:ln w="31750">
            <a:solidFill>
              <a:srgbClr val="C39B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94944" y="1609344"/>
            <a:ext cx="5486400" cy="457200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54864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82211B"/>
                </a:solidFill>
                <a:latin typeface="Hiragino Kaku Gothic ProN"/>
              </a:rPr>
              <a:t>売却と事業化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5029200" cy="3749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・相見積りの最高値＋対応の質で売却先を決定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・取引完了時に「今後も官公庁売払いを継続的に扱う」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　と伝え、担当者の直通連絡先を確保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・担当者は名刺DB/顧客マスターに登録（次回は電話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　1本で査定が回る状態を作る）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事業化の法規：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・古物商許可＝反復継続の転売に必須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　（無許可営業は3年以下の懲役/100万円以下の罰金）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・2台目に着手する前に取得完了（申請〜許可1〜2ヶ月）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55664" y="1609344"/>
            <a:ext cx="5212080" cy="457200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1554480"/>
            <a:ext cx="5212080" cy="4572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675120" y="1737360"/>
            <a:ext cx="2194560" cy="365760"/>
          </a:xfrm>
          <a:prstGeom prst="roundRect">
            <a:avLst/>
          </a:prstGeom>
          <a:solidFill>
            <a:srgbClr val="E7D9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737360"/>
            <a:ext cx="2194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82211B"/>
                </a:solidFill>
                <a:latin typeface="Hiragino Kaku Gothic ProN"/>
              </a:rPr>
              <a:t>☑ チェックリスト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0" y="2322576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0" y="228600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本番査定（車台番号開示）は最有力1社に絞った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75120" y="2688336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0" y="265176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売買契約書・振込記録を保存した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3054096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0" y="301752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担当者名・直通連絡先を名刺DBに登録した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3419856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0" y="338328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想定vs実際の比較表を完成させ、差異を分析した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75120" y="3785616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0" y="374904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案件全体の学びをnotesに記録した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75120" y="4151376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0" y="411480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古物商許可の取得状況を確認した（2台目の前提）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0" y="4517136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0" y="448056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次の売払い案件のウォッチを再開した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40080" y="6419088"/>
            <a:ext cx="10908792" cy="0"/>
          </a:xfrm>
          <a:prstGeom prst="bentConnector3">
            <a:avLst/>
          </a:prstGeom>
          <a:ln w="12700">
            <a:solidFill>
              <a:srgbClr val="ECDAD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40080" y="6437376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A908A"/>
                </a:solidFill>
                <a:latin typeface="Hiragino Kaku Gothic ProN"/>
              </a:rPr>
              <a:t>KHD ｜ 車両転売事業マニュアル v2（公用車入札・目利き完全版）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24160" y="6437376"/>
            <a:ext cx="11247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A2E26"/>
                </a:solidFill>
                <a:latin typeface="Hiragino Kaku Gothic ProN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39B4E"/>
                </a:solidFill>
                <a:latin typeface="Hiragino Kaku Gothic ProN"/>
              </a:rPr>
              <a:t>FIELD KIT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B2422"/>
                </a:solidFill>
                <a:latin typeface="Hiragino Kaku Gothic ProN"/>
              </a:rPr>
              <a:t>現地の持ち物 ＋ 撮影構図テンプレ20枚（査定送付用）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298448"/>
            <a:ext cx="1828800" cy="0"/>
          </a:xfrm>
          <a:prstGeom prst="bentConnector3">
            <a:avLst/>
          </a:prstGeom>
          <a:ln w="31750">
            <a:solidFill>
              <a:srgbClr val="C39B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94944" y="1609344"/>
            <a:ext cx="4023360" cy="457200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4023360" cy="4572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82211B"/>
                </a:solidFill>
                <a:latin typeface="Hiragino Kaku Gothic ProN"/>
              </a:rPr>
              <a:t>持ち物リスト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231136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19456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B2422"/>
                </a:solidFill>
                <a:latin typeface="Hiragino Kaku Gothic ProN"/>
              </a:rPr>
              <a:t>LEDライト（下回り照射用）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615184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2578608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B2422"/>
                </a:solidFill>
                <a:latin typeface="Hiragino Kaku Gothic ProN"/>
              </a:rPr>
              <a:t>軍手・汚れてよい服装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2999232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2962656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B2422"/>
                </a:solidFill>
                <a:latin typeface="Hiragino Kaku Gothic ProN"/>
              </a:rPr>
              <a:t>地面用マット or 段ボール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3383280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3346704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B2422"/>
                </a:solidFill>
                <a:latin typeface="Hiragino Kaku Gothic ProN"/>
              </a:rPr>
              <a:t>磁石（パテ盛り判定・ボディ用）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767328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3730752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B2422"/>
                </a:solidFill>
                <a:latin typeface="Hiragino Kaku Gothic ProN"/>
              </a:rPr>
              <a:t>スマホ＋モバイルバッテリー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4151376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411480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B2422"/>
                </a:solidFill>
                <a:latin typeface="Hiragino Kaku Gothic ProN"/>
              </a:rPr>
              <a:t>物件仕様書のコピー（照合用）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4535424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4498848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B2422"/>
                </a:solidFill>
                <a:latin typeface="Hiragino Kaku Gothic ProN"/>
              </a:rPr>
              <a:t>メジャー（荷室採寸）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4919472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88720" y="4882896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B2422"/>
                </a:solidFill>
                <a:latin typeface="Hiragino Kaku Gothic ProN"/>
              </a:rPr>
              <a:t>質問メモ（装備撤去可否等）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92624" y="1609344"/>
            <a:ext cx="6675120" cy="457200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937760" y="1554480"/>
            <a:ext cx="6675120" cy="4572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12080" y="1737360"/>
            <a:ext cx="6217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82211B"/>
                </a:solidFill>
                <a:latin typeface="Hiragino Kaku Gothic ProN"/>
              </a:rPr>
              <a:t>撮影構図20枚テンプレ（この順で撮ればそのまま査定に送れる）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80" y="224028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B2422"/>
                </a:solidFill>
                <a:latin typeface="Hiragino Kaku Gothic ProN"/>
              </a:rPr>
              <a:t>① 前方全景（ナンバー入り）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260604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B2422"/>
                </a:solidFill>
                <a:latin typeface="Hiragino Kaku Gothic ProN"/>
              </a:rPr>
              <a:t>② 後方全景（バッジ入り）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80" y="297180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B2422"/>
                </a:solidFill>
                <a:latin typeface="Hiragino Kaku Gothic ProN"/>
              </a:rPr>
              <a:t>③ 左側面全景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2080" y="333756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B2422"/>
                </a:solidFill>
                <a:latin typeface="Hiragino Kaku Gothic ProN"/>
              </a:rPr>
              <a:t>④ 右側面全景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80" y="370332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B2422"/>
                </a:solidFill>
                <a:latin typeface="Hiragino Kaku Gothic ProN"/>
              </a:rPr>
              <a:t>⑤ 左前45度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2080" y="406908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B2422"/>
                </a:solidFill>
                <a:latin typeface="Hiragino Kaku Gothic ProN"/>
              </a:rPr>
              <a:t>⑥ 右後45度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2080" y="443484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B2422"/>
                </a:solidFill>
                <a:latin typeface="Hiragino Kaku Gothic ProN"/>
              </a:rPr>
              <a:t>⑦ 下回り：後部フレーム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12080" y="480060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B2422"/>
                </a:solidFill>
                <a:latin typeface="Hiragino Kaku Gothic ProN"/>
              </a:rPr>
              <a:t>⑧ 下回り：左レール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12080" y="516636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B2422"/>
                </a:solidFill>
                <a:latin typeface="Hiragino Kaku Gothic ProN"/>
              </a:rPr>
              <a:t>⑨ 下回り：右レール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2080" y="553212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B2422"/>
                </a:solidFill>
                <a:latin typeface="Hiragino Kaku Gothic ProN"/>
              </a:rPr>
              <a:t>⑩ 下回り：前部クロス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20" y="224028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B2422"/>
                </a:solidFill>
                <a:latin typeface="Hiragino Kaku Gothic ProN"/>
              </a:rPr>
              <a:t>⑪ タイヤ4本（溝・製造年）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260604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B2422"/>
                </a:solidFill>
                <a:latin typeface="Hiragino Kaku Gothic ProN"/>
              </a:rPr>
              <a:t>⑫ エンジンルーム全景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297180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B2422"/>
                </a:solidFill>
                <a:latin typeface="Hiragino Kaku Gothic ProN"/>
              </a:rPr>
              <a:t>⑬ エンジン：オイル周り接写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3920" y="333756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B2422"/>
                </a:solidFill>
                <a:latin typeface="Hiragino Kaku Gothic ProN"/>
              </a:rPr>
              <a:t>⑭ 冷間始動の動画＋排気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03920" y="370332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B2422"/>
                </a:solidFill>
                <a:latin typeface="Hiragino Kaku Gothic ProN"/>
              </a:rPr>
              <a:t>⑮ メーター（ODO読める解像度）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03920" y="406908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B2422"/>
                </a:solidFill>
                <a:latin typeface="Hiragino Kaku Gothic ProN"/>
              </a:rPr>
              <a:t>⑯ 運転席全景（シフト入り）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03920" y="443484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B2422"/>
                </a:solidFill>
                <a:latin typeface="Hiragino Kaku Gothic ProN"/>
              </a:rPr>
              <a:t>⑰ シート・内装の傷汚れ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03920" y="480060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B2422"/>
                </a:solidFill>
                <a:latin typeface="Hiragino Kaku Gothic ProN"/>
              </a:rPr>
              <a:t>⑱ 荷室＋付属タイヤ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03920" y="516636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B2422"/>
                </a:solidFill>
                <a:latin typeface="Hiragino Kaku Gothic ProN"/>
              </a:rPr>
              <a:t>⑲ 車台番号打刻の接写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03920" y="553212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B2422"/>
                </a:solidFill>
                <a:latin typeface="Hiragino Kaku Gothic ProN"/>
              </a:rPr>
              <a:t>⑳ 傷・錆・凹みの個別接写(全部)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40080" y="6419088"/>
            <a:ext cx="10908792" cy="0"/>
          </a:xfrm>
          <a:prstGeom prst="bentConnector3">
            <a:avLst/>
          </a:prstGeom>
          <a:ln w="12700">
            <a:solidFill>
              <a:srgbClr val="ECDAD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640080" y="6437376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A908A"/>
                </a:solidFill>
                <a:latin typeface="Hiragino Kaku Gothic ProN"/>
              </a:rPr>
              <a:t>KHD ｜ 車両転売事業マニュアル v2（公用車入札・目利き完全版）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424160" y="6437376"/>
            <a:ext cx="11247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A2E26"/>
                </a:solidFill>
                <a:latin typeface="Hiragino Kaku Gothic ProN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39B4E"/>
                </a:solidFill>
                <a:latin typeface="Hiragino Kaku Gothic ProN"/>
              </a:rPr>
              <a:t>RISK &amp;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B2422"/>
                </a:solidFill>
                <a:latin typeface="Hiragino Kaku Gothic ProN"/>
              </a:rPr>
              <a:t>リスクと法規：先に知らないと即死する4つ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298448"/>
            <a:ext cx="1828800" cy="0"/>
          </a:xfrm>
          <a:prstGeom prst="bentConnector3">
            <a:avLst/>
          </a:prstGeom>
          <a:ln w="31750">
            <a:solidFill>
              <a:srgbClr val="C39B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94944" y="1655064"/>
            <a:ext cx="10972800" cy="1042415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10972800" cy="1042415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128016" cy="1042415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23774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82211B"/>
                </a:solidFill>
                <a:latin typeface="Hiragino Kaku Gothic ProN"/>
              </a:rPr>
              <a:t>NOx・PM法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682496"/>
            <a:ext cx="69494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2B2422"/>
                </a:solidFill>
                <a:latin typeface="Hiragino Kaku Gothic ProN"/>
              </a:rPr>
              <a:t>旧年式ディーゼルは首都圏・大阪・愛知等の対策地域で登録不可。「東京で保有」が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2B2422"/>
                </a:solidFill>
                <a:latin typeface="Hiragino Kaku Gothic ProN"/>
              </a:rPr>
              <a:t>物理的に不可能な車がある。転売(輸出)なら無関係。本案件は保有なら花巻登録前提。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61320" y="1929384"/>
            <a:ext cx="868680" cy="365760"/>
          </a:xfrm>
          <a:prstGeom prst="roundRect">
            <a:avLst/>
          </a:prstGeom>
          <a:solidFill>
            <a:srgbClr val="ECDA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61320" y="1929384"/>
            <a:ext cx="868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82211B"/>
                </a:solidFill>
                <a:latin typeface="Hiragino Kaku Gothic ProN"/>
              </a:rPr>
              <a:t>最重要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4944" y="2843784"/>
            <a:ext cx="10972800" cy="1042415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2788920"/>
            <a:ext cx="10972800" cy="1042415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788920"/>
            <a:ext cx="128016" cy="1042415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2880360"/>
            <a:ext cx="23774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82211B"/>
                </a:solidFill>
                <a:latin typeface="Hiragino Kaku Gothic ProN"/>
              </a:rPr>
              <a:t>現状渡し・責任なし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871216"/>
            <a:ext cx="69494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2B2422"/>
                </a:solidFill>
                <a:latin typeface="Hiragino Kaku Gothic ProN"/>
              </a:rPr>
              <a:t>引渡し後の故障・瑕疵は全て自己責任。現物確認が唯一の防衛線。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2B2422"/>
                </a:solidFill>
                <a:latin typeface="Hiragino Kaku Gothic ProN"/>
              </a:rPr>
              <a:t>下回り腐食は売値を数十万単位で変える（配点40点の理由）。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561320" y="3118104"/>
            <a:ext cx="868680" cy="365760"/>
          </a:xfrm>
          <a:prstGeom prst="roundRect">
            <a:avLst/>
          </a:prstGeom>
          <a:solidFill>
            <a:srgbClr val="ECDA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61320" y="3118104"/>
            <a:ext cx="868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82211B"/>
                </a:solidFill>
                <a:latin typeface="Hiragino Kaku Gothic ProN"/>
              </a:rPr>
              <a:t>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4944" y="4032504"/>
            <a:ext cx="10972800" cy="1042415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0080" y="3977640"/>
            <a:ext cx="10972800" cy="1042415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3977640"/>
            <a:ext cx="128016" cy="1042415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069080"/>
            <a:ext cx="23774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82211B"/>
                </a:solidFill>
                <a:latin typeface="Hiragino Kaku Gothic ProN"/>
              </a:rPr>
              <a:t>一発入札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4059936"/>
            <a:ext cx="69494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2B2422"/>
                </a:solidFill>
                <a:latin typeface="Hiragino Kaku Gothic ProN"/>
              </a:rPr>
              <a:t>書換・撤回・再入札なし。相場を外すと高値掴みか未落札。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2B2422"/>
                </a:solidFill>
                <a:latin typeface="Hiragino Kaku Gothic ProN"/>
              </a:rPr>
              <a:t>「絶対上限」を先に書面化してから入札書を書く。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561320" y="4306824"/>
            <a:ext cx="868680" cy="365760"/>
          </a:xfrm>
          <a:prstGeom prst="roundRect">
            <a:avLst/>
          </a:prstGeom>
          <a:solidFill>
            <a:srgbClr val="ECDA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61320" y="4306824"/>
            <a:ext cx="868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82211B"/>
                </a:solidFill>
                <a:latin typeface="Hiragino Kaku Gothic ProN"/>
              </a:rPr>
              <a:t>高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5221224"/>
            <a:ext cx="10972800" cy="1042415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0080" y="5166360"/>
            <a:ext cx="10972800" cy="1042415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" y="5166360"/>
            <a:ext cx="128016" cy="1042415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5257800"/>
            <a:ext cx="23774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82211B"/>
                </a:solidFill>
                <a:latin typeface="Hiragino Kaku Gothic ProN"/>
              </a:rPr>
              <a:t>古物商許可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0" y="5248656"/>
            <a:ext cx="69494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2B2422"/>
                </a:solidFill>
                <a:latin typeface="Hiragino Kaku Gothic ProN"/>
              </a:rPr>
              <a:t>反復継続の転売は許可必須。1台の単発は直ちに違法ではないが、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2B2422"/>
                </a:solidFill>
                <a:latin typeface="Hiragino Kaku Gothic ProN"/>
              </a:rPr>
              <a:t>事業化するなら2台目までに取得完了（申請〜許可1〜2ヶ月）。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561320" y="5495544"/>
            <a:ext cx="868680" cy="365760"/>
          </a:xfrm>
          <a:prstGeom prst="roundRect">
            <a:avLst/>
          </a:prstGeom>
          <a:solidFill>
            <a:srgbClr val="ECDA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61320" y="5495544"/>
            <a:ext cx="868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82211B"/>
                </a:solidFill>
                <a:latin typeface="Hiragino Kaku Gothic ProN"/>
              </a:rPr>
              <a:t>中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40080" y="6419088"/>
            <a:ext cx="10908792" cy="0"/>
          </a:xfrm>
          <a:prstGeom prst="bentConnector3">
            <a:avLst/>
          </a:prstGeom>
          <a:ln w="12700">
            <a:solidFill>
              <a:srgbClr val="ECDAD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40080" y="6437376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A908A"/>
                </a:solidFill>
                <a:latin typeface="Hiragino Kaku Gothic ProN"/>
              </a:rPr>
              <a:t>KHD ｜ 車両転売事業マニュアル v2（公用車入札・目利き完全版）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24160" y="6437376"/>
            <a:ext cx="11247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A2E26"/>
                </a:solidFill>
                <a:latin typeface="Hiragino Kaku Gothic ProN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39B4E"/>
                </a:solidFill>
                <a:latin typeface="Hiragino Kaku Gothic ProN"/>
              </a:rPr>
              <a:t>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B2422"/>
                </a:solidFill>
                <a:latin typeface="Hiragino Kaku Gothic ProN"/>
              </a:rPr>
              <a:t>実例：岩手中部水道企業団 公告148号（2026）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298448"/>
            <a:ext cx="1828800" cy="0"/>
          </a:xfrm>
          <a:prstGeom prst="bentConnector3">
            <a:avLst/>
          </a:prstGeom>
          <a:ln w="31750">
            <a:solidFill>
              <a:srgbClr val="C39B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94944" y="1609344"/>
            <a:ext cx="5486400" cy="457200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54864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82211B"/>
                </a:solidFill>
                <a:latin typeface="Hiragino Kaku Gothic ProN"/>
              </a:rPr>
              <a:t>案件データ（確定情報のみ）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5029200" cy="3749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車両：ランクル100 バンVX ディーゼル5MT(KG-HDJ101K)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　　　※VXバッジ・5MT・貨物登録の実写で確定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平成10年6月初度登録／280,113km（ODO実写一致）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車検切れ(R8.6.17満了)／公共応急作業車(8ナンバー)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最低売却価格：15万円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実査定：旧車王 概算100〜200万円（不成立・伏せて相見積り中）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推奨入札：55〜65万円（絶対上限80万円）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8/20現物確認 → 8/21書類締切 → 9/7入札 →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9/8開札 → 9/15契約・支払 → 9/30搬出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55664" y="1609344"/>
            <a:ext cx="5212080" cy="457200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1554480"/>
            <a:ext cx="5212080" cy="4572000"/>
          </a:xfrm>
          <a:prstGeom prst="roundRect">
            <a:avLst/>
          </a:prstGeom>
          <a:solidFill>
            <a:srgbClr val="F3E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73736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82211B"/>
                </a:solidFill>
                <a:latin typeface="Hiragino Kaku Gothic ProN"/>
              </a:rPr>
              <a:t>この案件で確立した「型」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194560"/>
            <a:ext cx="4663440" cy="3749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・地域要件は支店登記でクリア（参入障壁を自分だけ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　越える＝安く仕入れる構造）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・役所の最低売却価格は市場価格と無関係。仕様書の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　精読とプロ査定で「本当の値段」を掴む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・買取業者は地域要件を満たせない＝情報を渡しても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　入札で競合しない。ただし買い叩きには注意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・車台番号は本命1社の本番査定まで温存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・相見積りは提示額を相互に伏せる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・全記録は .company/secretary/notes/ に集約。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　想定vs実際の差異が次回案件の精度になる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0080" y="6419088"/>
            <a:ext cx="10908792" cy="0"/>
          </a:xfrm>
          <a:prstGeom prst="bentConnector3">
            <a:avLst/>
          </a:prstGeom>
          <a:ln w="12700">
            <a:solidFill>
              <a:srgbClr val="ECDAD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0080" y="6437376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A908A"/>
                </a:solidFill>
                <a:latin typeface="Hiragino Kaku Gothic ProN"/>
              </a:rPr>
              <a:t>KHD ｜ 車両転売事業マニュアル v2（公用車入札・目利き完全版）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437376"/>
            <a:ext cx="11247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A2E26"/>
                </a:solidFill>
                <a:latin typeface="Hiragino Kaku Gothic ProN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39B4E"/>
                </a:solidFill>
                <a:latin typeface="Hiragino Kaku Gothic ProN"/>
              </a:rPr>
              <a:t>MASTER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B2422"/>
                </a:solidFill>
                <a:latin typeface="Hiragino Kaku Gothic ProN"/>
              </a:rPr>
              <a:t>全チェックリスト総覧（印刷してこの1枚で回せる）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298448"/>
            <a:ext cx="1828800" cy="0"/>
          </a:xfrm>
          <a:prstGeom prst="bentConnector3">
            <a:avLst/>
          </a:prstGeom>
          <a:ln w="31750">
            <a:solidFill>
              <a:srgbClr val="C39B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67512" y="1627632"/>
            <a:ext cx="10972800" cy="512064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10972800" cy="51206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1371600" cy="5120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1371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Hiragino Kaku Gothic ProN"/>
              </a:rPr>
              <a:t>S1 発掘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1600200"/>
            <a:ext cx="93268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2B2422"/>
                </a:solidFill>
                <a:latin typeface="Hiragino Kaku Gothic ProN"/>
              </a:rPr>
              <a:t>公告確認/勝ち筋判定/資格先読み/逆算表/資料DL/公開日登録/過去落札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" y="2212848"/>
            <a:ext cx="10972800" cy="512064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2185416"/>
            <a:ext cx="10972800" cy="51206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185416"/>
            <a:ext cx="1371600" cy="5120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185416"/>
            <a:ext cx="1371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Hiragino Kaku Gothic ProN"/>
              </a:rPr>
              <a:t>S2 資格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2185416"/>
            <a:ext cx="93268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2B2422"/>
                </a:solidFill>
                <a:latin typeface="Hiragino Kaku Gothic ProN"/>
              </a:rPr>
              <a:t>登記で要件確認/税未納なし/書類逆算取得/様式下書き/質問書/記録郵送/必着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" y="2798064"/>
            <a:ext cx="10972800" cy="512064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" y="2770632"/>
            <a:ext cx="10972800" cy="51206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2770632"/>
            <a:ext cx="1371600" cy="5120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770632"/>
            <a:ext cx="1371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Hiragino Kaku Gothic ProN"/>
              </a:rPr>
              <a:t>S3 査定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2770632"/>
            <a:ext cx="93268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2B2422"/>
                </a:solidFill>
                <a:latin typeface="Hiragino Kaku Gothic ProN"/>
              </a:rPr>
              <a:t>グレード特定/排ガス規制/3〜5社分散/競合精査/3シナリオ/証跡保存/比較表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" y="3383280"/>
            <a:ext cx="10972800" cy="512064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" y="3355848"/>
            <a:ext cx="10972800" cy="51206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3355848"/>
            <a:ext cx="1371600" cy="5120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355848"/>
            <a:ext cx="1371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Hiragino Kaku Gothic ProN"/>
              </a:rPr>
              <a:t>S4 現物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94560" y="3355848"/>
            <a:ext cx="93268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2B2422"/>
                </a:solidFill>
                <a:latin typeface="Hiragino Kaku Gothic ProN"/>
              </a:rPr>
              <a:t>予約/持ち物/12ポイント/下回りABC/冷間始動動画/打刻照合/写真20枚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7512" y="3968496"/>
            <a:ext cx="10972800" cy="512064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0080" y="3941064"/>
            <a:ext cx="10972800" cy="51206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3941064"/>
            <a:ext cx="1371600" cy="5120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941064"/>
            <a:ext cx="1371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Hiragino Kaku Gothic ProN"/>
              </a:rPr>
              <a:t>S5 収支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94560" y="3941064"/>
            <a:ext cx="93268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2B2422"/>
                </a:solidFill>
                <a:latin typeface="Hiragino Kaku Gothic ProN"/>
              </a:rPr>
              <a:t>3シナリオ裏付け/諸費用実額/1週間前回収/絶対上限書面化/端数/資金/現物反映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7512" y="4553712"/>
            <a:ext cx="10972800" cy="512064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40080" y="4526280"/>
            <a:ext cx="10972800" cy="51206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" y="4526280"/>
            <a:ext cx="1371600" cy="5120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4526280"/>
            <a:ext cx="1371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Hiragino Kaku Gothic ProN"/>
              </a:rPr>
              <a:t>S6 入札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94560" y="4526280"/>
            <a:ext cx="93268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2B2422"/>
                </a:solidFill>
                <a:latin typeface="Hiragino Kaku Gothic ProN"/>
              </a:rPr>
              <a:t>指定様式/金額ダブルチェック/記名押印/封筒件名/前日到達/結果確認/次案件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67512" y="5138928"/>
            <a:ext cx="10972800" cy="512064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40080" y="5111496"/>
            <a:ext cx="10972800" cy="51206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0080" y="5111496"/>
            <a:ext cx="1371600" cy="5120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5111496"/>
            <a:ext cx="1371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Hiragino Kaku Gothic ProN"/>
              </a:rPr>
              <a:t>S7 決済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94560" y="5111496"/>
            <a:ext cx="93268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2B2422"/>
                </a:solidFill>
                <a:latin typeface="Hiragino Kaku Gothic ProN"/>
              </a:rPr>
              <a:t>3期限登録/納入通知書/搬出予約/売却先と握り/名義変更/装備撤去/領収書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67512" y="5724144"/>
            <a:ext cx="10972800" cy="512064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40080" y="5696712"/>
            <a:ext cx="10972800" cy="51206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0080" y="5696712"/>
            <a:ext cx="1371600" cy="5120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5696712"/>
            <a:ext cx="1371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Hiragino Kaku Gothic ProN"/>
              </a:rPr>
              <a:t>S8 売却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94560" y="5696712"/>
            <a:ext cx="93268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2B2422"/>
                </a:solidFill>
                <a:latin typeface="Hiragino Kaku Gothic ProN"/>
              </a:rPr>
              <a:t>本番査定1社/契約書保存/担当者DB登録/比較表完成/学び記録/古物商/次ウォッチ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63276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908A"/>
                </a:solidFill>
                <a:latin typeface="Hiragino Kaku Gothic ProN"/>
              </a:rPr>
              <a:t>詳細は各STEPページ参照。目利き12ポイント＝p03、撮影テンプレ20枚＝p17。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40080" y="6419088"/>
            <a:ext cx="10908792" cy="0"/>
          </a:xfrm>
          <a:prstGeom prst="bentConnector3">
            <a:avLst/>
          </a:prstGeom>
          <a:ln w="12700">
            <a:solidFill>
              <a:srgbClr val="ECDAD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640080" y="6437376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A908A"/>
                </a:solidFill>
                <a:latin typeface="Hiragino Kaku Gothic ProN"/>
              </a:rPr>
              <a:t>KHD ｜ 車両転売事業マニュアル v2（公用車入札・目利き完全版）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424160" y="6437376"/>
            <a:ext cx="11247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A2E26"/>
                </a:solidFill>
                <a:latin typeface="Hiragino Kaku Gothic ProN"/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
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4864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車両転売事業（公用車入札）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087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A1A1A"/>
                </a:solidFill>
                <a:latin typeface="Hiragino Sans"/>
              </a:rPr>
              <a:t>仕入〜売却マニュアル v3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1A1A1A"/>
                </a:solidFill>
                <a:latin typeface="Hiragino Sans"/>
              </a:rPr>
              <a:t>── 不動産と同じ8STEPの型 ＋ 目利き完全版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目利き（現物確認）が背骨。机上査定は仮説、現物が検証、収支は検証済みの数字だけで組む。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発掘→資格→机上査定→現物→収支→入札→決済→売却。全STEPチェックリスト・目利き12ポイント図解・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実車写真9枚（岩手中部水道企業団 ランクル100 バンVX・公告148号）・撮影テンプレ20枚・総覧1枚を収録。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97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KIKUCHIホールディングス株式会社 ｜ 2026-07-15 ｜ v3（H037テンプレ準拠）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全体設計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仕入〜売却の8ステップ（不動産と同じ型）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赤＝目利き（S4）が全STEPの背骨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7066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8366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S1　案件発掘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3042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公告を拾う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8416" y="1737360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8416" y="1737360"/>
            <a:ext cx="27066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88366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S2　参加資格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042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門前払い回避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737360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737360"/>
            <a:ext cx="27066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8366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S3　机上査定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相場を作る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408" y="1737360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9408" y="1737360"/>
            <a:ext cx="2706624" cy="54864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88366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S4　現物確認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3042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目利き＝内見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80944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980944"/>
            <a:ext cx="27066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127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S5　収支確定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354787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逆算で上限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8416" y="2980944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28416" y="2980944"/>
            <a:ext cx="27066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3127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S6　入札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54787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一発勝負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2980944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2980944"/>
            <a:ext cx="27066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27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S7　決済・搬出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54787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期限3本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9408" y="2980944"/>
            <a:ext cx="2706624" cy="1078992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9408" y="2980944"/>
            <a:ext cx="2706624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31272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S8　売却・記録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3547872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最高値＋関係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434840"/>
            <a:ext cx="10844784" cy="8229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4456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目利き（S4）が背骨：不動産で「内見しない買付」がないのと同じ。S3は仮説、S4が検証、S5は検証済みの数字だけで組む。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440680"/>
            <a:ext cx="10844784" cy="8686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541264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不動産との対応：レインズ発掘=公告ウォッチ／謄本・重説=仕様書・公告／内見=現物公開日／買付=入札書（一発・撤回不可）／決済=契約・全額前払い／転売先=相見積りで最高値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目利き ｜ 最重要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車両目利きマップ：見るべき12ポイント（側面模式図）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番号＝右のリストに対応。配点は下段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589520" cy="32004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75895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880360"/>
            <a:ext cx="6309360" cy="1005840"/>
          </a:xfrm>
          <a:prstGeom prst="rect">
            <a:avLst/>
          </a:prstGeom>
          <a:solidFill>
            <a:srgbClr val="C9D2D8"/>
          </a:solidFill>
          <a:ln w="1524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2286000"/>
            <a:ext cx="3840480" cy="822960"/>
          </a:xfrm>
          <a:prstGeom prst="rect">
            <a:avLst/>
          </a:prstGeom>
          <a:solidFill>
            <a:srgbClr val="C9D2D8"/>
          </a:solidFill>
          <a:ln w="1524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414016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2414016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80" y="2130552"/>
            <a:ext cx="3474720" cy="128016"/>
          </a:xfrm>
          <a:prstGeom prst="rect">
            <a:avLst/>
          </a:prstGeom>
          <a:solidFill>
            <a:srgbClr val="8F9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74920" y="1901952"/>
            <a:ext cx="256032" cy="256032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0" y="3566160"/>
            <a:ext cx="914400" cy="9144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60720" y="3566160"/>
            <a:ext cx="914400" cy="9144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75688" y="3813048"/>
            <a:ext cx="420624" cy="420624"/>
          </a:xfrm>
          <a:prstGeom prst="ellipse">
            <a:avLst/>
          </a:prstGeom>
          <a:solidFill>
            <a:srgbClr val="C9D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07608" y="3813048"/>
            <a:ext cx="420624" cy="420624"/>
          </a:xfrm>
          <a:prstGeom prst="ellipse">
            <a:avLst/>
          </a:prstGeom>
          <a:solidFill>
            <a:srgbClr val="C9D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25880" y="3959352"/>
            <a:ext cx="5760720" cy="1097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20440" y="4041648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402793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2011680" y="3639312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362559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170432" y="3017520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300380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4434840" y="2432304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41858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0" y="1828800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8150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6784848" y="2788920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277520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3611880" y="3154680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14096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7</a:t>
            </a:r>
          </a:p>
        </p:txBody>
      </p:sp>
      <p:sp>
        <p:nvSpPr>
          <p:cNvPr id="33" name="Oval 32"/>
          <p:cNvSpPr/>
          <p:nvPr/>
        </p:nvSpPr>
        <p:spPr>
          <a:xfrm>
            <a:off x="2788920" y="2651760"/>
            <a:ext cx="292608" cy="2926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263804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434840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E6E6E"/>
                </a:solidFill>
                <a:latin typeface="Hiragino Sans"/>
              </a:rPr>
              <a:t>KHD自作の模式図（側面）。実車写真の見方は次ページ以降。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600200"/>
            <a:ext cx="3291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1600200"/>
            <a:ext cx="3291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17647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12の目利きポイント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176272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① 下回り・フレーム錆（最重要）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2491740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② タイヤ・足回り・ブッシュ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280720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③ ボディ下部パネルの錆・膨れ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3122676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④ ガラス・モール・ドア開閉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3438144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⑤ 特殊装備（赤色灯・ラック）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3753612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⑥ エンジンルーム（漏れ・煙）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4069080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⑦ 室内・シート・床の錆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4384548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⑧ メーター（ODO書類一致）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22208" y="4700016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⑨ シフト・クラッチ（MT）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5015484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⑩ 付属品（鍵・タイヤ・書類）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5330952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⑪ 車台番号打刻と書類一致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22208" y="5646420"/>
            <a:ext cx="29718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⑫ 排気（白煙/黒煙・異音）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029200"/>
            <a:ext cx="7589520" cy="10972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138928"/>
            <a:ext cx="7132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8C241D"/>
                </a:solidFill>
                <a:latin typeface="Hiragino Sans"/>
              </a:rPr>
              <a:t>配点：①下回り40点／⑥機関20点／③外装15点／⑧⑪整合10点／その他15点。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8C241D"/>
                </a:solidFill>
                <a:latin typeface="Hiragino Sans"/>
              </a:rPr>
              <a:t>①が崩れたら（貫通錆）他が満点でも降りる＝不動産の「構造・傾き」と同じ扱い。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目利き 1/4 ｜ 配点40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下回り・フレーム：買値が数十万動く場所（下面模式図）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赤＝融雪剤地域で錆が集中する後部ホットゾーン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76072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7607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57400"/>
            <a:ext cx="274320" cy="324612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057400"/>
            <a:ext cx="274320" cy="324612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2221992"/>
            <a:ext cx="3383280" cy="18288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0" y="2935224"/>
            <a:ext cx="3383280" cy="18288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3648456"/>
            <a:ext cx="3383280" cy="18288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4361688"/>
            <a:ext cx="3383280" cy="18288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0" y="5074920"/>
            <a:ext cx="3383280" cy="182880"/>
          </a:xfrm>
          <a:prstGeom prst="rect">
            <a:avLst/>
          </a:prstGeom>
          <a:solidFill>
            <a:srgbClr val="C9D2D8"/>
          </a:solidFill>
          <a:ln w="12700">
            <a:solidFill>
              <a:srgbClr val="8F9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2286000"/>
            <a:ext cx="365760" cy="84124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03520" y="2286000"/>
            <a:ext cx="365760" cy="84124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4251960"/>
            <a:ext cx="365760" cy="84124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03520" y="4251960"/>
            <a:ext cx="365760" cy="84124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4389120"/>
            <a:ext cx="27432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4389120"/>
            <a:ext cx="27432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5074920"/>
            <a:ext cx="3383280" cy="182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17520" y="5001768"/>
            <a:ext cx="292608" cy="292608"/>
          </a:xfrm>
          <a:prstGeom prst="ellipse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498805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1252728" y="3383280"/>
            <a:ext cx="292608" cy="292608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336956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3017520" y="2130552"/>
            <a:ext cx="292608" cy="292608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211683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iragino Sans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E6E6E"/>
                </a:solidFill>
                <a:latin typeface="Hiragino Sans"/>
              </a:rPr>
              <a:t>上から見たラダーフレーム模式図（KHD自作）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600200"/>
            <a:ext cx="507492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1600200"/>
            <a:ext cx="50749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見方と判定基準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240280"/>
            <a:ext cx="4617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A 後部フレーム・リアクロス（最頻発）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→柄などで軽く叩く。「ボコッ」と鈍い音・剥落＝内部腐食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B サイドレール全長（潜って目視）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→表面サビ(茶)はOK。「膨れ・層状剥離」はNG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C 前部クロス・足回り取付部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→ブッシュ/ボルト周りの固着と亀裂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判定：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・表面サビのみ＝減点小（輸出値ほぼ維持）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・膨れ・剥離＝減額交渉材料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・貫通穴＝入札額を大幅に下げるか撤退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5440680"/>
            <a:ext cx="4617720" cy="5029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546811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岩手＝融雪剤地域。本案件最大の変数はここ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目利き 2/4 ｜ 配点20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機関（エンジン・排気）：実車写真で見る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写真で分かること／現地でしか分からないことを分ける</a:t>
            </a:r>
          </a:p>
        </p:txBody>
      </p:sp>
      <p:pic>
        <p:nvPicPr>
          <p:cNvPr id="6" name="Picture 5" descr="eng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5669280" cy="37895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64592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実車：エンジンルーム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72089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E6E6E"/>
                </a:solidFill>
                <a:latin typeface="Hiragino Sans"/>
              </a:rPr>
              <a:t>1HD-FTE 4.2Lディーゼルターボ。ツインバッテリー（寒冷地/ディーゼル標準）。写真上は大きなオイル飛散・冷却水漏れ痕なし、年式比で良好な印象。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645920"/>
            <a:ext cx="5166360" cy="4434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645920"/>
            <a:ext cx="516636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現地で確認する7点（写真では不明）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32714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2286000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冷間始動の一発始動性（ディーゼルの健康診断）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71119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2670048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アイドリング安定・異音（カラカラ/ガラガラ）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0952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3054096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排気色：白煙(オイル下がり)/黒煙(燃調・詰まり)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47929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3438144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オイルにじみ：ヘッドカバー・タービン周り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86334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3822192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冷却水の色（サビ色＝管理不良のサイン）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24738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4206240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バッテリー端子の腐食・補機ベルトの亀裂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631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4590288"/>
            <a:ext cx="44074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ターボの効き（可能なら構内で短距離試走）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349240"/>
            <a:ext cx="4663440" cy="5029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5376672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28万km級1HDは「壊れる」より「漏れ・煙」を見る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目利き 3/4 ｜ 配点10＋α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内装・書類整合：「登記と現況の照合」に相当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ODO・車台番号・グレードの3整合が取れて初めて数字を信じる</a:t>
            </a:r>
          </a:p>
        </p:txBody>
      </p:sp>
      <p:pic>
        <p:nvPicPr>
          <p:cNvPr id="6" name="Picture 5" descr="meter_o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120640" cy="34210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69164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実車：メーター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49263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E6E6E"/>
                </a:solidFill>
                <a:latin typeface="Hiragino Sans"/>
              </a:rPr>
              <a:t>★ODO実写 280,113km＝物件仕様書(R8.7.9時点)と完全一致。メーター整合OKの現物証拠。タコ6,000スケール＝ディーゼル。警告灯は停止中の点灯で正常。</a:t>
            </a:r>
          </a:p>
        </p:txBody>
      </p:sp>
      <p:pic>
        <p:nvPicPr>
          <p:cNvPr id="10" name="Picture 9" descr="cockpit_m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91640"/>
            <a:ext cx="5120640" cy="34173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0760" y="169164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6916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実車：運転席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145592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E6E6E"/>
                </a:solidFill>
                <a:latin typeface="Hiragino Sans"/>
              </a:rPr>
              <a:t>★5速MT＋トランスファーレバー実写＝バンVXディーゼル5MTの現物証拠。業務無線マイク残置（撤去対象）。現地ではクラッチの繋がり位置・シート下の床錆を確認。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目利き 4/4 ｜ 配点15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装備・付属品：足す価値と引く手間を仕分ける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スタッドレス＝足す価値／無線・赤色灯＝引く手間</a:t>
            </a:r>
          </a:p>
        </p:txBody>
      </p:sp>
      <p:pic>
        <p:nvPicPr>
          <p:cNvPr id="6" name="Picture 5" descr="clu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120640" cy="34210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69164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実車：センター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49239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E6E6E"/>
                </a:solidFill>
                <a:latin typeface="Hiragino Sans"/>
              </a:rPr>
              <a:t>業務無線・広報アンプ残置（「さぎょうだん18」ラベル＝作業団車両）。無線・広報設備・赤色灯は転売前に撤去が基本（外して引渡し可能かは質問書で確認）。</a:t>
            </a:r>
          </a:p>
        </p:txBody>
      </p:sp>
      <p:pic>
        <p:nvPicPr>
          <p:cNvPr id="10" name="Picture 9" descr="trunk_ti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91640"/>
            <a:ext cx="5120640" cy="34208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0760" y="169164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6916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実車：荷室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149103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E6E6E"/>
                </a:solidFill>
                <a:latin typeface="Hiragino Sans"/>
              </a:rPr>
              <a:t>★スタッドレス4本（2021年12月購入）付属＝＋2〜5万円相当の価値。テールゲート開閉OK。荷室フロアの錆・水染み、付属品（鍵3本・車検証・取説・リサイクル券）を現地で全点照合。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写真評価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実車写真の現時点評価：分かったこと／8/20で埋めること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公式写真は上物だけ。最大配点（下回り40点）が未評価</a:t>
            </a:r>
          </a:p>
        </p:txBody>
      </p:sp>
      <p:pic>
        <p:nvPicPr>
          <p:cNvPr id="6" name="Picture 5" descr="sid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4480560" cy="29902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64592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実車：左側面</a:t>
            </a:r>
          </a:p>
        </p:txBody>
      </p:sp>
      <p:pic>
        <p:nvPicPr>
          <p:cNvPr id="9" name="Picture 8" descr="rear_v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60520"/>
            <a:ext cx="3200400" cy="21369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416052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実車：後方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206240"/>
            <a:ext cx="1645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8C241D"/>
                </a:solidFill>
                <a:latin typeface="Hiragino Sans"/>
              </a:rPr>
              <a:t>← VXバッジ実写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8C241D"/>
                </a:solidFill>
                <a:latin typeface="Hiragino Sans"/>
              </a:rPr>
              <a:t>グレード確定の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8C241D"/>
                </a:solidFill>
                <a:latin typeface="Hiragino Sans"/>
              </a:rPr>
              <a:t>現物証拠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645920"/>
            <a:ext cx="6035040" cy="4434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1645920"/>
            <a:ext cx="60350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写真9枚から言えること（2026-07-15時点）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286000"/>
            <a:ext cx="5486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◎ 外装：ツヤあり・大きな凹み/事故痕は視認できず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◎ グレード：後方VXバッジ・5MT・貨物登録 → バンVX確定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◎ 整合：ODO実写=仕様書=280,113km一致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◎ 装備：ラック・ラダー・赤色灯・無線（撤去要否を判断）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○ 機関：表層きれい。ただし音・煙・漏れは写真で不明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△ 内装：業務使用感あり（減点小）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4663440"/>
            <a:ext cx="5486400" cy="11887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4754880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8C241D"/>
                </a:solidFill>
                <a:latin typeface="Hiragino Sans"/>
              </a:rPr>
              <a:t>✖ 写真に「下回り」が1枚もない＝配点40点が未評価。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8C241D"/>
                </a:solidFill>
                <a:latin typeface="Hiragino Sans"/>
              </a:rPr>
              <a:t>下回りが表面サビ止まりなら、旧車王レンジ(100〜200万)の中央〜上限が狙える。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写真評価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外観の記録：前方・右側面と見るポイント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ナンバー=岩手800「さ・134」＝8ナンバー特種登録の現物確認</a:t>
            </a:r>
          </a:p>
        </p:txBody>
      </p:sp>
      <p:pic>
        <p:nvPicPr>
          <p:cNvPr id="6" name="Picture 5" descr="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120640" cy="34155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69164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実車：前方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43798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E6E6E"/>
                </a:solidFill>
                <a:latin typeface="Hiragino Sans"/>
              </a:rPr>
              <a:t>赤色灯・ルーフラック・フォグ付き。バンパー/グリルに大きな損傷なし。ライトのくもりは年式なり（研磨で改善可）。現地では飛び石サビ・ガラス傷を確認。</a:t>
            </a:r>
          </a:p>
        </p:txBody>
      </p:sp>
      <p:pic>
        <p:nvPicPr>
          <p:cNvPr id="10" name="Picture 9" descr="side_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91640"/>
            <a:ext cx="5120640" cy="34173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0760" y="1691640"/>
            <a:ext cx="1737360" cy="31089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691640"/>
            <a:ext cx="1737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Hiragino Sans"/>
              </a:rPr>
              <a:t>実車：右側面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145604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E6E6E"/>
                </a:solidFill>
                <a:latin typeface="Hiragino Sans"/>
              </a:rPr>
              <a:t>ライン通り・パネル波打ちなし（写真上）。サイドステップ下端・ドア下端・フェンダーアーチ内側は錆やすい部位＝指で触って膨れを確認。欠品/割れは個別撮影。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案件発掘：官公庁の売払い公告を拾う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狙い目＝地域限定×海外需要車種×安すぎる最低価格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探す場所と狙い目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・市町村/水道企業団/一部事務組合HPの「入札情報」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・「公用車 売払い 入札」「不用物品 売払い」で定期検索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・官公庁オークション（KSI等）も併読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狙い目の型：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・地方の水道/消防/土木系＝ランクル/ハイエース等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海外需要の高い車が出やすい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・地域限定案件＝参入障壁が高い分、安く取れる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・最低売却価格は市場価格と無関係（役所は相場を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取りに行かない）。ここが利益の源泉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公告日・入札方式（一般競争/条件付/せり）を確認した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最低売却価格と車種で「勝ち筋」を10分で仮判定した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参加資格（地域要件・法人/個人）を最初に読んだ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締切から逆算したスケジュール表を作った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設計図書・様式類を全てDLして保存した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現物公開日をカレンダー登録した（事前連絡要否も）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過去の同種案件の落札結果を検索した（相場観）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参加資格・書類：門前払いを回避する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地域要件→欠格要件→書類期限の順に読む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最初に確認する3点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① 地域要件：住民登録 or 本店/支店/営業所の所在地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→ KHDは花巻支店登記で岩手中部圏域クリア済み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→ 他地域案件は「支店登記の追加」も戦略になる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② 欠格要件：破産/更生/税滞納/反社でないこと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③ 添付書類の有効期限：発行後3ヶ月以内が通例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→ 締切から逆算して取得（早取りは失効リスク）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法人申込の標準セット：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全部事項証明書／印鑑登録証明書／市町村税納税証明書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／誓約書／（代理人なら委任状＋身分証写し）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地域要件を自社の登記で満たすことを謄本で確認した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税の未納なし（誓約書と矛盾しない）を確認した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添付書類の取得日を締切から逆算して決めた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様式を正確な商号・住所で下書きした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不明点は質問書で事前照会した（期限内）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提出は持参 or 簡易書留等の記録が残る方法にした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受付期間内「必着」を確認した（消印有効ではない）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机上査定：仕様書精読 × 相見積りで「売値」を作る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車台番号は概算段階では渡さない（本命1社のみ）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仕様書から読み取る査定因子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・型式→グレード特定（MT/AT・バン/ワゴンで絞れる）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・走行距離/初度登録＝国内価値。ランクル等は過走行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でも海外価値が残る（50万kmからが本番）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・車検/自賠責の残＝自走可否・搬出コストに直結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・特殊装備（赤色灯等）＝撤去・用途変更の手間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相見積りの鉄則：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・3〜5社、タイプの違う先（国内買取/旧車専門/輸出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/知人ルート）に当てる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・提示額は相互に伏せる（アンカリング回避）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型式・年式・走行・装備からグレードを特定した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排ガス規制(NOx・PM法)の適合を確認した ※重要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査定先を3〜5社リストアップ（タイプ分散）した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競合化リスクを精査した（地域要件を満たす業者は除外）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概算査定で「保守/中央/強気」の3シナリオを作った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査定根拠（メール・査定書）を証跡保存した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想定vs実際の比較表を作り、取得のたび埋めている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4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現物確認：目利きマップを現場で回す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60〜90分の動線。下回りに最長時間を割く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当日の動線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① 書類照合(10分)：車台番号打刻・車検証・付属品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② 外周(15分)：外装4方向→パネル隙間→ガラス→装備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③ 下回り(20分)：フレーム後部→サイドレール→足回り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※最長時間。マット・ライト・軍手持参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④ 機関(15分)：冷間始動→アイドル→排気色→漏れ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⑤ 内装(10分)：ODO→クラッチ→床錆→装備作動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⑥ 質問(10分)：装備撤去可否・整備記録・修理歴を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担当者に直接確認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撮影は「撮影テンプレ20枚」の順で撮る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事前予約の電話を入れ、訪問時間を確定した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持ち物を揃えた（ライト/軍手/マット/磁石/脚立）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目利き12ポイントを順番どおり全て見た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下回りは叩き＋目視で3ゾーン(A/B/C)判定した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冷間始動と排気色を動画で記録した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車台番号打刻と書類の一致を確認した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写真20枚を撮り、当日中に査定先へ送付した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収支確定：売値から逆算して入札上限を決める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入札上限＝(保守売却額−目標利益−諸費用)÷1.10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逆算式と本案件の当てはめ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・契約金額＝入札額×1.10（消費税相当）が通例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・諸費用＝陸送(0〜10万・業者引取無料なら0)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＋名義変更等(1〜3万)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・保有なら＋車検整備(15〜40万)＋NOx・PM登録可否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本案件（旧車王実査定100〜200万円）：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・保守100万・利益30万狙い → 上限52万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・中央150万 → 上限98万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→ 推奨入札 55〜65万円／絶対上限80万円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※現物確認の減点（下回り等）を必ず反映してから確定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売却3シナリオを実査定で裏付けた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諸費用を業者別の実見積りで確定した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入札締切1週間前までに全見積りを回収した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「絶対上限」を先に決め、書面に残した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端数を付けた入札額にした（同額くじ回避）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資金（契約金額の全額前払い）を確保した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現物確認の結果を入札額に反映した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6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入札：一発勝負のルールを間違えない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無効事由に1つでも触れたら終わり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絶対に落とせない実務ルール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・入札回数1回／提出後の書換・撤回不可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・金額は税抜で記入（契約金額は×1.10）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・「￥」記入・アラビア数字・訂正不可のペン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・封筒に件名明記・封印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・郵送は「必着」。簡易書留/特定記録で記録を残す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無効になる典型：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記名押印漏れ／金額訂正／指定様式以外／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資本・人的関係のある複数者の入札（連合とみなし）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入札書は指定様式・訂正なしで記入した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金額の頭に￥、桁ズレをダブルチェックした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記名・押印（法人は代表者印）を確認した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封筒に件名を明記し封印した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提出期限の前日までに到達する手段で発送した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開札日・結果公表の確認方法を控えた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落札できなかった場合の次案件リストを用意した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落札後：契約・全額前払い・搬出を期限内に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期限3本。1本落とすと落札決定取消もある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搬出の実務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① 契約締結期限（例：落札から約1週間）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② 代金全額前払い（納入通知書で契約締結までに）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③ 搬出期限（例：月末・費用は落札者負担）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・車検切れ＝公道自走不可 → 積載車を事前手配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（仮ナンバー自走は老朽車ではリスク高・非推奨）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・買取業者への直送も検討：引取無料の業者なら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陸送費が丸ごと浮く＝実質利益+5〜10万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・名義変更/抹消は速やかに（税・責任の切替）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契約・支払・搬出の3期限をカレンダー登録した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納入通知書での支払方法・期日を確認した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陸送 or 業者引取を確定し、搬出日を予約した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売却先と引取場所・日程を握った（直送が最良）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名義変更（または抹消）の段取りを決めた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特殊装備の撤去有無・タイミングを確定した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実費の領収書を全て保存した（比較表に反映）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STEP 8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売却・関係構築・記録：次の案件につなげる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担当者の直通確保→名刺DB登録→次回は電話1本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売却と事業化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・相見積りの最高値＋対応の質で売却先を決定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・取引完了時に「今後も官公庁売払いを継続的に扱う」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と伝え、担当者の直通連絡先を確保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・担当者は名刺DB/顧客マスターに登録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事業化の法規：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・古物商許可＝反復継続の転売に必須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（無許可営業は3年以下の懲役/100万円以下の罰金）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・2台目に着手する前に取得完了（申請〜許可1〜2ヶ月）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240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本番査定（車台番号開示）は最有力1社に絞った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4261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売買契約書・振込記録を保存した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044952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担当者名・直通連絡先を名刺DBに登録した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447288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想定vs実際の比較表を完成させ、差異を分析した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849624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案件全体の学びをnotesに記録した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25196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古物商許可の取得状況を確認した（2台目の前提）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4654296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次の売払い案件のウォッチを再開した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現地キット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持ち物 ＋ 撮影構図テンプレ20枚（この順で撮ればそのまま査定に送れる）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402336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402336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持ち物リスト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142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240280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LEDライト（下回り照射用）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8376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42616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軍手・汚れてよい服装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8610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3044952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地面用マット or 段ボール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488436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447288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磁石（パテ盛り判定用）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90772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3849624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スマホ＋モバイルバッテリー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93108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251960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物件仕様書のコピー（照合用）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695444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4654296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メジャー（荷室採寸）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097780"/>
            <a:ext cx="137160" cy="137160"/>
          </a:xfrm>
          <a:prstGeom prst="rect">
            <a:avLst/>
          </a:prstGeom>
          <a:noFill/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5056632"/>
            <a:ext cx="3218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質問メモ（装備撤去可否等）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1600200"/>
            <a:ext cx="681228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1600200"/>
            <a:ext cx="6812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17830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撮影構図テンプレ20枚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① 前方全景（ナンバー入り）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606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② 後方全景（バッジ入り）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③ 左側面全景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337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④ 右側面全景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⑤ 左前45度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069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⑥ 右後45度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434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⑦ 下回り：後部フレーム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8006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⑧ 下回り：左レール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5166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⑨ 下回り：右レール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5321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⑩ 下回り：前部クロス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⑪ タイヤ4本（溝・製造年）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606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⑫ エンジンルーム全景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⑬ オイル周り接写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337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⑭ 冷間始動の動画＋排気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⑮ メーター（ODO読める解像度）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069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⑯ 運転席全景（シフト入り）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434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⑰ シート・内装の傷汚れ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8006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⑱ 荷室＋付属タイヤ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166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⑲ 車台番号打刻の接写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5321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⑳ 傷・錆・凹みの個別接写(全部)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リスクと法規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先に知らないと即死する4つ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赤タグ＝重要度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0881360" cy="10241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NOx・PM法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91640"/>
            <a:ext cx="6949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旧年式ディーゼルは首都圏・大阪・愛知等の対策地域で登録不可。「東京で保有」が物理的に不可能な車がある。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転売(輸出)なら無関係。本案件は保有なら花巻登録が前提。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78440" y="1929384"/>
            <a:ext cx="868680" cy="3657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192938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8C241D"/>
                </a:solidFill>
                <a:latin typeface="Hiragino Sans"/>
              </a:rPr>
              <a:t>最重要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0632"/>
            <a:ext cx="10881360" cy="10241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70632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現状渡し・責任なし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62072"/>
            <a:ext cx="6949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引渡し後の故障・瑕疵は全て自己責任。現物確認が唯一の防衛線。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下回り腐食は売値を数十万単位で変える（配点40点の理由）。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8440" y="3099816"/>
            <a:ext cx="868680" cy="3657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3099816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8C241D"/>
                </a:solidFill>
                <a:latin typeface="Hiragino Sans"/>
              </a:rPr>
              <a:t>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41064"/>
            <a:ext cx="10881360" cy="10241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41064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32504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一発入札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032504"/>
            <a:ext cx="6949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書換・撤回・再入札なし。相場を外すと高値掴みか未落札。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「絶対上限」を先に書面化してから入札書を書く。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78440" y="4270248"/>
            <a:ext cx="868680" cy="3657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4270248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8C241D"/>
                </a:solidFill>
                <a:latin typeface="Hiragino Sans"/>
              </a:rPr>
              <a:t>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11496"/>
            <a:ext cx="10881360" cy="10241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111496"/>
            <a:ext cx="91440" cy="10241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202936"/>
            <a:ext cx="2286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古物商許可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202936"/>
            <a:ext cx="6949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反復継続の転売は許可必須。1台の単発は直ちに違法ではないが、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事業化するなら2台目までに取得完了（申請〜許可1〜2ヶ月）。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78440" y="5440680"/>
            <a:ext cx="868680" cy="3657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5440680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8C241D"/>
                </a:solidFill>
                <a:latin typeface="Hiragino Sans"/>
              </a:rPr>
              <a:t>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ケーススタディ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実例：岩手中部水道企業団 公告148号（2026）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4358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確定情報のみ記載。数字の根拠は notes/ の各記録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577840" cy="452628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案件データ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74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車両：ランクル100 バンVX ディーゼル5MT(KG-HDJ101K)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※VXバッジ・5MT・貨物登録の実写で確定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平成10年6月初度登録／280,113km（ODO実写一致）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車検切れ(R8.6.17)／公共応急作業車(8ナンバー)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最低売却価格：15万円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実査定：旧車王 概算100〜200万円（不成立・伏せて相見積り中）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推奨入札：55〜65万円（絶対上限80万円）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8/20現物確認 → 8/21書類締切 → 9/7入札 →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9/8開札 → 9/15契約・支払 → 9/30搬出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257800" cy="4526280"/>
          </a:xfrm>
          <a:prstGeom prst="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257800" cy="54864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この案件で確立した「型」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7548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・地域要件は支店登記でクリア（参入障壁を自分だけ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越える＝安く仕入れる構造）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・役所の最低売却価格は市場価格と無関係。仕様書の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精読とプロ査定で「本当の値段」を掴む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・買取業者は地域要件を満たせない＝情報を渡しても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入札で競合しない。ただし買い叩きには注意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・車台番号は本命1社の本番査定まで温存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・相見積りは提示額を相互に伏せる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・全記録は .company/secretary/notes/ に集約。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　想定vs実際の差異が次回案件の精度になる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E6E6E"/>
                </a:solidFill>
                <a:latin typeface="Hiragino Sans"/>
              </a:rPr>
              <a:t>マスターチェックリスト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658368"/>
            <a:ext cx="1463040" cy="365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iragino Sans"/>
              </a:rPr>
              <a:t>全チェックリスト総覧（印刷してこの1枚で回せる）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S1 発掘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00200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公告確認／勝ち筋判定／資格先読み／逆算表／資料DL／公開日登録／過去落札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76272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76272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S2 資格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176272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登記で要件確認／税未納なし／書類逆算取得／様式下書き／質問書／記録郵送／必着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52344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752344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52344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S3 査定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752344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グレード特定／排ガス規制／3〜5社分散／競合精査／3シナリオ／証跡保存／比較表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28416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28416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28416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S4 現物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328416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予約／持ち物／12ポイント／下回りABC／冷間始動動画／打刻照合／写真20枚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04488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04488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0448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S5 収支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904488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3シナリオ裏付け／諸費用実額／1週間前回収／絶対上限書面化／端数／資金／現物反映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80560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S6 入札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480560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指定様式／金額ダブルチェック／記名押印／封筒件名／前日到達／結果確認／次案件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56632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056632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56632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S7 決済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056632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3期限登録／納入通知書／搬出予約／売却先と握り／名義変更／装備撤去／領収書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632704"/>
            <a:ext cx="10881360" cy="512064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632704"/>
            <a:ext cx="1371600" cy="5120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632704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Hiragino Sans"/>
              </a:rPr>
              <a:t>S8 売却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632704"/>
            <a:ext cx="923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本番査定1社／契約書保存／担当者DB登録／比較表完成／学び記録／古物商／次ウォッチ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詳細は各STEPページ。目利き12ポイント＝p3／下回り判定＝p4／撮影テンプレ20枚＝p18。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KHD 車両転売事業マニュアル v3（公用車入札・目利き完全版）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84280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Hiragino San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
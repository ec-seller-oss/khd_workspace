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2743200" cy="411480"/>
          </a:xfrm>
          <a:prstGeom prst="roundRect">
            <a:avLst/>
          </a:prstGeom>
          <a:solidFill>
            <a:srgbClr val="0C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iragino Sans"/>
              </a:rPr>
              <a:t>次世代クリニック DX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67665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Hiragino Sans"/>
              </a:rPr>
              <a:t>"人を増やさず"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Hiragino Sans"/>
              </a:rPr>
              <a:t>診療の質を上げる。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06324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2A59B"/>
                </a:solidFill>
                <a:latin typeface="Hiragino Sans"/>
              </a:rPr>
              <a:t>クリニックDX「My AI」  ※マイAIは仮称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520440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C4D3DF"/>
                </a:solidFill>
                <a:latin typeface="Hiragino Sans"/>
              </a:rPr>
              <a:t>Lステップ ×「マイAI」× AI音声(IVR) で実現する、リスクゼロのDX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97680"/>
            <a:ext cx="2148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443984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5B6B7B"/>
                </a:solidFill>
                <a:latin typeface="Hiragino Sans"/>
              </a:rPr>
              <a:t>初期費用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36592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0C7A73"/>
                </a:solidFill>
                <a:latin typeface="Hiragino Sans"/>
              </a:rPr>
              <a:t>0円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36392" y="4297680"/>
            <a:ext cx="2148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6392" y="4443984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5B6B7B"/>
                </a:solidFill>
                <a:latin typeface="Hiragino Sans"/>
              </a:rPr>
              <a:t>月額基本料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4736592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0C7A73"/>
                </a:solidFill>
                <a:latin typeface="Hiragino Sans"/>
              </a:rPr>
              <a:t>0円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9824" y="4297680"/>
            <a:ext cx="2148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9824" y="4443984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5B6B7B"/>
                </a:solidFill>
                <a:latin typeface="Hiragino Sans"/>
              </a:rPr>
              <a:t>成果報酬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9824" y="4736592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0C7A73"/>
                </a:solidFill>
                <a:latin typeface="Hiragino Sans"/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06440"/>
            <a:ext cx="6766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9FB4C4"/>
                </a:solidFill>
                <a:latin typeface="Hiragino Sans"/>
              </a:rPr>
              <a:t>成果報酬は「実際に人件費相当額を削減できた分」だけ／医療現場の実証データに基づく設計／IT導入補助金サポート対応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005840"/>
            <a:ext cx="3611880" cy="5120640"/>
          </a:xfrm>
          <a:prstGeom prst="roundRect">
            <a:avLst/>
          </a:prstGeom>
          <a:solidFill>
            <a:srgbClr val="16334D"/>
          </a:solidFill>
          <a:ln w="19050">
            <a:solidFill>
              <a:srgbClr val="12A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65007" y="1115568"/>
            <a:ext cx="3392424" cy="384048"/>
          </a:xfrm>
          <a:prstGeom prst="round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1" y="1124712"/>
            <a:ext cx="3154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マイAI ｜ 紹介状ジェネレーター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6447" y="1627632"/>
            <a:ext cx="3209544" cy="502920"/>
          </a:xfrm>
          <a:prstGeom prst="roundRect">
            <a:avLst/>
          </a:prstGeom>
          <a:solidFill>
            <a:srgbClr val="214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3" y="1645920"/>
            <a:ext cx="3063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BED6E6"/>
                </a:solidFill>
                <a:latin typeface="Hiragino Sans"/>
              </a:rPr>
              <a:t>カルテから抽出中… 患者ID / 主訴 / 既往歴 / 処方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6447" y="2231136"/>
            <a:ext cx="3209544" cy="3246121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1" y="230428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C7A73"/>
                </a:solidFill>
                <a:latin typeface="Hiragino Sans"/>
              </a:rPr>
              <a:t>AI生成プレビュー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1" y="2596896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B"/>
                </a:solidFill>
                <a:latin typeface="Hiragino Sans"/>
              </a:rPr>
              <a:t>─────────────────────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1" y="2871216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B"/>
                </a:solidFill>
                <a:latin typeface="Hiragino Sans"/>
              </a:rPr>
              <a:t>拝啓  時下ますますご清栄のことと…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1" y="3145536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B"/>
                </a:solidFill>
                <a:latin typeface="Hiragino Sans"/>
              </a:rPr>
              <a:t>下記の患者をご紹介申し上げます。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1" y="3419856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B"/>
                </a:solidFill>
                <a:latin typeface="Hiragino Sans"/>
              </a:rPr>
              <a:t>診断: ＿＿＿  /  所見: ＿＿＿＿＿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1" y="3694176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B"/>
                </a:solidFill>
                <a:latin typeface="Hiragino Sans"/>
              </a:rPr>
              <a:t>─────────────────────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6447" y="5559552"/>
            <a:ext cx="3209544" cy="402336"/>
          </a:xfrm>
          <a:prstGeom prst="roundRect">
            <a:avLst/>
          </a:prstGeom>
          <a:solidFill>
            <a:srgbClr val="1EB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56447" y="5559552"/>
            <a:ext cx="320954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iragino Sans"/>
              </a:rPr>
              <a:t>⚡ 8分 → 数秒で下書き完了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Hiragino Sans"/>
              </a:rPr>
              <a:t>現場はもう限界では？ ── これ、御院でも起きていませんか？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9CBD9"/>
                </a:solidFill>
                <a:latin typeface="Hiragino Sans"/>
              </a:rPr>
              <a:t>ネット上の生の声が示す、クリニックのリアルな4大課題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40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09728" cy="224028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04F5F"/>
                </a:solidFill>
                <a:latin typeface="Hiragino Sans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673352"/>
            <a:ext cx="4251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A"/>
                </a:solidFill>
                <a:latin typeface="Hiragino Sans"/>
              </a:rPr>
              <a:t>採用しても、定着しない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892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04F5F"/>
                </a:solidFill>
                <a:latin typeface="Hiragino Sans"/>
              </a:rPr>
              <a:t>70万〜150万円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4892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B6B7B"/>
                </a:solidFill>
                <a:latin typeface="Hiragino Sans"/>
              </a:rPr>
              <a:t>医療事務の採用単価。なのに保険制度の複雑さで即戦力にならず、早期離職の悪循環。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417320"/>
            <a:ext cx="5440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417320"/>
            <a:ext cx="109728" cy="224028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60020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04F5F"/>
                </a:solidFill>
                <a:latin typeface="Hiragino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1673352"/>
            <a:ext cx="4251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A"/>
                </a:solidFill>
                <a:latin typeface="Hiragino Sans"/>
              </a:rPr>
              <a:t>カルテ入力で、患者と目が合わない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377440"/>
            <a:ext cx="4892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04F5F"/>
                </a:solidFill>
                <a:latin typeface="Hiragino Sans"/>
              </a:rPr>
              <a:t>診察時間の半分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017520"/>
            <a:ext cx="4892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B6B7B"/>
                </a:solidFill>
                <a:latin typeface="Hiragino Sans"/>
              </a:rPr>
              <a:t>が電子カルテ入力。診療後も紹介状・診断書作成で2時間超の残業。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14800"/>
            <a:ext cx="5440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114800"/>
            <a:ext cx="109728" cy="224028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976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04F5F"/>
                </a:solidFill>
                <a:latin typeface="Hiragino Sans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370832"/>
            <a:ext cx="4251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A"/>
                </a:solidFill>
                <a:latin typeface="Hiragino Sans"/>
              </a:rPr>
              <a:t>月初10日のレセプトが、毎月重い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74920"/>
            <a:ext cx="4892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04F5F"/>
                </a:solidFill>
                <a:latin typeface="Hiragino Sans"/>
              </a:rPr>
              <a:t>月10〜20時間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715000"/>
            <a:ext cx="4892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B6B7B"/>
                </a:solidFill>
                <a:latin typeface="Hiragino Sans"/>
              </a:rPr>
              <a:t>の残業が常態化。目視チェックによる算定漏れの不安も重なる。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4114800"/>
            <a:ext cx="5440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4114800"/>
            <a:ext cx="109728" cy="224028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2976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04F5F"/>
                </a:solidFill>
                <a:latin typeface="Hiragino Sans"/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370832"/>
            <a:ext cx="4251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A"/>
                </a:solidFill>
                <a:latin typeface="Hiragino Sans"/>
              </a:rPr>
              <a:t>鳴り止まない電話で、受付がパンク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074920"/>
            <a:ext cx="4892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04F5F"/>
                </a:solidFill>
                <a:latin typeface="Hiragino Sans"/>
              </a:rPr>
              <a:t>月1,200件超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715000"/>
            <a:ext cx="4892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B6B7B"/>
                </a:solidFill>
                <a:latin typeface="Hiragino Sans"/>
              </a:rPr>
              <a:t>の電話対応。「今空いてますか？」で目の前の患者対応が滞る。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Hiragino Sans"/>
              </a:rPr>
              <a:t>既存の業務をどう変えるか？ ── 完全自動化マップ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9CBD9"/>
                </a:solidFill>
                <a:latin typeface="Hiragino Sans"/>
              </a:rPr>
              <a:t>個別ツールではなく、クリニック全体を1つのエコシステムで最適化する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8311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566160"/>
                <a:gridCol w="3566160"/>
                <a:gridCol w="2130552"/>
              </a:tblGrid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業務領域</a:t>
                      </a:r>
                    </a:p>
                  </a:txBody>
                  <a:tcPr anchor="ctr" marL="73152" marR="73152" marT="36576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導入前（アナログ）</a:t>
                      </a:r>
                    </a:p>
                  </a:txBody>
                  <a:tcPr anchor="ctr" marL="73152" marR="73152" marT="36576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導入後</a:t>
                      </a:r>
                    </a:p>
                  </a:txBody>
                  <a:tcPr anchor="ctr" marL="73152" marR="73152" marT="36576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削減効果</a:t>
                      </a:r>
                    </a:p>
                  </a:txBody>
                  <a:tcPr anchor="ctr" marL="73152" marR="73152" marT="36576" marB="36576">
                    <a:solidFill>
                      <a:srgbClr val="102A43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02A43"/>
                          </a:solidFill>
                          <a:latin typeface="Hiragino Sans"/>
                        </a:rPr>
                        <a:t>問診・予約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B3A"/>
                          </a:solidFill>
                          <a:latin typeface="Hiragino Sans"/>
                        </a:rPr>
                        <a:t>電話受付＋紙問診をカルテへ手入力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B3A"/>
                          </a:solidFill>
                          <a:latin typeface="Hiragino Sans"/>
                        </a:rPr>
                        <a:t>Lステップで来院前にスマホ上で完結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48A50"/>
                          </a:solidFill>
                          <a:latin typeface="Hiragino Sans"/>
                        </a:rPr>
                        <a:t>問診業務 40〜70%削減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02A43"/>
                          </a:solidFill>
                          <a:latin typeface="Hiragino Sans"/>
                        </a:rPr>
                        <a:t>電話対応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B3A"/>
                          </a:solidFill>
                          <a:latin typeface="Hiragino Sans"/>
                        </a:rPr>
                        <a:t>全件スタッフが受話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B3A"/>
                          </a:solidFill>
                          <a:latin typeface="Hiragino Sans"/>
                        </a:rPr>
                        <a:t>AI音声(IVR)が一次対応・LINE誘導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48A50"/>
                          </a:solidFill>
                          <a:latin typeface="Hiragino Sans"/>
                        </a:rPr>
                        <a:t>電話件数 最大40〜80%削減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02A43"/>
                          </a:solidFill>
                          <a:latin typeface="Hiragino Sans"/>
                        </a:rPr>
                        <a:t>書類作成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B3A"/>
                          </a:solidFill>
                          <a:latin typeface="Hiragino Sans"/>
                        </a:rPr>
                        <a:t>過去カルテを探しつつ手作業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B3A"/>
                          </a:solidFill>
                          <a:latin typeface="Hiragino Sans"/>
                        </a:rPr>
                        <a:t>自院学習「マイAI」が下書き自動生成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48A50"/>
                          </a:solidFill>
                          <a:latin typeface="Hiragino Sans"/>
                        </a:rPr>
                        <a:t>書類時間 月30時間以上削減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02A43"/>
                          </a:solidFill>
                          <a:latin typeface="Hiragino Sans"/>
                        </a:rPr>
                        <a:t>レセプト点検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B3A"/>
                          </a:solidFill>
                          <a:latin typeface="Hiragino Sans"/>
                        </a:rPr>
                        <a:t>月末月初に目視で残業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B3A"/>
                          </a:solidFill>
                          <a:latin typeface="Hiragino Sans"/>
                        </a:rPr>
                        <a:t>AIが点検ルールで算定漏れ自動チェック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48A50"/>
                          </a:solidFill>
                          <a:latin typeface="Hiragino Sans"/>
                        </a:rPr>
                        <a:t>点検時間 最大1/20に短縮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Hiragino Sans"/>
              </a:rPr>
              <a:t>「本当に自院でも変わるのか？」を証明する実証データ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9CBD9"/>
                </a:solidFill>
                <a:latin typeface="Hiragino Sans"/>
              </a:rPr>
              <a:t>※以下は当社実績ではなく、公開されている医療機関の導入実績です（出典明記）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6118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246120" cy="384048"/>
          </a:xfrm>
          <a:prstGeom prst="roundRect">
            <a:avLst/>
          </a:prstGeom>
          <a:solidFill>
            <a:srgbClr val="0C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Hiragino Sans"/>
              </a:rPr>
              <a:t>問診・予約のDX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5B6B7B"/>
                </a:solidFill>
                <a:latin typeface="Hiragino Sans"/>
              </a:rPr>
              <a:t>内科クリニック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59152"/>
            <a:ext cx="3246120" cy="77724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395728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5B6B7B"/>
                </a:solidFill>
                <a:latin typeface="Hiragino Sans"/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15184"/>
            <a:ext cx="30266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2B3A"/>
                </a:solidFill>
                <a:latin typeface="Hiragino Sans"/>
              </a:rPr>
              <a:t>電話の嵐＋紙問診の手入力で受付過多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00400"/>
            <a:ext cx="3246120" cy="777240"/>
          </a:xfrm>
          <a:prstGeom prst="roundRect">
            <a:avLst/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23697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2A6EA8"/>
                </a:solidFill>
                <a:latin typeface="Hiragino Sans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456431"/>
            <a:ext cx="30266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2B3A"/>
                </a:solidFill>
                <a:latin typeface="Hiragino Sans"/>
              </a:rPr>
              <a:t>Lステップで来院前にスマホ問診完了。電話を一次自動対応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041648"/>
            <a:ext cx="3246120" cy="1600200"/>
          </a:xfrm>
          <a:prstGeom prst="roundRect">
            <a:avLst/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4078224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48A50"/>
                </a:solidFill>
                <a:latin typeface="Hiragino Sans"/>
              </a:rPr>
              <a:t>成果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370832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8A50"/>
                </a:solidFill>
                <a:latin typeface="Hiragino Sans"/>
              </a:rPr>
              <a:t>● 初月にLINE予約 350件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764024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8A50"/>
                </a:solidFill>
                <a:latin typeface="Hiragino Sans"/>
              </a:rPr>
              <a:t>● 受付問診 70%削減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515721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8A50"/>
                </a:solidFill>
                <a:latin typeface="Hiragino Sans"/>
              </a:rPr>
              <a:t>● 月商 約1,500万円規模を押上げ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76072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5B6B7B"/>
                </a:solidFill>
                <a:latin typeface="Hiragino Sans"/>
              </a:rPr>
              <a:t>出典: Lステップ公開事例「そのだ内科」ほか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4256" y="1371600"/>
            <a:ext cx="36118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17136" y="1554480"/>
            <a:ext cx="3246120" cy="384048"/>
          </a:xfrm>
          <a:prstGeom prst="roundRect">
            <a:avLst/>
          </a:prstGeom>
          <a:solidFill>
            <a:srgbClr val="0C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136" y="1554480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Hiragino Sans"/>
              </a:rPr>
              <a:t>書類作成のDX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20116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5B6B7B"/>
                </a:solidFill>
                <a:latin typeface="Hiragino Sans"/>
              </a:rPr>
              <a:t>病院・総合クリニック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17136" y="2359152"/>
            <a:ext cx="3246120" cy="77724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6864" y="2395728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5B6B7B"/>
                </a:solidFill>
                <a:latin typeface="Hiragino Sans"/>
              </a:rPr>
              <a:t>Before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6864" y="2615184"/>
            <a:ext cx="30266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2B3A"/>
                </a:solidFill>
                <a:latin typeface="Hiragino Sans"/>
              </a:rPr>
              <a:t>紹介状・退院サマリ作成に医師が忙殺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17136" y="3200400"/>
            <a:ext cx="3246120" cy="777240"/>
          </a:xfrm>
          <a:prstGeom prst="roundRect">
            <a:avLst/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3697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2A6EA8"/>
                </a:solidFill>
                <a:latin typeface="Hiragino Sans"/>
              </a:rPr>
              <a:t>After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3456431"/>
            <a:ext cx="30266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2B3A"/>
                </a:solidFill>
                <a:latin typeface="Hiragino Sans"/>
              </a:rPr>
              <a:t>自院データを学習した生成AIが下書き自動生成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17136" y="4041648"/>
            <a:ext cx="3246120" cy="1600200"/>
          </a:xfrm>
          <a:prstGeom prst="roundRect">
            <a:avLst/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26864" y="4078224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48A50"/>
                </a:solidFill>
                <a:latin typeface="Hiragino Sans"/>
              </a:rPr>
              <a:t>成果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6864" y="4370832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8A50"/>
                </a:solidFill>
                <a:latin typeface="Hiragino Sans"/>
              </a:rPr>
              <a:t>● 診断書 月400件を 50%削減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26864" y="4764024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8A50"/>
                </a:solidFill>
                <a:latin typeface="Hiragino Sans"/>
              </a:rPr>
              <a:t>● 退院サマリ 28分→8分(7割減)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6864" y="515721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8A50"/>
                </a:solidFill>
                <a:latin typeface="Hiragino Sans"/>
              </a:rPr>
              <a:t>● 医師業務 月30h以上削減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17136" y="576072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5B6B7B"/>
                </a:solidFill>
                <a:latin typeface="Hiragino Sans"/>
              </a:rPr>
              <a:t>出典: 新古賀/名古屋医療センター/戸畑共立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65592" y="1371600"/>
            <a:ext cx="36118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48472" y="1554480"/>
            <a:ext cx="3246120" cy="384048"/>
          </a:xfrm>
          <a:prstGeom prst="roundRect">
            <a:avLst/>
          </a:prstGeom>
          <a:solidFill>
            <a:srgbClr val="0C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8472" y="1554480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Hiragino Sans"/>
              </a:rPr>
              <a:t>電話業務のDX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20116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5B6B7B"/>
                </a:solidFill>
                <a:latin typeface="Hiragino Sans"/>
              </a:rPr>
              <a:t>地域密着クリニック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48472" y="2359152"/>
            <a:ext cx="3246120" cy="77724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58200" y="2395728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5B6B7B"/>
                </a:solidFill>
                <a:latin typeface="Hiragino Sans"/>
              </a:rPr>
              <a:t>Before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2615184"/>
            <a:ext cx="30266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2B3A"/>
                </a:solidFill>
                <a:latin typeface="Hiragino Sans"/>
              </a:rPr>
              <a:t>インフル予約・時間外問合せで電話過多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48472" y="3200400"/>
            <a:ext cx="3246120" cy="777240"/>
          </a:xfrm>
          <a:prstGeom prst="roundRect">
            <a:avLst/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323697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2A6EA8"/>
                </a:solidFill>
                <a:latin typeface="Hiragino Sans"/>
              </a:rPr>
              <a:t>After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456431"/>
            <a:ext cx="30266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2B3A"/>
                </a:solidFill>
                <a:latin typeface="Hiragino Sans"/>
              </a:rPr>
              <a:t>AI音声が一次対応、営業電話を自動ブロック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48472" y="4041648"/>
            <a:ext cx="3246120" cy="1600200"/>
          </a:xfrm>
          <a:prstGeom prst="roundRect">
            <a:avLst/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58200" y="4078224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48A50"/>
                </a:solidFill>
                <a:latin typeface="Hiragino Sans"/>
              </a:rPr>
              <a:t>成果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4370832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8A50"/>
                </a:solidFill>
                <a:latin typeface="Hiragino Sans"/>
              </a:rPr>
              <a:t>● 月1,200件の電話を自動化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4764024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8A50"/>
                </a:solidFill>
                <a:latin typeface="Hiragino Sans"/>
              </a:rPr>
              <a:t>● うち約400件(40%)を削減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515721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8A50"/>
                </a:solidFill>
                <a:latin typeface="Hiragino Sans"/>
              </a:rPr>
              <a:t>● 対応時間 全体70%削減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48472" y="576072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5B6B7B"/>
                </a:solidFill>
                <a:latin typeface="Hiragino Sans"/>
              </a:rPr>
              <a:t>出典: IVRy 公開導入事例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Hiragino Sans"/>
              </a:rPr>
              <a:t>御院の規模なら、いくら残る？ ── 削減効果の早見表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9CBD9"/>
                </a:solidFill>
                <a:latin typeface="Hiragino Sans"/>
              </a:rPr>
              <a:t>1モデルではなく、自院を当てはめられる規模別シミュレーション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08760"/>
          <a:ext cx="1072591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286000"/>
                <a:gridCol w="2377440"/>
                <a:gridCol w="2953512"/>
              </a:tblGrid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Hiragino Sans"/>
                        </a:rPr>
                        <a:t>院の規模</a:t>
                      </a:r>
                    </a:p>
                  </a:txBody>
                  <a:tcPr anchor="ctr" marL="73152" marR="73152" marT="36576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Hiragino Sans"/>
                        </a:rPr>
                        <a:t>月の削減額</a:t>
                      </a:r>
                    </a:p>
                  </a:txBody>
                  <a:tcPr anchor="ctr" marL="73152" marR="73152" marT="36576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Hiragino Sans"/>
                        </a:rPr>
                        <a:t>成果報酬(30%)</a:t>
                      </a:r>
                    </a:p>
                  </a:txBody>
                  <a:tcPr anchor="ctr" marL="73152" marR="73152" marT="36576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Hiragino Sans"/>
                        </a:rPr>
                        <a:t>院に残る効果（年額）</a:t>
                      </a:r>
                    </a:p>
                  </a:txBody>
                  <a:tcPr anchor="ctr" marL="73152" marR="73152" marT="36576" marB="36576">
                    <a:solidFill>
                      <a:srgbClr val="102A43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2B3A"/>
                          </a:solidFill>
                          <a:latin typeface="Hiragino Sans"/>
                        </a:rPr>
                        <a:t>医師1・事務2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B3A"/>
                          </a:solidFill>
                          <a:latin typeface="Hiragino Sans"/>
                        </a:rPr>
                        <a:t>約16万円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B3A"/>
                          </a:solidFill>
                          <a:latin typeface="Hiragino Sans"/>
                        </a:rPr>
                        <a:t>4.8万円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2100">
                          <a:solidFill>
                            <a:srgbClr val="148A50"/>
                          </a:solidFill>
                          <a:latin typeface="Hiragino Sans"/>
                        </a:rPr>
                        <a:t>約134万円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02A43"/>
                          </a:solidFill>
                          <a:latin typeface="Hiragino Sans"/>
                        </a:rPr>
                        <a:t>医師1・事務3（標準）</a:t>
                      </a:r>
                    </a:p>
                  </a:txBody>
                  <a:tcPr anchor="ctr" marL="73152" marR="73152" marT="36576" marB="36576">
                    <a:solidFill>
                      <a:srgbClr val="E2F0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B3A"/>
                          </a:solidFill>
                          <a:latin typeface="Hiragino Sans"/>
                        </a:rPr>
                        <a:t>約24万円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B3A"/>
                          </a:solidFill>
                          <a:latin typeface="Hiragino Sans"/>
                        </a:rPr>
                        <a:t>7.2万円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2100">
                          <a:solidFill>
                            <a:srgbClr val="148A50"/>
                          </a:solidFill>
                          <a:latin typeface="Hiragino Sans"/>
                        </a:rPr>
                        <a:t>約202万円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2B3A"/>
                          </a:solidFill>
                          <a:latin typeface="Hiragino Sans"/>
                        </a:rPr>
                        <a:t>医師2・事務5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B3A"/>
                          </a:solidFill>
                          <a:latin typeface="Hiragino Sans"/>
                        </a:rPr>
                        <a:t>約40万円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2B3A"/>
                          </a:solidFill>
                          <a:latin typeface="Hiragino Sans"/>
                        </a:rPr>
                        <a:t>12万円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2100">
                          <a:solidFill>
                            <a:srgbClr val="148A50"/>
                          </a:solidFill>
                          <a:latin typeface="Hiragino Sans"/>
                        </a:rPr>
                        <a:t>約336万円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434840"/>
            <a:ext cx="10725912" cy="1874519"/>
          </a:xfrm>
          <a:prstGeom prst="roundRect">
            <a:avLst/>
          </a:prstGeom>
          <a:solidFill>
            <a:srgbClr val="F0F5F9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02A43"/>
                </a:solidFill>
                <a:latin typeface="Hiragino Sans"/>
              </a:rPr>
              <a:t>標準モデルの内訳（医師1・事務3 ／ 事務人件費 月83万円・総480時間・時間単価 約1,729円）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2B3A"/>
                </a:solidFill>
                <a:latin typeface="Hiragino Sans"/>
              </a:rPr>
              <a:t>問診 −42h ＋ レセプト −45h ＋ 電話 −40h ＋ 書類 −12h  ＝  月139時間削減（フルタイム約1名分の余力創出）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48A50"/>
                </a:solidFill>
                <a:latin typeface="Hiragino Sans"/>
              </a:rPr>
              <a:t>→ 月139h × 1,729円 ＝ 月 約24万円削減 → 年 約288万円。うち成果報酬を引いて、院に残る効果は 約202万円/年。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B6B7B"/>
                </a:solidFill>
                <a:latin typeface="Hiragino Sans"/>
              </a:rPr>
              <a:t>※「うちは事務3人だから…年200万か」と、その場で自院に当てはめられます。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Hiragino Sans"/>
              </a:rPr>
              <a:t>他社に頼むと「先行投資リスク」を抱える ── 業界価格の真実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9CBD9"/>
                </a:solidFill>
                <a:latin typeface="Hiragino Sans"/>
              </a:rPr>
              <a:t>他社は全部、効果が出なくても固定費が発生。当サービスだけ唯一のノーリスク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25880"/>
          <a:ext cx="113659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2148840"/>
                <a:gridCol w="2148840"/>
                <a:gridCol w="2148840"/>
                <a:gridCol w="3136392"/>
              </a:tblGrid>
              <a:tr h="698862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Hiragino Sans"/>
                        </a:rPr>
                        <a:t>比較項目</a:t>
                      </a:r>
                    </a:p>
                  </a:txBody>
                  <a:tcPr anchor="ctr" marL="73152" marR="73152" marT="36576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一般ITベンダー</a:t>
                      </a:r>
                    </a:p>
                  </a:txBody>
                  <a:tcPr anchor="ctr" marL="73152" marR="73152" marT="36576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大手DXコンサル</a:t>
                      </a:r>
                    </a:p>
                  </a:txBody>
                  <a:tcPr anchor="ctr" marL="73152" marR="73152" marT="36576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Lステップ構築代行</a:t>
                      </a:r>
                    </a:p>
                  </a:txBody>
                  <a:tcPr anchor="ctr" marL="73152" marR="73152" marT="36576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当サービス（中立型伴走）</a:t>
                      </a:r>
                    </a:p>
                  </a:txBody>
                  <a:tcPr anchor="ctr" marL="73152" marR="73152" marT="36576" marB="36576">
                    <a:solidFill>
                      <a:srgbClr val="148A50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02A43"/>
                          </a:solidFill>
                          <a:latin typeface="Hiragino Sans"/>
                        </a:rPr>
                        <a:t>提供内容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自社アプリ単体販売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業務分析・高額導入支援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LINE・Lステップ構築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48A50"/>
                          </a:solidFill>
                          <a:latin typeface="Hiragino Sans"/>
                        </a:rPr>
                        <a:t>Lステップ×マイAI 全体最適化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02A43"/>
                          </a:solidFill>
                          <a:latin typeface="Hiragino Sans"/>
                        </a:rPr>
                        <a:t>初期費用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20万〜数十万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100〜300万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50〜100万超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48A50"/>
                          </a:solidFill>
                          <a:latin typeface="Hiragino Sans"/>
                        </a:rPr>
                        <a:t>0円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02A43"/>
                          </a:solidFill>
                          <a:latin typeface="Hiragino Sans"/>
                        </a:rPr>
                        <a:t>月額費用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1.5〜5万(固定)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50〜300万(固定)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5〜20万(固定)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48A50"/>
                          </a:solidFill>
                          <a:latin typeface="Hiragino Sans"/>
                        </a:rPr>
                        <a:t>0円（基本料なし）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02A43"/>
                          </a:solidFill>
                          <a:latin typeface="Hiragino Sans"/>
                        </a:rPr>
                        <a:t>報酬体系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稼働問わず固定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稼働ベース固定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固定保守料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48A50"/>
                          </a:solidFill>
                          <a:latin typeface="Hiragino Sans"/>
                        </a:rPr>
                        <a:t>削減できた人件費額の30%のみ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02A43"/>
                          </a:solidFill>
                          <a:latin typeface="Hiragino Sans"/>
                        </a:rPr>
                        <a:t>運用定着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自力運用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別料金で高額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現場運用に不慣れ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48A50"/>
                          </a:solidFill>
                          <a:latin typeface="Hiragino Sans"/>
                        </a:rPr>
                        <a:t>使いこなすまで3ヶ月伴走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  <a:tr h="698868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02A43"/>
                          </a:solidFill>
                          <a:latin typeface="Hiragino Sans"/>
                        </a:rPr>
                        <a:t>院側のリスク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高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極めて高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2B3A"/>
                          </a:solidFill>
                          <a:latin typeface="Hiragino Sans"/>
                        </a:rPr>
                        <a:t>中</a:t>
                      </a:r>
                    </a:p>
                  </a:txBody>
                  <a:tcPr anchor="ctr" marL="73152" marR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48A50"/>
                          </a:solidFill>
                          <a:latin typeface="Hiragino Sans"/>
                        </a:rPr>
                        <a:t>ゼロ（効果0なら支払い0）</a:t>
                      </a:r>
                    </a:p>
                  </a:txBody>
                  <a:tcPr anchor="ctr" marL="73152" marR="73152" marT="36576" marB="36576">
                    <a:solidFill>
                      <a:srgbClr val="E6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Hiragino Sans"/>
              </a:rPr>
              <a:t>「うちでも本当に測定できる？」にお答えする、リスクゼロの3ステップ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9CBD9"/>
                </a:solidFill>
                <a:latin typeface="Hiragino Sans"/>
              </a:rPr>
              <a:t>成果報酬への最大の懸念=「測定の手間」は、コンサル側が巻き取ります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611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611880" cy="868680"/>
          </a:xfrm>
          <a:prstGeom prst="round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3611880" cy="3657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9384"/>
            <a:ext cx="3611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E8F3F1"/>
                </a:solidFill>
                <a:latin typeface="Hiragino Sans"/>
              </a:rPr>
              <a:t>貴院の負担ゼロ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1A2B3A"/>
                </a:solidFill>
                <a:latin typeface="Hiragino Sans"/>
              </a:rPr>
              <a:t>事前の無料コンサル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3063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2B3A"/>
                </a:solidFill>
                <a:latin typeface="Hiragino Sans"/>
              </a:rPr>
              <a:t>当方が競合分析と類似事例を持ち込み、業務フローとボトルネックを洗い出し。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2B3A"/>
                </a:solidFill>
                <a:latin typeface="Hiragino San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2B3A"/>
                </a:solidFill>
                <a:latin typeface="Hiragino Sans"/>
              </a:rPr>
              <a:t>※「2週間時間を計測する」等の煩雑な作業は一切要求しません。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417320"/>
            <a:ext cx="3611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4256" y="1417320"/>
            <a:ext cx="3611880" cy="868680"/>
          </a:xfrm>
          <a:prstGeom prst="roundRect">
            <a:avLst/>
          </a:prstGeom>
          <a:solidFill>
            <a:srgbClr val="0C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920240"/>
            <a:ext cx="3611880" cy="365760"/>
          </a:xfrm>
          <a:prstGeom prst="rect">
            <a:avLst/>
          </a:prstGeom>
          <a:solidFill>
            <a:srgbClr val="0C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1508760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1929384"/>
            <a:ext cx="3611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E8F3F1"/>
                </a:solidFill>
                <a:latin typeface="Hiragino Sans"/>
              </a:rPr>
              <a:t>双方納得の透明基準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46888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1A2B3A"/>
                </a:solidFill>
                <a:latin typeface="Hiragino Sans"/>
              </a:rPr>
              <a:t>フェアな測定ルール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063240"/>
            <a:ext cx="3063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2B3A"/>
                </a:solidFill>
                <a:latin typeface="Hiragino Sans"/>
              </a:rPr>
              <a:t>導入前後で同等の患者数帯に基づき削減時間を算出。人員変更月は除外。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2B3A"/>
                </a:solidFill>
                <a:latin typeface="Hiragino San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2B3A"/>
                </a:solidFill>
                <a:latin typeface="Hiragino Sans"/>
              </a:rPr>
              <a:t>※最低契約期間以降は30日前通知で解約可。ロックインなし。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65592" y="1417320"/>
            <a:ext cx="3611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65592" y="1417320"/>
            <a:ext cx="3611880" cy="868680"/>
          </a:xfrm>
          <a:prstGeom prst="roundRect">
            <a:avLst/>
          </a:prstGeom>
          <a:solidFill>
            <a:srgbClr val="14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65592" y="1920240"/>
            <a:ext cx="3611880" cy="365760"/>
          </a:xfrm>
          <a:prstGeom prst="rect">
            <a:avLst/>
          </a:prstGeom>
          <a:solidFill>
            <a:srgbClr val="14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1508760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1929384"/>
            <a:ext cx="3611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E8F3F1"/>
                </a:solidFill>
                <a:latin typeface="Hiragino Sans"/>
              </a:rPr>
              <a:t>リスクは私たちが取る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46888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1A2B3A"/>
                </a:solidFill>
                <a:latin typeface="Hiragino Sans"/>
              </a:rPr>
              <a:t>手元に利益が残る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9912" y="3063240"/>
            <a:ext cx="3063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2B3A"/>
                </a:solidFill>
                <a:latin typeface="Hiragino Sans"/>
              </a:rPr>
              <a:t>【例：月24万円分を削減】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2B3A"/>
                </a:solidFill>
                <a:latin typeface="Hiragino Sans"/>
              </a:rPr>
              <a:t>削減額24万 × 30% ＝ お支払い 7.2万円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94192" y="4572000"/>
            <a:ext cx="3154680" cy="1371600"/>
          </a:xfrm>
          <a:prstGeom prst="roundRect">
            <a:avLst/>
          </a:prstGeom>
          <a:solidFill>
            <a:srgbClr val="E6F6EC"/>
          </a:solidFill>
          <a:ln w="19050">
            <a:solidFill>
              <a:srgbClr val="1EB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4663440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148A50"/>
                </a:solidFill>
                <a:latin typeface="Hiragino Sans"/>
              </a:rPr>
              <a:t>貴院に残る効果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93776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 i="0">
                <a:solidFill>
                  <a:srgbClr val="148A50"/>
                </a:solidFill>
                <a:latin typeface="Hiragino Sans"/>
              </a:rPr>
              <a:t>月 16.8万円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2" y="55321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B7B"/>
                </a:solidFill>
                <a:latin typeface="Hiragino Sans"/>
              </a:rPr>
              <a:t>（年 約200万円）／効果0なら支払い0円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Hiragino Sans"/>
              </a:rPr>
              <a:t>なぜ私たちは「完全成果報酬」で伴走できるのか？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9CBD9"/>
                </a:solidFill>
                <a:latin typeface="Hiragino Sans"/>
              </a:rPr>
              <a:t>「なぜ他社は固定費で、御社は成果報酬でやれるのか？」への答え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40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09728" cy="2240280"/>
          </a:xfrm>
          <a:prstGeom prst="rect">
            <a:avLst/>
          </a:prstGeom>
          <a:solidFill>
            <a:srgbClr val="0C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09928"/>
            <a:ext cx="640080" cy="640080"/>
          </a:xfrm>
          <a:prstGeom prst="roundRect">
            <a:avLst/>
          </a:prstGeom>
          <a:solidFill>
            <a:srgbClr val="0C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0992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Hiragino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9164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2B3A"/>
                </a:solidFill>
                <a:latin typeface="Hiragino Sans"/>
              </a:rPr>
              <a:t>中立選定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194560"/>
            <a:ext cx="4160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7A73"/>
                </a:solidFill>
                <a:latin typeface="Hiragino Sans"/>
              </a:rPr>
              <a:t>特定メーカーに縛られない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4800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B7B"/>
                </a:solidFill>
                <a:latin typeface="Hiragino Sans"/>
              </a:rPr>
              <a:t>自社ツールの売り込みではない。Lステップ/マイAI/IVRから貴院の診療科・規模に最適な組合せを厳選。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417320"/>
            <a:ext cx="5440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1417320"/>
            <a:ext cx="109728" cy="2240280"/>
          </a:xfrm>
          <a:prstGeom prst="rect">
            <a:avLst/>
          </a:prstGeom>
          <a:solidFill>
            <a:srgbClr val="0C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66560" y="1709928"/>
            <a:ext cx="640080" cy="640080"/>
          </a:xfrm>
          <a:prstGeom prst="roundRect">
            <a:avLst/>
          </a:prstGeom>
          <a:solidFill>
            <a:srgbClr val="0C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70992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Hiragino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69164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2B3A"/>
                </a:solidFill>
                <a:latin typeface="Hiragino Sans"/>
              </a:rPr>
              <a:t>実践ノウハウ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194560"/>
            <a:ext cx="4160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7A73"/>
                </a:solidFill>
                <a:latin typeface="Hiragino Sans"/>
              </a:rPr>
              <a:t>自社で泥臭く運用した知見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697480"/>
            <a:ext cx="4800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B7B"/>
                </a:solidFill>
                <a:latin typeface="Hiragino Sans"/>
              </a:rPr>
              <a:t>ツールは「設計」より「運用」でつまずく。自社実践で現場の抵抗感・エラー回避まで熟知。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14800"/>
            <a:ext cx="5440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114800"/>
            <a:ext cx="109728" cy="2240280"/>
          </a:xfrm>
          <a:prstGeom prst="rect">
            <a:avLst/>
          </a:prstGeom>
          <a:solidFill>
            <a:srgbClr val="F0A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4407408"/>
            <a:ext cx="640080" cy="640080"/>
          </a:xfrm>
          <a:prstGeom prst="roundRect">
            <a:avLst/>
          </a:prstGeom>
          <a:solidFill>
            <a:srgbClr val="F0A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40740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Hiragino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38912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2B3A"/>
                </a:solidFill>
                <a:latin typeface="Hiragino Sans"/>
              </a:rPr>
              <a:t>一気通貫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892040"/>
            <a:ext cx="4160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0A820"/>
                </a:solidFill>
                <a:latin typeface="Hiragino Sans"/>
              </a:rPr>
              <a:t>補助金申請＋定着まで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94960"/>
            <a:ext cx="4800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B7B"/>
                </a:solidFill>
                <a:latin typeface="Hiragino Sans"/>
              </a:rPr>
              <a:t>IT導入補助金・医療情報化支援基金の活用を支援し初期コスト最小化。使いこなすまで3ヶ月伴走。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4114800"/>
            <a:ext cx="5440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6520" y="4114800"/>
            <a:ext cx="109728" cy="2240280"/>
          </a:xfrm>
          <a:prstGeom prst="rect">
            <a:avLst/>
          </a:prstGeom>
          <a:solidFill>
            <a:srgbClr val="14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766560" y="4407408"/>
            <a:ext cx="640080" cy="640080"/>
          </a:xfrm>
          <a:prstGeom prst="roundRect">
            <a:avLst/>
          </a:prstGeom>
          <a:solidFill>
            <a:srgbClr val="148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440740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Hiragino San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438912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2B3A"/>
                </a:solidFill>
                <a:latin typeface="Hiragino Sans"/>
              </a:rPr>
              <a:t>リスクゼロ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892040"/>
            <a:ext cx="4160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48A50"/>
                </a:solidFill>
                <a:latin typeface="Hiragino Sans"/>
              </a:rPr>
              <a:t>自信があるからこその設計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5394960"/>
            <a:ext cx="4800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B7B"/>
                </a:solidFill>
                <a:latin typeface="Hiragino Sans"/>
              </a:rPr>
              <a:t>事前分析で「本当に削減できる」確証と成功事例があるから、院にリスクを負わせないモデルが成立。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iragino Sans"/>
              </a:rPr>
              <a:t>まずは「無料 AI・LINE活用コンサル」から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C4D3DF"/>
                </a:solidFill>
                <a:latin typeface="Hiragino Sans"/>
              </a:rPr>
              <a:t>押し売り一切なし。単なる問い合わせでなく、1時間の無料セッションとしてご利用ください。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6126480" cy="868680"/>
          </a:xfrm>
          <a:prstGeom prst="roundRect">
            <a:avLst/>
          </a:prstGeom>
          <a:solidFill>
            <a:srgbClr val="16334D"/>
          </a:solidFill>
          <a:ln w="12700">
            <a:solidFill>
              <a:srgbClr val="0C7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67712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2A59B"/>
                </a:solidFill>
                <a:latin typeface="Hiragino Sans"/>
              </a:rPr>
              <a:t>✓ ネット上の競合分析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C4D3DF"/>
                </a:solidFill>
                <a:latin typeface="Hiragino Sans"/>
              </a:rPr>
              <a:t>貴院周辺クリニックのデジタル対応状況を分析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6126480" cy="868680"/>
          </a:xfrm>
          <a:prstGeom prst="roundRect">
            <a:avLst/>
          </a:prstGeom>
          <a:solidFill>
            <a:srgbClr val="16334D"/>
          </a:solidFill>
          <a:ln w="12700">
            <a:solidFill>
              <a:srgbClr val="0C7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319272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2A59B"/>
                </a:solidFill>
                <a:latin typeface="Hiragino Sans"/>
              </a:rPr>
              <a:t>✓ 現状フローの整理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5760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C4D3DF"/>
                </a:solidFill>
                <a:latin typeface="Hiragino Sans"/>
              </a:rPr>
              <a:t>電話の多さ・書類の手間などボトルネックをその場で特定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2148840"/>
            <a:ext cx="4160520" cy="3108960"/>
          </a:xfrm>
          <a:prstGeom prst="roundRect">
            <a:avLst/>
          </a:prstGeom>
          <a:solidFill>
            <a:srgbClr val="1EB86B"/>
          </a:solidFill>
          <a:ln w="25400">
            <a:solidFill>
              <a:srgbClr val="148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37744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iragino Sans"/>
              </a:rPr>
              <a:t>★ 参加特典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926080"/>
            <a:ext cx="4160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貴院専用</a:t>
            </a:r>
          </a:p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業務削減シミュレーション</a:t>
            </a:r>
          </a:p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報告書（診断書）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452628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Hiragino Sans"/>
              </a:rPr>
              <a:t>を無料で作成・プレゼント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760720"/>
            <a:ext cx="10561320" cy="548640"/>
          </a:xfrm>
          <a:prstGeom prst="roundRect">
            <a:avLst/>
          </a:prstGeom>
          <a:solidFill>
            <a:srgbClr val="F0A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760720"/>
            <a:ext cx="10561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0A1F33"/>
                </a:solidFill>
                <a:latin typeface="Hiragino Sans"/>
              </a:rPr>
              <a:t>今回は丁寧に伴走するため【限定 ◯ 名】様まで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Hiragino Sans"/>
              </a:rPr>
              <a:t>リスクゼロで、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Hiragino Sans"/>
              </a:rPr>
              <a:t>次世代のクリニック運営を始めませんか？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514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C4D3DF"/>
                </a:solidFill>
                <a:latin typeface="Hiragino Sans"/>
              </a:rPr>
              <a:t>「とりあえず自院ならどこを自動化できるのか知りたい」── その動機で構いません。押し売りは一切いたしません。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91840"/>
            <a:ext cx="6492240" cy="2834640"/>
          </a:xfrm>
          <a:prstGeom prst="roundRect">
            <a:avLst/>
          </a:prstGeom>
          <a:solidFill>
            <a:srgbClr val="16334D"/>
          </a:solidFill>
          <a:ln w="12700">
            <a:solidFill>
              <a:srgbClr val="0C7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52044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2A59B"/>
                </a:solidFill>
                <a:latin typeface="Hiragino Sans"/>
              </a:rPr>
              <a:t>お申込み（その場でQR／用紙）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11480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iragino Sans"/>
              </a:rPr>
              <a:t>▢  クリニック名 ／ ご担当者名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66344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iragino Sans"/>
              </a:rPr>
              <a:t>▢  電話番号 ／ メールアドレス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21208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iragino Sans"/>
              </a:rPr>
              <a:t>▢  ご希望の面談日時（オンライン対応可）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291840"/>
            <a:ext cx="3566160" cy="2834640"/>
          </a:xfrm>
          <a:prstGeom prst="roundRect">
            <a:avLst/>
          </a:prstGeom>
          <a:solidFill>
            <a:srgbClr val="ECF1F5"/>
          </a:solidFill>
          <a:ln w="15875">
            <a:solidFill>
              <a:srgbClr val="12A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3291840"/>
            <a:ext cx="356616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C7A73"/>
                </a:solidFill>
                <a:latin typeface="Hiragino Sans"/>
              </a:rPr>
              <a:t>🖼  画像差込</a:t>
            </a:r>
          </a:p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C7A73"/>
                </a:solidFill>
                <a:latin typeface="Hiragino Sans"/>
              </a:rPr>
              <a:t>申込QRコード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
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gradFill rotWithShape="1">
            <a:gsLst>
              <a:gs pos="0">
                <a:srgbClr val="0E243C"/>
              </a:gs>
              <a:gs pos="100000">
                <a:srgbClr val="108E8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45720" cy="685800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731520"/>
            <a:ext cx="3246120" cy="420624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31520"/>
            <a:ext cx="324612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05101E"/>
                </a:solidFill>
                <a:latin typeface="Hiragino Sans"/>
              </a:rPr>
              <a:t>NEXT-GEN  CLINIC  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00" b="1" i="0">
                <a:solidFill>
                  <a:srgbClr val="FFFFFF"/>
                </a:solidFill>
                <a:latin typeface="Hiragino Sans"/>
              </a:rPr>
              <a:t>"人を増やさず"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00" b="1" i="0">
                <a:solidFill>
                  <a:srgbClr val="1AD6CB"/>
                </a:solidFill>
                <a:latin typeface="Hiragino Sans"/>
              </a:rPr>
              <a:t>診療の質を、上げる。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1012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Hiragino Sans"/>
              </a:rPr>
              <a:t>クリニックのAI・LINE導入 まるごとおまかせ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767328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CB3C4"/>
                </a:solidFill>
                <a:latin typeface="Hiragino Sans"/>
              </a:rPr>
              <a:t>独自カスタマイズの「マイAI」×「Lステップ」×AI音声(IVR)で実現する、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CB3C4"/>
                </a:solidFill>
                <a:latin typeface="Hiragino Sans"/>
              </a:rPr>
              <a:t>初期費用0円・完全成果報酬型のクリニックDX。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98348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CB3C4"/>
                </a:solidFill>
                <a:latin typeface="Hiragino Sans"/>
              </a:rPr>
              <a:t>初期費用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239512"/>
            <a:ext cx="1280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0" b="1" i="0">
                <a:solidFill>
                  <a:srgbClr val="F5C242"/>
                </a:solidFill>
                <a:latin typeface="Hiragino San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56418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5C242"/>
                </a:solidFill>
                <a:latin typeface="Hiragino Sans"/>
              </a:rPr>
              <a:t>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34055" y="5276088"/>
            <a:ext cx="15240" cy="731520"/>
          </a:xfrm>
          <a:prstGeom prst="rect">
            <a:avLst/>
          </a:prstGeom>
          <a:solidFill>
            <a:srgbClr val="214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5" y="498348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CB3C4"/>
                </a:solidFill>
                <a:latin typeface="Hiragino Sans"/>
              </a:rPr>
              <a:t>月額基本料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5" y="5239512"/>
            <a:ext cx="1280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0" b="1" i="0">
                <a:solidFill>
                  <a:srgbClr val="F5C242"/>
                </a:solidFill>
                <a:latin typeface="Hiragino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5" y="56418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5C242"/>
                </a:solidFill>
                <a:latin typeface="Hiragino Sans"/>
              </a:rPr>
              <a:t>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9742" y="5276088"/>
            <a:ext cx="15240" cy="731520"/>
          </a:xfrm>
          <a:prstGeom prst="rect">
            <a:avLst/>
          </a:prstGeom>
          <a:solidFill>
            <a:srgbClr val="214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2" y="498348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CB3C4"/>
                </a:solidFill>
                <a:latin typeface="Hiragino Sans"/>
              </a:rPr>
              <a:t>成果報酬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2" y="5239512"/>
            <a:ext cx="1280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0" b="1" i="0">
                <a:solidFill>
                  <a:srgbClr val="F5C242"/>
                </a:solidFill>
                <a:latin typeface="Hiragino Sans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2" y="56418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5C242"/>
                </a:solidFill>
                <a:latin typeface="Hiragino Sans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03504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B3C4"/>
                </a:solidFill>
                <a:latin typeface="Hiragino Sans"/>
              </a:rPr>
              <a:t>成果報酬は「実際に人件費相当額を削減できた分」だけ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1828800"/>
            <a:ext cx="4069080" cy="3017520"/>
          </a:xfrm>
          <a:prstGeom prst="roundRect">
            <a:avLst/>
          </a:prstGeom>
          <a:solidFill>
            <a:srgbClr val="0F2942"/>
          </a:solidFill>
          <a:ln w="19050">
            <a:solidFill>
              <a:srgbClr val="1A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35240" y="1828800"/>
            <a:ext cx="4069080" cy="457200"/>
          </a:xfrm>
          <a:prstGeom prst="round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1847088"/>
            <a:ext cx="3657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iragino Sans"/>
              </a:rPr>
              <a:t>マイAI ｜ 紹介状ジェネレーター</a:t>
            </a:r>
          </a:p>
        </p:txBody>
      </p:sp>
      <p:pic>
        <p:nvPicPr>
          <p:cNvPr id="26" name="Picture 25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432304"/>
            <a:ext cx="3611880" cy="22574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35240" y="4956048"/>
            <a:ext cx="4069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EF7EF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400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9CB3C4"/>
                </a:solidFill>
                <a:latin typeface="Hiragino Sans"/>
              </a:rPr>
              <a:t>菊池ホールディングス（KHD）  |  @khd_medical01  |  ※マイAIは仮称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THE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ネット上の生の声が示す、クリニックのリアルな4大お悩み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28016" cy="224028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64208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0078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395728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700" b="1" i="0">
                <a:solidFill>
                  <a:srgbClr val="FF6B7A"/>
                </a:solidFill>
                <a:latin typeface="Hiragino Sans"/>
              </a:rPr>
              <a:t>70万〜150万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56032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FF6B7A"/>
                </a:solidFill>
                <a:latin typeface="Hiragino Sans"/>
              </a:rPr>
              <a:t>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312724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8132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481328"/>
            <a:ext cx="128016" cy="224028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1664208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70078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395728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700" b="1" i="0">
                <a:solidFill>
                  <a:srgbClr val="FF6B7A"/>
                </a:solidFill>
                <a:latin typeface="Hiragino Sans"/>
              </a:rPr>
              <a:t>診察の半分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312724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8736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87368"/>
            <a:ext cx="128016" cy="224028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270248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0682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001768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700" b="1" i="0">
                <a:solidFill>
                  <a:srgbClr val="FF6B7A"/>
                </a:solidFill>
                <a:latin typeface="Hiragino Sans"/>
              </a:rPr>
              <a:t>月10〜20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516636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FF6B7A"/>
                </a:solidFill>
                <a:latin typeface="Hiragino Sans"/>
              </a:rPr>
              <a:t>h残業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573328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が常態化。目視チェックによる算定漏れの不安も重なる。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08736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4087368"/>
            <a:ext cx="128016" cy="2240280"/>
          </a:xfrm>
          <a:prstGeom prst="rect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4270248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6B7A"/>
                </a:solidFill>
                <a:latin typeface="Hiragino San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306824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3136" y="5001768"/>
            <a:ext cx="3703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700" b="1" i="0">
                <a:solidFill>
                  <a:srgbClr val="FF6B7A"/>
                </a:solidFill>
                <a:latin typeface="Hiragino Sans"/>
              </a:rPr>
              <a:t>月1,200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3136" y="5166360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FF6B7A"/>
                </a:solidFill>
                <a:latin typeface="Hiragino Sans"/>
              </a:rPr>
              <a:t>件超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5733288"/>
            <a:ext cx="4983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THE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医者の悩み（左）を、AI商品（右）がどう解決するか。クリニック全体を1つのエコシステムで最適化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83112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520440"/>
                <a:gridCol w="3703320"/>
                <a:gridCol w="21305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現状のアナログ業務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マイAI・Lステップ・IVR導入後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91440" marR="73152" marT="45720" marB="45720">
                    <a:solidFill>
                      <a:srgbClr val="108E88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8EF7EF"/>
                          </a:solidFill>
                          <a:latin typeface="Hiragino Sans"/>
                        </a:rPr>
                        <a:t>問診業務 40〜70%減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8EF7EF"/>
                          </a:solidFill>
                          <a:latin typeface="Hiragino Sans"/>
                        </a:rPr>
                        <a:t>電話件数 最大40〜80%減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8EF7EF"/>
                          </a:solidFill>
                          <a:latin typeface="Hiragino Sans"/>
                        </a:rPr>
                        <a:t>書類時間 月30h以上減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9CB3C4"/>
                          </a:solidFill>
                          <a:latin typeface="Hiragino Sans"/>
                        </a:rPr>
                        <a:t>AIが4,000ルールで算定漏れ自動チェック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8EF7EF"/>
                          </a:solidFill>
                          <a:latin typeface="Hiragino Sans"/>
                        </a:rPr>
                        <a:t>点検時間 最大1/20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6537960" cy="4526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943600" cy="3714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532120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EF7EF"/>
                </a:solidFill>
                <a:latin typeface="Hiragino Sans"/>
              </a:rPr>
              <a:t>① 書類アシスト｜カルテ→紹介状を数秒で下書き（院長の画面）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417320"/>
            <a:ext cx="4416552" cy="265176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2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1536192"/>
            <a:ext cx="3566160" cy="2228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69480" y="3767328"/>
            <a:ext cx="4416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8EF7EF"/>
                </a:solidFill>
                <a:latin typeface="Hiragino Sans"/>
              </a:rPr>
              <a:t>② 成果ダッシュボード｜削減効果を可視化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206240"/>
            <a:ext cx="4416552" cy="173736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3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315968"/>
            <a:ext cx="758952" cy="15179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49640" y="46177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8EF7EF"/>
                </a:solidFill>
                <a:latin typeface="Hiragino Sans"/>
              </a:rPr>
              <a:t>③ LINE問診・予約</a:t>
            </a:r>
          </a:p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8EF7EF"/>
                </a:solidFill>
                <a:latin typeface="Hiragino Sans"/>
              </a:rPr>
              <a:t>Lステップ連携（患者スマホ）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※当社実績ではなく、公開されている医療機関の導入実績です（出典明記）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461772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81912"/>
            <a:ext cx="3246120" cy="384048"/>
          </a:xfrm>
          <a:prstGeom prst="round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20824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9CB3C4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31720"/>
            <a:ext cx="3246120" cy="731520"/>
          </a:xfrm>
          <a:prstGeom prst="roundRect">
            <a:avLst/>
          </a:prstGeom>
          <a:solidFill>
            <a:srgbClr val="13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36829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6B7A"/>
                </a:solidFill>
                <a:latin typeface="Hiragino Sans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58775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36392"/>
            <a:ext cx="3246120" cy="731520"/>
          </a:xfrm>
          <a:prstGeom prst="roundRect">
            <a:avLst/>
          </a:prstGeom>
          <a:solidFill>
            <a:srgbClr val="0E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17296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1AD6CB"/>
                </a:solidFill>
                <a:latin typeface="Hiragino Sans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39242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59352"/>
            <a:ext cx="3246120" cy="1600200"/>
          </a:xfrm>
          <a:prstGeom prst="roundRect">
            <a:avLst/>
          </a:prstGeom>
          <a:solidFill>
            <a:srgbClr val="0C3328"/>
          </a:solidFill>
          <a:ln w="12700">
            <a:solidFill>
              <a:srgbClr val="169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9959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E08E"/>
                </a:solidFill>
                <a:latin typeface="Hiragino Sans"/>
              </a:rPr>
              <a:t>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8853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68172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507492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9CB3C4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1417320"/>
            <a:ext cx="3611880" cy="461772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17136" y="1581912"/>
            <a:ext cx="3246120" cy="384048"/>
          </a:xfrm>
          <a:prstGeom prst="round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1581912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書類作成のDX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2020824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9CB3C4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17136" y="2331720"/>
            <a:ext cx="3246120" cy="731520"/>
          </a:xfrm>
          <a:prstGeom prst="roundRect">
            <a:avLst/>
          </a:prstGeom>
          <a:solidFill>
            <a:srgbClr val="13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236829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6B7A"/>
                </a:solidFill>
                <a:latin typeface="Hiragino Sans"/>
              </a:rPr>
              <a:t>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258775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17136" y="3136392"/>
            <a:ext cx="3246120" cy="731520"/>
          </a:xfrm>
          <a:prstGeom prst="roundRect">
            <a:avLst/>
          </a:prstGeom>
          <a:solidFill>
            <a:srgbClr val="0E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317296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1AD6CB"/>
                </a:solidFill>
                <a:latin typeface="Hiragino Sans"/>
              </a:rPr>
              <a:t>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339242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7136" y="3959352"/>
            <a:ext cx="3246120" cy="1600200"/>
          </a:xfrm>
          <a:prstGeom prst="roundRect">
            <a:avLst/>
          </a:prstGeom>
          <a:solidFill>
            <a:srgbClr val="0C3328"/>
          </a:solidFill>
          <a:ln w="12700">
            <a:solidFill>
              <a:srgbClr val="169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6864" y="39959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E08E"/>
                </a:solidFill>
                <a:latin typeface="Hiragino Sans"/>
              </a:rPr>
              <a:t>成果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26864" y="428853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468172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507492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56235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9CB3C4"/>
                </a:solidFill>
                <a:latin typeface="Hiragino Sans"/>
              </a:rPr>
              <a:t>出典: 新古賀/名古屋医療C/戸畑共立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65592" y="1417320"/>
            <a:ext cx="3611880" cy="461772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48472" y="1581912"/>
            <a:ext cx="3246120" cy="384048"/>
          </a:xfrm>
          <a:prstGeom prst="round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48472" y="1581912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Hiragino Sans"/>
              </a:rPr>
              <a:t>電話業務のDX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2" y="2020824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9CB3C4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48472" y="2331720"/>
            <a:ext cx="3246120" cy="731520"/>
          </a:xfrm>
          <a:prstGeom prst="roundRect">
            <a:avLst/>
          </a:prstGeom>
          <a:solidFill>
            <a:srgbClr val="13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236829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6B7A"/>
                </a:solidFill>
                <a:latin typeface="Hiragino Sans"/>
              </a:rPr>
              <a:t>Before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58775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48472" y="3136392"/>
            <a:ext cx="3246120" cy="731520"/>
          </a:xfrm>
          <a:prstGeom prst="roundRect">
            <a:avLst/>
          </a:prstGeom>
          <a:solidFill>
            <a:srgbClr val="0E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58200" y="317296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1AD6CB"/>
                </a:solidFill>
                <a:latin typeface="Hiragino Sans"/>
              </a:rPr>
              <a:t>After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339242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48472" y="3959352"/>
            <a:ext cx="3246120" cy="1600200"/>
          </a:xfrm>
          <a:prstGeom prst="roundRect">
            <a:avLst/>
          </a:prstGeom>
          <a:solidFill>
            <a:srgbClr val="0C3328"/>
          </a:solidFill>
          <a:ln w="12700">
            <a:solidFill>
              <a:srgbClr val="169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399592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E08E"/>
                </a:solidFill>
                <a:latin typeface="Hiragino Sans"/>
              </a:rPr>
              <a:t>成果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428853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468172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507492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DE08E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8472" y="562356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9CB3C4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725912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286000"/>
                <a:gridCol w="2377440"/>
                <a:gridCol w="2953512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anchor="ctr" marL="91440" marR="73152" marT="45720" marB="45720">
                    <a:solidFill>
                      <a:srgbClr val="108E8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CB3C4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CB3C4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EF7EF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CB3C4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CB3C4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EF7EF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CB3C4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9CB3C4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8EF7EF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06240"/>
            <a:ext cx="10725912" cy="20116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AD6CB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9744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iragino Sans"/>
              </a:rPr>
              <a:t>問診 −42h ＋ レセプト −45h ＋ 電話 −40h ＋ 書類 −12h ＝ 月139時間削減（フルタイム約1名分の余力創出）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4865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E08E"/>
                </a:solidFill>
                <a:latin typeface="Hiragino Sans"/>
              </a:rPr>
              <a:t>→ 月139h × 1,729円 ＝ 月 約24万円削減 → 年 約288万円。成果報酬を引いて、院に残る効果は 約202万円/年。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4243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CB3C4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WHY  RISK-ZERO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他社に頼むと「先行投資リスク」を抱える ── 業界価格の真実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他社は効果が出なくても固定費が発生。当サービスだけ唯一のノーリスク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1365992" cy="480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148840"/>
                <a:gridCol w="2148840"/>
                <a:gridCol w="2148840"/>
                <a:gridCol w="3136392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一般ITベンダー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大手DXコンサル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91440" marR="73152" marT="45720" marB="45720">
                    <a:solidFill>
                      <a:srgbClr val="0E24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当サービス（中立伴走）</a:t>
                      </a:r>
                    </a:p>
                  </a:txBody>
                  <a:tcPr anchor="ctr" marL="91440" marR="73152" marT="45720" marB="45720">
                    <a:solidFill>
                      <a:srgbClr val="108E8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自社アプリ単体販売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業務分析・高額導入支援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EF7EF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20万〜数十万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100〜300万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EF7EF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1.5〜5万(固定)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50〜300万(固定)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5〜20万(固定)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EF7EF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稼働問わず固定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稼働ベース固定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EF7EF"/>
                          </a:solidFill>
                          <a:latin typeface="Hiragino Sans"/>
                        </a:rPr>
                        <a:t>削減人件費の30%のみ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自力運用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別料金で高額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91440" marR="73152" marT="45720" marB="45720"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EF7EF"/>
                          </a:solidFill>
                          <a:latin typeface="Hiragino Sans"/>
                        </a:rPr>
                        <a:t>3ヶ月伴走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高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極めて高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9CB3C4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91440" marR="73152" marT="45720" marB="45720">
                    <a:solidFill>
                      <a:srgbClr val="1331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EF7EF"/>
                          </a:solidFill>
                          <a:latin typeface="Hiragino Sans"/>
                        </a:rPr>
                        <a:t>ゼロ（効果0なら0円）</a:t>
                      </a:r>
                    </a:p>
                  </a:txBody>
                  <a:tcPr anchor="ctr" marL="91440" marR="73152" marT="45720" marB="45720">
                    <a:solidFill>
                      <a:srgbClr val="103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HOW  IT 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「うちでも本当に測定できる？」── リスクゼロの3ステップ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3611880" cy="46634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11880" cy="868680"/>
          </a:xfrm>
          <a:prstGeom prst="round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611880" cy="365760"/>
          </a:xfrm>
          <a:prstGeom prst="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84247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※「2週間時間を計測」等の煩雑な作業は一切要求しません。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463040"/>
            <a:ext cx="3611880" cy="46634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4256" y="1463040"/>
            <a:ext cx="3611880" cy="868680"/>
          </a:xfrm>
          <a:prstGeom prst="round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965960"/>
            <a:ext cx="3611880" cy="365760"/>
          </a:xfrm>
          <a:prstGeom prst="rect">
            <a:avLst/>
          </a:prstGeom>
          <a:solidFill>
            <a:srgbClr val="10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15544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1984247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48716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463040"/>
            <a:ext cx="3611880" cy="46634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65592" y="1463040"/>
            <a:ext cx="3611880" cy="868680"/>
          </a:xfrm>
          <a:prstGeom prst="roundRect">
            <a:avLst/>
          </a:prstGeom>
          <a:solidFill>
            <a:srgbClr val="16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65592" y="1965960"/>
            <a:ext cx="3611880" cy="365760"/>
          </a:xfrm>
          <a:prstGeom prst="rect">
            <a:avLst/>
          </a:prstGeom>
          <a:solidFill>
            <a:srgbClr val="169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15544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1984247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48716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3063240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CB3C4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4572000"/>
            <a:ext cx="3154680" cy="1371600"/>
          </a:xfrm>
          <a:prstGeom prst="roundRect">
            <a:avLst/>
          </a:prstGeom>
          <a:solidFill>
            <a:srgbClr val="0C3328"/>
          </a:solidFill>
          <a:ln w="19050">
            <a:solidFill>
              <a:srgbClr val="2DE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66344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2DE08E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93776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2DE08E"/>
                </a:solidFill>
                <a:latin typeface="Hiragino Sans"/>
              </a:rPr>
              <a:t>月 16.8万円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9912" y="55321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CB3C4"/>
                </a:solidFill>
                <a:latin typeface="Hiragino Sans"/>
              </a:rPr>
              <a:t>（年 約200万円）／効果0なら支払い0円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51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3175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19456"/>
            <a:ext cx="2468880" cy="36576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5101E"/>
                </a:solidFill>
                <a:latin typeface="Hiragino Sans"/>
              </a:rPr>
              <a:t>OUR 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28016" cy="224028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55648"/>
            <a:ext cx="640080" cy="64008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5101E"/>
                </a:solidFill>
                <a:latin typeface="Hiragino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7373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中立選定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4028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D6CB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61488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CB3C4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8132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481328"/>
            <a:ext cx="128016" cy="224028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12280" y="1755648"/>
            <a:ext cx="640080" cy="640080"/>
          </a:xfrm>
          <a:prstGeom prst="round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75564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5101E"/>
                </a:solidFill>
                <a:latin typeface="Hiragino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73736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実践ノウハウ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24028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D6CB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761488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CB3C4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8736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87368"/>
            <a:ext cx="128016" cy="224028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361688"/>
            <a:ext cx="640080" cy="640080"/>
          </a:xfrm>
          <a:prstGeom prst="round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6168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5101E"/>
                </a:solidFill>
                <a:latin typeface="Hiragino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34340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一気通貫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84632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5C242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67528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CB3C4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087368"/>
            <a:ext cx="5532120" cy="22402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2240" y="4087368"/>
            <a:ext cx="128016" cy="2240280"/>
          </a:xfrm>
          <a:prstGeom prst="rect">
            <a:avLst/>
          </a:prstGeom>
          <a:solidFill>
            <a:srgbClr val="2DE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12280" y="4361688"/>
            <a:ext cx="640080" cy="640080"/>
          </a:xfrm>
          <a:prstGeom prst="roundRect">
            <a:avLst/>
          </a:prstGeom>
          <a:solidFill>
            <a:srgbClr val="2DE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36168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05101E"/>
                </a:solidFill>
                <a:latin typeface="Hiragino San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343400"/>
            <a:ext cx="4251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リスクゼロ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84632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DE08E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367528"/>
            <a:ext cx="4892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9CB3C4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gradFill rotWithShape="1">
            <a:gsLst>
              <a:gs pos="0">
                <a:srgbClr val="0E243C"/>
              </a:gs>
              <a:gs pos="100000">
                <a:srgbClr val="108E88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AD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Hiragino Sans"/>
              </a:rPr>
              <a:t>リスクゼロで、次世代のクリニック運営を始めませんか？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EF7EF"/>
                </a:solidFill>
                <a:latin typeface="Hiragino Sans"/>
              </a:rPr>
              <a:t>押し売りは一切なし。単なる問い合わせでなく、1時間の無料コンサルセッションとしてご利用ください。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6126480" cy="8686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877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D6CB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74720"/>
            <a:ext cx="6126480" cy="8686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9359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D6CB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319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CB3C4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80560"/>
            <a:ext cx="6126480" cy="16916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148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6177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AD6CB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0292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949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76072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468880"/>
            <a:ext cx="4160520" cy="3703320"/>
          </a:xfrm>
          <a:prstGeom prst="roundRect">
            <a:avLst/>
          </a:prstGeom>
          <a:solidFill>
            <a:srgbClr val="0C3328"/>
          </a:solidFill>
          <a:ln w="25400">
            <a:solidFill>
              <a:srgbClr val="2DE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69748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2DE08E"/>
                </a:solidFill>
                <a:latin typeface="Hiragino Sans"/>
              </a:rPr>
              <a:t>★ 参加特典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9184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8920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8EF7EF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5532120"/>
            <a:ext cx="4160520" cy="502920"/>
          </a:xfrm>
          <a:prstGeom prst="round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5532120"/>
            <a:ext cx="4160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5101E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
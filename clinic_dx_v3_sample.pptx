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766560" y="0"/>
            <a:ext cx="5422392" cy="6858000"/>
          </a:xfrm>
          <a:prstGeom prst="rect">
            <a:avLst/>
          </a:prstGeom>
          <a:gradFill rotWithShape="1">
            <a:gsLst>
              <a:gs pos="0">
                <a:srgbClr val="0E243C"/>
              </a:gs>
              <a:gs pos="100000">
                <a:srgbClr val="108E88"/>
              </a:gs>
            </a:gsLst>
            <a:lin scaled="0" ang="14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766560" y="0"/>
            <a:ext cx="45720" cy="6858000"/>
          </a:xfrm>
          <a:prstGeom prst="rect">
            <a:avLst/>
          </a:prstGeom>
          <a:solidFill>
            <a:srgbClr val="1AD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AD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777240"/>
            <a:ext cx="3246120" cy="420624"/>
          </a:xfrm>
          <a:prstGeom prst="roundRect">
            <a:avLst/>
          </a:prstGeom>
          <a:solidFill>
            <a:srgbClr val="1AD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777240"/>
            <a:ext cx="324612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 i="0">
                <a:solidFill>
                  <a:srgbClr val="05101E"/>
                </a:solidFill>
                <a:latin typeface="Hiragino Sans"/>
              </a:rPr>
              <a:t>NEXT-GEN  CLINIC  DX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6035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 i="0">
                <a:solidFill>
                  <a:srgbClr val="FFFFFF"/>
                </a:solidFill>
                <a:latin typeface="Hiragino Sans"/>
              </a:rPr>
              <a:t>"人を増やさず"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6035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 i="0">
                <a:solidFill>
                  <a:srgbClr val="1AD6CB"/>
                </a:solidFill>
                <a:latin typeface="Hiragino Sans"/>
              </a:rPr>
              <a:t>診療の質を、上げる。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383280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Hiragino Sans"/>
              </a:rPr>
              <a:t>クリニックDX「My AI」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886200"/>
            <a:ext cx="5852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9CB3C4"/>
                </a:solidFill>
                <a:latin typeface="Hiragino Sans"/>
              </a:rPr>
              <a:t>Lステップ ×「マイAI」× AI音声(IVR)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9CB3C4"/>
                </a:solidFill>
                <a:latin typeface="Hiragino Sans"/>
              </a:rPr>
              <a:t>で実現する、リスクゼロのDX。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074920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9CB3C4"/>
                </a:solidFill>
                <a:latin typeface="Hiragino Sans"/>
              </a:rPr>
              <a:t>初期費用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5330952"/>
            <a:ext cx="1280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200" b="1" i="0">
                <a:solidFill>
                  <a:srgbClr val="F5C242"/>
                </a:solidFill>
                <a:latin typeface="Hiragino Sans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1368" y="573328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5C242"/>
                </a:solidFill>
                <a:latin typeface="Hiragino Sans"/>
              </a:rPr>
              <a:t>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34055" y="5349240"/>
            <a:ext cx="15240" cy="731520"/>
          </a:xfrm>
          <a:prstGeom prst="rect">
            <a:avLst/>
          </a:prstGeom>
          <a:solidFill>
            <a:srgbClr val="1E4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16935" y="5074920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9CB3C4"/>
                </a:solidFill>
                <a:latin typeface="Hiragino Sans"/>
              </a:rPr>
              <a:t>月額基本料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16935" y="5330952"/>
            <a:ext cx="1280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200" b="1" i="0">
                <a:solidFill>
                  <a:srgbClr val="F5C242"/>
                </a:solidFill>
                <a:latin typeface="Hiragino Sans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77055" y="573328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5C242"/>
                </a:solidFill>
                <a:latin typeface="Hiragino Sans"/>
              </a:rPr>
              <a:t>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09742" y="5349240"/>
            <a:ext cx="15240" cy="731520"/>
          </a:xfrm>
          <a:prstGeom prst="rect">
            <a:avLst/>
          </a:prstGeom>
          <a:solidFill>
            <a:srgbClr val="1E4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92622" y="5074920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9CB3C4"/>
                </a:solidFill>
                <a:latin typeface="Hiragino Sans"/>
              </a:rPr>
              <a:t>成果報酬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92622" y="5330952"/>
            <a:ext cx="1280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200" b="1" i="0">
                <a:solidFill>
                  <a:srgbClr val="F5C242"/>
                </a:solidFill>
                <a:latin typeface="Hiragino Sans"/>
              </a:rPr>
              <a:t>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52742" y="573328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5C242"/>
                </a:solidFill>
                <a:latin typeface="Hiragino Sans"/>
              </a:rPr>
              <a:t>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1874519"/>
            <a:ext cx="4069080" cy="2971800"/>
          </a:xfrm>
          <a:prstGeom prst="roundRect">
            <a:avLst/>
          </a:prstGeom>
          <a:solidFill>
            <a:srgbClr val="0F2942"/>
          </a:solidFill>
          <a:ln w="19050">
            <a:solidFill>
              <a:srgbClr val="1AD6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635240" y="1874519"/>
            <a:ext cx="4069080" cy="457200"/>
          </a:xfrm>
          <a:prstGeom prst="roundRect">
            <a:avLst/>
          </a:prstGeom>
          <a:solidFill>
            <a:srgbClr val="1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18120" y="1892807"/>
            <a:ext cx="36576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iragino Sans"/>
              </a:rPr>
              <a:t>マイAI ｜ 紹介状ジェネレーター</a:t>
            </a:r>
          </a:p>
        </p:txBody>
      </p:sp>
      <p:pic>
        <p:nvPicPr>
          <p:cNvPr id="25" name="Picture 24" descr="screen1_d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2468880"/>
            <a:ext cx="3611880" cy="225742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635240" y="4983480"/>
            <a:ext cx="4069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8EF7EF"/>
                </a:solidFill>
                <a:latin typeface="Hiragino Sans"/>
              </a:rPr>
              <a:t>実際のMyAI画面：カルテ → 紹介状を数秒で自動下書き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6355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CB3C4"/>
                </a:solidFill>
                <a:latin typeface="Hiragino Sans"/>
              </a:rPr>
              <a:t>菊池ホールディングス（KHD）   |   @khd_medical01   |   ※マイAIは仮称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5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38100"/>
          </a:xfrm>
          <a:prstGeom prst="rect">
            <a:avLst/>
          </a:prstGeom>
          <a:solidFill>
            <a:srgbClr val="1AD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01168"/>
            <a:ext cx="2194560" cy="365760"/>
          </a:xfrm>
          <a:prstGeom prst="roundRect">
            <a:avLst/>
          </a:prstGeom>
          <a:solidFill>
            <a:srgbClr val="1AD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2194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05101E"/>
                </a:solidFill>
                <a:latin typeface="Hiragino Sans"/>
              </a:rPr>
              <a:t>THE 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Hiragino Sans"/>
              </a:rPr>
              <a:t>現場はもう限界では？ ── 御院でも起きていませんか？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5532120" cy="2286000"/>
          </a:xfrm>
          <a:prstGeom prst="roundRect">
            <a:avLst/>
          </a:prstGeom>
          <a:solidFill>
            <a:srgbClr val="0F2942"/>
          </a:solidFill>
          <a:ln w="12700">
            <a:solidFill>
              <a:srgbClr val="1E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63040"/>
            <a:ext cx="128016" cy="2286000"/>
          </a:xfrm>
          <a:prstGeom prst="rect">
            <a:avLst/>
          </a:prstGeom>
          <a:solidFill>
            <a:srgbClr val="F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664208"/>
            <a:ext cx="1005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F6B7A"/>
                </a:solidFill>
                <a:latin typeface="Hiragino San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700784"/>
            <a:ext cx="4434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Hiragino Sans"/>
              </a:rPr>
              <a:t>採用しても、定着しない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" y="2423160"/>
            <a:ext cx="4983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 i="0">
                <a:solidFill>
                  <a:srgbClr val="FF6B7A"/>
                </a:solidFill>
                <a:latin typeface="Hiragino Sans"/>
              </a:rPr>
              <a:t>70万〜150万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" y="2423160"/>
            <a:ext cx="5074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3800" b="1" i="0">
                <a:solidFill>
                  <a:srgbClr val="FF6B7A"/>
                </a:solidFill>
                <a:latin typeface="Hiragino Sans"/>
              </a:rPr>
              <a:t>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" y="3154680"/>
            <a:ext cx="4983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9CB3C4"/>
                </a:solidFill>
                <a:latin typeface="Hiragino Sans"/>
              </a:rPr>
              <a:t>医療事務の採用単価。保険制度の複雑さで即戦力にならず早期離職の悪循環。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1463040"/>
            <a:ext cx="5532120" cy="2286000"/>
          </a:xfrm>
          <a:prstGeom prst="roundRect">
            <a:avLst/>
          </a:prstGeom>
          <a:solidFill>
            <a:srgbClr val="0F2942"/>
          </a:solidFill>
          <a:ln w="12700">
            <a:solidFill>
              <a:srgbClr val="1E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92240" y="1463040"/>
            <a:ext cx="128016" cy="2286000"/>
          </a:xfrm>
          <a:prstGeom prst="rect">
            <a:avLst/>
          </a:prstGeom>
          <a:solidFill>
            <a:srgbClr val="F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84848" y="1664208"/>
            <a:ext cx="1005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F6B7A"/>
                </a:solidFill>
                <a:latin typeface="Hiragino San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1700784"/>
            <a:ext cx="4434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Hiragino Sans"/>
              </a:rPr>
              <a:t>カルテ入力で患者と目が合わない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3136" y="2423160"/>
            <a:ext cx="4983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 i="0">
                <a:solidFill>
                  <a:srgbClr val="FF6B7A"/>
                </a:solidFill>
                <a:latin typeface="Hiragino Sans"/>
              </a:rPr>
              <a:t>診察の半分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03136" y="3154680"/>
            <a:ext cx="4983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9CB3C4"/>
                </a:solidFill>
                <a:latin typeface="Hiragino Sans"/>
              </a:rPr>
              <a:t>が電子カルテ入力。診療後も紹介状・診断書作成で2時間超の残業。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133088"/>
            <a:ext cx="5532120" cy="2286000"/>
          </a:xfrm>
          <a:prstGeom prst="roundRect">
            <a:avLst/>
          </a:prstGeom>
          <a:solidFill>
            <a:srgbClr val="0F2942"/>
          </a:solidFill>
          <a:ln w="12700">
            <a:solidFill>
              <a:srgbClr val="1E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4133088"/>
            <a:ext cx="128016" cy="2286000"/>
          </a:xfrm>
          <a:prstGeom prst="rect">
            <a:avLst/>
          </a:prstGeom>
          <a:solidFill>
            <a:srgbClr val="F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4334256"/>
            <a:ext cx="1005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F6B7A"/>
                </a:solidFill>
                <a:latin typeface="Hiragino San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370832"/>
            <a:ext cx="4434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Hiragino Sans"/>
              </a:rPr>
              <a:t>月初10日のレセプトが毎月重い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" y="5093208"/>
            <a:ext cx="4983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 i="0">
                <a:solidFill>
                  <a:srgbClr val="FF6B7A"/>
                </a:solidFill>
                <a:latin typeface="Hiragino Sans"/>
              </a:rPr>
              <a:t>月10〜20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" y="5093208"/>
            <a:ext cx="5074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3800" b="1" i="0">
                <a:solidFill>
                  <a:srgbClr val="FF6B7A"/>
                </a:solidFill>
                <a:latin typeface="Hiragino Sans"/>
              </a:rPr>
              <a:t>h残業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" y="5824728"/>
            <a:ext cx="4983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9CB3C4"/>
                </a:solidFill>
                <a:latin typeface="Hiragino Sans"/>
              </a:rPr>
              <a:t>が常態化。目視チェックによる算定漏れの不安も重なる。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0" y="4133088"/>
            <a:ext cx="5532120" cy="2286000"/>
          </a:xfrm>
          <a:prstGeom prst="roundRect">
            <a:avLst/>
          </a:prstGeom>
          <a:solidFill>
            <a:srgbClr val="0F2942"/>
          </a:solidFill>
          <a:ln w="12700">
            <a:solidFill>
              <a:srgbClr val="1E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92240" y="4133088"/>
            <a:ext cx="128016" cy="2286000"/>
          </a:xfrm>
          <a:prstGeom prst="rect">
            <a:avLst/>
          </a:prstGeom>
          <a:solidFill>
            <a:srgbClr val="F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84848" y="4334256"/>
            <a:ext cx="1005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F6B7A"/>
                </a:solidFill>
                <a:latin typeface="Hiragino Sans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4370832"/>
            <a:ext cx="4434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Hiragino Sans"/>
              </a:rPr>
              <a:t>鳴り止まない電話で受付がパンク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03136" y="5093208"/>
            <a:ext cx="4983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 i="0">
                <a:solidFill>
                  <a:srgbClr val="FF6B7A"/>
                </a:solidFill>
                <a:latin typeface="Hiragino Sans"/>
              </a:rPr>
              <a:t>月1,200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03136" y="5093208"/>
            <a:ext cx="5074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3800" b="1" i="0">
                <a:solidFill>
                  <a:srgbClr val="FF6B7A"/>
                </a:solidFill>
                <a:latin typeface="Hiragino Sans"/>
              </a:rPr>
              <a:t>件超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03136" y="5824728"/>
            <a:ext cx="4983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9CB3C4"/>
                </a:solidFill>
                <a:latin typeface="Hiragino Sans"/>
              </a:rPr>
              <a:t>の電話対応。「今空いてますか？」で目の前の患者対応が滞る。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
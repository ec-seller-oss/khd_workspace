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65836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AI × CLINIC DX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05740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1A1A1A"/>
                </a:solidFill>
                <a:latin typeface="Hiragino Sans"/>
              </a:rPr>
              <a:t>クリニックのAI・LINE導入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788920"/>
            <a:ext cx="67665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000" b="1" i="0">
                <a:solidFill>
                  <a:srgbClr val="AA2E26"/>
                </a:solidFill>
                <a:latin typeface="Hiragino Sans"/>
              </a:rPr>
              <a:t>まるごとおまかせ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03320"/>
            <a:ext cx="66751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独自カスタマイズの「マイAI」×「Lステップ」×AI音声(IVR)で実現する、</a:t>
            </a:r>
          </a:p>
          <a:p>
            <a:pPr algn="l">
              <a:lnSpc>
                <a:spcPct val="125000"/>
              </a:lnSpc>
            </a:pPr>
            <a:r>
              <a:rPr sz="1350" b="0" i="0">
                <a:solidFill>
                  <a:srgbClr val="6E6E6E"/>
                </a:solidFill>
                <a:latin typeface="Hiragino Sans"/>
              </a:rPr>
              <a:t>初期費用0円・完全成果報酬型のクリニックDX。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822960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初期費用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72384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072384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72384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月額基本料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72384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0円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21808" y="4709160"/>
            <a:ext cx="2103120" cy="118872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321808" y="4709160"/>
            <a:ext cx="210312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21808" y="487375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 i="0">
                <a:solidFill>
                  <a:srgbClr val="6E6E6E"/>
                </a:solidFill>
                <a:latin typeface="Hiragino Sans"/>
              </a:rPr>
              <a:t>成果報酬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21808" y="5148072"/>
            <a:ext cx="2103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 i="0">
                <a:solidFill>
                  <a:srgbClr val="AA2E26"/>
                </a:solidFill>
                <a:latin typeface="Hiragino Sans"/>
              </a:rPr>
              <a:t>30%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6199632"/>
            <a:ext cx="10515600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63093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A1A1A"/>
                </a:solidFill>
                <a:latin typeface="Hiragino Sans"/>
              </a:rPr>
              <a:t>チームてっかん  ｜  菊池 研太  ｜  @khd_medical01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26679" y="1554480"/>
            <a:ext cx="4114800" cy="3154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726679" y="1554480"/>
            <a:ext cx="41148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79" y="1920240"/>
            <a:ext cx="3657600" cy="2286000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7726679" y="4828032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6E6E6E"/>
                </a:solidFill>
                <a:latin typeface="Hiragino Sans"/>
              </a:rPr>
              <a:t>実際のMyAI画面：カルテ → 紹介状を数秒で自動下書き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現場はもう限界では？ ── 御院でも起きていませんか？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ネット上の生の声が示す、クリニックのリアルな4大お悩み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採用しても、定着しない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70万〜150万円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医療事務の採用単価。保険制度の複雑さで即戦力にならず早期離職の悪循環。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75120" y="187452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60920" y="194767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カルテ入力で患者と目が合わない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93408" y="260604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診察時間の半分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11696" y="324612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が電子カルテ入力。診療後も紹介状・診断書作成で2時間超の残業。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月初10日のレセプトが毎月重い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月10〜20時間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の残業が常態化。目視チェックによる算定漏れの不安も重なる。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109728" cy="21945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75120" y="4434840"/>
            <a:ext cx="914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AA2E26"/>
                </a:solidFill>
                <a:latin typeface="Hiragino San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20" y="4507992"/>
            <a:ext cx="4343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 i="0">
                <a:solidFill>
                  <a:srgbClr val="1A1A1A"/>
                </a:solidFill>
                <a:latin typeface="Hiragino Sans"/>
              </a:rPr>
              <a:t>鳴り止まない電話で受付がパンク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93408" y="5166360"/>
            <a:ext cx="49377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 i="0">
                <a:solidFill>
                  <a:srgbClr val="AA2E26"/>
                </a:solidFill>
                <a:latin typeface="Hiragino Sans"/>
              </a:rPr>
              <a:t>月1,200件超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11696" y="5806440"/>
            <a:ext cx="4937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の電話対応。「今空いてますか？」で目の前の患者対応が滞る。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THE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既存の業務をどう変えるか？ ── 完全自動化マップ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医者の悩み（左）を、AI商品（右）がどう解決するか。クリニック全体を1つのエコシステムで最適化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91640"/>
          <a:ext cx="11183112" cy="4297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3520440"/>
                <a:gridCol w="3703320"/>
                <a:gridCol w="2130552"/>
              </a:tblGrid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業務領域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現状のアナログ業務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マイAI・Lステップ・IVR導入後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削減効果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問診・予約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電話受付＋紙問診をカルテへ手入力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Lステップで来院前にスマホ上で完結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問診業務 40〜70%減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電話対応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全件スタッフが受話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AI音声(IVR)が一次対応・LINE誘導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電話件数 最大40〜80%減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書類作成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過去カルテを探しつつ手作業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自院学習「マイAI」が下書き自動生成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書類時間 月30h以上減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859536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レセプト点検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月末月初に目視で残業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AIが4,000ルールで算定漏れ自動チェック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点検時間 最大1/20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PRODUCT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"使う場面"が見える ── 実際のMyAI画面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院長・スタッフ・患者、それぞれの画面で業務が変わる（画面はデモ・数値は例示）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212080" cy="42976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2120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creen1_d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011680"/>
            <a:ext cx="4754880" cy="29718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5800" y="5440680"/>
            <a:ext cx="4937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① 書類アシスト｜カルテ→紹介状を数秒で下書き（院長の画面）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97880" y="1691640"/>
            <a:ext cx="5788152" cy="25146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97880" y="16916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screen2_da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938528"/>
            <a:ext cx="3611880" cy="2257425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897880" y="4261104"/>
            <a:ext cx="578815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② 成果ダッシュボード｜削減効果を可視化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4663440"/>
            <a:ext cx="5788152" cy="132588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4663440"/>
            <a:ext cx="5788152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reen3_lin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4773168"/>
            <a:ext cx="548640" cy="109728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95160" y="4663440"/>
            <a:ext cx="4572000" cy="1325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100" b="1" i="0">
                <a:solidFill>
                  <a:srgbClr val="AA2E26"/>
                </a:solidFill>
                <a:latin typeface="Hiragino Sans"/>
              </a:rPr>
              <a:t>③ LINE問診・予約｜Lステップ連携（患者スマホ）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EVIDENCE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「本当に自院でも変わるのか？」を証明する実証データ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※当社実績ではなく、公開されている医療機関の導入実績です（出典明記）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問診・予約のDX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内科クリニック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8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8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電話の嵐＋紙問診の手入力で受付過多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5528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8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Lステップで来院前にスマホ問診完了。電話を一次自動対応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50392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初月にLINE予約 350件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受付問診 70%削減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0392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月商 約1,500万円規模を押上げ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Lステップ公開事例「そのだ内科」ほか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34256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334256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334256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書類作成のDX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34256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病院・総合クリニック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17136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26864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26864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紹介状・退院サマリ作成に医師が忙殺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17136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26864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26864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自院データを学習した生成AIが下書き自動生成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17136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517136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681728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681728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診断書 月400件を 50%削減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681728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退院サマリ 28分→8分(7割減)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81728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医師業務 月30h以上削減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334256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新古賀/名古屋医療C/戸畑共立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165592" y="1691640"/>
            <a:ext cx="3611880" cy="4343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165592" y="1691640"/>
            <a:ext cx="361188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165592" y="1856232"/>
            <a:ext cx="3611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1" i="0">
                <a:solidFill>
                  <a:srgbClr val="AA2E26"/>
                </a:solidFill>
                <a:latin typeface="Hiragino Sans"/>
              </a:rPr>
              <a:t>電話業務のDX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165592" y="2258568"/>
            <a:ext cx="3611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6E6E6E"/>
                </a:solidFill>
                <a:latin typeface="Hiragino Sans"/>
              </a:rPr>
              <a:t>地域密着クリニック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48472" y="2606040"/>
            <a:ext cx="3246120" cy="685800"/>
          </a:xfrm>
          <a:prstGeom prst="rect">
            <a:avLst/>
          </a:prstGeom>
          <a:solidFill>
            <a:srgbClr val="ECE8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58200" y="2633472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6E6E6E"/>
                </a:solidFill>
                <a:latin typeface="Hiragino Sans"/>
              </a:rPr>
              <a:t>Before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458200" y="2843784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インフル予約・時間外問合せで電話過多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48472" y="3364992"/>
            <a:ext cx="3246120" cy="68580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458200" y="3392424"/>
            <a:ext cx="109728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1" i="0">
                <a:solidFill>
                  <a:srgbClr val="AA2E26"/>
                </a:solidFill>
                <a:latin typeface="Hiragino Sans"/>
              </a:rPr>
              <a:t>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58200" y="3602735"/>
            <a:ext cx="3026664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050" b="0" i="0">
                <a:solidFill>
                  <a:srgbClr val="1A1A1A"/>
                </a:solidFill>
                <a:latin typeface="Hiragino Sans"/>
              </a:rPr>
              <a:t>AI音声が一次対応、営業電話を自動ブロック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8472" y="4142232"/>
            <a:ext cx="3246120" cy="1508760"/>
          </a:xfrm>
          <a:prstGeom prst="rect">
            <a:avLst/>
          </a:prstGeom>
          <a:solidFill>
            <a:srgbClr val="FFFFFF"/>
          </a:solidFill>
          <a:ln w="9525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348472" y="4142232"/>
            <a:ext cx="73152" cy="150876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13064" y="4178808"/>
            <a:ext cx="1097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 i="0">
                <a:solidFill>
                  <a:srgbClr val="AA2E26"/>
                </a:solidFill>
                <a:latin typeface="Hiragino Sans"/>
              </a:rPr>
              <a:t>成果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513064" y="447141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月1,200件の電話を自動化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13064" y="483717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うち約400件(40%)を削減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13064" y="5202936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A1A1A"/>
                </a:solidFill>
                <a:latin typeface="Hiragino Sans"/>
              </a:rPr>
              <a:t>● 対応時間 全体70%削減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65592" y="5715000"/>
            <a:ext cx="36118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0" i="0">
                <a:solidFill>
                  <a:srgbClr val="6E6E6E"/>
                </a:solidFill>
                <a:latin typeface="Hiragino Sans"/>
              </a:rPr>
              <a:t>出典: IVRy 公開導入事例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SIMULATION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御院の規模なら、いくら残る？ ── 削減効果の早見表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1モデルではなく、自院を当てはめられる規模別シミュレーション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1691640"/>
          <a:ext cx="10725912" cy="2286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108960"/>
                <a:gridCol w="2286000"/>
                <a:gridCol w="2377440"/>
                <a:gridCol w="2953512"/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院の規模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月の削減額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成果報酬(30%)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院に残る効果（年額）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医師1・事務2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約16万円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4.8万円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約134万円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医師1・事務3（標準）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約24万円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7.2万円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約202万円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1A1A1A"/>
                          </a:solidFill>
                          <a:latin typeface="Hiragino Sans"/>
                        </a:rPr>
                        <a:t>医師2・事務5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約40万円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3A3A3A"/>
                          </a:solidFill>
                          <a:latin typeface="Hiragino Sans"/>
                        </a:rPr>
                        <a:t>12万円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AA2E26"/>
                          </a:solidFill>
                          <a:latin typeface="Hiragino Sans"/>
                        </a:rPr>
                        <a:t>約336万円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4297680"/>
            <a:ext cx="10725912" cy="18288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1" i="0">
                <a:solidFill>
                  <a:srgbClr val="AA2E26"/>
                </a:solidFill>
                <a:latin typeface="Hiragino Sans"/>
              </a:rPr>
              <a:t>標準モデルの内訳（医師1・事務3 ／ 事務人件費 月83万円・総480時間・時間単価 約1,729円）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901184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A1A1A"/>
                </a:solidFill>
                <a:latin typeface="Hiragino Sans"/>
              </a:rPr>
              <a:t>問診 −42h ＋ レセプト −45h ＋ 電話 −40h ＋ 書類 −12h ＝ 月139時間削減（フルタイム約1名分の余力創出）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340096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8C241D"/>
                </a:solidFill>
                <a:latin typeface="Hiragino Sans"/>
              </a:rPr>
              <a:t>→ 月139h × 1,729円 ＝ 月 約24万円削減 → 年 約288万円。成果報酬を引いて、院に残る効果は 約202万円/年。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779008"/>
            <a:ext cx="10332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0">
                <a:solidFill>
                  <a:srgbClr val="6E6E6E"/>
                </a:solidFill>
                <a:latin typeface="Hiragino Sans"/>
              </a:rPr>
              <a:t>※「うちは事務3人だから…年200万か」と、その場で自院に当てはめられます。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WHY RISK-ZERO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当サービスだけ、唯一のノーリスク ── 業界価格の真実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他社は効果が出なくても固定費が発生。御院の持ち出しは“ゼロ”から始められる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645920"/>
          <a:ext cx="11183112" cy="4526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1680"/>
                <a:gridCol w="4206240"/>
                <a:gridCol w="2743200"/>
                <a:gridCol w="2221992"/>
              </a:tblGrid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比較項目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当サービス（中立伴走）</a:t>
                      </a:r>
                    </a:p>
                  </a:txBody>
                  <a:tcPr anchor="ctr" marL="91440" marR="73152" marT="45720" marB="45720">
                    <a:solidFill>
                      <a:srgbClr val="8C241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一般IT・DX業者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Hiragino Sans"/>
                        </a:rPr>
                        <a:t>Lステップ構築代行</a:t>
                      </a:r>
                    </a:p>
                  </a:txBody>
                  <a:tcPr anchor="ctr" marL="91440" marR="73152" marT="45720" marB="45720">
                    <a:solidFill>
                      <a:srgbClr val="AA2E26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提供内容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Lステップ×マイAI 全体最適化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自社アプリ販売／高額導入支援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LINE・Lステップ構築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初期費用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3000" b="1">
                          <a:solidFill>
                            <a:srgbClr val="AA2E26"/>
                          </a:solidFill>
                          <a:latin typeface="Hiragino Sans"/>
                        </a:rPr>
                        <a:t>0円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20万〜300万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50〜100万超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月額費用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AA2E26"/>
                          </a:solidFill>
                          <a:latin typeface="Hiragino Sans"/>
                        </a:rPr>
                        <a:t>0円（基本料なし）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1.5〜300万（固定）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5〜20万（固定）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報酬体系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削減人件費の30%のみ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稼働問わず固定課金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固定保守料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  <a:tr h="646611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運用定着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3ヶ月伴走で定着まで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自力運用 or 別料金で高額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現場運用に不慣れ</a:t>
                      </a:r>
                    </a:p>
                  </a:txBody>
                  <a:tcPr anchor="ctr" marL="91440" marR="73152" marT="45720" marB="45720">
                    <a:solidFill>
                      <a:srgbClr val="F1ECE1"/>
                    </a:solidFill>
                  </a:tcPr>
                </a:tc>
              </a:tr>
              <a:tr h="646614">
                <a:tc>
                  <a:txBody>
                    <a:bodyPr/>
                    <a:lstStyle/>
                    <a:p>
                      <a:pPr algn="l"/>
                      <a:r>
                        <a:rPr sz="1250" b="1">
                          <a:solidFill>
                            <a:srgbClr val="1A1A1A"/>
                          </a:solidFill>
                          <a:latin typeface="Hiragino Sans"/>
                        </a:rPr>
                        <a:t>院側のリスク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1">
                          <a:solidFill>
                            <a:srgbClr val="AA2E26"/>
                          </a:solidFill>
                          <a:latin typeface="Hiragino Sans"/>
                        </a:rPr>
                        <a:t>ゼロ（効果0なら0円）</a:t>
                      </a:r>
                    </a:p>
                  </a:txBody>
                  <a:tcPr anchor="ctr" marL="91440" marR="73152" marT="45720" marB="45720">
                    <a:solidFill>
                      <a:srgbClr val="F4E4E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高〜極めて高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50" b="0">
                          <a:solidFill>
                            <a:srgbClr val="3A3A3A"/>
                          </a:solidFill>
                          <a:latin typeface="Hiragino Sans"/>
                        </a:rPr>
                        <a:t>中</a:t>
                      </a:r>
                    </a:p>
                  </a:txBody>
                  <a:tcPr anchor="ctr" marL="91440" marR="73152" marT="45720" marB="45720">
                    <a:solidFill>
                      <a:srgbClr val="F9F6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HOW IT WORKS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「うちでも本当に測定できる？」── リスクゼロの3ステップ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成果報酬への最大の懸念=「測定の手間」は、コンサル側が巻き取ります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貴院の負担ゼロ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事前の無料コンサル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2898648"/>
            <a:ext cx="30632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当方が競合分析と類似事例を持ち込み、業務フローとボトルネックを洗い出し。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※「2週間時間を計測」等の煩雑な作業は一切要求しません。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34256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34256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双方納得の透明基準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6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フェアな測定ルール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2898648"/>
            <a:ext cx="3063240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導入前後で同等の患者数帯に基づき削減時間を算出。人員変更月は除外。</a:t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/>
            </a:r>
          </a:p>
          <a:p>
            <a:pPr algn="l">
              <a:lnSpc>
                <a:spcPct val="118000"/>
              </a:lnSpc>
            </a:pPr>
            <a:r>
              <a:rPr sz="1150" b="0" i="0">
                <a:solidFill>
                  <a:srgbClr val="6E6E6E"/>
                </a:solidFill>
                <a:latin typeface="Hiragino Sans"/>
              </a:rPr>
              <a:t>※最低契約期間以降は30日前通知で解約可。ロックインなし。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65592" y="1600200"/>
            <a:ext cx="3611880" cy="32004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65592" y="1600200"/>
            <a:ext cx="3611880" cy="73152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1673352"/>
            <a:ext cx="3611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Hiragino Sans"/>
              </a:rPr>
              <a:t>STEP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2057400"/>
            <a:ext cx="3611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0" i="0">
                <a:solidFill>
                  <a:srgbClr val="F2D8D6"/>
                </a:solidFill>
                <a:latin typeface="Hiragino Sans"/>
              </a:rPr>
              <a:t>リスクは私たちが取る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94192" y="2441448"/>
            <a:ext cx="3154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Hiragino Sans"/>
              </a:rPr>
              <a:t>手元に利益が残る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39912" y="2898648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【例：月24万円分を削減】</a:t>
            </a:r>
          </a:p>
          <a:p>
            <a:pPr algn="l">
              <a:lnSpc>
                <a:spcPct val="110000"/>
              </a:lnSpc>
            </a:pPr>
            <a:r>
              <a:rPr sz="1100" b="0" i="0">
                <a:solidFill>
                  <a:srgbClr val="6E6E6E"/>
                </a:solidFill>
                <a:latin typeface="Hiragino Sans"/>
              </a:rPr>
              <a:t>削減額24万 × 30% ＝ お支払い 7.2万円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94192" y="3429000"/>
            <a:ext cx="3154680" cy="1234440"/>
          </a:xfrm>
          <a:prstGeom prst="rect">
            <a:avLst/>
          </a:prstGeom>
          <a:solidFill>
            <a:srgbClr val="F4E4E2"/>
          </a:solidFill>
          <a:ln w="19050">
            <a:solidFill>
              <a:srgbClr val="AA2E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94192" y="3502152"/>
            <a:ext cx="3154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貴院に残る効果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3758184"/>
            <a:ext cx="3154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 i="0">
                <a:solidFill>
                  <a:srgbClr val="AA2E26"/>
                </a:solidFill>
                <a:latin typeface="Hiragino Sans"/>
              </a:rPr>
              <a:t>月 16.8万円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39912" y="4325112"/>
            <a:ext cx="3063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950" b="0" i="0">
                <a:solidFill>
                  <a:srgbClr val="6E6E6E"/>
                </a:solidFill>
                <a:latin typeface="Hiragino Sans"/>
              </a:rPr>
              <a:t>（年 約200万円）／効果0なら支払い0円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5074920"/>
            <a:ext cx="11183112" cy="868680"/>
          </a:xfrm>
          <a:prstGeom prst="rect">
            <a:avLst/>
          </a:prstGeom>
          <a:solidFill>
            <a:srgbClr val="F4E4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5074920"/>
            <a:ext cx="91440" cy="8686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7240" y="516636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8C241D"/>
                </a:solidFill>
                <a:latin typeface="Hiragino Sans"/>
              </a:rPr>
              <a:t>つまり ── 御院の持ち出しはゼロ。効果が出た“分だけ”、私たちはいただく。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568696"/>
            <a:ext cx="10607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1" i="0">
                <a:solidFill>
                  <a:srgbClr val="1A1A1A"/>
                </a:solidFill>
                <a:latin typeface="Hiragino Sans"/>
              </a:rPr>
              <a:t>✓ IT導入補助金サポート　　✓ ロックインなし（30日前通知で解約可）　　✓ 使いこなすまで3ヶ月伴走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6400800"/>
            <a:ext cx="11274552" cy="15240"/>
          </a:xfrm>
          <a:prstGeom prst="rect">
            <a:avLst/>
          </a:prstGeom>
          <a:solidFill>
            <a:srgbClr val="DAD6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6473952"/>
            <a:ext cx="9144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 i="0">
                <a:solidFill>
                  <a:srgbClr val="6E6E6E"/>
                </a:solidFill>
                <a:latin typeface="Hiragino Sans"/>
              </a:rPr>
              <a:t>クリニックDX「My AI」  ｜  AI医療コンサル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AA2E26"/>
                </a:solidFill>
                <a:latin typeface="Hiragino Sans"/>
              </a:rPr>
              <a:t>OUR VALUE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713232"/>
            <a:ext cx="1554480" cy="3810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22960"/>
            <a:ext cx="110642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Hiragino Sans"/>
              </a:rPr>
              <a:t>なぜ私たちは「完全成果報酬」で伴走できるのか？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16736"/>
            <a:ext cx="11064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「なぜ他社は固定費で、御社は成果報酬でやれるのか？」への答え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中立選定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特定メーカーに縛られない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自社ツールの売り込みではない。Lステップ/マイAI/IVRから貴院の診療科・規模に最適な組合せを厳選。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169164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69164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20840" y="196596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0" y="196596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実践ノウハウ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0" y="246888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自社で泥臭く運用した知見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60" y="297180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ツールは「設計」より「運用」でつまずく。自社実践で現場の抵抗感・エラー回避まで熟知。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0292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164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一気通貫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補助金申請＋定着まで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IT導入補助金・医療情報化支援基金の活用を支援し初期コスト最小化。使いこなすまで3ヶ月伴走。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251960"/>
            <a:ext cx="5486400" cy="219456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00800" y="4251960"/>
            <a:ext cx="5486400" cy="54864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4526280"/>
            <a:ext cx="8229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2E26"/>
                </a:solidFill>
                <a:latin typeface="Hiragino Sans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89520" y="4526280"/>
            <a:ext cx="4114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1" i="0">
                <a:solidFill>
                  <a:srgbClr val="1A1A1A"/>
                </a:solidFill>
                <a:latin typeface="Hiragino Sans"/>
              </a:rPr>
              <a:t>リスクゼロ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9520" y="5029200"/>
            <a:ext cx="4114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AA2E26"/>
                </a:solidFill>
                <a:latin typeface="Hiragino Sans"/>
              </a:rPr>
              <a:t>自信があるからこその設計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5532120"/>
            <a:ext cx="48463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E6E6E"/>
                </a:solidFill>
                <a:latin typeface="Hiragino Sans"/>
              </a:rPr>
              <a:t>事前分析で「本当に削減できる」確証と成功事例があるから、院にリスクを負わせないモデルが成立。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6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411480"/>
            <a:ext cx="50800" cy="603504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ご相談はお気軽に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05156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1A1A1A"/>
                </a:solidFill>
                <a:latin typeface="Hiragino Sans"/>
              </a:rPr>
              <a:t>リスクゼロで、次世代のクリニック運営を始めませんか？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7830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0" i="0">
                <a:solidFill>
                  <a:srgbClr val="6E6E6E"/>
                </a:solidFill>
                <a:latin typeface="Hiragino Sans"/>
              </a:rPr>
              <a:t>押し売りは一切なし。単なる問い合わせでなく、1時間の無料コンサルセッションとしてご利用ください。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6032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56032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67004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ネット上の競合分析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299923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貴院周辺クリニックのデジタル対応状況を分析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3520440"/>
            <a:ext cx="6126480" cy="841248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2960" y="3520440"/>
            <a:ext cx="54864" cy="841248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630168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AA2E26"/>
                </a:solidFill>
                <a:latin typeface="Hiragino Sans"/>
              </a:rPr>
              <a:t>✓ 現状フローの整理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959352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0">
                <a:solidFill>
                  <a:srgbClr val="6E6E6E"/>
                </a:solidFill>
                <a:latin typeface="Hiragino Sans"/>
              </a:rPr>
              <a:t>電話の多さ・書類の手間などボトルネックをその場で特定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2960" y="4572000"/>
            <a:ext cx="6126480" cy="1600200"/>
          </a:xfrm>
          <a:prstGeom prst="rect">
            <a:avLst/>
          </a:prstGeom>
          <a:solidFill>
            <a:srgbClr val="F1ECE1"/>
          </a:solidFill>
          <a:ln w="12700">
            <a:solidFill>
              <a:srgbClr val="E1DA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4709160"/>
            <a:ext cx="5760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AA2E26"/>
                </a:solidFill>
                <a:latin typeface="Hiragino Sans"/>
              </a:rPr>
              <a:t>お申込み（その場でQR／用紙）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02352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クリニック名 ／ ご担当者名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449824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電話番号 ／ メールアドレス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5797296"/>
            <a:ext cx="56692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1A1A1A"/>
                </a:solidFill>
                <a:latin typeface="Hiragino Sans"/>
              </a:rPr>
              <a:t>▢  ご希望の面談日時（オンライン対応可）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60" y="2560320"/>
            <a:ext cx="4160520" cy="3611880"/>
          </a:xfrm>
          <a:prstGeom prst="rect">
            <a:avLst/>
          </a:prstGeom>
          <a:solidFill>
            <a:srgbClr val="AA2E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23760" y="278892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Hiragino Sans"/>
              </a:rPr>
              <a:t>★ 参加特典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23760" y="3337560"/>
            <a:ext cx="4160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貴院専用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業務削減シミュレーション</a:t>
            </a:r>
          </a:p>
          <a:p>
            <a:pPr algn="ctr">
              <a:lnSpc>
                <a:spcPct val="110000"/>
              </a:lnSpc>
            </a:pPr>
            <a:r>
              <a:rPr sz="2200" b="1" i="0">
                <a:solidFill>
                  <a:srgbClr val="FFFFFF"/>
                </a:solidFill>
                <a:latin typeface="Hiragino Sans"/>
              </a:rPr>
              <a:t>報告書（診断書）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892040"/>
            <a:ext cx="4160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400" b="0" i="0">
                <a:solidFill>
                  <a:srgbClr val="F2D8D6"/>
                </a:solidFill>
                <a:latin typeface="Hiragino Sans"/>
              </a:rPr>
              <a:t>を無料で作成・プレゼント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79" y="5486400"/>
            <a:ext cx="3611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100" b="1" i="0">
                <a:solidFill>
                  <a:srgbClr val="AA2E26"/>
                </a:solidFill>
                <a:latin typeface="Hiragino Sans"/>
              </a:rPr>
              <a:t>今回は丁寧に伴走するため【限定 ◯ 名】様まで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
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AI × CLINIC 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クリニックのAI・LINE導入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まるごとおまかせ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独自カスタマイズの「マイAI」×「Lステップ」×AI音声(IVR)で実現する、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初期費用0円・完全成果報酬型のクリニックDX。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2384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月額基本料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1808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成果報酬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436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C241D"/>
                </a:solidFill>
                <a:latin typeface="Hiragino Sans"/>
              </a:rPr>
              <a:t>※成果報酬は最初の6ヶ月のみ。7ヶ月目以降は 月5万円の保守（月1回MTG・運用相談込み）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199632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チームてっかん  ｜  菊池 研太  ｜  @khd_medical01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554480"/>
            <a:ext cx="4114800" cy="3154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554480"/>
            <a:ext cx="4114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20240"/>
            <a:ext cx="3657600" cy="228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26679" y="4828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ネット上の生の声が示す、クリニックのリアルな4大お悩み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70万〜150万円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月10〜20時間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月1,200件超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医者の悩み（左）を、AI商品（右）がどう解決するか。クリニック全体を1つのエコシステムで最適化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2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520440"/>
                <a:gridCol w="3703320"/>
                <a:gridCol w="2130552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現状のアナログ業務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マイAI・Lステップ・IVR導入後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問診業務 40〜70%減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電話件数 最大40〜80%減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書類時間 月30h以上減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AIが4,000ルールで算定漏れ自動チェック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点検時間 最大1/20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4622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削減効果の幅（公開事例ベース）</a:t>
            </a:r>
          </a:p>
        </p:txBody>
      </p:sp>
      <p:pic>
        <p:nvPicPr>
          <p:cNvPr id="10" name="Picture 9" descr="_chart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36592"/>
            <a:ext cx="10058400" cy="15306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21208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2120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754880" cy="2971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40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① 書類アシスト｜カルテ→紹介状を数秒で下書き（院長の画面）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91640"/>
            <a:ext cx="5788152" cy="2514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6916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2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38528"/>
            <a:ext cx="3611880" cy="22574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97880" y="4261104"/>
            <a:ext cx="578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② 成果ダッシュボード｜削減効果を可視化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4663440"/>
            <a:ext cx="5788152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46634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3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773168"/>
            <a:ext cx="54864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95160" y="4663440"/>
            <a:ext cx="4572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③ LINE問診・予約｜Lステップ連携（患者スマホ）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※当社実績ではなく、公開されている医療機関の導入実績です（出典明記）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書類作成のDX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7136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17136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新古賀/名古屋医療C/戸畑共立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65592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電話業務のDX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2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48472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8472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48472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13064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5592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667512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1371600"/>
                <a:gridCol w="1645920"/>
                <a:gridCol w="15544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成果報酬(40%×6ヶ月)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院に残る効果（1年目）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6.4万円/月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約124万円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9.6万円/月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約200万円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16万円/月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約354万円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06640" y="1691640"/>
            <a:ext cx="4297680" cy="3154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691640"/>
            <a:ext cx="42976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char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74519"/>
            <a:ext cx="3931920" cy="259655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4983480"/>
            <a:ext cx="11183112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840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標準モデル（医師1・事務3／月83万円・480h・時間単価 約1,729円）：月139h削減 ＝ 月 約24万円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982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8C241D"/>
                </a:solidFill>
                <a:latin typeface="Hiragino Sans"/>
              </a:rPr>
              <a:t>1〜6ヶ月＝成果報酬40%を引いて 月14.4万円 が院に → 7ヶ月目以降＝月5万円の保守だけで 月19万円 が院に → 1年目合計 約200万円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6E6E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使うほど、院にお金が残る ── 12ヶ月の推移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成果報酬は最初の6ヶ月だけ。7ヶ月目からは月5万円の保守のみ（標準モデル：月24万円削減）</a:t>
            </a:r>
          </a:p>
        </p:txBody>
      </p:sp>
      <p:pic>
        <p:nvPicPr>
          <p:cNvPr id="8" name="Picture 7" descr="_saving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7680960" cy="415468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1691640"/>
            <a:ext cx="34290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691640"/>
            <a:ext cx="34290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料金（リスクゼロ）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7627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Hiragino Sans"/>
              </a:rPr>
              <a:t>初期費用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17627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597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Hiragino Sans"/>
              </a:rPr>
              <a:t>月額基本料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45973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Hiragino Sans"/>
              </a:rPr>
              <a:t>成果報酬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743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AA2E26"/>
                </a:solidFill>
                <a:latin typeface="Hiragino Sans"/>
              </a:rPr>
              <a:t>削減額の40%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2666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Hiragino Sans"/>
              </a:rPr>
              <a:t>成果報酬の期間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02666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AA2E26"/>
                </a:solidFill>
                <a:latin typeface="Hiragino Sans"/>
              </a:rPr>
              <a:t>6ヶ月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1012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Hiragino Sans"/>
              </a:rPr>
              <a:t>7ヶ月目以降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31012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AA2E26"/>
                </a:solidFill>
                <a:latin typeface="Hiragino Sans"/>
              </a:rPr>
              <a:t>月5万円 保守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935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Hiragino Sans"/>
              </a:rPr>
              <a:t>保守に含む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59359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AA2E26"/>
                </a:solidFill>
                <a:latin typeface="Hiragino Sans"/>
              </a:rPr>
              <a:t>月1回MTG・運用相談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114800"/>
            <a:ext cx="3429000" cy="1965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22452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御院に残る効果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572000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Hiragino Sans"/>
              </a:rPr>
              <a:t>1〜6ヶ月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572000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 i="0">
                <a:solidFill>
                  <a:srgbClr val="8C241D"/>
                </a:solidFill>
                <a:latin typeface="Hiragino Sans"/>
              </a:rPr>
              <a:t>月 14.4万円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1032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Hiragino Sans"/>
              </a:rPr>
              <a:t>7ヶ月目以降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91032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 i="0">
                <a:solidFill>
                  <a:srgbClr val="8C241D"/>
                </a:solidFill>
                <a:latin typeface="Hiragino Sans"/>
              </a:rPr>
              <a:t>月 19万円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248656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Hiragino Sans"/>
              </a:rPr>
              <a:t>12ヶ月 累計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248656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 i="0">
                <a:solidFill>
                  <a:srgbClr val="8C241D"/>
                </a:solidFill>
                <a:latin typeface="Hiragino Sans"/>
              </a:rPr>
              <a:t>約 200万円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6692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6E6E"/>
                </a:solidFill>
                <a:latin typeface="Hiragino Sans"/>
              </a:rPr>
              <a:t>成果報酬は6ヶ月で卒業。以降は効果まるごと院に。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WHY RISK-ZERO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当サービスだけ、唯一のノーリスク ── 業界価格の真実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他社は効果が出なくても固定費が発生。御院の持ち出しは“ゼロ”から始められる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45920"/>
          <a:ext cx="1118311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206240"/>
                <a:gridCol w="2743200"/>
                <a:gridCol w="2221992"/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当サービス（中立伴走）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一般IT・DX業者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自社アプリ販売／高額導入支援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AA2E26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20万〜300万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AA2E26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1.5〜300万（固定）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5〜20万（固定）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削減額の40%（最初の6ヶ月だけ）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稼働問わず固定課金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7ヶ月目以降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月5万円の保守のみ（月1MTG込）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高額保守が続く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固定保守料が続く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3ヶ月伴走で定着まで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自力運用 or 別料金で高額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ゼロ（効果0なら0円）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高〜極めて高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「うちでも本当に測定できる？」── リスクゼロの3ステップ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30632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※「2週間時間を計測」等の煩雑な作業は一切要求しません。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898648"/>
            <a:ext cx="30632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898648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削減額24万 × 40% ＝ お支払い 9.6万円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3429000"/>
            <a:ext cx="3154680" cy="123444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5021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75818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>
                <a:solidFill>
                  <a:srgbClr val="AA2E26"/>
                </a:solidFill>
                <a:latin typeface="Hiragino Sans"/>
              </a:rPr>
              <a:t>月 14.4万円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43251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E6E6E"/>
                </a:solidFill>
                <a:latin typeface="Hiragino Sans"/>
              </a:rPr>
              <a:t>7ヶ月目〜は月19万円（1年目 約200万円）／効果0なら支払い0円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つまり ── 御院の持ち出しはゼロ。効果が出た“分だけ”、私たちはいただく。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6869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✓ 成果報酬は6ヶ月で卒業（以降は月5万の保守のみ・月1MTG込）　✓ IT導入補助金サポート　✓ ロックインなし　✓ 3ヶ月伴走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OUR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中立選定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一気通貫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リスクゼロ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SECURITY &amp;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ご安心ください ── 患者情報・セキュリティ・運用の不安に先回り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医療現場の不安に、導入前から“運用ルール”で答えを用意します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患者情報の扱い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目的外利用なし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院内データはクローズドに扱い、目的外利用なし。匿名化・最小限の原則を前提に設計し、運用ルールを最初に書面で取り決めます。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94767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9659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アクセス管理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46888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誰が・いつ・何を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役割別の権限と利用ログを整備。最終的な運用ルールは院長が決定。「ブラックボックスにしない」が原則。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0799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2628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スタッフ負担を最小化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2920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段階導入＋伴走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一気に変えない。優先業務から段階導入し、使いこなすまで3ヶ月伴走。マニュアル＋チャットで現場を支えます。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50799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52628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やめたい時はやめられる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02920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ロックインなし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最低契約期間以降は30日前通知で解約可。成果ゼロなら費用ゼロ。囲い込みはしません。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ご相談はお気軽に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Hiragino Sans"/>
              </a:rPr>
              <a:t>リスクゼロで、次世代のクリニック運営を始めませんか？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Hiragino Sans"/>
              </a:rPr>
              <a:t>押し売りは一切なし。単なる問い合わせでなく、1時間の無料コンサルセッションとしてご利用ください。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9923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3016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93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6126480" cy="1600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02352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449824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560320"/>
            <a:ext cx="4160520" cy="3611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7889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★ 参加特典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8920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2D8D6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
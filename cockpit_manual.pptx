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88952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AA2E26"/>
                </a:solidFill>
                <a:latin typeface="Hiragino Sans"/>
              </a:rPr>
              <a:t>KHD ｜ 経営の操縦席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1A1A1A"/>
                </a:solidFill>
                <a:latin typeface="Hiragino Sans"/>
              </a:rPr>
              <a:t>経営操縦席 操作マニュアル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5661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6E6E6E"/>
                </a:solidFill>
                <a:latin typeface="Hiragino Sans"/>
              </a:rPr>
              <a:t>あなたは「入力」と「報告」だけ。あとは全部つながって、数字が動く。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A2E26"/>
                </a:solidFill>
                <a:latin typeface="Hiragino Sans"/>
              </a:rPr>
              <a:t>1枚のスプレッドシート ／ 入力3枚 + 見るだけ3枚 ／ 古田土会計 × マーケKPI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58521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E6E6E"/>
                </a:solidFill>
                <a:latin typeface="Hiragino Sans"/>
              </a:rPr>
              <a:t>2026-06-06 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操縦席の全体像 — 6つのタブ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16736"/>
            <a:ext cx="11064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左の3枚に入れる → 右の3枚が自動で出る。これだけ覚えればいい。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3B6E3B"/>
                </a:solidFill>
                <a:latin typeface="Hiragino Sans"/>
              </a:rPr>
              <a:t>◀ 入力する 3枚（あなたが触る）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94560"/>
            <a:ext cx="502920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194560"/>
            <a:ext cx="82296" cy="1051560"/>
          </a:xfrm>
          <a:prstGeom prst="rect">
            <a:avLst/>
          </a:prstGeom>
          <a:solidFill>
            <a:srgbClr val="3B6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322576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3B6E3B"/>
                </a:solidFill>
                <a:latin typeface="Hiragino Sans"/>
              </a:rPr>
              <a:t>02_作業DB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43200"/>
            <a:ext cx="4617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Hiragino Sans"/>
              </a:rPr>
              <a:t>毎日の行動・報告を1行ずつ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429000"/>
            <a:ext cx="502920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429000"/>
            <a:ext cx="82296" cy="1051560"/>
          </a:xfrm>
          <a:prstGeom prst="rect">
            <a:avLst/>
          </a:prstGeom>
          <a:solidFill>
            <a:srgbClr val="3B6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557016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3B6E3B"/>
                </a:solidFill>
                <a:latin typeface="Hiragino Sans"/>
              </a:rPr>
              <a:t>顧客マスター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977640"/>
            <a:ext cx="4617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Hiragino Sans"/>
              </a:rPr>
              <a:t>人（先生・客）を番号で蓄積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663440"/>
            <a:ext cx="502920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663440"/>
            <a:ext cx="82296" cy="1051560"/>
          </a:xfrm>
          <a:prstGeom prst="rect">
            <a:avLst/>
          </a:prstGeom>
          <a:solidFill>
            <a:srgbClr val="3B6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791456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3B6E3B"/>
                </a:solidFill>
                <a:latin typeface="Hiragino Sans"/>
              </a:rPr>
              <a:t>03_売上見込み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212080"/>
            <a:ext cx="4617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Hiragino Sans"/>
              </a:rPr>
              <a:t>案件＋今日の追客本数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3291840"/>
            <a:ext cx="731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 i="0">
                <a:solidFill>
                  <a:srgbClr val="AA2E26"/>
                </a:solidFill>
                <a:latin typeface="Hiragino Sans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17830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2E5A8C"/>
                </a:solidFill>
                <a:latin typeface="Hiragino Sans"/>
              </a:rPr>
              <a:t>▶ 見るだけ 3枚（自動で動く）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2194560"/>
            <a:ext cx="502920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0" y="2194560"/>
            <a:ext cx="82296" cy="1051560"/>
          </a:xfrm>
          <a:prstGeom prst="rect">
            <a:avLst/>
          </a:prstGeom>
          <a:solidFill>
            <a:srgbClr val="2E5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2322576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2E5A8C"/>
                </a:solidFill>
                <a:latin typeface="Hiragino Sans"/>
              </a:rPr>
              <a:t>01_統合司令塔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2743200"/>
            <a:ext cx="4617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Hiragino Sans"/>
              </a:rPr>
              <a:t>過去/現在/未来＋今日の一手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0" y="3429000"/>
            <a:ext cx="502920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83680" y="3429000"/>
            <a:ext cx="82296" cy="1051560"/>
          </a:xfrm>
          <a:prstGeom prst="rect">
            <a:avLst/>
          </a:prstGeom>
          <a:solidFill>
            <a:srgbClr val="2E5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3557016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2E5A8C"/>
                </a:solidFill>
                <a:latin typeface="Hiragino Sans"/>
              </a:rPr>
              <a:t>04_PL ＋ 05_資金繰り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3977640"/>
            <a:ext cx="4617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Hiragino Sans"/>
              </a:rPr>
              <a:t>利益の形＋現金の谷（ランウェイ）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0" y="4663440"/>
            <a:ext cx="502920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83680" y="4663440"/>
            <a:ext cx="82296" cy="1051560"/>
          </a:xfrm>
          <a:prstGeom prst="rect">
            <a:avLst/>
          </a:prstGeom>
          <a:solidFill>
            <a:srgbClr val="2E5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12280" y="4791456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2E5A8C"/>
                </a:solidFill>
                <a:latin typeface="Hiragino Sans"/>
              </a:rPr>
              <a:t>06_資産負債BS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2280" y="5212080"/>
            <a:ext cx="4617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Hiragino Sans"/>
              </a:rPr>
              <a:t>資産・負債・純資産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KHD 経営操縦席  ｜  操作マニュアル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0" y="6473952"/>
            <a:ext cx="457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E6E6E"/>
                </a:solidFill>
                <a:latin typeface="Hiragino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DAILY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毎日のリズム — 朝・日中・夜の3拍子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16736"/>
            <a:ext cx="11064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考えなくても回る。朝は見る、日中は報告、夜はポチッ。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3611880" cy="3931920"/>
          </a:xfrm>
          <a:prstGeom prst="rect">
            <a:avLst/>
          </a:prstGeom>
          <a:solidFill>
            <a:srgbClr val="FFFFFF"/>
          </a:solidFill>
          <a:ln w="1143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3611880" cy="77724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21408"/>
            <a:ext cx="3611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Hiragino Sans"/>
              </a:rPr>
              <a:t>☀️  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7180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AA2E26"/>
                </a:solidFill>
                <a:latin typeface="Hiragino Sans"/>
              </a:rPr>
              <a:t>01司令塔を見る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611880"/>
            <a:ext cx="310896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1A1A1A"/>
                </a:solidFill>
                <a:latin typeface="Hiragino Sans"/>
              </a:rPr>
              <a:t>今日の一手・追客目標・ランウェイを確認。</a:t>
            </a:r>
          </a:p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1A1A1A"/>
                </a:solidFill>
                <a:latin typeface="Hiragino Sans"/>
              </a:rPr>
              <a:t>秘書（Claude）が朝ブリーフで</a:t>
            </a:r>
          </a:p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1A1A1A"/>
                </a:solidFill>
                <a:latin typeface="Hiragino Sans"/>
              </a:rPr>
              <a:t>『今日やる15人/案件』を提案する。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2011680"/>
            <a:ext cx="3611880" cy="3931920"/>
          </a:xfrm>
          <a:prstGeom prst="rect">
            <a:avLst/>
          </a:prstGeom>
          <a:solidFill>
            <a:srgbClr val="FFFFFF"/>
          </a:solidFill>
          <a:ln w="1143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2011680"/>
            <a:ext cx="3611880" cy="777240"/>
          </a:xfrm>
          <a:prstGeom prst="rect">
            <a:avLst/>
          </a:prstGeom>
          <a:solidFill>
            <a:srgbClr val="8C2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2121408"/>
            <a:ext cx="3611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Hiragino Sans"/>
              </a:rPr>
              <a:t>🏃  日中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97180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8C241D"/>
                </a:solidFill>
                <a:latin typeface="Hiragino Sans"/>
              </a:rPr>
              <a:t>動いたら報告する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3611880"/>
            <a:ext cx="310896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1A1A1A"/>
                </a:solidFill>
                <a:latin typeface="Hiragino Sans"/>
              </a:rPr>
              <a:t>電話した・会った・返信きた を</a:t>
            </a:r>
          </a:p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1A1A1A"/>
                </a:solidFill>
                <a:latin typeface="Hiragino Sans"/>
              </a:rPr>
              <a:t>Claudeに一言。02作業DBに</a:t>
            </a:r>
          </a:p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1A1A1A"/>
                </a:solidFill>
                <a:latin typeface="Hiragino Sans"/>
              </a:rPr>
              <a:t>自動で1行記録される。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2011680"/>
            <a:ext cx="3611880" cy="3931920"/>
          </a:xfrm>
          <a:prstGeom prst="rect">
            <a:avLst/>
          </a:prstGeom>
          <a:solidFill>
            <a:srgbClr val="FFFFFF"/>
          </a:solidFill>
          <a:ln w="1143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21040" y="2011680"/>
            <a:ext cx="3611880" cy="777240"/>
          </a:xfrm>
          <a:prstGeom prst="rect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2121408"/>
            <a:ext cx="3611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Hiragino Sans"/>
              </a:rPr>
              <a:t>🌙  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97180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6E6E6E"/>
                </a:solidFill>
                <a:latin typeface="Hiragino Sans"/>
              </a:rPr>
              <a:t>『ポチッ』と言う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3611880"/>
            <a:ext cx="310896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1A1A1A"/>
                </a:solidFill>
                <a:latin typeface="Hiragino Sans"/>
              </a:rPr>
              <a:t>その日のチャットをClaudeが遡って</a:t>
            </a:r>
          </a:p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1A1A1A"/>
                </a:solidFill>
                <a:latin typeface="Hiragino Sans"/>
              </a:rPr>
              <a:t>顧客マスター/作業DBへ振り分け。</a:t>
            </a:r>
          </a:p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1A1A1A"/>
                </a:solidFill>
                <a:latin typeface="Hiragino Sans"/>
              </a:rPr>
              <a:t>足りない欄は選択肢で質問が来る。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KHD 経営操縦席  ｜  操作マニュアル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6473952"/>
            <a:ext cx="457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E6E6E"/>
                </a:solidFill>
                <a:latin typeface="Hiragino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INPUT 1 / 3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02_作業DB — 行動と報告を1行ずつ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16736"/>
            <a:ext cx="11064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『何を・誰に・どう動かしたか』の記録。ここが全部の出発点。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3B6E3B"/>
                </a:solidFill>
                <a:latin typeface="Hiragino Sans"/>
              </a:rPr>
              <a:t>入れること（Claudeに言えば自動で1行になる）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194560"/>
          <a:ext cx="109728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023360"/>
                <a:gridCol w="4754880"/>
              </a:tblGrid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Hiragino Sans"/>
                        </a:rPr>
                        <a:t>列</a:t>
                      </a:r>
                    </a:p>
                  </a:txBody>
                  <a:tcPr anchor="ctr" marL="109728">
                    <a:solidFill>
                      <a:srgbClr val="3B6E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Hiragino Sans"/>
                        </a:rPr>
                        <a:t>中身</a:t>
                      </a:r>
                    </a:p>
                  </a:txBody>
                  <a:tcPr anchor="ctr" marL="109728">
                    <a:solidFill>
                      <a:srgbClr val="3B6E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Hiragino Sans"/>
                        </a:rPr>
                        <a:t>例</a:t>
                      </a:r>
                    </a:p>
                  </a:txBody>
                  <a:tcPr anchor="ctr" marL="109728">
                    <a:solidFill>
                      <a:srgbClr val="3B6E3B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Hiragino Sans"/>
                        </a:rPr>
                        <a:t>日付/区分</a:t>
                      </a:r>
                    </a:p>
                  </a:txBody>
                  <a:tcPr anchor="ctr" marL="109728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Hiragino Sans"/>
                        </a:rPr>
                        <a:t>予定 / 実績 / 突発</a:t>
                      </a:r>
                    </a:p>
                  </a:txBody>
                  <a:tcPr anchor="ctr" marL="109728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Hiragino Sans"/>
                        </a:rPr>
                        <a:t>実績</a:t>
                      </a:r>
                    </a:p>
                  </a:txBody>
                  <a:tcPr anchor="ctr" marL="109728">
                    <a:solidFill>
                      <a:srgbClr val="F1ECE1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Hiragino Sans"/>
                        </a:rPr>
                        <a:t>本部・案件・相手</a:t>
                      </a:r>
                    </a:p>
                  </a:txBody>
                  <a:tcPr anchor="ctr" marL="109728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Hiragino Sans"/>
                        </a:rPr>
                        <a:t>誰の何の件か</a:t>
                      </a:r>
                    </a:p>
                  </a:txBody>
                  <a:tcPr anchor="ctr" marL="109728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Hiragino Sans"/>
                        </a:rPr>
                        <a:t>04 / 山崎先生</a:t>
                      </a:r>
                    </a:p>
                  </a:txBody>
                  <a:tcPr anchor="ctr" marL="109728">
                    <a:solidFill>
                      <a:srgbClr val="F9F6E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Hiragino Sans"/>
                        </a:rPr>
                        <a:t>温度</a:t>
                      </a:r>
                    </a:p>
                  </a:txBody>
                  <a:tcPr anchor="ctr" marL="109728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Hiragino Sans"/>
                        </a:rPr>
                        <a:t>客の熱さ</a:t>
                      </a:r>
                    </a:p>
                  </a:txBody>
                  <a:tcPr anchor="ctr" marL="109728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Hiragino Sans"/>
                        </a:rPr>
                        <a:t>ホット</a:t>
                      </a:r>
                    </a:p>
                  </a:txBody>
                  <a:tcPr anchor="ctr" marL="109728">
                    <a:solidFill>
                      <a:srgbClr val="F1ECE1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Hiragino Sans"/>
                        </a:rPr>
                        <a:t>内容・報告値</a:t>
                      </a:r>
                    </a:p>
                  </a:txBody>
                  <a:tcPr anchor="ctr" marL="109728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Hiragino Sans"/>
                        </a:rPr>
                        <a:t>やったこと・結果の数字</a:t>
                      </a:r>
                    </a:p>
                  </a:txBody>
                  <a:tcPr anchor="ctr" marL="109728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Hiragino Sans"/>
                        </a:rPr>
                        <a:t>電話→来週面談OK</a:t>
                      </a:r>
                    </a:p>
                  </a:txBody>
                  <a:tcPr anchor="ctr" marL="109728">
                    <a:solidFill>
                      <a:srgbClr val="F9F6E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Hiragino Sans"/>
                        </a:rPr>
                        <a:t>営業直結</a:t>
                      </a:r>
                    </a:p>
                  </a:txBody>
                  <a:tcPr anchor="ctr" marL="109728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Hiragino Sans"/>
                        </a:rPr>
                        <a:t>営業か内務か（時間KPI）</a:t>
                      </a:r>
                    </a:p>
                  </a:txBody>
                  <a:tcPr anchor="ctr" marL="109728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Hiragino Sans"/>
                        </a:rPr>
                        <a:t>営業○</a:t>
                      </a:r>
                    </a:p>
                  </a:txBody>
                  <a:tcPr anchor="ctr" marL="109728">
                    <a:solidFill>
                      <a:srgbClr val="F1ECE1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Hiragino Sans"/>
                        </a:rPr>
                        <a:t>次アクション・期限</a:t>
                      </a:r>
                    </a:p>
                  </a:txBody>
                  <a:tcPr anchor="ctr" marL="109728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Hiragino Sans"/>
                        </a:rPr>
                        <a:t>次に動くこと</a:t>
                      </a:r>
                    </a:p>
                  </a:txBody>
                  <a:tcPr anchor="ctr" marL="109728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Hiragino Sans"/>
                        </a:rPr>
                        <a:t>6/15 訪問</a:t>
                      </a:r>
                    </a:p>
                  </a:txBody>
                  <a:tcPr anchor="ctr" marL="109728">
                    <a:solidFill>
                      <a:srgbClr val="F9F6E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5349240"/>
            <a:ext cx="10972800" cy="731520"/>
          </a:xfrm>
          <a:prstGeom prst="rect">
            <a:avLst/>
          </a:prstGeom>
          <a:solidFill>
            <a:srgbClr val="E4F0E4"/>
          </a:solidFill>
          <a:ln w="9525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440680"/>
            <a:ext cx="10607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3B6E3B"/>
                </a:solidFill>
                <a:latin typeface="Hiragino Sans"/>
              </a:rPr>
              <a:t>💡 コツ：『○○先生に電話して来週面談OK、温度ホット』とだけ言えばOK。列の名前は覚えなくていい。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KHD 経営操縦席  ｜  操作マニュアル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457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E6E6E"/>
                </a:solidFill>
                <a:latin typeface="Hiragino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INPUT 2 / 3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顧客マスター — 人（WHO）を番号で貯める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16736"/>
            <a:ext cx="11064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物件がまだ無い『人だけ』はここ。H001〜の番号で一生残す。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539496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82296" cy="1828800"/>
          </a:xfrm>
          <a:prstGeom prst="rect">
            <a:avLst/>
          </a:prstGeom>
          <a:solidFill>
            <a:srgbClr val="3B6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48256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3B6E3B"/>
                </a:solidFill>
                <a:latin typeface="Hiragino Sans"/>
              </a:rPr>
              <a:t>ここに入れる人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49834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・先生（医療テナント・承継の見込み）</a:t>
            </a:r>
          </a:p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・買取再販のテレアポ先</a:t>
            </a:r>
          </a:p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・まだ案件化してない知り合い</a:t>
            </a:r>
          </a:p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→ H001, H002… と番号がつく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920240"/>
            <a:ext cx="539496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920240"/>
            <a:ext cx="82296" cy="1828800"/>
          </a:xfrm>
          <a:prstGeom prst="rect">
            <a:avLst/>
          </a:prstGeom>
          <a:solidFill>
            <a:srgbClr val="2E5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048256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2E5A8C"/>
                </a:solidFill>
                <a:latin typeface="Hiragino Sans"/>
              </a:rPr>
              <a:t>各人につける情報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468880"/>
            <a:ext cx="49834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・温度（ホット/ぬるい）</a:t>
            </a:r>
          </a:p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・最終接触・次アクション</a:t>
            </a:r>
          </a:p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・紐づく案件（あれば）</a:t>
            </a:r>
          </a:p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・関連フォルダ（資料のDriveリンク）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023360"/>
            <a:ext cx="11064240" cy="1737360"/>
          </a:xfrm>
          <a:prstGeom prst="rect">
            <a:avLst/>
          </a:prstGeom>
          <a:solidFill>
            <a:srgbClr val="FFFFFF"/>
          </a:solidFill>
          <a:ln w="1524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1605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AA2E26"/>
                </a:solidFill>
                <a:latin typeface="Hiragino Sans"/>
              </a:rPr>
              <a:t>★ 顧客マスター と 02作業DB の使い分け（迷ったらこれ）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617720"/>
            <a:ext cx="104241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A1A1A"/>
                </a:solidFill>
                <a:latin typeface="Hiragino Sans"/>
              </a:rPr>
              <a:t>人だけ（物件まだ無い）          →  顧客マスター に貯める</a:t>
            </a:r>
          </a:p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A1A1A"/>
                </a:solidFill>
                <a:latin typeface="Hiragino Sans"/>
              </a:rPr>
              <a:t>物件が絡む話になった          →  02作業DB で行動記録＋03で案件化</a:t>
            </a:r>
          </a:p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A1A1A"/>
                </a:solidFill>
                <a:latin typeface="Hiragino Sans"/>
              </a:rPr>
              <a:t>顧客に物件が紐づいた          →  作業DBへ昇格（H番号を引き継ぐ）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KHD 経営操縦席  ｜  操作マニュアル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73952"/>
            <a:ext cx="457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E6E6E"/>
                </a:solidFill>
                <a:latin typeface="Hiragino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INPUT 3 / 3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03_売上見込み — 案件と『今日の追客本数』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16736"/>
            <a:ext cx="11064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案件を確度で積む → 家族と黒字から逆算 → 今日やる本数が出る。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53949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82296" cy="1371600"/>
          </a:xfrm>
          <a:prstGeom prst="rect">
            <a:avLst/>
          </a:prstGeom>
          <a:solidFill>
            <a:srgbClr val="3B6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56816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3B6E3B"/>
                </a:solidFill>
                <a:latin typeface="Hiragino Sans"/>
              </a:rPr>
              <a:t>① 案件を積む（5〜14行）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77440"/>
            <a:ext cx="4983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Hiragino Sans"/>
              </a:rPr>
              <a:t>本部・科目・案件名・金額を入れる。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Hiragino Sans"/>
              </a:rPr>
              <a:t>Claudeに『○○の案件、満額110万、確度6割』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Hiragino Sans"/>
              </a:rPr>
              <a:t>と言えば入る。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828800"/>
            <a:ext cx="5394960" cy="4023360"/>
          </a:xfrm>
          <a:prstGeom prst="rect">
            <a:avLst/>
          </a:prstGeom>
          <a:solidFill>
            <a:srgbClr val="FFFFFF"/>
          </a:solidFill>
          <a:ln w="13970">
            <a:solidFill>
              <a:srgbClr val="2E5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938528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2E5A8C"/>
                </a:solidFill>
                <a:latin typeface="Hiragino Sans"/>
              </a:rPr>
              <a:t>② 営業ドライバー（自動で逆算）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2377440"/>
            <a:ext cx="5029200" cy="402336"/>
          </a:xfrm>
          <a:prstGeom prst="rect">
            <a:avLst/>
          </a:prstGeom>
          <a:solidFill>
            <a:srgbClr val="F9F6EF"/>
          </a:solidFill>
          <a:ln w="635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377440"/>
            <a:ext cx="475488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Hiragino Sans"/>
              </a:rPr>
              <a:t>家族が潰れないライン  659,285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2852928"/>
            <a:ext cx="5029200" cy="402336"/>
          </a:xfrm>
          <a:prstGeom prst="rect">
            <a:avLst/>
          </a:prstGeom>
          <a:solidFill>
            <a:srgbClr val="F9F6EF"/>
          </a:solidFill>
          <a:ln w="635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852928"/>
            <a:ext cx="475488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Hiragino Sans"/>
              </a:rPr>
              <a:t>−  経常確定粗利（EC+賃料）  142,000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3328416"/>
            <a:ext cx="5029200" cy="402336"/>
          </a:xfrm>
          <a:prstGeom prst="rect">
            <a:avLst/>
          </a:prstGeom>
          <a:solidFill>
            <a:srgbClr val="F4E4E2"/>
          </a:solidFill>
          <a:ln w="635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328416"/>
            <a:ext cx="475488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AA2E26"/>
                </a:solidFill>
                <a:latin typeface="Hiragino Sans"/>
              </a:rPr>
              <a:t>=  🔴 毎月の穴  517,285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3803904"/>
            <a:ext cx="5029200" cy="402336"/>
          </a:xfrm>
          <a:prstGeom prst="rect">
            <a:avLst/>
          </a:prstGeom>
          <a:solidFill>
            <a:srgbClr val="F9F6EF"/>
          </a:solidFill>
          <a:ln w="635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3803904"/>
            <a:ext cx="475488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Hiragino Sans"/>
              </a:rPr>
              <a:t>÷ 単価 → 必要 成約数  1件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4279392"/>
            <a:ext cx="5029200" cy="402336"/>
          </a:xfrm>
          <a:prstGeom prst="rect">
            <a:avLst/>
          </a:prstGeom>
          <a:solidFill>
            <a:srgbClr val="F9F6EF"/>
          </a:solidFill>
          <a:ln w="635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4279392"/>
            <a:ext cx="475488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Hiragino Sans"/>
              </a:rPr>
              <a:t>÷ 転換率 → 必要アポ  5件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4754880"/>
            <a:ext cx="5029200" cy="402336"/>
          </a:xfrm>
          <a:prstGeom prst="rect">
            <a:avLst/>
          </a:prstGeom>
          <a:solidFill>
            <a:srgbClr val="F9F6EF"/>
          </a:solidFill>
          <a:ln w="635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4754880"/>
            <a:ext cx="475488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Hiragino Sans"/>
              </a:rPr>
              <a:t>÷ 転換率 → 必要CV  10件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5230368"/>
            <a:ext cx="5029200" cy="402336"/>
          </a:xfrm>
          <a:prstGeom prst="rect">
            <a:avLst/>
          </a:prstGeom>
          <a:solidFill>
            <a:srgbClr val="F4E4E2"/>
          </a:solidFill>
          <a:ln w="635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5230368"/>
            <a:ext cx="475488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AA2E26"/>
                </a:solidFill>
                <a:latin typeface="Hiragino Sans"/>
              </a:rPr>
              <a:t>÷ 稼働日 → 💡 今日の追客  1件/日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383280"/>
            <a:ext cx="539496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3383280"/>
            <a:ext cx="82296" cy="24688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3511296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AA2E26"/>
                </a:solidFill>
                <a:latin typeface="Hiragino Sans"/>
              </a:rPr>
              <a:t>③ 古田土の未来会計図表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3931920"/>
            <a:ext cx="49834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A1A1A"/>
                </a:solidFill>
                <a:latin typeface="Hiragino Sans"/>
              </a:rPr>
              <a:t>売上(PQ)→粗利(MQ)→利益(G)の形を自動表示。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A1A1A"/>
                </a:solidFill>
                <a:latin typeface="Hiragino Sans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A1A1A"/>
                </a:solidFill>
                <a:latin typeface="Hiragino Sans"/>
              </a:rPr>
              <a:t>・損益分岐点比率 F÷MQ（理想80%）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A1A1A"/>
                </a:solidFill>
                <a:latin typeface="Hiragino Sans"/>
              </a:rPr>
              <a:t>・格付け SS〜D（今＝SS 超優良）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A1A1A"/>
                </a:solidFill>
                <a:latin typeface="Hiragino Sans"/>
              </a:rPr>
              <a:t>・労働分配率・経営安全率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A1A1A"/>
                </a:solidFill>
                <a:latin typeface="Hiragino Sans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A1A1A"/>
                </a:solidFill>
                <a:latin typeface="Hiragino Sans"/>
              </a:rPr>
              <a:t>マーケ用語（CV/IMP/CVR）との対応表も同じタブに。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KHD 経営操縦席  ｜  操作マニュアル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73952"/>
            <a:ext cx="457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E6E6E"/>
                </a:solidFill>
                <a:latin typeface="Hiragino Sa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VIEW 1 / 3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01_統合司令塔 — まずここを見る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16736"/>
            <a:ext cx="11064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過去（資産）→ 現在（現金）→ 未来（谷）→ 今日の一手。1画面で経営が分かる。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2651760" cy="3566160"/>
          </a:xfrm>
          <a:prstGeom prst="rect">
            <a:avLst/>
          </a:prstGeom>
          <a:solidFill>
            <a:srgbClr val="FFFFFF"/>
          </a:solidFill>
          <a:ln w="1143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2651760" cy="640080"/>
          </a:xfrm>
          <a:prstGeom prst="rect">
            <a:avLst/>
          </a:prstGeom>
          <a:solidFill>
            <a:srgbClr val="2E5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94560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Hiragino Sans"/>
              </a:rPr>
              <a:t>◆ 過去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219456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1A1A1A"/>
                </a:solidFill>
                <a:latin typeface="Hiragino Sans"/>
              </a:rPr>
              <a:t>純資産・総資産・総負債</a:t>
            </a:r>
          </a:p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1A1A1A"/>
                </a:solidFill>
                <a:latin typeface="Hiragino Sans"/>
              </a:rPr>
              <a:t>（BS連動）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2103120"/>
            <a:ext cx="2651760" cy="3566160"/>
          </a:xfrm>
          <a:prstGeom prst="rect">
            <a:avLst/>
          </a:prstGeom>
          <a:solidFill>
            <a:srgbClr val="FFFFFF"/>
          </a:solidFill>
          <a:ln w="1143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2103120"/>
            <a:ext cx="2651760" cy="6400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2194560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Hiragino Sans"/>
              </a:rPr>
              <a:t>◆ 現在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971800"/>
            <a:ext cx="219456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1A1A1A"/>
                </a:solidFill>
                <a:latin typeface="Hiragino Sans"/>
              </a:rPr>
              <a:t>現預金とランウェイ</a:t>
            </a:r>
          </a:p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1A1A1A"/>
                </a:solidFill>
                <a:latin typeface="Hiragino Sans"/>
              </a:rPr>
              <a:t>（あと何ヶ月もつか）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103120"/>
            <a:ext cx="2651760" cy="3566160"/>
          </a:xfrm>
          <a:prstGeom prst="rect">
            <a:avLst/>
          </a:prstGeom>
          <a:solidFill>
            <a:srgbClr val="FFFFFF"/>
          </a:solidFill>
          <a:ln w="1143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2103120"/>
            <a:ext cx="2651760" cy="640080"/>
          </a:xfrm>
          <a:prstGeom prst="rect">
            <a:avLst/>
          </a:prstGeom>
          <a:solidFill>
            <a:srgbClr val="8C2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2194560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Hiragino Sans"/>
              </a:rPr>
              <a:t>◆ 未来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971800"/>
            <a:ext cx="219456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1A1A1A"/>
                </a:solidFill>
                <a:latin typeface="Hiragino Sans"/>
              </a:rPr>
              <a:t>通期で一番苦しい月の現金</a:t>
            </a:r>
          </a:p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1A1A1A"/>
                </a:solidFill>
                <a:latin typeface="Hiragino Sans"/>
              </a:rPr>
              <a:t>（谷がプラスか）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52560" y="2103120"/>
            <a:ext cx="2651760" cy="3566160"/>
          </a:xfrm>
          <a:prstGeom prst="rect">
            <a:avLst/>
          </a:prstGeom>
          <a:solidFill>
            <a:srgbClr val="FFFFFF"/>
          </a:solidFill>
          <a:ln w="1143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52560" y="2103120"/>
            <a:ext cx="2651760" cy="640080"/>
          </a:xfrm>
          <a:prstGeom prst="rect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0" y="2194560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Hiragino Sans"/>
              </a:rPr>
              <a:t>◆ 今日の行動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2971800"/>
            <a:ext cx="219456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1A1A1A"/>
                </a:solidFill>
                <a:latin typeface="Hiragino Sans"/>
              </a:rPr>
              <a:t>緊急→生命線→追客→仕込み</a:t>
            </a:r>
          </a:p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1A1A1A"/>
                </a:solidFill>
                <a:latin typeface="Hiragino Sans"/>
              </a:rPr>
              <a:t>＋営業直結比率（目標60%）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806440"/>
            <a:ext cx="11064240" cy="502920"/>
          </a:xfrm>
          <a:prstGeom prst="rect">
            <a:avLst/>
          </a:prstGeom>
          <a:solidFill>
            <a:srgbClr val="ECE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824728"/>
            <a:ext cx="10789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Hiragino Sans"/>
              </a:rPr>
              <a:t>見方：上から下に読むだけ。赤い信号（🔴守り）が出たら投資を止める、🟢なら攻めてOK。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KHD 経営操縦席  ｜  操作マニュアル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73952"/>
            <a:ext cx="457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E6E6E"/>
                </a:solidFill>
                <a:latin typeface="Hiragino Sa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VIEW 2 / 3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04_PL ＋ 05_資金繰り — 利益と現金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16736"/>
            <a:ext cx="11064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上＝利益の形（古田土）、下＝月ごとの現金の動き。1タブに上下で同居。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539496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82296" cy="38404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48256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AA2E26"/>
                </a:solidFill>
                <a:latin typeface="Hiragino Sans"/>
              </a:rPr>
              <a:t>04_損益PL（上）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49834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・売上 → 変動費 → 粗利(MQ) → 固定費 → 経常</a:t>
            </a:r>
          </a:p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・法人 / 個人事業 / 家計 / 全社の4本立て</a:t>
            </a:r>
          </a:p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・第4期決算の実科目に接地（業務委託料/接待交際費 等）</a:t>
            </a:r>
          </a:p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見るポイント：</a:t>
            </a:r>
          </a:p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  損益分岐点比率（F÷MQ）が低いほど安全</a:t>
            </a:r>
          </a:p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  → 今のKHDは原価ほぼ0のサービス業で SS級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920240"/>
            <a:ext cx="539496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920240"/>
            <a:ext cx="82296" cy="3840480"/>
          </a:xfrm>
          <a:prstGeom prst="rect">
            <a:avLst/>
          </a:prstGeom>
          <a:solidFill>
            <a:srgbClr val="2E5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048256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2E5A8C"/>
                </a:solidFill>
                <a:latin typeface="Hiragino Sans"/>
              </a:rPr>
              <a:t>05_資金繰り（下）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468880"/>
            <a:ext cx="49834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・月ごとの入金 − 出金 = 月末現金</a:t>
            </a:r>
          </a:p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・主格別（法人/個人/家計）</a:t>
            </a:r>
          </a:p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・ランウェイ＝現金があと何ヶ月もつか</a:t>
            </a:r>
          </a:p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見るポイント：</a:t>
            </a:r>
          </a:p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  最悪月（谷）の現金がプラスか</a:t>
            </a:r>
          </a:p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  → ここがマイナスなら『毎月の穴』を</a:t>
            </a:r>
          </a:p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     営業で埋めるのが生命線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KHD 経営操縦席  ｜  操作マニュアル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73952"/>
            <a:ext cx="457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E6E6E"/>
                </a:solidFill>
                <a:latin typeface="Hiragino San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RULES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色の意味 と やってはいけないこと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16736"/>
            <a:ext cx="11064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色を見れば『触っていい所』が分かる。地雷だけ踏まないように。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AA2E26"/>
                </a:solidFill>
                <a:latin typeface="Hiragino Sans"/>
              </a:rPr>
              <a:t>■ セルの色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86000"/>
            <a:ext cx="1737360" cy="640080"/>
          </a:xfrm>
          <a:prstGeom prst="rect">
            <a:avLst/>
          </a:prstGeom>
          <a:solidFill>
            <a:srgbClr val="E4F0E4"/>
          </a:solidFill>
          <a:ln w="12700">
            <a:solidFill>
              <a:srgbClr val="3B6E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17373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3B6E3B"/>
                </a:solidFill>
                <a:latin typeface="Hiragino Sans"/>
              </a:rPr>
              <a:t>🟡 黄（薄）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286000"/>
            <a:ext cx="32918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Hiragino Sans"/>
              </a:rPr>
              <a:t>あなたが入力する所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154680"/>
            <a:ext cx="1737360" cy="640080"/>
          </a:xfrm>
          <a:prstGeom prst="rect">
            <a:avLst/>
          </a:prstGeom>
          <a:solidFill>
            <a:srgbClr val="E4ECF4"/>
          </a:solidFill>
          <a:ln w="12700">
            <a:solidFill>
              <a:srgbClr val="2E5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154680"/>
            <a:ext cx="17373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2E5A8C"/>
                </a:solidFill>
                <a:latin typeface="Hiragino Sans"/>
              </a:rPr>
              <a:t>🟦 青（薄）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3154680"/>
            <a:ext cx="32918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Hiragino Sans"/>
              </a:rPr>
              <a:t>自動計算（触らない）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023360"/>
            <a:ext cx="1737360" cy="640080"/>
          </a:xfrm>
          <a:prstGeom prst="rect">
            <a:avLst/>
          </a:prstGeom>
          <a:solidFill>
            <a:srgbClr val="F4E4E2"/>
          </a:solidFill>
          <a:ln w="1270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023360"/>
            <a:ext cx="17373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AA2E26"/>
                </a:solidFill>
                <a:latin typeface="Hiragino Sans"/>
              </a:rPr>
              <a:t>🟧 金/橙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4023360"/>
            <a:ext cx="32918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Hiragino Sans"/>
              </a:rPr>
              <a:t>結論・KPIの答え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892040"/>
            <a:ext cx="1737360" cy="640080"/>
          </a:xfrm>
          <a:prstGeom prst="rect">
            <a:avLst/>
          </a:prstGeom>
          <a:solidFill>
            <a:srgbClr val="ECE8DF"/>
          </a:solidFill>
          <a:ln w="12700">
            <a:solidFill>
              <a:srgbClr val="6E6E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92040"/>
            <a:ext cx="17373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6E6E6E"/>
                </a:solidFill>
                <a:latin typeface="Hiragino Sans"/>
              </a:rPr>
              <a:t>⬜ 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4892040"/>
            <a:ext cx="32918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Hiragino Sans"/>
              </a:rPr>
              <a:t>見出し・参考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828800"/>
            <a:ext cx="5394960" cy="4023360"/>
          </a:xfrm>
          <a:prstGeom prst="rect">
            <a:avLst/>
          </a:prstGeom>
          <a:solidFill>
            <a:srgbClr val="FBEEEC"/>
          </a:solidFill>
          <a:ln w="1778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96596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AA2E26"/>
                </a:solidFill>
                <a:latin typeface="Hiragino Sans"/>
              </a:rPr>
              <a:t>🚫 やってはいけない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468880"/>
            <a:ext cx="502920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① タブ名を変えない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   → 05資金繰りの計算式 約40本が全部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     #REF! で壊れる（過去の事故）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② 青・灰のセルを書き換えない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   → 自動計算が消える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③ 行を勝手に削除/挿入しない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   → 参照がズレて #REF!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④ 触って壊れたら → Claudeに『直して』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KHD 経営操縦席  ｜  操作マニュアル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73952"/>
            <a:ext cx="457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E6E6E"/>
                </a:solidFill>
                <a:latin typeface="Hiragino San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TROUBLE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困ったとき — #REF! や #DIV/0! が出たら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16736"/>
            <a:ext cx="11064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あわてない。だいたい2手で直る。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11064240" cy="1143000"/>
          </a:xfrm>
          <a:prstGeom prst="rect">
            <a:avLst/>
          </a:prstGeom>
          <a:solidFill>
            <a:srgbClr val="FFFFFF"/>
          </a:solidFill>
          <a:ln w="1143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1005840" cy="11430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10058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Hiragino San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130552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AA2E26"/>
                </a:solidFill>
                <a:latin typeface="Hiragino Sans"/>
              </a:rPr>
              <a:t>まず Cmd + R でリロード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542032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Hiragino Sans"/>
              </a:rPr>
              <a:t>画面が古いキャッシュのことが多い。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Hiragino Sans"/>
              </a:rPr>
              <a:t>再計算されてエラーが消えれば、それで終わり。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337560"/>
            <a:ext cx="11064240" cy="1143000"/>
          </a:xfrm>
          <a:prstGeom prst="rect">
            <a:avLst/>
          </a:prstGeom>
          <a:solidFill>
            <a:srgbClr val="FFFFFF"/>
          </a:solidFill>
          <a:ln w="1143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337560"/>
            <a:ext cx="1005840" cy="1143000"/>
          </a:xfrm>
          <a:prstGeom prst="rect">
            <a:avLst/>
          </a:prstGeom>
          <a:solidFill>
            <a:srgbClr val="2E5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337560"/>
            <a:ext cx="10058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Hiragino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3456432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2E5A8C"/>
                </a:solidFill>
                <a:latin typeface="Hiragino Sans"/>
              </a:rPr>
              <a:t>消えなければ Claude に言う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3867912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Hiragino Sans"/>
              </a:rPr>
              <a:t>『#REFが出てる』『○○タブの△行』とだけ伝える。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Hiragino Sans"/>
              </a:rPr>
              <a:t>ClaudeがDriveから直接シートを読んで、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Hiragino Sans"/>
              </a:rPr>
              <a:t>壊れた参照を1本のスクリプトで直す。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663440"/>
            <a:ext cx="11064240" cy="1143000"/>
          </a:xfrm>
          <a:prstGeom prst="rect">
            <a:avLst/>
          </a:prstGeom>
          <a:solidFill>
            <a:srgbClr val="FFFFFF"/>
          </a:solidFill>
          <a:ln w="1143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663440"/>
            <a:ext cx="1005840" cy="1143000"/>
          </a:xfrm>
          <a:prstGeom prst="rect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663440"/>
            <a:ext cx="10058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Hiragino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4782312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6E6E6E"/>
                </a:solidFill>
                <a:latin typeface="Hiragino Sans"/>
              </a:rPr>
              <a:t>数字がおかしい時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5193792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Hiragino Sans"/>
              </a:rPr>
              <a:t>『○○の数字が合わない』と言えば、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Hiragino Sans"/>
              </a:rPr>
              <a:t>計算式をさかのぼって原因を特定する。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KHD 経営操縦席  ｜  操作マニュアル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6473952"/>
            <a:ext cx="457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E6E6E"/>
                </a:solidFill>
                <a:latin typeface="Hiragino San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88952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AA2E26"/>
                </a:solidFill>
                <a:latin typeface="Hiragino Sans"/>
              </a:rPr>
              <a:t>まとめ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A1A1A"/>
                </a:solidFill>
                <a:latin typeface="Hiragino Sans"/>
              </a:rPr>
              <a:t>あなたは『入力』と『報告』だけ。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2918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>
                <a:solidFill>
                  <a:srgbClr val="6E6E6E"/>
                </a:solidFill>
                <a:latin typeface="Hiragino Sans"/>
              </a:rPr>
              <a:t>数字・利益・現金の谷は、つながって勝手に動く。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0233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AA2E26"/>
                </a:solidFill>
                <a:latin typeface="Hiragino Sans"/>
              </a:rPr>
              <a:t>✓  朝＝01司令塔を見る   ／   日中＝動いたら報告   ／   夜＝『ポチッ』で振り分け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5720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1A1A1A"/>
                </a:solidFill>
                <a:latin typeface="Hiragino Sans"/>
              </a:rPr>
              <a:t>✓  迷ったら：人だけ→顧客マスター、物件絡む→作業DB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1206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1A1A1A"/>
                </a:solidFill>
                <a:latin typeface="Hiragino Sans"/>
              </a:rPr>
              <a:t>✓  壊れたら：リロード → ダメなら Claude に『直して』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6692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1A1A1A"/>
                </a:solidFill>
                <a:latin typeface="Hiragino Sans"/>
              </a:rPr>
              <a:t>✓  タブ名は変えない（40本の式が飛ぶ）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KHD 経営操縦席  ｜  操作マニュアル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73952"/>
            <a:ext cx="457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E6E6E"/>
                </a:solidFill>
                <a:latin typeface="Hiragino Sans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
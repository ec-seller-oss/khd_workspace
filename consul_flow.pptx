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50292" cy="5943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0876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A1A1A"/>
                </a:solidFill>
                <a:latin typeface="Hiragino Sans"/>
              </a:rPr>
              <a:t>受注〜納品の「流れ」</a:t>
            </a:r>
          </a:p>
          <a:p>
            <a:pPr algn="l">
              <a:lnSpc>
                <a:spcPct val="112000"/>
              </a:lnSpc>
            </a:pPr>
            <a:r>
              <a:rPr sz="2600" b="1">
                <a:solidFill>
                  <a:srgbClr val="1A1A1A"/>
                </a:solidFill>
                <a:latin typeface="Hiragino Sans"/>
              </a:rPr>
              <a:t>── 菊池が、自分で提案できる型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747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E6E6E"/>
                </a:solidFill>
                <a:latin typeface="Hiragino Sans"/>
              </a:rPr>
              <a:t>技術（宮崎）に頼らず、コンサルの“流れ”は菊池が握る。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206240"/>
            <a:ext cx="91440" cy="10972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10058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信頼づくり→診断→GO→契約→ベースライン→導入→測定→横展開。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流れを型にすれば、福井さんの紹介に頼らず、誰相手でも自分で受注できる。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463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AI医療コンサル 受注〜納品の流れ（菊池の型）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コンサルの流れ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受注〜納品の6フェーズ（主語は菊池）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技術は宮崎が一部支えるが、関係・診断・握りの主役は菊池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621024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6210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93392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C241D"/>
                </a:solidFill>
                <a:latin typeface="Hiragino Sans"/>
              </a:rPr>
              <a:t>P0 事前準備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487168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課題仮説・競合分析（手土産を作る）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6824" y="1828800"/>
            <a:ext cx="3621024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828800"/>
            <a:ext cx="36210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93392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C241D"/>
                </a:solidFill>
                <a:latin typeface="Hiragino Sans"/>
              </a:rPr>
              <a:t>P1 ヒアリング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87168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まず聞く＋ベースライン取得（課金根拠）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0728" y="1828800"/>
            <a:ext cx="3621024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0728" y="1828800"/>
            <a:ext cx="36210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993392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C241D"/>
                </a:solidFill>
                <a:latin typeface="Hiragino Sans"/>
              </a:rPr>
              <a:t>P2 無料診断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487168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削減シミュ報告書をGIVE（信頼づくり）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20440"/>
            <a:ext cx="3621024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20440"/>
            <a:ext cx="36210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685032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C241D"/>
                </a:solidFill>
                <a:latin typeface="Hiragino Sans"/>
              </a:rPr>
              <a:t>P3 導入・伴走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178808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段階導入（まず問診）＋3ヶ月伴走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06824" y="3520440"/>
            <a:ext cx="3621024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06824" y="3520440"/>
            <a:ext cx="36210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3685032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C241D"/>
                </a:solidFill>
                <a:latin typeface="Hiragino Sans"/>
              </a:rPr>
              <a:t>P4 効果測定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178808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測定は菊池が巻き取る（院の手間最小）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0728" y="3520440"/>
            <a:ext cx="3621024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0728" y="3520440"/>
            <a:ext cx="36210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3685032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C241D"/>
                </a:solidFill>
                <a:latin typeface="Hiragino Sans"/>
              </a:rPr>
              <a:t>P5 横展開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4178808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成功事例→承継・テナント・不動産へ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949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→ 流れが型になっていれば、相手が変わっても菊池が自分で回せる。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463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AI医療コンサル 受注〜納品の流れ（菊池の型）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なぜ今回の流れはうまいか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比較：従来（福井紹介型） × ありがちな失敗 × 今回の設計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赤＝今回の設計の強み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45920"/>
          <a:ext cx="1118311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3017520"/>
                <a:gridCol w="2743200"/>
                <a:gridCol w="3959352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Hiragino Sans"/>
                        </a:rPr>
                        <a:t>論点</a:t>
                      </a:r>
                    </a:p>
                  </a:txBody>
                  <a:tcPr anchor="ctr" marL="64008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Hiragino Sans"/>
                        </a:rPr>
                        <a:t>従来（福井紹介ルート）</a:t>
                      </a:r>
                    </a:p>
                  </a:txBody>
                  <a:tcPr anchor="ctr" marL="64008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Hiragino Sans"/>
                        </a:rPr>
                        <a:t>ありがちな失敗</a:t>
                      </a:r>
                    </a:p>
                  </a:txBody>
                  <a:tcPr anchor="ctr" marL="64008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Hiragino Sans"/>
                        </a:rPr>
                        <a:t>今回の設計（強み）</a:t>
                      </a:r>
                    </a:p>
                  </a:txBody>
                  <a:tcPr anchor="ctr" marL="64008" marR="45720" marT="18288" marB="18288">
                    <a:solidFill>
                      <a:srgbClr val="0F6E5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入口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紹介待ち・受け身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来なければ止まる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GIVE先行・実物0円で能動的に入る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主導権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福井が顔・菊池は実務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握りを人任せ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先生軸で菊池が握る(YES/日程/契約)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売り方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売り込み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押し売りで信頼喪失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売り込まずGIVE→信頼の対価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価格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不透明・固定費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効果0でも固定費で揉める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成果報酬40%＝効果0なら0円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課金根拠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曖昧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ベースライン無く請求不能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訪問で必ず取得＋測定ルール合意書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現場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経営者だけ説得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事務の抵抗で潰れる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段階導入＋現場を味方化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出口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単発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1件で終わる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信頼→承継・テナント・不動産へ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463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AI医療コンサル 受注〜納品の流れ（菊池の型）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動線設計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相手の動き × 菊池の動き（誰が主導か）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赤＝菊池が主導。技術(宮崎)は一部の支え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45920"/>
          <a:ext cx="1118311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017520"/>
                <a:gridCol w="4114800"/>
                <a:gridCol w="2221992"/>
              </a:tblGrid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Hiragino Sans"/>
                        </a:rPr>
                        <a:t>ステップ</a:t>
                      </a:r>
                    </a:p>
                  </a:txBody>
                  <a:tcPr anchor="ctr" marL="64008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Hiragino Sans"/>
                        </a:rPr>
                        <a:t>相手（先生/院）</a:t>
                      </a:r>
                    </a:p>
                  </a:txBody>
                  <a:tcPr anchor="ctr" marL="64008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Hiragino Sans"/>
                        </a:rPr>
                        <a:t>菊池（主導）</a:t>
                      </a:r>
                    </a:p>
                  </a:txBody>
                  <a:tcPr anchor="ctr" marL="64008" marR="45720" marT="18288" marB="18288"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Hiragino Sans"/>
                        </a:rPr>
                        <a:t>宮崎（支え）</a:t>
                      </a:r>
                    </a:p>
                  </a:txBody>
                  <a:tcPr anchor="ctr" marL="64008" marR="45720" marT="18288" marB="18288">
                    <a:solidFill>
                      <a:srgbClr val="AA2E2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信頼づくり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GIVEを受ける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実物0円を見せる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ヒアリング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課題を話す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聞く＋ベースライン取得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無料診断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報告書を見る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削減シミュをGIVE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デモ→GO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実物を触る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YESを取りに行く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技術デモ補助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契約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条件を決裁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成果報酬40%で握る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導入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運用を承認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段階導入を主導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実装の一部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効果測定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協力（最小）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測定を巻き取る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Hiragino Sans"/>
                        </a:rPr>
                        <a:t>横展開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紹介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6E56"/>
                          </a:solidFill>
                          <a:latin typeface="Hiragino Sans"/>
                        </a:rPr>
                        <a:t>承継/不動産へ接続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463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AI医療コンサル 受注〜納品の流れ（菊池の型）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設計の根拠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想定される失敗 → どう潰すか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過去の失敗（天野/細井=売り込み、サボり場所=人任せ）を設計で封じる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45920"/>
          <a:ext cx="1118311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6611112"/>
              </a:tblGrid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想定される失敗</a:t>
                      </a:r>
                    </a:p>
                  </a:txBody>
                  <a:tcPr anchor="ctr" marL="64008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今回の打ち手（設計の根拠）</a:t>
                      </a:r>
                    </a:p>
                  </a:txBody>
                  <a:tcPr anchor="ctr" marL="64008" marR="45720" marT="18288" marB="18288">
                    <a:solidFill>
                      <a:srgbClr val="0F6E5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紹介待ちで止まる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GIVE先行・実物0円で能動的に入る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売り込みで信頼を失う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売り込まずGIVE→信頼の対価（中核信条）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クロージング・日程を人任せ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先生軸で菊池が握る（サボり場所の矯正）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ベースライン取らず請求不能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訪問で必ず取得＋測定ルール合意書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効果出ず固定費で揉める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成果報酬40%＝効果0なら0円（院リスク0）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事務の抵抗で潰れる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段階導入（まず問診）＋現場を味方化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技術が分からず主導できない</a:t>
                      </a:r>
                    </a:p>
                  </a:txBody>
                  <a:tcPr anchor="ctr" marL="64008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流れは菊池が型で握る／技術は宮崎が支える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1案件で終わる</a:t>
                      </a:r>
                    </a:p>
                  </a:txBody>
                  <a:tcPr anchor="ctr" marL="64008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信頼→承継・テナント・不動産へLTV接続</a:t>
                      </a:r>
                    </a:p>
                  </a:txBody>
                  <a:tcPr anchor="ctr" marL="64008" marR="45720" marT="18288" marB="18288"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463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AI医療コンサル 受注〜納品の流れ（菊池の型）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宮崎頼りからの脱却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菊池が握る／宮崎が支える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コンサルの流れは菊池の型。技術は借りればいい。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00" cy="2834640"/>
          </a:xfrm>
          <a:prstGeom prst="rect">
            <a:avLst/>
          </a:prstGeom>
          <a:solidFill>
            <a:srgbClr val="F4E4E2"/>
          </a:solidFill>
          <a:ln w="1270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486400" cy="5029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83664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菊池が握る（主役）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6888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・関係づくり／課題ヒアリング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・診断の提示（削減シミュ）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・GO取り（YES）／契約の握り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・ベースライン取得・測定の段取り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・横展開（承継・不動産へ）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828800"/>
            <a:ext cx="5486400" cy="2834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828800"/>
            <a:ext cx="5486400" cy="50292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883664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宮崎が支える（裏方）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46888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・技術デモ（Stream Deck）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・実装の一部・設定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・ベンダー検証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＝技術は借り物でよい。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流れの主導は菊池。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92040"/>
            <a:ext cx="11183112" cy="960120"/>
          </a:xfrm>
          <a:prstGeom prst="rect">
            <a:avLst/>
          </a:prstGeom>
          <a:solidFill>
            <a:srgbClr val="E1F5EE"/>
          </a:solidFill>
          <a:ln w="1524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892040"/>
            <a:ext cx="91440" cy="9601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892040"/>
            <a:ext cx="10789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6E56"/>
                </a:solidFill>
                <a:latin typeface="Hiragino Sans"/>
              </a:rPr>
              <a:t>この流れの強さ＝①リスク0で信頼を取る（成果報酬・GIVE）②菊池が主導（人任せにしない）③単発でなくLTV（承継・不動産へ）。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
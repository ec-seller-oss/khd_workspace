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82296" cy="2286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KHD REAL ESTATE — SALES ROUTINE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営業ルーティン ＆ 物件フォルダDB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03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AA2E26"/>
                </a:solidFill>
                <a:latin typeface="Hiragino Sans"/>
              </a:rPr>
              <a:t>新規獲得 → 追客 → 査定 → 銀行上申。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E6E6E"/>
                </a:solidFill>
                <a:latin typeface="Hiragino Sans"/>
              </a:rPr>
              <a:t>次に何をやるか、人に聞かず見える化する1枚。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212080"/>
            <a:ext cx="7315200" cy="1905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349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6E6E"/>
                </a:solidFill>
                <a:latin typeface="Hiragino Sans"/>
              </a:rPr>
              <a:t>KHD 不動産業（買取再販・バイセル式TTP）  ｜  2026-06-04  ｜  現状版・都度更新して育てる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WHOLE FLOW — 全体動線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物件1件のライフサイクル ＝ フォルダ番号が、そのまま作業順序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物件ごとにDB番号を振り、中に 01〜08 の標準箱を置く。番号順に進めれば「今どこ・次に何」が分かる。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26700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12264"/>
            <a:ext cx="2670048" cy="107899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01_概要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Hiragino Sans"/>
              </a:rPr>
              <a:t>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物件情報・マイソク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057400"/>
            <a:ext cx="26700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112264"/>
            <a:ext cx="2670048" cy="1078992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17627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02_査定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51460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Hiragino Sans"/>
              </a:rPr>
              <a:t>査定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88920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収支入力・ざっと査定 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057400"/>
            <a:ext cx="26700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112264"/>
            <a:ext cx="2670048" cy="1078992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17627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03_銀行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51460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Hiragino Sans"/>
              </a:rPr>
              <a:t>銀行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788920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上申書・送付状で打診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2057400"/>
            <a:ext cx="26700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2112264"/>
            <a:ext cx="2670048" cy="107899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17627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04_仲介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51460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Hiragino Sans"/>
              </a:rPr>
              <a:t>仲介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788920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客付け・媒介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74720"/>
            <a:ext cx="26700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529584"/>
            <a:ext cx="2670048" cy="107899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59359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05_工事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93192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Hiragino Sans"/>
              </a:rPr>
              <a:t>工事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06240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解体・リフォーム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474720"/>
            <a:ext cx="26700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3529584"/>
            <a:ext cx="2670048" cy="107899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59359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06_領収書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93192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Hiragino Sans"/>
              </a:rPr>
              <a:t>領収書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206240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経費・精算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474720"/>
            <a:ext cx="26700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529584"/>
            <a:ext cx="2670048" cy="107899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59359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07_保有中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93192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Hiragino Sans"/>
              </a:rPr>
              <a:t>保有中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206240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賃貸管理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400" y="3474720"/>
            <a:ext cx="26700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15400" y="3529584"/>
            <a:ext cx="2670048" cy="1078992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359359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08_売却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3931920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1A1A1A"/>
                </a:solidFill>
                <a:latin typeface="Hiragino Sans"/>
              </a:rPr>
              <a:t>売却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4206240"/>
            <a:ext cx="2578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決済・出口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120640"/>
            <a:ext cx="11091672" cy="64008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23036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★ 02 査定 → 03 銀行上申 までが「最速営業のやること」。まずここを最短で回す。細かい落とし穴は後工程で潰す。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不動産業 ｜ 営業ルーティン＆物件フォルダDB ｜ まず見る1枚（都度更新）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FOLDER DB — 物件フォルダの作り方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DB番号を振って、過去案件も“人に聞かず”見える化する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6766560" cy="877824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64008" cy="87782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6712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AA2E26"/>
                </a:solidFill>
                <a:latin typeface="Hiragino Sans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8483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物件に DB番号 を振る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41448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例：277_高松2丁目。番号＝物件の背番号。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90088"/>
            <a:ext cx="6766560" cy="877824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90088"/>
            <a:ext cx="64008" cy="87782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191256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AA2E26"/>
                </a:solidFill>
                <a:latin typeface="Hiragino Sans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標準箱 01〜08 をコピー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65576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空の標準フォルダを物件名の中に置く。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14216"/>
            <a:ext cx="6766560" cy="877824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14216"/>
            <a:ext cx="64008" cy="87782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21538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AA2E26"/>
                </a:solidFill>
                <a:latin typeface="Hiragino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3308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番号順に作業を進める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89704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今どこ・次に何をやるかが一目で分かる。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38344"/>
            <a:ext cx="6766560" cy="877824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038344"/>
            <a:ext cx="64008" cy="87782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23951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AA2E26"/>
                </a:solidFill>
                <a:latin typeface="Hiragino Sans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57216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過去案件も同じ型に揃える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13832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資料から自分で遡れる＝属人化を防ぐ。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589520" y="1965960"/>
          <a:ext cx="402336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3774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命名ルール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例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物件フォルダ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DB番号_物件名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　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277_高松2丁目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中の標準箱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01_概要〜08_売却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銀行雛形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送付状.docx を流用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589520" y="452628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6E6E"/>
                </a:solidFill>
                <a:latin typeface="Hiragino Sans"/>
              </a:rPr>
              <a:t>※ この型に揃えるほど、誰でも・自分の過去案件からでも次の一手が見える。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不動産業 ｜ 営業ルーティン＆物件フォルダDB ｜ まず見る1枚（都度更新）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STEP ① 拾う（仕入）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業者架電で物件を引く ── 数のゲーム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格納先＝01_概要。物件が出たら情報・マイソクをここへ。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642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92354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項目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やること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やること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架電リスト上から電話 → 訳アリ・築古・相続・空き家を聞く → 住所/価格/概要をメモ → 査定キューへ渡す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格納先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01_概要 に物件情報・マイソクを入れる（ここが起点）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KPI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1日のコール数 ／ 紹介獲得数（数を最優先）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狙う物件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戸建・相続・空き家（土地のみは架電に不向き）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禁止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押し売り・長文・嘘の緊急性。『また情報を回したい』と思われる関係づくりが最優先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不動産業 ｜ 営業ルーティン＆物件フォルダDB ｜ まず見る1枚（都度更新）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STEP ② 査る（査定）── 最速営業のコア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収支入力 → ざっと査定 → 銀行上申 を最短で回す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429000" cy="640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34290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02_査定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収支シートに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住所・面積・想定価格を入力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3774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011680"/>
            <a:ext cx="3429000" cy="640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075688"/>
            <a:ext cx="34290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1945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ざっと査定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06040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土地値割合0.4以上 ＆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粗利率20%以上か即判定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3774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429000" cy="640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75688"/>
            <a:ext cx="342900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03_銀行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606040"/>
            <a:ext cx="3429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上申書＋送付状で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銀行/ノンバンクへ打診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3749039"/>
          <a:ext cx="1106424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8961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判断基準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ライン／メモ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土地値割合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0.4以上（路線価×面積÷購入価格）＝担保の安全圏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粗利率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20%以上（出口価格から逆算）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再建築可否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必ず確認。不可なら無尽で買い→出口は三井トラストL&amp;F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融資先(自社)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実績ゼロは地銀・信金PJ当面不可。物件担保系ノンバンク＝日本住宅無尽/全宅ファイナンス/アサックス/SBIエステート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不動産業 ｜ 営業ルーティン＆物件フォルダDB ｜ まず見る1枚（都度更新）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STEP ③ 出す（客付け・追客）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実需=仲介 / 投資家=ツクビト。追客は“型”で回す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642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905256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観点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やること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勝ち筋3つ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① 速度（反響60分以内接触）② LINE登録（追客の生命線）③ 悩みの魔法質問『前の部屋で困ったことは？』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使うシート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追客管理シート(BtoC)で温度管理 ＋ トップセールス分析(羽鳥/野仲)の型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羽鳥の型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商品を先に出さない／お願い感を出さない／質問で話させる（営業＝恋愛）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中核信条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売り込まない。相手目線でGIVE、信頼の対価で収益化（信頼が先・収益は結果）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不動産業 ｜ 営業ルーティン＆物件フォルダDB ｜ まず見る1枚（都度更新）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STEP ④+ 買う〜売る ／ 落とし穴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04仲介 → 05工事 → 06領収書 → 07保有 → 08売却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960120" cy="56692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75688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04_仲介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93392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7632" y="1965960"/>
            <a:ext cx="960120" cy="56692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2075688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05_工事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993392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1965960"/>
            <a:ext cx="960120" cy="56692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2075688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06_領収書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93392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5616" y="1965960"/>
            <a:ext cx="960120" cy="56692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6" y="2075688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07_保有中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993392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64608" y="1965960"/>
            <a:ext cx="960120" cy="56692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2075688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1A1A1A"/>
                </a:solidFill>
                <a:latin typeface="Hiragino Sans"/>
              </a:rPr>
              <a:t>08_売却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⚠ 落とし穴（先に潰す）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246120"/>
          <a:ext cx="1106424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686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項目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確認ポイント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再建築可否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不可は出口が限定。無尽で買い→三井トラストL&amp;F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接道・越境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接道2m以上。越境・残置・地中埋設物を現地で確認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契約条文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05特約条文を契約に必ず入れる（瑕疵・残置・解体）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出口の二択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実需=一般仲介（高値）／投資家=ツクビト（速い）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不動産業 ｜ 営業ルーティン＆物件フォルダDB ｜ まず見る1枚（都度更新）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82296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UPDATE RULE — 育てるマニュアル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Hiragino Sans"/>
              </a:rPr>
              <a:t>このマニュアルは“未完成”。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91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落とし穴・勝ち筋は、箱とスプシに追記して育てる。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気づいた落とし穴・型は、物件フォルダ(01-08)と営業ハブスプシの『自社ルール欄』に都度追記。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人に聞かずとも次にやることが見える状態を、全員で更新し続ける。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349240"/>
            <a:ext cx="7315200" cy="1905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486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6E6E"/>
                </a:solidFill>
                <a:latin typeface="Hiragino Sans"/>
              </a:rPr>
              <a:t>KHD 不動産業 ｜ 営業ルーティン＆物件フォルダDB ｜ 2026-06-04（現状版）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
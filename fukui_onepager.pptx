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7562088" cy="10689336"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6EF"/>
        </a:solidFill>
        <a:effectLst/>
      </p:bgPr>
    </p:bg>
    <p:spTree>
      <p:nvGrpSpPr>
        <p:cNvPr id="1" name=""/>
        <p:cNvGrpSpPr/>
        <p:nvPr/>
      </p:nvGrpSpPr>
      <p:grpSpPr/>
      <p:sp>
        <p:nvSpPr>
          <p:cNvPr id="2" name="Rectangle 1"/>
          <p:cNvSpPr/>
          <p:nvPr/>
        </p:nvSpPr>
        <p:spPr>
          <a:xfrm>
            <a:off x="457200" y="457200"/>
            <a:ext cx="50800" cy="868680"/>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6583680" cy="548640"/>
          </a:xfrm>
          <a:prstGeom prst="rect">
            <a:avLst/>
          </a:prstGeom>
          <a:noFill/>
        </p:spPr>
        <p:txBody>
          <a:bodyPr wrap="square" anchor="t">
            <a:spAutoFit/>
          </a:bodyPr>
          <a:lstStyle/>
          <a:p>
            <a:pPr algn="l">
              <a:lnSpc>
                <a:spcPct val="125000"/>
              </a:lnSpc>
            </a:pPr>
            <a:r>
              <a:rPr sz="2100" b="1">
                <a:solidFill>
                  <a:srgbClr val="1A1A1A"/>
                </a:solidFill>
                <a:latin typeface="Hiragino Sans"/>
              </a:rPr>
              <a:t>公式LINE ― 運用で大切にしたいこと</a:t>
            </a:r>
          </a:p>
        </p:txBody>
      </p:sp>
      <p:sp>
        <p:nvSpPr>
          <p:cNvPr id="4" name="TextBox 3"/>
          <p:cNvSpPr txBox="1"/>
          <p:nvPr/>
        </p:nvSpPr>
        <p:spPr>
          <a:xfrm>
            <a:off x="658368" y="1024128"/>
            <a:ext cx="6583680" cy="320040"/>
          </a:xfrm>
          <a:prstGeom prst="rect">
            <a:avLst/>
          </a:prstGeom>
          <a:noFill/>
        </p:spPr>
        <p:txBody>
          <a:bodyPr wrap="square" anchor="t">
            <a:spAutoFit/>
          </a:bodyPr>
          <a:lstStyle/>
          <a:p>
            <a:pPr algn="l">
              <a:lnSpc>
                <a:spcPct val="125000"/>
              </a:lnSpc>
            </a:pPr>
            <a:r>
              <a:rPr sz="1300" b="1">
                <a:solidFill>
                  <a:srgbClr val="AA2E26"/>
                </a:solidFill>
                <a:latin typeface="Hiragino Sans"/>
              </a:rPr>
              <a:t>京橋クリニックの皆さまへ</a:t>
            </a:r>
          </a:p>
        </p:txBody>
      </p:sp>
      <p:sp>
        <p:nvSpPr>
          <p:cNvPr id="5" name="TextBox 4"/>
          <p:cNvSpPr txBox="1"/>
          <p:nvPr/>
        </p:nvSpPr>
        <p:spPr>
          <a:xfrm>
            <a:off x="566928" y="1481328"/>
            <a:ext cx="6428232" cy="914400"/>
          </a:xfrm>
          <a:prstGeom prst="rect">
            <a:avLst/>
          </a:prstGeom>
          <a:noFill/>
        </p:spPr>
        <p:txBody>
          <a:bodyPr wrap="square" anchor="t">
            <a:spAutoFit/>
          </a:bodyPr>
          <a:lstStyle/>
          <a:p>
            <a:pPr algn="l">
              <a:lnSpc>
                <a:spcPct val="135000"/>
              </a:lnSpc>
            </a:pPr>
            <a:r>
              <a:rPr sz="1300" b="0">
                <a:solidFill>
                  <a:srgbClr val="5A5A5A"/>
                </a:solidFill>
                <a:latin typeface="Hiragino Sans"/>
              </a:rPr>
              <a:t>このたび、患者さんからのお問い合わせや受付のご負担を少しでも軽くするために、京橋クリニックさんの公式LINEを準備いたしました。スタッフの皆さまに安心してお使いいただけるよう、運用で大切にしたい点を一枚にまとめました。</a:t>
            </a:r>
          </a:p>
        </p:txBody>
      </p:sp>
      <p:sp>
        <p:nvSpPr>
          <p:cNvPr id="6" name="Rectangle 5"/>
          <p:cNvSpPr/>
          <p:nvPr/>
        </p:nvSpPr>
        <p:spPr>
          <a:xfrm>
            <a:off x="566928" y="2468880"/>
            <a:ext cx="6428232" cy="1051560"/>
          </a:xfrm>
          <a:prstGeom prst="rect">
            <a:avLst/>
          </a:prstGeom>
          <a:solidFill>
            <a:srgbClr val="F1ECE1"/>
          </a:solidFill>
          <a:ln w="12700">
            <a:solidFill>
              <a:srgbClr val="E1DA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2468880"/>
            <a:ext cx="91440" cy="1051560"/>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651760"/>
            <a:ext cx="457200" cy="457200"/>
          </a:xfrm>
          <a:prstGeom prst="ellipse">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651760"/>
            <a:ext cx="457200" cy="457200"/>
          </a:xfrm>
          <a:prstGeom prst="rect">
            <a:avLst/>
          </a:prstGeom>
          <a:noFill/>
        </p:spPr>
        <p:txBody>
          <a:bodyPr wrap="square" anchor="ctr">
            <a:spAutoFit/>
          </a:bodyPr>
          <a:lstStyle/>
          <a:p>
            <a:pPr algn="ctr">
              <a:lnSpc>
                <a:spcPct val="125000"/>
              </a:lnSpc>
            </a:pPr>
            <a:r>
              <a:rPr sz="1500" b="1">
                <a:solidFill>
                  <a:srgbClr val="FFFFFF"/>
                </a:solidFill>
                <a:latin typeface="Hiragino Sans"/>
              </a:rPr>
              <a:t>1</a:t>
            </a:r>
          </a:p>
        </p:txBody>
      </p:sp>
      <p:sp>
        <p:nvSpPr>
          <p:cNvPr id="10" name="TextBox 9"/>
          <p:cNvSpPr txBox="1"/>
          <p:nvPr/>
        </p:nvSpPr>
        <p:spPr>
          <a:xfrm>
            <a:off x="1435608" y="2596896"/>
            <a:ext cx="5422392" cy="365760"/>
          </a:xfrm>
          <a:prstGeom prst="rect">
            <a:avLst/>
          </a:prstGeom>
          <a:noFill/>
        </p:spPr>
        <p:txBody>
          <a:bodyPr wrap="square" anchor="t">
            <a:spAutoFit/>
          </a:bodyPr>
          <a:lstStyle/>
          <a:p>
            <a:pPr algn="l">
              <a:lnSpc>
                <a:spcPct val="125000"/>
              </a:lnSpc>
            </a:pPr>
            <a:r>
              <a:rPr sz="1400" b="1">
                <a:solidFill>
                  <a:srgbClr val="8C241D"/>
                </a:solidFill>
                <a:latin typeface="Hiragino Sans"/>
              </a:rPr>
              <a:t>スタッフの仕事を置きかえるものではありません</a:t>
            </a:r>
          </a:p>
        </p:txBody>
      </p:sp>
      <p:sp>
        <p:nvSpPr>
          <p:cNvPr id="11" name="TextBox 10"/>
          <p:cNvSpPr txBox="1"/>
          <p:nvPr/>
        </p:nvSpPr>
        <p:spPr>
          <a:xfrm>
            <a:off x="1453896" y="2944368"/>
            <a:ext cx="5330952" cy="548640"/>
          </a:xfrm>
          <a:prstGeom prst="rect">
            <a:avLst/>
          </a:prstGeom>
          <a:noFill/>
        </p:spPr>
        <p:txBody>
          <a:bodyPr wrap="square" anchor="t">
            <a:spAutoFit/>
          </a:bodyPr>
          <a:lstStyle/>
          <a:p>
            <a:pPr algn="l">
              <a:lnSpc>
                <a:spcPct val="122000"/>
              </a:lnSpc>
            </a:pPr>
            <a:r>
              <a:rPr sz="1150" b="0">
                <a:solidFill>
                  <a:srgbClr val="1A1A1A"/>
                </a:solidFill>
                <a:latin typeface="Hiragino Sans"/>
              </a:rPr>
              <a:t>LINEは「受付の代わり」ではなく、面倒な一次対応を引き受ける“助手”です。皆さまが患者さんに向き合う時間を増やすための道具としてお使いください。</a:t>
            </a:r>
          </a:p>
        </p:txBody>
      </p:sp>
      <p:sp>
        <p:nvSpPr>
          <p:cNvPr id="12" name="Rectangle 11"/>
          <p:cNvSpPr/>
          <p:nvPr/>
        </p:nvSpPr>
        <p:spPr>
          <a:xfrm>
            <a:off x="566928" y="3630168"/>
            <a:ext cx="6428232" cy="1051560"/>
          </a:xfrm>
          <a:prstGeom prst="rect">
            <a:avLst/>
          </a:prstGeom>
          <a:solidFill>
            <a:srgbClr val="F1ECE1"/>
          </a:solidFill>
          <a:ln w="12700">
            <a:solidFill>
              <a:srgbClr val="E1DA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66928" y="3630168"/>
            <a:ext cx="91440" cy="1051560"/>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22960" y="3813048"/>
            <a:ext cx="457200" cy="457200"/>
          </a:xfrm>
          <a:prstGeom prst="ellipse">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3813048"/>
            <a:ext cx="457200" cy="457200"/>
          </a:xfrm>
          <a:prstGeom prst="rect">
            <a:avLst/>
          </a:prstGeom>
          <a:noFill/>
        </p:spPr>
        <p:txBody>
          <a:bodyPr wrap="square" anchor="ctr">
            <a:spAutoFit/>
          </a:bodyPr>
          <a:lstStyle/>
          <a:p>
            <a:pPr algn="ctr">
              <a:lnSpc>
                <a:spcPct val="125000"/>
              </a:lnSpc>
            </a:pPr>
            <a:r>
              <a:rPr sz="1500" b="1">
                <a:solidFill>
                  <a:srgbClr val="FFFFFF"/>
                </a:solidFill>
                <a:latin typeface="Hiragino Sans"/>
              </a:rPr>
              <a:t>2</a:t>
            </a:r>
          </a:p>
        </p:txBody>
      </p:sp>
      <p:sp>
        <p:nvSpPr>
          <p:cNvPr id="16" name="TextBox 15"/>
          <p:cNvSpPr txBox="1"/>
          <p:nvPr/>
        </p:nvSpPr>
        <p:spPr>
          <a:xfrm>
            <a:off x="1435608" y="3758184"/>
            <a:ext cx="5422392" cy="365760"/>
          </a:xfrm>
          <a:prstGeom prst="rect">
            <a:avLst/>
          </a:prstGeom>
          <a:noFill/>
        </p:spPr>
        <p:txBody>
          <a:bodyPr wrap="square" anchor="t">
            <a:spAutoFit/>
          </a:bodyPr>
          <a:lstStyle/>
          <a:p>
            <a:pPr algn="l">
              <a:lnSpc>
                <a:spcPct val="125000"/>
              </a:lnSpc>
            </a:pPr>
            <a:r>
              <a:rPr sz="1400" b="1">
                <a:solidFill>
                  <a:srgbClr val="8C241D"/>
                </a:solidFill>
                <a:latin typeface="Hiragino Sans"/>
              </a:rPr>
              <a:t>お薬や症状のご相談は、必ず人がお答えします</a:t>
            </a:r>
          </a:p>
        </p:txBody>
      </p:sp>
      <p:sp>
        <p:nvSpPr>
          <p:cNvPr id="17" name="TextBox 16"/>
          <p:cNvSpPr txBox="1"/>
          <p:nvPr/>
        </p:nvSpPr>
        <p:spPr>
          <a:xfrm>
            <a:off x="1453896" y="4105656"/>
            <a:ext cx="5330952" cy="548640"/>
          </a:xfrm>
          <a:prstGeom prst="rect">
            <a:avLst/>
          </a:prstGeom>
          <a:noFill/>
        </p:spPr>
        <p:txBody>
          <a:bodyPr wrap="square" anchor="t">
            <a:spAutoFit/>
          </a:bodyPr>
          <a:lstStyle/>
          <a:p>
            <a:pPr algn="l">
              <a:lnSpc>
                <a:spcPct val="122000"/>
              </a:lnSpc>
            </a:pPr>
            <a:r>
              <a:rPr sz="1150" b="0">
                <a:solidFill>
                  <a:srgbClr val="1A1A1A"/>
                </a:solidFill>
                <a:latin typeface="Hiragino Sans"/>
              </a:rPr>
              <a:t>むずかしいご質問には自動で答えないようにしています。「お電話・受付でご案内します」とお伝えする設計です。医療の判断は、これまでどおり先生とスタッフが行います。</a:t>
            </a:r>
          </a:p>
        </p:txBody>
      </p:sp>
      <p:sp>
        <p:nvSpPr>
          <p:cNvPr id="18" name="Rectangle 17"/>
          <p:cNvSpPr/>
          <p:nvPr/>
        </p:nvSpPr>
        <p:spPr>
          <a:xfrm>
            <a:off x="566928" y="4791456"/>
            <a:ext cx="6428232" cy="1051560"/>
          </a:xfrm>
          <a:prstGeom prst="rect">
            <a:avLst/>
          </a:prstGeom>
          <a:solidFill>
            <a:srgbClr val="F1ECE1"/>
          </a:solidFill>
          <a:ln w="12700">
            <a:solidFill>
              <a:srgbClr val="E1DA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66928" y="4791456"/>
            <a:ext cx="91440" cy="1051560"/>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22960" y="4974336"/>
            <a:ext cx="457200" cy="457200"/>
          </a:xfrm>
          <a:prstGeom prst="ellipse">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4974336"/>
            <a:ext cx="457200" cy="457200"/>
          </a:xfrm>
          <a:prstGeom prst="rect">
            <a:avLst/>
          </a:prstGeom>
          <a:noFill/>
        </p:spPr>
        <p:txBody>
          <a:bodyPr wrap="square" anchor="ctr">
            <a:spAutoFit/>
          </a:bodyPr>
          <a:lstStyle/>
          <a:p>
            <a:pPr algn="ctr">
              <a:lnSpc>
                <a:spcPct val="125000"/>
              </a:lnSpc>
            </a:pPr>
            <a:r>
              <a:rPr sz="1500" b="1">
                <a:solidFill>
                  <a:srgbClr val="FFFFFF"/>
                </a:solidFill>
                <a:latin typeface="Hiragino Sans"/>
              </a:rPr>
              <a:t>3</a:t>
            </a:r>
          </a:p>
        </p:txBody>
      </p:sp>
      <p:sp>
        <p:nvSpPr>
          <p:cNvPr id="22" name="TextBox 21"/>
          <p:cNvSpPr txBox="1"/>
          <p:nvPr/>
        </p:nvSpPr>
        <p:spPr>
          <a:xfrm>
            <a:off x="1435608" y="4919472"/>
            <a:ext cx="5422392" cy="365760"/>
          </a:xfrm>
          <a:prstGeom prst="rect">
            <a:avLst/>
          </a:prstGeom>
          <a:noFill/>
        </p:spPr>
        <p:txBody>
          <a:bodyPr wrap="square" anchor="t">
            <a:spAutoFit/>
          </a:bodyPr>
          <a:lstStyle/>
          <a:p>
            <a:pPr algn="l">
              <a:lnSpc>
                <a:spcPct val="125000"/>
              </a:lnSpc>
            </a:pPr>
            <a:r>
              <a:rPr sz="1400" b="1">
                <a:solidFill>
                  <a:srgbClr val="8C241D"/>
                </a:solidFill>
                <a:latin typeface="Hiragino Sans"/>
              </a:rPr>
              <a:t>患者さんの個人情報は、これまでどおり大切に</a:t>
            </a:r>
          </a:p>
        </p:txBody>
      </p:sp>
      <p:sp>
        <p:nvSpPr>
          <p:cNvPr id="23" name="TextBox 22"/>
          <p:cNvSpPr txBox="1"/>
          <p:nvPr/>
        </p:nvSpPr>
        <p:spPr>
          <a:xfrm>
            <a:off x="1453896" y="5266944"/>
            <a:ext cx="5330952" cy="548640"/>
          </a:xfrm>
          <a:prstGeom prst="rect">
            <a:avLst/>
          </a:prstGeom>
          <a:noFill/>
        </p:spPr>
        <p:txBody>
          <a:bodyPr wrap="square" anchor="t">
            <a:spAutoFit/>
          </a:bodyPr>
          <a:lstStyle/>
          <a:p>
            <a:pPr algn="l">
              <a:lnSpc>
                <a:spcPct val="122000"/>
              </a:lnSpc>
            </a:pPr>
            <a:r>
              <a:rPr sz="1150" b="0">
                <a:solidFill>
                  <a:srgbClr val="1A1A1A"/>
                </a:solidFill>
                <a:latin typeface="Hiragino Sans"/>
              </a:rPr>
              <a:t>ご予約やWeb問診でいただいた情報は、院内のルールにそって、いつもと同じように扱います。</a:t>
            </a:r>
          </a:p>
        </p:txBody>
      </p:sp>
      <p:sp>
        <p:nvSpPr>
          <p:cNvPr id="24" name="Rectangle 23"/>
          <p:cNvSpPr/>
          <p:nvPr/>
        </p:nvSpPr>
        <p:spPr>
          <a:xfrm>
            <a:off x="566928" y="5952744"/>
            <a:ext cx="6428232" cy="1051560"/>
          </a:xfrm>
          <a:prstGeom prst="rect">
            <a:avLst/>
          </a:prstGeom>
          <a:solidFill>
            <a:srgbClr val="F1ECE1"/>
          </a:solidFill>
          <a:ln w="12700">
            <a:solidFill>
              <a:srgbClr val="E1DA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66928" y="5952744"/>
            <a:ext cx="91440" cy="1051560"/>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22960" y="6135624"/>
            <a:ext cx="457200" cy="457200"/>
          </a:xfrm>
          <a:prstGeom prst="ellipse">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 y="6135624"/>
            <a:ext cx="457200" cy="457200"/>
          </a:xfrm>
          <a:prstGeom prst="rect">
            <a:avLst/>
          </a:prstGeom>
          <a:noFill/>
        </p:spPr>
        <p:txBody>
          <a:bodyPr wrap="square" anchor="ctr">
            <a:spAutoFit/>
          </a:bodyPr>
          <a:lstStyle/>
          <a:p>
            <a:pPr algn="ctr">
              <a:lnSpc>
                <a:spcPct val="125000"/>
              </a:lnSpc>
            </a:pPr>
            <a:r>
              <a:rPr sz="1500" b="1">
                <a:solidFill>
                  <a:srgbClr val="FFFFFF"/>
                </a:solidFill>
                <a:latin typeface="Hiragino Sans"/>
              </a:rPr>
              <a:t>4</a:t>
            </a:r>
          </a:p>
        </p:txBody>
      </p:sp>
      <p:sp>
        <p:nvSpPr>
          <p:cNvPr id="28" name="TextBox 27"/>
          <p:cNvSpPr txBox="1"/>
          <p:nvPr/>
        </p:nvSpPr>
        <p:spPr>
          <a:xfrm>
            <a:off x="1435608" y="6080760"/>
            <a:ext cx="5422392" cy="365760"/>
          </a:xfrm>
          <a:prstGeom prst="rect">
            <a:avLst/>
          </a:prstGeom>
          <a:noFill/>
        </p:spPr>
        <p:txBody>
          <a:bodyPr wrap="square" anchor="t">
            <a:spAutoFit/>
          </a:bodyPr>
          <a:lstStyle/>
          <a:p>
            <a:pPr algn="l">
              <a:lnSpc>
                <a:spcPct val="125000"/>
              </a:lnSpc>
            </a:pPr>
            <a:r>
              <a:rPr sz="1400" b="1">
                <a:solidFill>
                  <a:srgbClr val="8C241D"/>
                </a:solidFill>
                <a:latin typeface="Hiragino Sans"/>
              </a:rPr>
              <a:t>まずは「1つだけ」、無料で小さく始めます</a:t>
            </a:r>
          </a:p>
        </p:txBody>
      </p:sp>
      <p:sp>
        <p:nvSpPr>
          <p:cNvPr id="29" name="TextBox 28"/>
          <p:cNvSpPr txBox="1"/>
          <p:nvPr/>
        </p:nvSpPr>
        <p:spPr>
          <a:xfrm>
            <a:off x="1453896" y="6428232"/>
            <a:ext cx="5330952" cy="548640"/>
          </a:xfrm>
          <a:prstGeom prst="rect">
            <a:avLst/>
          </a:prstGeom>
          <a:noFill/>
        </p:spPr>
        <p:txBody>
          <a:bodyPr wrap="square" anchor="t">
            <a:spAutoFit/>
          </a:bodyPr>
          <a:lstStyle/>
          <a:p>
            <a:pPr algn="l">
              <a:lnSpc>
                <a:spcPct val="122000"/>
              </a:lnSpc>
            </a:pPr>
            <a:r>
              <a:rPr sz="1150" b="0">
                <a:solidFill>
                  <a:srgbClr val="1A1A1A"/>
                </a:solidFill>
                <a:latin typeface="Hiragino Sans"/>
              </a:rPr>
              <a:t>すべてを一度に始めることはありません。効果が見えたものから、少しずつ広げていきます。ご負担をかけない進め方にします。</a:t>
            </a:r>
          </a:p>
        </p:txBody>
      </p:sp>
      <p:sp>
        <p:nvSpPr>
          <p:cNvPr id="30" name="Rectangle 29"/>
          <p:cNvSpPr/>
          <p:nvPr/>
        </p:nvSpPr>
        <p:spPr>
          <a:xfrm>
            <a:off x="566928" y="7114032"/>
            <a:ext cx="6428232" cy="1051560"/>
          </a:xfrm>
          <a:prstGeom prst="rect">
            <a:avLst/>
          </a:prstGeom>
          <a:solidFill>
            <a:srgbClr val="F1ECE1"/>
          </a:solidFill>
          <a:ln w="12700">
            <a:solidFill>
              <a:srgbClr val="E1DA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7114032"/>
            <a:ext cx="91440" cy="1051560"/>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22960" y="7296912"/>
            <a:ext cx="457200" cy="457200"/>
          </a:xfrm>
          <a:prstGeom prst="ellipse">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2960" y="7296912"/>
            <a:ext cx="457200" cy="457200"/>
          </a:xfrm>
          <a:prstGeom prst="rect">
            <a:avLst/>
          </a:prstGeom>
          <a:noFill/>
        </p:spPr>
        <p:txBody>
          <a:bodyPr wrap="square" anchor="ctr">
            <a:spAutoFit/>
          </a:bodyPr>
          <a:lstStyle/>
          <a:p>
            <a:pPr algn="ctr">
              <a:lnSpc>
                <a:spcPct val="125000"/>
              </a:lnSpc>
            </a:pPr>
            <a:r>
              <a:rPr sz="1500" b="1">
                <a:solidFill>
                  <a:srgbClr val="FFFFFF"/>
                </a:solidFill>
                <a:latin typeface="Hiragino Sans"/>
              </a:rPr>
              <a:t>5</a:t>
            </a:r>
          </a:p>
        </p:txBody>
      </p:sp>
      <p:sp>
        <p:nvSpPr>
          <p:cNvPr id="34" name="TextBox 33"/>
          <p:cNvSpPr txBox="1"/>
          <p:nvPr/>
        </p:nvSpPr>
        <p:spPr>
          <a:xfrm>
            <a:off x="1435608" y="7242048"/>
            <a:ext cx="5422392" cy="365760"/>
          </a:xfrm>
          <a:prstGeom prst="rect">
            <a:avLst/>
          </a:prstGeom>
          <a:noFill/>
        </p:spPr>
        <p:txBody>
          <a:bodyPr wrap="square" anchor="t">
            <a:spAutoFit/>
          </a:bodyPr>
          <a:lstStyle/>
          <a:p>
            <a:pPr algn="l">
              <a:lnSpc>
                <a:spcPct val="125000"/>
              </a:lnSpc>
            </a:pPr>
            <a:r>
              <a:rPr sz="1400" b="1">
                <a:solidFill>
                  <a:srgbClr val="8C241D"/>
                </a:solidFill>
                <a:latin typeface="Hiragino Sans"/>
              </a:rPr>
              <a:t>効果は、皆さまと一緒に確かめます</a:t>
            </a:r>
          </a:p>
        </p:txBody>
      </p:sp>
      <p:sp>
        <p:nvSpPr>
          <p:cNvPr id="35" name="TextBox 34"/>
          <p:cNvSpPr txBox="1"/>
          <p:nvPr/>
        </p:nvSpPr>
        <p:spPr>
          <a:xfrm>
            <a:off x="1453896" y="7589520"/>
            <a:ext cx="5330952" cy="548640"/>
          </a:xfrm>
          <a:prstGeom prst="rect">
            <a:avLst/>
          </a:prstGeom>
          <a:noFill/>
        </p:spPr>
        <p:txBody>
          <a:bodyPr wrap="square" anchor="t">
            <a:spAutoFit/>
          </a:bodyPr>
          <a:lstStyle/>
          <a:p>
            <a:pPr algn="l">
              <a:lnSpc>
                <a:spcPct val="122000"/>
              </a:lnSpc>
            </a:pPr>
            <a:r>
              <a:rPr sz="1150" b="0">
                <a:solidFill>
                  <a:srgbClr val="1A1A1A"/>
                </a:solidFill>
                <a:latin typeface="Hiragino Sans"/>
              </a:rPr>
              <a:t>「お電話が減ったか」「楽になったか」を一緒に見ていきます。スタッフを評価するためのものではありません。</a:t>
            </a:r>
          </a:p>
        </p:txBody>
      </p:sp>
      <p:sp>
        <p:nvSpPr>
          <p:cNvPr id="36" name="Rectangle 35"/>
          <p:cNvSpPr/>
          <p:nvPr/>
        </p:nvSpPr>
        <p:spPr>
          <a:xfrm>
            <a:off x="566928" y="8275320"/>
            <a:ext cx="6428232" cy="1051560"/>
          </a:xfrm>
          <a:prstGeom prst="rect">
            <a:avLst/>
          </a:prstGeom>
          <a:solidFill>
            <a:srgbClr val="F1ECE1"/>
          </a:solidFill>
          <a:ln w="12700">
            <a:solidFill>
              <a:srgbClr val="E1DA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66928" y="8275320"/>
            <a:ext cx="91440" cy="1051560"/>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822960" y="8458200"/>
            <a:ext cx="457200" cy="457200"/>
          </a:xfrm>
          <a:prstGeom prst="ellipse">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22960" y="8458200"/>
            <a:ext cx="457200" cy="457200"/>
          </a:xfrm>
          <a:prstGeom prst="rect">
            <a:avLst/>
          </a:prstGeom>
          <a:noFill/>
        </p:spPr>
        <p:txBody>
          <a:bodyPr wrap="square" anchor="ctr">
            <a:spAutoFit/>
          </a:bodyPr>
          <a:lstStyle/>
          <a:p>
            <a:pPr algn="ctr">
              <a:lnSpc>
                <a:spcPct val="125000"/>
              </a:lnSpc>
            </a:pPr>
            <a:r>
              <a:rPr sz="1500" b="1">
                <a:solidFill>
                  <a:srgbClr val="FFFFFF"/>
                </a:solidFill>
                <a:latin typeface="Hiragino Sans"/>
              </a:rPr>
              <a:t>6</a:t>
            </a:r>
          </a:p>
        </p:txBody>
      </p:sp>
      <p:sp>
        <p:nvSpPr>
          <p:cNvPr id="40" name="TextBox 39"/>
          <p:cNvSpPr txBox="1"/>
          <p:nvPr/>
        </p:nvSpPr>
        <p:spPr>
          <a:xfrm>
            <a:off x="1435608" y="8403336"/>
            <a:ext cx="5422392" cy="365760"/>
          </a:xfrm>
          <a:prstGeom prst="rect">
            <a:avLst/>
          </a:prstGeom>
          <a:noFill/>
        </p:spPr>
        <p:txBody>
          <a:bodyPr wrap="square" anchor="t">
            <a:spAutoFit/>
          </a:bodyPr>
          <a:lstStyle/>
          <a:p>
            <a:pPr algn="l">
              <a:lnSpc>
                <a:spcPct val="125000"/>
              </a:lnSpc>
            </a:pPr>
            <a:r>
              <a:rPr sz="1400" b="1">
                <a:solidFill>
                  <a:srgbClr val="8C241D"/>
                </a:solidFill>
                <a:latin typeface="Hiragino Sans"/>
              </a:rPr>
              <a:t>合わなければ、いつでも見直せます</a:t>
            </a:r>
          </a:p>
        </p:txBody>
      </p:sp>
      <p:sp>
        <p:nvSpPr>
          <p:cNvPr id="41" name="TextBox 40"/>
          <p:cNvSpPr txBox="1"/>
          <p:nvPr/>
        </p:nvSpPr>
        <p:spPr>
          <a:xfrm>
            <a:off x="1453896" y="8750808"/>
            <a:ext cx="5330952" cy="548640"/>
          </a:xfrm>
          <a:prstGeom prst="rect">
            <a:avLst/>
          </a:prstGeom>
          <a:noFill/>
        </p:spPr>
        <p:txBody>
          <a:bodyPr wrap="square" anchor="t">
            <a:spAutoFit/>
          </a:bodyPr>
          <a:lstStyle/>
          <a:p>
            <a:pPr algn="l">
              <a:lnSpc>
                <a:spcPct val="122000"/>
              </a:lnSpc>
            </a:pPr>
            <a:r>
              <a:rPr sz="1150" b="0">
                <a:solidFill>
                  <a:srgbClr val="1A1A1A"/>
                </a:solidFill>
                <a:latin typeface="Hiragino Sans"/>
              </a:rPr>
              <a:t>無理に続けるものではありません。当院は「当日の順番受付制」のままです（予約制には変えません）。困ったことがあれば、すぐにご相談ください。</a:t>
            </a:r>
          </a:p>
        </p:txBody>
      </p:sp>
      <p:sp>
        <p:nvSpPr>
          <p:cNvPr id="42" name="Rectangle 41"/>
          <p:cNvSpPr/>
          <p:nvPr/>
        </p:nvSpPr>
        <p:spPr>
          <a:xfrm>
            <a:off x="566928" y="9482328"/>
            <a:ext cx="6428232" cy="914400"/>
          </a:xfrm>
          <a:prstGeom prst="rect">
            <a:avLst/>
          </a:prstGeom>
          <a:solidFill>
            <a:srgbClr val="F4E4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66928" y="9482328"/>
            <a:ext cx="91440" cy="914400"/>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41248" y="9482328"/>
            <a:ext cx="5971032" cy="914400"/>
          </a:xfrm>
          <a:prstGeom prst="rect">
            <a:avLst/>
          </a:prstGeom>
          <a:noFill/>
        </p:spPr>
        <p:txBody>
          <a:bodyPr wrap="square" anchor="ctr">
            <a:spAutoFit/>
          </a:bodyPr>
          <a:lstStyle/>
          <a:p>
            <a:pPr algn="l">
              <a:lnSpc>
                <a:spcPct val="130000"/>
              </a:lnSpc>
            </a:pPr>
            <a:r>
              <a:rPr sz="1250" b="1">
                <a:solidFill>
                  <a:srgbClr val="8C241D"/>
                </a:solidFill>
                <a:latin typeface="Hiragino Sans"/>
              </a:rPr>
              <a:t>本日は、皆さまの「これは要らない」「これがあると助かる」というお声を、ぜひお聞かせください。</a:t>
            </a:r>
          </a:p>
          <a:p>
            <a:pPr algn="l">
              <a:lnSpc>
                <a:spcPct val="130000"/>
              </a:lnSpc>
            </a:pPr>
            <a:r>
              <a:rPr sz="1250" b="1">
                <a:solidFill>
                  <a:srgbClr val="8C241D"/>
                </a:solidFill>
                <a:latin typeface="Hiragino Sans"/>
              </a:rPr>
              <a:t>一緒に、より良いかたちにしていきたいと思っております。どうぞよろしくお願いいたします。</a:t>
            </a:r>
          </a:p>
        </p:txBody>
      </p:sp>
      <p:sp>
        <p:nvSpPr>
          <p:cNvPr id="45" name="TextBox 44"/>
          <p:cNvSpPr txBox="1"/>
          <p:nvPr/>
        </p:nvSpPr>
        <p:spPr>
          <a:xfrm>
            <a:off x="566928" y="10186416"/>
            <a:ext cx="6428232" cy="274320"/>
          </a:xfrm>
          <a:prstGeom prst="rect">
            <a:avLst/>
          </a:prstGeom>
          <a:noFill/>
        </p:spPr>
        <p:txBody>
          <a:bodyPr wrap="square" anchor="t">
            <a:spAutoFit/>
          </a:bodyPr>
          <a:lstStyle/>
          <a:p>
            <a:pPr algn="l">
              <a:lnSpc>
                <a:spcPct val="125000"/>
              </a:lnSpc>
            </a:pPr>
            <a:r>
              <a:rPr sz="950" b="0">
                <a:solidFill>
                  <a:srgbClr val="5A5A5A"/>
                </a:solidFill>
                <a:latin typeface="Hiragino Sans"/>
              </a:rPr>
              <a:t>KHD（AI医療コンサル）  ｜  京橋クリニック 公式LINE のご案内</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
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11480"/>
            <a:ext cx="50800" cy="603504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7724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AA2E26"/>
                </a:solidFill>
                <a:latin typeface="Hiragino Sans"/>
              </a:rPr>
              <a:t>TECH BRIEFING ｜ 秘書室より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1371600"/>
            <a:ext cx="91440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400" b="1" i="0">
                <a:solidFill>
                  <a:srgbClr val="1A1A1A"/>
                </a:solidFill>
                <a:latin typeface="Hiragino Sans"/>
              </a:rPr>
              <a:t>gitって何？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2148840"/>
            <a:ext cx="9601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AA2E26"/>
                </a:solidFill>
                <a:latin typeface="Hiragino Sans"/>
              </a:rPr>
              <a:t>そしてGitHub移行って何？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3063240"/>
            <a:ext cx="98755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50" b="0" i="0">
                <a:solidFill>
                  <a:srgbClr val="6E6E6E"/>
                </a:solidFill>
                <a:latin typeface="Hiragino Sans"/>
              </a:rPr>
              <a:t>2026-07-02、2台Mac同期の金庫で実際に起きた「main 2」トラブルを題材に、</a:t>
            </a:r>
          </a:p>
          <a:p>
            <a:pPr algn="l">
              <a:lnSpc>
                <a:spcPct val="130000"/>
              </a:lnSpc>
            </a:pPr>
            <a:r>
              <a:rPr sz="1450" b="0" i="0">
                <a:solidFill>
                  <a:srgbClr val="6E6E6E"/>
                </a:solidFill>
                <a:latin typeface="Hiragino Sans"/>
              </a:rPr>
              <a:t>仕組み・今のメリデメ・今後の方針をやさしくまとめました。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4206240"/>
            <a:ext cx="3246120" cy="123444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4206240"/>
            <a:ext cx="3246120" cy="5486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4389120"/>
            <a:ext cx="3246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0" i="0">
                <a:solidFill>
                  <a:srgbClr val="6E6E6E"/>
                </a:solidFill>
                <a:latin typeface="Hiragino Sans"/>
              </a:rPr>
              <a:t>今すぐ移行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681728"/>
            <a:ext cx="3246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 i="0">
                <a:solidFill>
                  <a:srgbClr val="AA2E26"/>
                </a:solidFill>
                <a:latin typeface="Hiragino Sans"/>
              </a:rPr>
              <a:t>不要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4206240"/>
            <a:ext cx="3246120" cy="123444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80" y="4206240"/>
            <a:ext cx="3246120" cy="5486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7680" y="4389120"/>
            <a:ext cx="3246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0" i="0">
                <a:solidFill>
                  <a:srgbClr val="6E6E6E"/>
                </a:solidFill>
                <a:latin typeface="Hiragino Sans"/>
              </a:rPr>
              <a:t>壊れた時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4681728"/>
            <a:ext cx="3246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 i="0">
                <a:solidFill>
                  <a:srgbClr val="AA2E26"/>
                </a:solidFill>
                <a:latin typeface="Hiragino Sans"/>
              </a:rPr>
              <a:t>AIが自動復旧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0" y="4206240"/>
            <a:ext cx="3246120" cy="123444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0" y="4206240"/>
            <a:ext cx="3246120" cy="5486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4389120"/>
            <a:ext cx="3246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0" i="0">
                <a:solidFill>
                  <a:srgbClr val="6E6E6E"/>
                </a:solidFill>
                <a:latin typeface="Hiragino Sans"/>
              </a:rPr>
              <a:t>次に検討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4681728"/>
            <a:ext cx="3246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 i="0">
                <a:solidFill>
                  <a:srgbClr val="AA2E26"/>
                </a:solidFill>
                <a:latin typeface="Hiragino Sans"/>
              </a:rPr>
              <a:t>事件が増えたら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5989320"/>
            <a:ext cx="10515600" cy="1524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6108192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6E6E6E"/>
                </a:solidFill>
                <a:latin typeface="Hiragino Sans"/>
              </a:rPr>
              <a:t>先読みでの結論 ── 詳しくは次ページから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0"/>
            <a:ext cx="11274552" cy="1524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E6E6E"/>
                </a:solidFill>
                <a:latin typeface="Hiragino Sans"/>
              </a:rPr>
              <a:t>gitって何？／GitHub移行とは　｜　KHD秘書室 Tech Briefing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AA2E26"/>
                </a:solidFill>
                <a:latin typeface="Hiragino Sans"/>
              </a:rPr>
              <a:t>WHAT HAPPENED TODAY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713232"/>
            <a:ext cx="1554480" cy="381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822960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Hiragino Sans"/>
              </a:rPr>
              <a:t>今日、実際に何が起きたのか？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316736"/>
            <a:ext cx="11064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6E6E6E"/>
                </a:solidFill>
                <a:latin typeface="Hiragino Sans"/>
              </a:rPr>
              <a:t>「同期が失敗しました」の裏側で起きていたこと（結果：実害なし・復旧済み）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737360"/>
            <a:ext cx="3611880" cy="301752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737360"/>
            <a:ext cx="3611880" cy="64008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828800"/>
            <a:ext cx="36118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Hiragino Sans"/>
              </a:rPr>
              <a:t>STEP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523744"/>
            <a:ext cx="31546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550" b="1" i="0">
                <a:solidFill>
                  <a:srgbClr val="1A1A1A"/>
                </a:solidFill>
                <a:latin typeface="Hiragino Sans"/>
              </a:rPr>
              <a:t>2台のMacが同時に書き込み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218688"/>
            <a:ext cx="306324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6E6E6E"/>
                </a:solidFill>
                <a:latin typeface="Hiragino Sans"/>
              </a:rPr>
              <a:t>菊池さんのMacと、ゆーしさんが使うMacが</a:t>
            </a:r>
          </a:p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6E6E6E"/>
                </a:solidFill>
                <a:latin typeface="Hiragino Sans"/>
              </a:rPr>
              <a:t>同じ「金庫（gitリポジトリ）」の同じ台帳(main)に</a:t>
            </a:r>
          </a:p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6E6E6E"/>
                </a:solidFill>
                <a:latin typeface="Hiragino Sans"/>
              </a:rPr>
              <a:t>ほぼ同時に書き込みをした。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34256" y="1737360"/>
            <a:ext cx="3611880" cy="301752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34256" y="1737360"/>
            <a:ext cx="3611880" cy="64008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34256" y="1828800"/>
            <a:ext cx="36118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Hiragino Sans"/>
              </a:rPr>
              <a:t>STEP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62856" y="2523744"/>
            <a:ext cx="31546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550" b="1" i="0">
                <a:solidFill>
                  <a:srgbClr val="1A1A1A"/>
                </a:solidFill>
                <a:latin typeface="Hiragino Sans"/>
              </a:rPr>
              <a:t>Google Driveが「複製」を作成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08576" y="3218688"/>
            <a:ext cx="306324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6E6E6E"/>
                </a:solidFill>
                <a:latin typeface="Hiragino Sans"/>
              </a:rPr>
              <a:t>Driveは元々“ファイルを丸ごと同期する”道具。</a:t>
            </a:r>
          </a:p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6E6E6E"/>
                </a:solidFill>
                <a:latin typeface="Hiragino Sans"/>
              </a:rPr>
              <a:t>同じファイルへの同時書き込みを検知すると、</a:t>
            </a:r>
          </a:p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6E6E6E"/>
                </a:solidFill>
                <a:latin typeface="Hiragino Sans"/>
              </a:rPr>
              <a:t>安全策として複製ファイル「main 2」を作った。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65592" y="1737360"/>
            <a:ext cx="3611880" cy="301752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65592" y="1737360"/>
            <a:ext cx="3611880" cy="64008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65592" y="1828800"/>
            <a:ext cx="36118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Hiragino Sans"/>
              </a:rPr>
              <a:t>STEP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94192" y="2523744"/>
            <a:ext cx="31546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550" b="1" i="0">
                <a:solidFill>
                  <a:srgbClr val="1A1A1A"/>
                </a:solidFill>
                <a:latin typeface="Hiragino Sans"/>
              </a:rPr>
              <a:t>gitが読めず、同期が全面停止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39912" y="3218688"/>
            <a:ext cx="306324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6E6E6E"/>
                </a:solidFill>
                <a:latin typeface="Hiragino Sans"/>
              </a:rPr>
              <a:t>gitは「main」という名前の台帳しか読めない。</a:t>
            </a:r>
          </a:p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6E6E6E"/>
                </a:solidFill>
                <a:latin typeface="Hiragino Sans"/>
              </a:rPr>
              <a:t>「main 2」という半端な名前のファイルが残っていると</a:t>
            </a:r>
          </a:p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6E6E6E"/>
                </a:solidFill>
                <a:latin typeface="Hiragino Sans"/>
              </a:rPr>
              <a:t>以後の同期作業ぜんぶが止まる。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5029200"/>
            <a:ext cx="11183112" cy="777240"/>
          </a:xfrm>
          <a:prstGeom prst="rect">
            <a:avLst/>
          </a:prstGeom>
          <a:solidFill>
            <a:srgbClr val="F4E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2920" y="5029200"/>
            <a:ext cx="91440" cy="77724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5248656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8C241D"/>
                </a:solidFill>
                <a:latin typeface="Hiragino Sans"/>
              </a:rPr>
              <a:t>結果：中身は既に本流に含まれていた古いコミットへの参照だけ ＝ データ損失ゼロ。AIが原因特定〜削除〜復旧まで完了。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0"/>
            <a:ext cx="11274552" cy="1524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E6E6E"/>
                </a:solidFill>
                <a:latin typeface="Hiragino Sans"/>
              </a:rPr>
              <a:t>gitって何？／GitHub移行とは　｜　KHD秘書室 Tech Briefing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AA2E26"/>
                </a:solidFill>
                <a:latin typeface="Hiragino Sans"/>
              </a:rPr>
              <a:t>WHAT IS GIT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713232"/>
            <a:ext cx="1554480" cy="381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822960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Hiragino Sans"/>
              </a:rPr>
              <a:t>そもそも「git（ギット）」って何？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316736"/>
            <a:ext cx="11064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6E6E6E"/>
                </a:solidFill>
                <a:latin typeface="Hiragino Sans"/>
              </a:rPr>
              <a:t>一言で言うと──「変更履歴を全部記録してくれる台帳」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691640"/>
            <a:ext cx="5486400" cy="214884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691640"/>
            <a:ext cx="109728" cy="214884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8" y="1892808"/>
            <a:ext cx="49377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1" i="0">
                <a:solidFill>
                  <a:srgbClr val="AA2E26"/>
                </a:solidFill>
                <a:latin typeface="Hiragino Sans"/>
              </a:rPr>
              <a:t>① Wordの変更履歴の、フォルダ版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2478024"/>
            <a:ext cx="493776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6E6E6E"/>
                </a:solidFill>
                <a:latin typeface="Hiragino Sans"/>
              </a:rPr>
              <a:t>Wordの「変更履歴を記録」機能を、フォルダ全体・全ファイルに対してやってくれる仕組み。</a:t>
            </a:r>
          </a:p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6E6E6E"/>
                </a:solidFill>
                <a:latin typeface="Hiragino Sans"/>
              </a:rPr>
              <a:t>誰が・いつ・何を変えたかを全部覚えていて、いつでも過去の状態に戻せる。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1691640"/>
            <a:ext cx="5486400" cy="214884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0" y="1691640"/>
            <a:ext cx="109728" cy="214884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93408" y="1892808"/>
            <a:ext cx="49377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1" i="0">
                <a:solidFill>
                  <a:srgbClr val="AA2E26"/>
                </a:solidFill>
                <a:latin typeface="Hiragino Sans"/>
              </a:rPr>
              <a:t>② 「金庫」＝ 中央の台帳置き場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93408" y="2478024"/>
            <a:ext cx="493776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6E6E6E"/>
                </a:solidFill>
                <a:latin typeface="Hiragino Sans"/>
              </a:rPr>
              <a:t>複数の人・複数のパソコンで同じ台帳を共有するために、台帳の“正本”を1ヶ所（金庫）に置く。</a:t>
            </a:r>
          </a:p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6E6E6E"/>
                </a:solidFill>
                <a:latin typeface="Hiragino Sans"/>
              </a:rPr>
              <a:t>今のKHDでは、この金庫をGoogle Drive上に置いている。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4160520"/>
            <a:ext cx="5486400" cy="214884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4160520"/>
            <a:ext cx="109728" cy="214884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5528" y="4361688"/>
            <a:ext cx="49377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1" i="0">
                <a:solidFill>
                  <a:srgbClr val="AA2E26"/>
                </a:solidFill>
                <a:latin typeface="Hiragino Sans"/>
              </a:rPr>
              <a:t>③ pull ＝ 金庫から取り出す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8" y="4946904"/>
            <a:ext cx="493776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6E6E6E"/>
                </a:solidFill>
                <a:latin typeface="Hiragino Sans"/>
              </a:rPr>
              <a:t>自分のMacに、金庫にある最新の台帳（他の人の作業内容）を反映させること。</a:t>
            </a:r>
          </a:p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6E6E6E"/>
                </a:solidFill>
                <a:latin typeface="Hiragino Sans"/>
              </a:rPr>
              <a:t>作業を始める前に必ず行う「入口」の作業。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0" y="4160520"/>
            <a:ext cx="5486400" cy="214884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0" y="4160520"/>
            <a:ext cx="109728" cy="214884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93408" y="4361688"/>
            <a:ext cx="49377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1" i="0">
                <a:solidFill>
                  <a:srgbClr val="AA2E26"/>
                </a:solidFill>
                <a:latin typeface="Hiragino Sans"/>
              </a:rPr>
              <a:t>④ push ＝ 金庫に預ける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93408" y="4946904"/>
            <a:ext cx="493776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6E6E6E"/>
                </a:solidFill>
                <a:latin typeface="Hiragino Sans"/>
              </a:rPr>
              <a:t>自分のMacでの作業内容を、金庫に反映させて他の人も見れるようにすること。</a:t>
            </a:r>
          </a:p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6E6E6E"/>
                </a:solidFill>
                <a:latin typeface="Hiragino Sans"/>
              </a:rPr>
              <a:t>作業が終わったら行う「出口」の作業。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0"/>
            <a:ext cx="11274552" cy="1524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E6E6E"/>
                </a:solidFill>
                <a:latin typeface="Hiragino Sans"/>
              </a:rPr>
              <a:t>gitって何？／GitHub移行とは　｜　KHD秘書室 Tech Briefing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AA2E26"/>
                </a:solidFill>
                <a:latin typeface="Hiragino Sans"/>
              </a:rPr>
              <a:t>HOW WE USE IT TODAY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713232"/>
            <a:ext cx="1554480" cy="381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822960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Hiragino Sans"/>
              </a:rPr>
              <a:t>今の運用 ── 「Google Drive上に置いたgit金庫」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316736"/>
            <a:ext cx="11064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6E6E6E"/>
                </a:solidFill>
                <a:latin typeface="Hiragino Sans"/>
              </a:rPr>
              <a:t>2台のMacが、Google Driveというフォルダの中にある金庫を経由してやり取りしている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194560"/>
            <a:ext cx="2743200" cy="182880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2194560"/>
            <a:ext cx="2743200" cy="5486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46888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>
                <a:solidFill>
                  <a:srgbClr val="1A1A1A"/>
                </a:solidFill>
                <a:latin typeface="Hiragino Sans"/>
              </a:rPr>
              <a:t>💻 菊池さんのMac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97180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 i="0">
                <a:solidFill>
                  <a:srgbClr val="6E6E6E"/>
                </a:solidFill>
                <a:latin typeface="Hiragino Sans"/>
              </a:rPr>
              <a:t>作業フォルダ＋記憶(memory)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38328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 i="0">
                <a:solidFill>
                  <a:srgbClr val="6E6E6E"/>
                </a:solidFill>
                <a:latin typeface="Hiragino Sans"/>
              </a:rPr>
              <a:t>自分だけの手元コピー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09160" y="2103120"/>
            <a:ext cx="2743200" cy="2011680"/>
          </a:xfrm>
          <a:prstGeom prst="rect">
            <a:avLst/>
          </a:prstGeom>
          <a:solidFill>
            <a:srgbClr val="F4E4E2"/>
          </a:solidFill>
          <a:ln w="19050">
            <a:solidFill>
              <a:srgbClr val="AA2E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709160" y="2103120"/>
            <a:ext cx="2743200" cy="5486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09160" y="2395728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>
                <a:solidFill>
                  <a:srgbClr val="AA2E26"/>
                </a:solidFill>
                <a:latin typeface="Hiragino Sans"/>
              </a:rPr>
              <a:t>🔒 git金庫（.git）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9160" y="2816352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 i="0">
                <a:solidFill>
                  <a:srgbClr val="8C241D"/>
                </a:solidFill>
                <a:latin typeface="Hiragino Sans"/>
              </a:rPr>
              <a:t>Google Drive上に設置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60" y="3200400"/>
            <a:ext cx="2743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50" b="0" i="0">
                <a:solidFill>
                  <a:srgbClr val="6E6E6E"/>
                </a:solidFill>
                <a:latin typeface="Hiragino Sans"/>
              </a:rPr>
              <a:t>台帳の“正本”を保管</a:t>
            </a:r>
          </a:p>
          <a:p>
            <a:pPr algn="ctr">
              <a:lnSpc>
                <a:spcPct val="120000"/>
              </a:lnSpc>
            </a:pPr>
            <a:r>
              <a:rPr sz="1050" b="0" i="0">
                <a:solidFill>
                  <a:srgbClr val="6E6E6E"/>
                </a:solidFill>
                <a:latin typeface="Hiragino Sans"/>
              </a:rPr>
              <a:t>(workspace金庫／memory金庫)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778240" y="2194560"/>
            <a:ext cx="2743200" cy="182880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778240" y="2194560"/>
            <a:ext cx="2743200" cy="5486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78240" y="246888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>
                <a:solidFill>
                  <a:srgbClr val="1A1A1A"/>
                </a:solidFill>
                <a:latin typeface="Hiragino Sans"/>
              </a:rPr>
              <a:t>💻 ゆーしさんのMac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8240" y="297180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 i="0">
                <a:solidFill>
                  <a:srgbClr val="6E6E6E"/>
                </a:solidFill>
                <a:latin typeface="Hiragino Sans"/>
              </a:rPr>
              <a:t>同じアカウントで利用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78240" y="338328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 i="0">
                <a:solidFill>
                  <a:srgbClr val="6E6E6E"/>
                </a:solidFill>
                <a:latin typeface="Hiragino Sans"/>
              </a:rPr>
              <a:t>自分だけの手元コピー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29000" y="2697480"/>
            <a:ext cx="12344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200" b="1" i="0">
                <a:solidFill>
                  <a:srgbClr val="AA2E26"/>
                </a:solidFill>
                <a:latin typeface="Hiragino Sans"/>
              </a:rPr>
              <a:t>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91840" y="3429000"/>
            <a:ext cx="1463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 i="0">
                <a:solidFill>
                  <a:srgbClr val="6E6E6E"/>
                </a:solidFill>
                <a:latin typeface="Hiragino Sans"/>
              </a:rPr>
              <a:t>pull／push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79" y="2697480"/>
            <a:ext cx="12344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200" b="1" i="0">
                <a:solidFill>
                  <a:srgbClr val="AA2E26"/>
                </a:solidFill>
                <a:latin typeface="Hiragino Sans"/>
              </a:rPr>
              <a:t>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60920" y="3429000"/>
            <a:ext cx="1463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 i="0">
                <a:solidFill>
                  <a:srgbClr val="6E6E6E"/>
                </a:solidFill>
                <a:latin typeface="Hiragino Sans"/>
              </a:rPr>
              <a:t>pull／push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4480560"/>
            <a:ext cx="10881360" cy="1371600"/>
          </a:xfrm>
          <a:prstGeom prst="rect">
            <a:avLst/>
          </a:prstGeom>
          <a:solidFill>
            <a:srgbClr val="ECE8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8680" y="4645152"/>
            <a:ext cx="10424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AA2E26"/>
                </a:solidFill>
                <a:latin typeface="Hiragino Sans"/>
              </a:rPr>
              <a:t>💡 誤解しやすいポイント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" y="4983480"/>
            <a:ext cx="10424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1A1A1A"/>
                </a:solidFill>
                <a:latin typeface="Hiragino Sans"/>
              </a:rPr>
              <a:t>「Google Driveに保存＝全部自動で同期される」と思われがちですが、それは普通のファイルの話。</a:t>
            </a:r>
          </a:p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1A1A1A"/>
                </a:solidFill>
                <a:latin typeface="Hiragino Sans"/>
              </a:rPr>
              <a:t>この金庫(.git)の中身は、Driveの自動同期とは別に「pull→作業→push」という手続きを踏んで初めて反映されます。</a:t>
            </a:r>
          </a:p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1A1A1A"/>
                </a:solidFill>
                <a:latin typeface="Hiragino Sans"/>
              </a:rPr>
              <a:t>2台が同時にこの手続きを行うと、今回のような競合（main 2事件）が起きる構造的なリスクがあります。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0"/>
            <a:ext cx="11274552" cy="1524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E6E6E"/>
                </a:solidFill>
                <a:latin typeface="Hiragino Sans"/>
              </a:rPr>
              <a:t>gitって何？／GitHub移行とは　｜　KHD秘書室 Tech Briefing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AA2E26"/>
                </a:solidFill>
                <a:latin typeface="Hiragino Sans"/>
              </a:rPr>
              <a:t>PROS &amp; CONS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713232"/>
            <a:ext cx="1554480" cy="381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822960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Hiragino Sans"/>
              </a:rPr>
              <a:t>今の運用（Drive上のgit金庫）のメリット・デメリット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316736"/>
            <a:ext cx="11064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6E6E6E"/>
                </a:solidFill>
                <a:latin typeface="Hiragino Sans"/>
              </a:rPr>
              <a:t>コストゼロで動いているが、破損リスクを抱えたまま使っている状態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691640"/>
            <a:ext cx="5349240" cy="429768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691640"/>
            <a:ext cx="5349240" cy="50292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783080"/>
            <a:ext cx="5349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Hiragino Sans"/>
              </a:rPr>
              <a:t>◎ メリット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468880"/>
            <a:ext cx="365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AA2E26"/>
                </a:solidFill>
                <a:latin typeface="Hiragino Sans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2468880"/>
            <a:ext cx="44348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1A1A1A"/>
                </a:solidFill>
                <a:latin typeface="Hiragino Sans"/>
              </a:rPr>
              <a:t>追加費用ゼロ（Google Drive契約の中で完結、他サービス契約不要）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566160"/>
            <a:ext cx="365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AA2E26"/>
                </a:solidFill>
                <a:latin typeface="Hiragino Sans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3566160"/>
            <a:ext cx="44348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1A1A1A"/>
                </a:solidFill>
                <a:latin typeface="Hiragino Sans"/>
              </a:rPr>
              <a:t>既にセットアップ済みで、日常的には問題なく動いている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663440"/>
            <a:ext cx="365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AA2E26"/>
                </a:solidFill>
                <a:latin typeface="Hiragino Sans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4663440"/>
            <a:ext cx="44348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1A1A1A"/>
                </a:solidFill>
                <a:latin typeface="Hiragino Sans"/>
              </a:rPr>
              <a:t>全部KHD管理下のGoogleアカウント内＝外部に情報が出ない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1691640"/>
            <a:ext cx="5349240" cy="429768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09360" y="1691640"/>
            <a:ext cx="5349240" cy="502920"/>
          </a:xfrm>
          <a:prstGeom prst="rect">
            <a:avLst/>
          </a:prstGeom>
          <a:solidFill>
            <a:srgbClr val="8C24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1783080"/>
            <a:ext cx="5349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Hiragino Sans"/>
              </a:rPr>
              <a:t>△ デメリット・リスク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1968" y="2468880"/>
            <a:ext cx="365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8C241D"/>
                </a:solidFill>
                <a:latin typeface="Hiragino Sans"/>
              </a:rPr>
              <a:t>!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0" y="2468880"/>
            <a:ext cx="44348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1A1A1A"/>
                </a:solidFill>
                <a:latin typeface="Hiragino Sans"/>
              </a:rPr>
              <a:t>2台が同時に書き込むと壊れやすい（今回のような事件が今後も起きうる）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1968" y="3566160"/>
            <a:ext cx="365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8C241D"/>
                </a:solidFill>
                <a:latin typeface="Hiragino Sans"/>
              </a:rPr>
              <a:t>!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49440" y="3566160"/>
            <a:ext cx="44348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1A1A1A"/>
                </a:solidFill>
                <a:latin typeface="Hiragino Sans"/>
              </a:rPr>
              <a:t>壊れた時の直し方に専門知識が要る（放置すると同期停止に気づかない恐れ）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01968" y="4663440"/>
            <a:ext cx="365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8C241D"/>
                </a:solidFill>
                <a:latin typeface="Hiragino Sans"/>
              </a:rPr>
              <a:t>!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9440" y="4663440"/>
            <a:ext cx="44348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1A1A1A"/>
                </a:solidFill>
                <a:latin typeface="Hiragino Sans"/>
              </a:rPr>
              <a:t>Google Driveは本来「gitの精密な同時書き込み」向けの道具ではなく、相性が良くない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0"/>
            <a:ext cx="11274552" cy="1524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E6E6E"/>
                </a:solidFill>
                <a:latin typeface="Hiragino Sans"/>
              </a:rPr>
              <a:t>gitって何？／GitHub移行とは　｜　KHD秘書室 Tech Briefing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AA2E26"/>
                </a:solidFill>
                <a:latin typeface="Hiragino Sans"/>
              </a:rPr>
              <a:t>WHAT IS GITHUB MIGRATION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713232"/>
            <a:ext cx="1554480" cy="381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822960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Hiragino Sans"/>
              </a:rPr>
              <a:t>「GitHubへの移行」って何をすること？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316736"/>
            <a:ext cx="11064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6E6E6E"/>
                </a:solidFill>
                <a:latin typeface="Hiragino Sans"/>
              </a:rPr>
              <a:t>一言で言うと──「金庫番を、プロのサービスに外注する」こと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691640"/>
            <a:ext cx="5486400" cy="214884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691640"/>
            <a:ext cx="109728" cy="214884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8" y="1892808"/>
            <a:ext cx="4937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1" i="0">
                <a:solidFill>
                  <a:srgbClr val="AA2E26"/>
                </a:solidFill>
                <a:latin typeface="Hiragino Sans"/>
              </a:rPr>
              <a:t>GitHubとは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2404872"/>
            <a:ext cx="493776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6E6E6E"/>
                </a:solidFill>
                <a:latin typeface="Hiragino Sans"/>
              </a:rPr>
              <a:t>gitの金庫（さっき説明した“正本置き場”）を専門にホスティングしてくれるサービス。世界中の会社・開発者が使う実績あるインフラ。個人の非公開リポジトリは無料。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1691640"/>
            <a:ext cx="5486400" cy="214884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0" y="1691640"/>
            <a:ext cx="109728" cy="214884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93408" y="1892808"/>
            <a:ext cx="4937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1" i="0">
                <a:solidFill>
                  <a:srgbClr val="AA2E26"/>
                </a:solidFill>
                <a:latin typeface="Hiragino Sans"/>
              </a:rPr>
              <a:t>何が変わるか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93408" y="2404872"/>
            <a:ext cx="493776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6E6E6E"/>
                </a:solidFill>
                <a:latin typeface="Hiragino Sans"/>
              </a:rPr>
              <a:t>Google Drive経由をやめて、2台のMacが直接GitHubに対してpull/pushするようになる。日々の使い方（作業する→保存する）は今と同じで、裏側の“金庫の置き場所”だけが変わる。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4160520"/>
            <a:ext cx="5486400" cy="214884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4160520"/>
            <a:ext cx="109728" cy="214884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5528" y="4361688"/>
            <a:ext cx="4937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1" i="0">
                <a:solidFill>
                  <a:srgbClr val="AA2E26"/>
                </a:solidFill>
                <a:latin typeface="Hiragino Sans"/>
              </a:rPr>
              <a:t>なぜ安定するか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8" y="4873752"/>
            <a:ext cx="493776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6E6E6E"/>
                </a:solidFill>
                <a:latin typeface="Hiragino Sans"/>
              </a:rPr>
              <a:t>GitHubは同時書き込みの競合を正式な手順（マージ・ロック）で処理する専用インフラ。Driveのファイルコピー機能に頼らないため、今回のような「main 2」型の破損がそもそも起きない。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0" y="4160520"/>
            <a:ext cx="5486400" cy="214884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0" y="4160520"/>
            <a:ext cx="109728" cy="214884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93408" y="4361688"/>
            <a:ext cx="4937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1" i="0">
                <a:solidFill>
                  <a:srgbClr val="AA2E26"/>
                </a:solidFill>
                <a:latin typeface="Hiragino Sans"/>
              </a:rPr>
              <a:t>必要な準備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93408" y="4873752"/>
            <a:ext cx="493776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6E6E6E"/>
                </a:solidFill>
                <a:latin typeface="Hiragino Sans"/>
              </a:rPr>
              <a:t>最初の一度だけ、GitHubアカウント作成と認証設定が必要（内務作業）。それ以降は特別な操作は増えず、菊池さんが覚えることは実質増えない。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0"/>
            <a:ext cx="11274552" cy="1524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E6E6E"/>
                </a:solidFill>
                <a:latin typeface="Hiragino Sans"/>
              </a:rPr>
              <a:t>gitって何？／GitHub移行とは　｜　KHD秘書室 Tech Briefing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AA2E26"/>
                </a:solidFill>
                <a:latin typeface="Hiragino Sans"/>
              </a:rPr>
              <a:t>COMPARISON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713232"/>
            <a:ext cx="1554480" cy="381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822960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Hiragino Sans"/>
              </a:rPr>
              <a:t>今の方式 vs GitHub移行後 ── 比較表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316736"/>
            <a:ext cx="11064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6E6E6E"/>
                </a:solidFill>
                <a:latin typeface="Hiragino Sans"/>
              </a:rPr>
              <a:t>同じ「2台Mac同期」でも、裏側のインフラが変わるだけ。日々の使い方はほぼ同じ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691640"/>
          <a:ext cx="11183111" cy="40233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108960"/>
                <a:gridCol w="4023360"/>
                <a:gridCol w="4050791"/>
              </a:tblGrid>
              <a:tr h="67056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Hiragino Sans"/>
                        </a:rPr>
                        <a:t>比較項目</a:t>
                      </a:r>
                    </a:p>
                  </a:txBody>
                  <a:tcPr anchor="ctr" marL="91440" marR="73152" marT="45720" marB="45720">
                    <a:solidFill>
                      <a:srgbClr val="AA2E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Hiragino Sans"/>
                        </a:rPr>
                        <a:t>今：Drive上のgit金庫</a:t>
                      </a:r>
                    </a:p>
                  </a:txBody>
                  <a:tcPr anchor="ctr" marL="91440" marR="73152" marT="45720" marB="45720">
                    <a:solidFill>
                      <a:srgbClr val="AA2E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Hiragino Sans"/>
                        </a:rPr>
                        <a:t>移行後：GitHub（非公開リポ）</a:t>
                      </a:r>
                    </a:p>
                  </a:txBody>
                  <a:tcPr anchor="ctr" marL="91440" marR="73152" marT="45720" marB="45720">
                    <a:solidFill>
                      <a:srgbClr val="8C241D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A1A1A"/>
                          </a:solidFill>
                          <a:latin typeface="Hiragino Sans"/>
                        </a:rPr>
                        <a:t>費用</a:t>
                      </a:r>
                    </a:p>
                  </a:txBody>
                  <a:tcPr anchor="ctr" marL="91440" marR="73152" marT="45720" marB="45720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3A3A3A"/>
                          </a:solidFill>
                          <a:latin typeface="Hiragino Sans"/>
                        </a:rPr>
                        <a:t>0円（Drive契約内）</a:t>
                      </a:r>
                    </a:p>
                  </a:txBody>
                  <a:tcPr anchor="ctr" marL="91440" marR="73152" marT="45720" marB="45720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AA2E26"/>
                          </a:solidFill>
                          <a:latin typeface="Hiragino Sans"/>
                        </a:rPr>
                        <a:t>0円（個人非公開リポは無料）</a:t>
                      </a:r>
                    </a:p>
                  </a:txBody>
                  <a:tcPr anchor="ctr" marL="91440" marR="73152" marT="45720" marB="45720">
                    <a:solidFill>
                      <a:srgbClr val="F4E4E2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A1A1A"/>
                          </a:solidFill>
                          <a:latin typeface="Hiragino Sans"/>
                        </a:rPr>
                        <a:t>同時書き込みの安全性</a:t>
                      </a:r>
                    </a:p>
                  </a:txBody>
                  <a:tcPr anchor="ctr" marL="91440" marR="73152" marT="45720" marB="45720">
                    <a:solidFill>
                      <a:srgbClr val="F9F6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3A3A3A"/>
                          </a:solidFill>
                          <a:latin typeface="Hiragino Sans"/>
                        </a:rPr>
                        <a:t>低い（今回のような破損が起きうる）</a:t>
                      </a:r>
                    </a:p>
                  </a:txBody>
                  <a:tcPr anchor="ctr" marL="91440" marR="73152" marT="45720" marB="45720">
                    <a:solidFill>
                      <a:srgbClr val="F9F6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AA2E26"/>
                          </a:solidFill>
                          <a:latin typeface="Hiragino Sans"/>
                        </a:rPr>
                        <a:t>高い（専用インフラが競合を正式処理）</a:t>
                      </a:r>
                    </a:p>
                  </a:txBody>
                  <a:tcPr anchor="ctr" marL="91440" marR="73152" marT="45720" marB="45720">
                    <a:solidFill>
                      <a:srgbClr val="F4E4E2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A1A1A"/>
                          </a:solidFill>
                          <a:latin typeface="Hiragino Sans"/>
                        </a:rPr>
                        <a:t>壊れた時の直しやすさ</a:t>
                      </a:r>
                    </a:p>
                  </a:txBody>
                  <a:tcPr anchor="ctr" marL="91440" marR="73152" marT="45720" marB="45720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3A3A3A"/>
                          </a:solidFill>
                          <a:latin typeface="Hiragino Sans"/>
                        </a:rPr>
                        <a:t>内部ファイルを手作業で調査・修復が必要</a:t>
                      </a:r>
                    </a:p>
                  </a:txBody>
                  <a:tcPr anchor="ctr" marL="91440" marR="73152" marT="45720" marB="45720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AA2E26"/>
                          </a:solidFill>
                          <a:latin typeface="Hiragino Sans"/>
                        </a:rPr>
                        <a:t>GitHub側が状態を保証、基本的に壊れない</a:t>
                      </a:r>
                    </a:p>
                  </a:txBody>
                  <a:tcPr anchor="ctr" marL="91440" marR="73152" marT="45720" marB="45720">
                    <a:solidFill>
                      <a:srgbClr val="F4E4E2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A1A1A"/>
                          </a:solidFill>
                          <a:latin typeface="Hiragino Sans"/>
                        </a:rPr>
                        <a:t>日々の使い方</a:t>
                      </a:r>
                    </a:p>
                  </a:txBody>
                  <a:tcPr anchor="ctr" marL="91440" marR="73152" marT="45720" marB="45720">
                    <a:solidFill>
                      <a:srgbClr val="F9F6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3A3A3A"/>
                          </a:solidFill>
                          <a:latin typeface="Hiragino Sans"/>
                        </a:rPr>
                        <a:t>pull→作業→push（今と同じ）</a:t>
                      </a:r>
                    </a:p>
                  </a:txBody>
                  <a:tcPr anchor="ctr" marL="91440" marR="73152" marT="45720" marB="45720">
                    <a:solidFill>
                      <a:srgbClr val="F9F6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AA2E26"/>
                          </a:solidFill>
                          <a:latin typeface="Hiragino Sans"/>
                        </a:rPr>
                        <a:t>pull→作業→push（変化なし）</a:t>
                      </a:r>
                    </a:p>
                  </a:txBody>
                  <a:tcPr anchor="ctr" marL="91440" marR="73152" marT="45720" marB="45720">
                    <a:solidFill>
                      <a:srgbClr val="F4E4E2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A1A1A"/>
                          </a:solidFill>
                          <a:latin typeface="Hiragino Sans"/>
                        </a:rPr>
                        <a:t>導入の手間</a:t>
                      </a:r>
                    </a:p>
                  </a:txBody>
                  <a:tcPr anchor="ctr" marL="91440" marR="73152" marT="45720" marB="45720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3A3A3A"/>
                          </a:solidFill>
                          <a:latin typeface="Hiragino Sans"/>
                        </a:rPr>
                        <a:t>なし（対応済み）</a:t>
                      </a:r>
                    </a:p>
                  </a:txBody>
                  <a:tcPr anchor="ctr" marL="91440" marR="73152" marT="45720" marB="45720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AA2E26"/>
                          </a:solidFill>
                          <a:latin typeface="Hiragino Sans"/>
                        </a:rPr>
                        <a:t>初回のみアカウント作成・認証設定が必要</a:t>
                      </a:r>
                    </a:p>
                  </a:txBody>
                  <a:tcPr anchor="ctr" marL="91440" marR="73152" marT="45720" marB="45720">
                    <a:solidFill>
                      <a:srgbClr val="F4E4E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11480"/>
            <a:ext cx="50800" cy="603504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AA2E26"/>
                </a:solidFill>
                <a:latin typeface="Hiragino Sans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1A1A1A"/>
                </a:solidFill>
                <a:latin typeface="Hiragino Sans"/>
              </a:rPr>
              <a:t>今後の方針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8288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6E6E6E"/>
                </a:solidFill>
                <a:latin typeface="Hiragino Sans"/>
              </a:rPr>
              <a:t>利益直結モード中は、営業直結タスクを最優先。GitHub移行は「内務」なので今は着手しない。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514600"/>
            <a:ext cx="10515600" cy="804672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514600"/>
            <a:ext cx="54864" cy="804672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606040"/>
            <a:ext cx="310896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 i="0">
                <a:solidFill>
                  <a:srgbClr val="AA2E26"/>
                </a:solidFill>
                <a:latin typeface="Hiragino Sans"/>
              </a:rPr>
              <a:t>① 今すぐは移行しない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51960" y="2606040"/>
            <a:ext cx="690372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1A1A1A"/>
                </a:solidFill>
                <a:latin typeface="Hiragino Sans"/>
              </a:rPr>
              <a:t>実害は毎回AIが自動で直せる範囲。営業直結タスク優先の方針を崩さない。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3447288"/>
            <a:ext cx="10515600" cy="804672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3447288"/>
            <a:ext cx="54864" cy="804672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3538728"/>
            <a:ext cx="310896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 i="0">
                <a:solidFill>
                  <a:srgbClr val="AA2E26"/>
                </a:solidFill>
                <a:latin typeface="Hiragino Sans"/>
              </a:rPr>
              <a:t>② push確認は毎回聞かない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51960" y="3538728"/>
            <a:ext cx="690372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1A1A1A"/>
                </a:solidFill>
                <a:latin typeface="Hiragino Sans"/>
              </a:rPr>
              <a:t>fast-forwardで安全に完了するpushは自動実行。データが本当にぶつかる時だけ確認する。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4379976"/>
            <a:ext cx="10515600" cy="804672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4379976"/>
            <a:ext cx="54864" cy="804672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4471416"/>
            <a:ext cx="310896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 i="0">
                <a:solidFill>
                  <a:srgbClr val="AA2E26"/>
                </a:solidFill>
                <a:latin typeface="Hiragino Sans"/>
              </a:rPr>
              <a:t>③ 「main 2」的な破損は自動復旧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51960" y="4471416"/>
            <a:ext cx="690372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1A1A1A"/>
                </a:solidFill>
                <a:latin typeface="Hiragino Sans"/>
              </a:rPr>
              <a:t>祖先コミットへの参照だけと確認できれば、AIが単独で削除・復旧してよいルールを秘書室に明記済み。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5312664"/>
            <a:ext cx="10515600" cy="804672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2960" y="5312664"/>
            <a:ext cx="54864" cy="804672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1560" y="5404104"/>
            <a:ext cx="310896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 i="0">
                <a:solidFill>
                  <a:srgbClr val="AA2E26"/>
                </a:solidFill>
                <a:latin typeface="Hiragino Sans"/>
              </a:rPr>
              <a:t>④ 移行の判断トリガー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51960" y="5404104"/>
            <a:ext cx="690372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1A1A1A"/>
                </a:solidFill>
                <a:latin typeface="Hiragino Sans"/>
              </a:rPr>
              <a:t>同種の破損が繰り返し発生する／2台稼働の頻度が増えるなら、その時点で菊池さんの明示指示で着手する。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" y="6263640"/>
            <a:ext cx="10515600" cy="1524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6355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6E6E6E"/>
                </a:solidFill>
                <a:latin typeface="Hiragino Sans"/>
              </a:rPr>
              <a:t>詳細ルール：.company/secretary/CLAUDE.md「💻マルチMac運用ルール」に反映済み（2026-07-02）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
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京橋クリニック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5448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>
                <a:solidFill>
                  <a:srgbClr val="1A1A1A"/>
                </a:solidFill>
                <a:latin typeface="Hiragino Sans"/>
              </a:rPr>
              <a:t>集患 → 来院 → 再診</a:t>
            </a:r>
          </a:p>
          <a:p>
            <a:pPr algn="l">
              <a:lnSpc>
                <a:spcPct val="112000"/>
              </a:lnSpc>
            </a:pPr>
            <a:r>
              <a:rPr sz="2700" b="1">
                <a:solidFill>
                  <a:srgbClr val="1A1A1A"/>
                </a:solidFill>
                <a:latin typeface="Hiragino Sans"/>
              </a:rPr>
              <a:t>動線 詳細設計（前後比較）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E6E6E"/>
                </a:solidFill>
                <a:latin typeface="Hiragino Sans"/>
              </a:rPr>
              <a:t>斎藤内科さんの構造をTTPし、人の流入が「前後」でどう変わるかを、緻密に設計しました。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051560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見つける（HP/MEO）→ つながる（LINE）→ 来院前に問診 → 受付（アイコール）→ 再診（自動）。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各段の「取りこぼし」と「手間」を、1つずつ潰します。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いまの動線（BEFORE）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どこで「取りこぼす」か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各段に詰まりがある。だから新患が増えず、再診が抜け、残業になる。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993392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見つけにくい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HPが弱い・MEO未整備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E6E6E"/>
                </a:solidFill>
                <a:latin typeface="Hiragino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43783"/>
            <a:ext cx="1993392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C241D"/>
                </a:solidFill>
                <a:latin typeface="Hiragino Sans"/>
              </a:rPr>
              <a:t>✗ 新患が来ない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874519"/>
            <a:ext cx="1993392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電話が殺到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問い合わせが電話に集中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E6E6E"/>
                </a:solidFill>
                <a:latin typeface="Hiragino San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843783"/>
            <a:ext cx="1993392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C241D"/>
                </a:solidFill>
                <a:latin typeface="Hiragino Sans"/>
              </a:rPr>
              <a:t>✗ 受付パンク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1874519"/>
            <a:ext cx="1993392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紙の問診→転記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同じことを二度書く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E6E6E"/>
                </a:solidFill>
                <a:latin typeface="Hiragino Sans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843783"/>
            <a:ext cx="1993392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C241D"/>
                </a:solidFill>
                <a:latin typeface="Hiragino Sans"/>
              </a:rPr>
              <a:t>✗ 手間・紙の山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1874519"/>
            <a:ext cx="1993392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順番取っても来ない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遅刻・番号ゴネ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341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E6E6E"/>
                </a:solidFill>
                <a:latin typeface="Hiragino Sans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2843783"/>
            <a:ext cx="1993392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C241D"/>
                </a:solidFill>
                <a:latin typeface="Hiragino Sans"/>
              </a:rPr>
              <a:t>✗ クレーム対応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1874519"/>
            <a:ext cx="1993392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再診が来ない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架電が大変・不在多い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2843783"/>
            <a:ext cx="1993392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C241D"/>
                </a:solidFill>
                <a:latin typeface="Hiragino Sans"/>
              </a:rPr>
              <a:t>✗ 月末残業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977639"/>
            <a:ext cx="11183112" cy="141732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3977639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069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BEFORE の正体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40740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・入口（認知）が弱く、流入そのものが細い。 ・つながる手段が「来院時だけ」で、来院前後に手が届かない。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・問診も再診も人海戦術＝面談シートの「外来19時／CPAP未来院で月末残業」がこれ。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新しい動線（AFTER）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流入が増え、「ループ」が回る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入口を太くし、来院前後をLINEでつなぐ。順番(アイコール)は変えない。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993392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見つかる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HP・MEO（斎藤内科型）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6E56"/>
                </a:solidFill>
                <a:latin typeface="Hiragino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43783"/>
            <a:ext cx="1993392" cy="4572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6E56"/>
                </a:solidFill>
                <a:latin typeface="Hiragino Sans"/>
              </a:rPr>
              <a:t>○ 新患の流入↑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874519"/>
            <a:ext cx="1993392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LINEでつながる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HP/院内QR/問診から友だち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6E56"/>
                </a:solidFill>
                <a:latin typeface="Hiragino San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843783"/>
            <a:ext cx="1993392" cy="4572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6E56"/>
                </a:solidFill>
                <a:latin typeface="Hiragino Sans"/>
              </a:rPr>
              <a:t>○ 来院前から接点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1874519"/>
            <a:ext cx="1993392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来院前にWeb問診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記入済みで来院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6E56"/>
                </a:solidFill>
                <a:latin typeface="Hiragino Sans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843783"/>
            <a:ext cx="1993392" cy="4572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6E56"/>
                </a:solidFill>
                <a:latin typeface="Hiragino Sans"/>
              </a:rPr>
              <a:t>○ 転記ゼロ・紙減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1874519"/>
            <a:ext cx="1993392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受付はアイコール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順番はそのまま＋問診届く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3416" y="2148839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6E56"/>
                </a:solidFill>
                <a:latin typeface="Hiragino Sans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2843783"/>
            <a:ext cx="1993392" cy="4572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6E56"/>
                </a:solidFill>
                <a:latin typeface="Hiragino Sans"/>
              </a:rPr>
              <a:t>○ 受付が軽い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1874519"/>
            <a:ext cx="1993392" cy="914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1874519"/>
            <a:ext cx="1993392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1984247"/>
            <a:ext cx="1773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次回予約→自動再診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237743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6E6E6E"/>
                </a:solidFill>
                <a:latin typeface="Hiragino Sans"/>
              </a:rPr>
              <a:t>予約LINE＋リマインド/CPAP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2843783"/>
            <a:ext cx="1993392" cy="4572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2843783"/>
            <a:ext cx="18105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6E56"/>
                </a:solidFill>
                <a:latin typeface="Hiragino Sans"/>
              </a:rPr>
              <a:t>○ 再診がループ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977639"/>
            <a:ext cx="11183112" cy="14173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3977639"/>
            <a:ext cx="91440" cy="14173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069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6E56"/>
                </a:solidFill>
                <a:latin typeface="Hiragino Sans"/>
              </a:rPr>
              <a:t>AFTER の勘所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40740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・「見つける→つながる→来院→再診」が1本の線に。 ・離脱しかけの人もLINEで掘り起こし＝再診ループ。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・アイコールは止めない。LINEは順番に触らず、来院「前」と「後」だけを担う。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何をすると、どう変わるか（前後比較）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場面ごとに「いま → やること → こう変わる」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ここが今回のキモ。1行ずつ潰す。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11183112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926080"/>
                <a:gridCol w="3063240"/>
                <a:gridCol w="341071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場面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いま（BEFORE）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やること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こう変わる（AFTER）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見つけてもらう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HP弱い・MEO未整備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HP刷新＋Googleビジネス最適化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指名検索・地図流入で新患増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問い合わせ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電話に集中・受付パンク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LINE FAQ自動応答＋導線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一次対応をLINEが肩代わり・電話減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友だち化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接点が来院時だけ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HP/院内QR/問診リンクで誘導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来院前から接点・後も追える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問診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紙→転記（二度手間）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Web問診(一般/ESS/健診/化学物質)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来院前記入・転記ゼロ・紙減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本人確認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マイナの紙コピー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事前にデジタル取得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紙と手間が減る（事務の声）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当日受付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アイコール(来ない/遅刻)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アイコール継続＋順番通知は将来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受付は変えず、案内だけ届く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再診(定期/CPAP)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来ない→月末残業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次回予約LINE＋CPAP自動送付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取りこぼし減・残業を平準化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離脱者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事務がザオラル架電(不在多)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LINEで次回予約を掘り起こし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A3A3A"/>
                          </a:solidFill>
                          <a:latin typeface="Hiragino Sans"/>
                        </a:rPr>
                        <a:t>架電減・不在でも予約が取れる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流入の「数」が、どう変わるか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認知 → 接点 → 来院(新患) → 再診/継続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各段の「漏れ」を施策で塞ぐ＝同じ広告費でも残る人が増える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69748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2697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57400"/>
            <a:ext cx="2478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HP/MEOで見つかる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3317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920240"/>
            <a:ext cx="269748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920240"/>
            <a:ext cx="2697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478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接点(友だち)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54203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LINE登録で離脱を捕捉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3317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920240"/>
            <a:ext cx="269748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920240"/>
            <a:ext cx="2697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57400"/>
            <a:ext cx="2478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来院(新患)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54203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問診で来院ハードル↓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23317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9136" y="1920240"/>
            <a:ext cx="269748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1920240"/>
            <a:ext cx="2697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2057400"/>
            <a:ext cx="2478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5FA5"/>
                </a:solidFill>
                <a:latin typeface="Hiragino Sans"/>
              </a:rPr>
              <a:t>再診/継続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54203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予約・リマインドで継続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11880"/>
            <a:ext cx="5486400" cy="1828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11880"/>
            <a:ext cx="91440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03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BEFORE（漏れが多い）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069080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・認知が細い（指名検索/地図に出ない）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・接点が来院時だけ→一見客が消える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・紙問診で来院ハードル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・再診は人力架電→不在で抜ける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3611880"/>
            <a:ext cx="5486400" cy="182880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611880"/>
            <a:ext cx="91440" cy="18288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3703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6E56"/>
                </a:solidFill>
                <a:latin typeface="Hiragino Sans"/>
              </a:rPr>
              <a:t>AFTER（漏れを塞ぐ）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069080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・HP/MEOで認知の入口を太く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・LINE登録で一見客を捕捉→追える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・Web問診で来院ハードル↓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・予約/リマインド自動で再診が残る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HP・MEO レイアウト設計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斎藤内科の構造をTTP → 京橋版ワイヤーフレーム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左＝ページの並び（上から）／右＝なぜ効くか（TTPの勝ち所）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484632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810512"/>
            <a:ext cx="4626864" cy="493776"/>
          </a:xfrm>
          <a:prstGeom prst="rect">
            <a:avLst/>
          </a:prstGeom>
          <a:solidFill>
            <a:srgbClr val="AA2E26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81051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iragino Sans"/>
              </a:rPr>
              <a:t>ヘッダー：ロゴ ｜ ☎予約専用 ｜ [WEB予約][問診][LINE]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2359152"/>
            <a:ext cx="4626864" cy="493776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35915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ヒーロー：1メッセージ ＋ [予約する]大ボタン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907792"/>
            <a:ext cx="4626864" cy="493776"/>
          </a:xfrm>
          <a:prstGeom prst="rect">
            <a:avLst/>
          </a:prstGeom>
          <a:solidFill>
            <a:srgbClr val="ECE8D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90779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診療時間・アクセス（住所/電話/最寄駅 徒歩◯分）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456432"/>
            <a:ext cx="4626864" cy="493776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45643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SNS / LINE 連携バー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4005072"/>
            <a:ext cx="4626864" cy="493776"/>
          </a:xfrm>
          <a:prstGeom prst="rect">
            <a:avLst/>
          </a:prstGeom>
          <a:solidFill>
            <a:srgbClr val="ECE8D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400507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お知らせ（ブログ・通信＝月次更新）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553712"/>
            <a:ext cx="4626864" cy="493776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455371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当院の特徴 ×4 ／ 診療科 カード ×9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5102352"/>
            <a:ext cx="4626864" cy="493776"/>
          </a:xfrm>
          <a:prstGeom prst="rect">
            <a:avLst/>
          </a:prstGeom>
          <a:solidFill>
            <a:srgbClr val="ECE8D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10235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院長あいさつ・経歴／提携病院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650992"/>
            <a:ext cx="4626864" cy="493776"/>
          </a:xfrm>
          <a:prstGeom prst="rect">
            <a:avLst/>
          </a:prstGeom>
          <a:solidFill>
            <a:srgbClr val="F1ECE1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650992"/>
            <a:ext cx="4434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1A"/>
                </a:solidFill>
                <a:latin typeface="Hiragino Sans"/>
              </a:rPr>
              <a:t>地図（NAP再）／フッター（NAP再）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5532120"/>
            <a:ext cx="914400" cy="457200"/>
          </a:xfrm>
          <a:prstGeom prst="round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553212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iragino Sans"/>
              </a:rPr>
              <a:t>予約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59893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↑ 右下に常時フローティングCTA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783080"/>
            <a:ext cx="60350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0" y="1783080"/>
            <a:ext cx="82296" cy="8412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745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85FA5"/>
                </a:solidFill>
                <a:latin typeface="Hiragino Sans"/>
              </a:rPr>
              <a:t>予約専用ダイヤルをヘッダー独立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2240280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迷わせない。電話したい人を取りこぼさない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697480"/>
            <a:ext cx="60350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0" y="2697480"/>
            <a:ext cx="82296" cy="8412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7889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85FA5"/>
                </a:solidFill>
                <a:latin typeface="Hiragino Sans"/>
              </a:rPr>
              <a:t>WEB予約/問診/LINE＋右下フローティング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3154680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どの画面でも予約・問診に1タップ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3611880"/>
            <a:ext cx="60350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0" y="3611880"/>
            <a:ext cx="82296" cy="8412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7033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85FA5"/>
                </a:solidFill>
                <a:latin typeface="Hiragino Sans"/>
              </a:rPr>
              <a:t>NAP（住所/電話/最寄駅）を3回以上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0448" y="4069080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Googleマップ上位＝MEOの基本。地図流入を取る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4526280"/>
            <a:ext cx="60350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4526280"/>
            <a:ext cx="82296" cy="8412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6177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85FA5"/>
                </a:solidFill>
                <a:latin typeface="Hiragino Sans"/>
              </a:rPr>
              <a:t>診療科を9つカード化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0448" y="4983480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検索キーワードの入口を増やす（流入↑）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5440680"/>
            <a:ext cx="60350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0" y="5440680"/>
            <a:ext cx="82296" cy="8412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55321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85FA5"/>
                </a:solidFill>
                <a:latin typeface="Hiragino Sans"/>
              </a:rPr>
              <a:t>院長経歴・提携病院・ブログ月次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0448" y="5897880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</a:rPr>
              <a:t>信頼＋新鮮さ＝指名検索とクチコミに効く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問診の細部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種類で分岐 → 必須/任意 → 自動採点 → 送信後の処理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ここまで決めておけば、GO後すぐ作れる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269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5120640"/>
                <a:gridCol w="3593592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問診の種類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主な項目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仕掛け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一般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症状/発症/体温/既往・家族歴/アレルギー/喫煙飲酒/妊娠/ジェネリック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「当院を何で知ったか」を集患タグに自動分類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睡眠時無呼吸(ESS)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身長体重＋8状況の眠気(0〜3)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合計を自動採点→11点以上は受付に印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健診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健診メニュー別の事前確認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予約フォームと連結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化学物質過敏症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専用問診（症状・経過）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送信→先生に電話フォロー依頼が飛ぶ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526280"/>
            <a:ext cx="11183112" cy="13716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2628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6177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送信後の自動処理（共通）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560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① 患者さんへ自動お礼　② タグ付け（問診記入済／CPAP候補／集患経路 等）　③ 受付の一覧に届く（氏名・要点）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④ 将来：電子カルテ(Medicom)へ取り込み＝二度入力を消す（連携の深さは要確認）。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お知らせ・リマインドの細部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いつ・誰に・何を・どんな文面で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押し売らない。お知らせ止まりで、判断は人。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1118311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3319272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配信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対象（タグ）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タイミング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文面の方針</a:t>
                      </a:r>
                    </a:p>
                  </a:txBody>
                  <a:tcPr anchor="ctr" marL="73152" marR="45720" marT="18288" marB="18288">
                    <a:solidFill>
                      <a:srgbClr val="AA2E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再診リマインド(ON)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再診・定期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次回目安の数日前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来院の目安をそっと。お知らせ止まり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CPAP 次回予約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CPAP候補/装着中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受診後＋定期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次回予約をご案内（自動）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再診促し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最終来院から一定経過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期間後に1回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次回予約の導線。催促でなく案内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健診・化学物質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該当・申込者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申込/案内時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専用問診・予約フォームへ誘導</a:t>
                      </a:r>
                    </a:p>
                  </a:txBody>
                  <a:tcPr anchor="ctr" marL="73152" marR="45720" marT="18288" marB="18288">
                    <a:solidFill>
                      <a:srgbClr val="F9F6E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お知らせ/休診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友だち全員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随時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3A3A"/>
                          </a:solidFill>
                          <a:latin typeface="Hiragino Sans"/>
                        </a:rPr>
                        <a:t>掲示の代わりに。読まれる形で</a:t>
                      </a:r>
                    </a:p>
                  </a:txBody>
                  <a:tcPr anchor="ctr" marL="73152" marR="45720" marT="18288" marB="18288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93776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93776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93776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※ どれも「お知らせ」。医療・予約可否の判断は、これまでどおり人が行います（中核：売り込まない／患者目線）。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4652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京橋クリニック 集患→来院→再診 動線 詳細設計（前後比較）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まとめ ＆ GO判断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658368"/>
            <a:ext cx="146304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この詳細設計で、作り込みに入ってよいか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GOで、まず問診から実物を作ります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83112" cy="137160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09728" cy="1371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6E56"/>
                </a:solidFill>
                <a:latin typeface="Hiragino Sans"/>
              </a:rPr>
              <a:t>設計のまとめ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入口を太く（HP/MEO）→ LINEでつなぐ → 来院前に問診 → 受付はアイコールのまま → 再診を自動ループ。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1A1A1A"/>
                </a:solidFill>
                <a:latin typeface="Hiragino Sans"/>
              </a:rPr>
              <a:t>各段の「取りこぼし」と「手間」を、前後比較表のとおり1行ずつ潰す。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91840"/>
            <a:ext cx="5486400" cy="219456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91440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83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先に教えてほしい2点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9476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①「最後の1週間」に架電、の運用の意味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②サインエコーのLINE導入、とは？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2918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291840"/>
            <a:ext cx="91440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383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GOで着手する順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79476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P1：問診（一般・ESS）の実物→受付に届く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P2：リマインド/CPAP/再診促し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P3：HP・MEO（斎藤内科TTP）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この詳細設計でGO、でよろしいですか？（直す所があれば、その行だけ言ってください）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
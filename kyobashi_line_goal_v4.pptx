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THE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完成したらこうなる ── 来院の流れに沿って、両方が変わる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左から「問い合わせ→予約→来院前→来院→次回へ」の順。各段で患者の体験とクリニックの効果を分けて整理（宮崎指摘を反映）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874519"/>
          <a:ext cx="11365992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965960"/>
                <a:gridCol w="1965960"/>
                <a:gridCol w="1965960"/>
                <a:gridCol w="1956816"/>
                <a:gridCol w="1956816"/>
              </a:tblGrid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視点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① 問い合わせ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② 予約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③ 来院前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④ 来院・受付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⑤ 次回へ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患者は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質問に即・自動で回答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LINEで予約・変更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スマホで事前に問診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あと何人かをLINEで通知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再診をリマインド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クリニックは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難しい質問だけ電話＝本数減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電話予約が減る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聞き取り・転記が消える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クレーム対応が減る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取りこぼし防止＝残業減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48056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患者は「便利・待ち時間が減る」／クリニックは「電話・転記・取りこぼしが減って残業が減る」。同じ仕組みの「裏表」。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98348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98348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98348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今できているのは、この表の中身ぜんぶの「実物」（スライド・リッチメニュー・動くデモ4本・リマインド3本・FAQ・問診・予約）。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15000"/>
            <a:ext cx="11183112" cy="56692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71500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71500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Hiragino Sans"/>
              </a:rPr>
              <a:t>残るはクリニック固有値の確定と、LIVE化の同意（先生の「作ってOK」＋LINE登録の電話認証＝菊池の1タップ）。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WHY FEWER CALLS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なぜ電話が減るのか ── 自動応答チャットボット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問い合わせの大半をLINEが即・自動で解決。難しい質問だけ電話へ。受付の一次対応をLINEが肩代わりする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697480" cy="2240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2697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39111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Hiragino Sans"/>
              </a:rPr>
              <a:t>患者の問い合わせ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3288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「今日やってる?」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89864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「予約したい」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6440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「持ち物は?」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63016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「本人確認は?」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73552" y="2743199"/>
            <a:ext cx="292608" cy="50292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1874519"/>
            <a:ext cx="2788920" cy="2240280"/>
          </a:xfrm>
          <a:prstGeom prst="rect">
            <a:avLst/>
          </a:prstGeom>
          <a:solidFill>
            <a:srgbClr val="F4E4E2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1874519"/>
            <a:ext cx="27889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057399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C241D"/>
                </a:solidFill>
                <a:latin typeface="Hiragino Sans"/>
              </a:rPr>
              <a:t>LINEが自動で返信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587751"/>
            <a:ext cx="2331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キーワード／FAQで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即・24時間・待たせず回答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（本人確認・受付ルール・</a:t>
            </a:r>
          </a:p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診療時間・予約方法 など）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473952" y="2743199"/>
            <a:ext cx="292608" cy="50292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1874519"/>
            <a:ext cx="4754880" cy="1051560"/>
          </a:xfrm>
          <a:prstGeom prst="rect">
            <a:avLst/>
          </a:prstGeom>
          <a:solidFill>
            <a:srgbClr val="E1F5E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03720" y="1874519"/>
            <a:ext cx="91440" cy="105156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020823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Hiragino Sans"/>
              </a:rPr>
              <a:t>その場で解決 → 電話ゼロ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404871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よくある質問の大半（例：7〜8割）はLINEで完結。患者は電話不要・待ち時間ゼロ。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063239"/>
            <a:ext cx="4754880" cy="1051560"/>
          </a:xfrm>
          <a:prstGeom prst="rect">
            <a:avLst/>
          </a:prstGeom>
          <a:solidFill>
            <a:srgbClr val="ECE8D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03720" y="3063239"/>
            <a:ext cx="91440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3209543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難しい質問だけ → お電話をご案内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593591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自動で解決しない件のみ「お電話はこちら」。受付が出る電話が必要な分だけに絞られる。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Hiragino Sans"/>
              </a:rPr>
              <a:t>受付が対応する電話の本数（イメージ）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18304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現状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4718304"/>
            <a:ext cx="8686800" cy="365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40" y="4718304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Hiragino Sans"/>
              </a:rPr>
              <a:t>全部 受付が出る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75504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導入後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5175504"/>
            <a:ext cx="8686800" cy="36576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54480" y="5175504"/>
            <a:ext cx="2194560" cy="365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91640" y="5175504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Hiragino Sans"/>
              </a:rPr>
              <a:t>難しい分だけ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175504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E6E6E"/>
                </a:solidFill>
                <a:latin typeface="Hiragino Sans"/>
              </a:rPr>
              <a:t>LINEが解決（電話なし）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85216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85216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58521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アンケート直結：事務の「鳴り止まない電話・クレーム対応」を、LINEの自動応答が一次対応で巻き取る → 受付が出る電話の本数が減る。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患者が使う画面 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リッチメニューを押した先 ── この3画面の中身をつくる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【患者側の体験】完成後、患者はLINE内でここまで完結 → 【クリニック側】受付の聞き取り・紙→電カル転記が減る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017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301752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ご予約・再診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395728"/>
            <a:ext cx="2651760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39572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診療科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39572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Hiragino Sans"/>
              </a:rPr>
              <a:t>一般内科 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2944368"/>
            <a:ext cx="2651760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94436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希望日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4436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Hiragino Sans"/>
              </a:rPr>
              <a:t>6/28(土) 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3493008"/>
            <a:ext cx="2651760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93008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時間帯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93008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Hiragino Sans"/>
              </a:rPr>
              <a:t>10:00 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4114800"/>
            <a:ext cx="2651760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11480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予約を確定する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1828800"/>
            <a:ext cx="3017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8288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Web問診（来院前）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3957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23957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□ 発熱・咳・鼻水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8529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8529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□ 胸の症状（CPAP）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3101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8" y="33101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既往歴：＿＿＿＿＿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767328"/>
            <a:ext cx="2651760" cy="384048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3767328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Hiragino Sans"/>
              </a:rPr>
              <a:t>服用中の薬：＿＿＿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4224528"/>
            <a:ext cx="2651760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4224528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送信する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1828800"/>
            <a:ext cx="3017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1828800"/>
            <a:ext cx="301752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8288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よくある質問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2395728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67928" y="2395728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本人確認・マイナ保険証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2926080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7928" y="292608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受付・順番のルール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58200" y="3456432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7928" y="3456432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化学物質過敏症のご相談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3986784"/>
            <a:ext cx="2651760" cy="457200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67928" y="3986784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Hiragino Sans"/>
              </a:rPr>
              <a:t>› 休診日・診療時間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532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2E26"/>
                </a:solidFill>
                <a:latin typeface="Hiragino Sans"/>
              </a:rPr>
              <a:t>① 予約フォーム（予約URL）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532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2E26"/>
                </a:solidFill>
                <a:latin typeface="Hiragino Sans"/>
              </a:rPr>
              <a:t>② Web問診フォーム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532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A2E26"/>
                </a:solidFill>
                <a:latin typeface="Hiragino Sans"/>
              </a:rPr>
              <a:t>③ FAQページ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94360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594360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594360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①でつくるのは、この3画面の「中身」。アンケート直結：予約=CPAP離脱対策／問診=待ち時間短縮／FAQ=本人確認・化学物質過敏症の電話を減らす。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｜ 公式LINE ゴールイメージ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患者に届くメッセージ 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自動で届く ── 再診リマインド3本の中身をつくる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【患者側】患者のLINEにこう届く → 【クリニック側】CPAPの取りこぼしが減り、月末の残業が減る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4114800" cy="4160520"/>
          </a:xfrm>
          <a:prstGeom prst="roundRect">
            <a:avLst/>
          </a:prstGeom>
          <a:solidFill>
            <a:srgbClr val="97B3C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4114800" cy="457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iragino Sans"/>
              </a:rPr>
              <a:t>京橋クリニック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432304"/>
            <a:ext cx="356616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432304"/>
            <a:ext cx="334670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【京橋クリニック】CPAPをご利用の皆さまへ。今月の定期診察の時期です。データ確認と処方のため、ご予約をお願いします ▶ ご予約はこちら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675888"/>
            <a:ext cx="3566160" cy="932688"/>
          </a:xfrm>
          <a:prstGeom prst="rect">
            <a:avLst/>
          </a:prstGeom>
          <a:solidFill>
            <a:srgbClr val="8DE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75888"/>
            <a:ext cx="3346704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3360A"/>
                </a:solidFill>
                <a:latin typeface="Hiragino Sans"/>
              </a:rPr>
              <a:t>ご予約ありがとうございます。6/28(土)10:00 でお取りしました。変更は『予約変更』とお送りください。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718304"/>
            <a:ext cx="356616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718304"/>
            <a:ext cx="334670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明日6/28(土)10:00 のご予約です。保険証をお持ちください。来院前のWeb問診で待ち時間が短くなります ▶ 問診を始める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828800"/>
            <a:ext cx="6309360" cy="11704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49240" y="1828800"/>
            <a:ext cx="91440" cy="11704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193852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① CPAP定期リマインド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33172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A2E26"/>
                </a:solidFill>
                <a:latin typeface="Hiragino Sans"/>
              </a:rPr>
              <a:t>タイミング：毎月初／対象=CPAP・定期タグ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596896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狙い：毎月来ない人の取りこぼし防止＝月末まとめ会計の残業を削る（効果が数字で出る一手）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3127248"/>
            <a:ext cx="6309360" cy="11704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9240" y="3127248"/>
            <a:ext cx="91440" cy="11704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3236976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② 予約確認（自動返信）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3630168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A2E26"/>
                </a:solidFill>
                <a:latin typeface="Hiragino Sans"/>
              </a:rPr>
              <a:t>タイミング：予約された直後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3895344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狙い：予約の取り違え・無断キャンセルを防ぐ。変更導線もLINE内に集約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4425696"/>
            <a:ext cx="6309360" cy="11704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49240" y="4425696"/>
            <a:ext cx="91440" cy="11704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4535424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③ 前日リマインド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928616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A2E26"/>
                </a:solidFill>
                <a:latin typeface="Hiragino Sans"/>
              </a:rPr>
              <a:t>タイミング：予約前日18時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5193792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狙い：来院率UP＋Web問診へ誘導で当日の受付・待ち時間を短縮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08076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608076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60807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②でつくるのは、この3本の「文面」。配信はエルメ無料で着手 → 来院率と月末残業を1〜2ヶ月測れば、成果報酬の根拠になる。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
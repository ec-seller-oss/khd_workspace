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MARKET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659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Hiragino Sans"/>
              </a:rPr>
              <a:t>クリニックLINE導入 市場調査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AA2E26"/>
                </a:solidFill>
                <a:latin typeface="Hiragino Sans"/>
              </a:rPr>
              <a:t>他社はどう売り、我々は何で勝つか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E6E6E"/>
                </a:solidFill>
                <a:latin typeface="Hiragino Sans"/>
              </a:rPr>
              <a:t>LINE導入を売る各社の販売手法・価格を整理し、KHDだけができること／逆にできないこと（弱み）まで網羅。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3383280" cy="1234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434840"/>
            <a:ext cx="3383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9028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Hiragino Sans"/>
              </a:rPr>
              <a:t>他社の初期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A2E26"/>
                </a:solidFill>
                <a:latin typeface="Hiragino Sans"/>
              </a:rPr>
              <a:t>20〜250万円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4434840"/>
            <a:ext cx="3383280" cy="1234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4434840"/>
            <a:ext cx="3383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59028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Hiragino Sans"/>
              </a:rPr>
              <a:t>他社の月額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9377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A2E26"/>
                </a:solidFill>
                <a:latin typeface="Hiragino Sans"/>
              </a:rPr>
              <a:t>5〜40万円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4434840"/>
            <a:ext cx="3383280" cy="1234440"/>
          </a:xfrm>
          <a:prstGeom prst="rect">
            <a:avLst/>
          </a:prstGeom>
          <a:solidFill>
            <a:srgbClr val="F4E4E2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4434840"/>
            <a:ext cx="3383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459028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Hiragino Sans"/>
              </a:rPr>
              <a:t>KHD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49377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A2E26"/>
                </a:solidFill>
                <a:latin typeface="Hiragino Sans"/>
              </a:rPr>
              <a:t>0円＋成果報酬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98932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Hiragino Sans"/>
              </a:rPr>
              <a:t>出典：Lステップ構築代行各社・クリニック向けLINE支援各社の公開価格（2025-2026）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クリニックLINE導入 市場調査 ｜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WHO SELLS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市場のプレイヤーは大きく4類型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誰が・何を・いくらで売っているか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83112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3200400"/>
                <a:gridCol w="3291840"/>
                <a:gridCol w="2313432"/>
              </a:tblGrid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類型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代表例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売り方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価格帯（目安）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Lステップ構築代行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正規代理店／フリーランス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シナリオ・リッチメニュー構築＋月額運用代行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初期20〜250万＋月5〜40万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クリニック特化 LINE/予約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カルー／メディカル革命byGMO／CLIUS／ヒーロー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HP制作・診療予約システムにLINEを付帯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初期8.8万〜＋月3,300円〜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MA・拡張ツール本体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Lステップ／エルメ／Liny／MicoCloud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ツール月額課金＋販売パートナー（代理店）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月額課金（数千〜数万）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広告・運用代理店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LINE広告代理店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広告→友だち追加→ステップ配信で育成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月10〜30万＋広告費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→ 共通点：「ツールを売る」「高い初期費用＋月額固定を取る」モデル。効果が出なくても費用は発生。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クリニックLINE導入 市場調査 ｜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HOW THEY SELL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他社の「売り方」5パターン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ここを知ると、我々の刺し方が決まる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00" cy="12984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91440" cy="12984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高額初期＋月額固定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E6E6E"/>
                </a:solidFill>
                <a:latin typeface="Hiragino Sans"/>
              </a:rPr>
              <a:t>初期20〜250万・月5〜40万。効果に関わらず固定収益（院はリスクを負う）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486400" cy="12984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91440" cy="12984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無料セミナー集客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E6E6E"/>
                </a:solidFill>
                <a:latin typeface="Hiragino Sans"/>
              </a:rPr>
              <a:t>「LINEで集客」セミナー→構築・ツール契約へ誘導（情報→高額提案）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01568"/>
            <a:ext cx="5486400" cy="12984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01568"/>
            <a:ext cx="91440" cy="12984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51129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代理店・パートナー制度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04488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E6E6E"/>
                </a:solidFill>
                <a:latin typeface="Hiragino Sans"/>
              </a:rPr>
              <a:t>Liny等がツールの販売代理店を募集→販路を面で広げる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401568"/>
            <a:ext cx="5486400" cy="12984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401568"/>
            <a:ext cx="91440" cy="12984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351129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フリーランス副業市場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04488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E6E6E"/>
                </a:solidFill>
                <a:latin typeface="Hiragino Sans"/>
              </a:rPr>
              <a:t>「LINE構築代行で稼ぐ」副業層が格安〜中価格で構築を量産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974336"/>
            <a:ext cx="11384280" cy="1298448"/>
          </a:xfrm>
          <a:prstGeom prst="rect">
            <a:avLst/>
          </a:prstGeom>
          <a:solidFill>
            <a:srgbClr val="ECE8D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974336"/>
            <a:ext cx="91440" cy="12984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5084064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自社もLINEで実演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77256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広告→友だち追加→ステップ配信で「自分たちが結果を出して」見せる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8076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※ ほとんどが「ツール販売」と「固定費」。「中立で・成果報酬で・自分で作る」プレイヤーは少ない＝そこが空白。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クリニックLINE導入 市場調査 ｜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ONLY KHD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我々しかできない（独自性）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他社の前提＝高額ツール販売を、ぜんぶ外している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1207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91440" cy="120700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9280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F6E56"/>
                </a:solidFill>
                <a:latin typeface="Hiragino Sans"/>
              </a:rPr>
              <a:t>初期0円・月額0円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OSS（LINE Harness）×Cloudflare無料枠。他社の初期20-250万＋月額固定がゼロ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83080"/>
            <a:ext cx="5486400" cy="1207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783080"/>
            <a:ext cx="91440" cy="120700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189280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F6E56"/>
                </a:solidFill>
                <a:latin typeface="Hiragino Sans"/>
              </a:rPr>
              <a:t>AIで全構築・全運用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Claude Codeで構築〜運用。京橋は実質1日で本番化。人を増やさず回せる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91256"/>
            <a:ext cx="5486400" cy="1207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91256"/>
            <a:ext cx="91440" cy="120700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30098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F6E56"/>
                </a:solidFill>
                <a:latin typeface="Hiragino Sans"/>
              </a:rPr>
              <a:t>中立（ツールを売らない）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94176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特定ツールの代理店でない→院に最適な組合せを選べる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191256"/>
            <a:ext cx="5486400" cy="1207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191256"/>
            <a:ext cx="91440" cy="120700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330098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F6E56"/>
                </a:solidFill>
                <a:latin typeface="Hiragino Sans"/>
              </a:rPr>
              <a:t>院インサイダー視点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694176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福井＝事務長／医療コンサル。経営課題の翻訳・現場スタッフの感情に配慮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99432"/>
            <a:ext cx="5486400" cy="1207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599432"/>
            <a:ext cx="91440" cy="120700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709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F6E56"/>
                </a:solidFill>
                <a:latin typeface="Hiragino Sans"/>
              </a:rPr>
              <a:t>成果報酬が可能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102352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固定費0だから「効果が出た分だけ」が成立。院のリスクを消せる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599432"/>
            <a:ext cx="5486400" cy="1207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599432"/>
            <a:ext cx="91440" cy="1207008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4709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F6E56"/>
                </a:solidFill>
                <a:latin typeface="Hiragino Sans"/>
              </a:rPr>
              <a:t>横展開パイプライン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102352"/>
            <a:ext cx="4983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1院で型化→次院は固有値の差し替えだけ。量産できる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クリニックLINE導入 市場調査 ｜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NOT KHD (yet)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逆に、我々にはできない（弱み）と その補い方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正直に弱みを置き、潰し方をセットで持つ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83112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7760"/>
                <a:gridCol w="6245352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我々にはできない／弱い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補い方（戦い方）</a:t>
                      </a:r>
                    </a:p>
                  </a:txBody>
                  <a:tcPr anchor="ctr" marL="82296" marR="54864" marT="27432" marB="27432">
                    <a:solidFill>
                      <a:srgbClr val="AA2E2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大量の導入実績・ブランド信頼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小さく始めて実績を積む（京橋が実証1号）。事例で語る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24時間サポート・専任CS体制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少数精鋭の伴走で対応。規模拡大時に体制を作る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レセコン・電子カルテの正式API連携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メーカー（中央ビジコム等）と住み分け＝「器」は任せ「中身」を担う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大規模な営業網・代理店網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福井ルート・紹介で「質」重視。数で勝負しない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法務・医療広告ガイドラインの専門体制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専門家と連携・公開GL順守。誇大表現を避ける</a:t>
                      </a:r>
                    </a:p>
                  </a:txBody>
                  <a:tcPr anchor="ctr" marL="82296" marR="54864" marT="27432" marB="27432">
                    <a:solidFill>
                      <a:srgbClr val="F1ECE1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OSSの保守責任・障害復旧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自己保守＋影響範囲を限定（まず1機能から）。重要連携は冗長化</a:t>
                      </a:r>
                    </a:p>
                  </a:txBody>
                  <a:tcPr anchor="ctr" marL="82296" marR="54864" marT="27432" marB="27432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→ 弱みは「実績・体制・正式連携」。「小さく実績／メーカーと住み分け／成果で信頼」で埋める。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クリニックLINE導入 市場調査 ｜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勝ち筋 ── 空白は「中立 × 低コスト × 中身を担う」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他社が「ツールを高く売る」なら、我々は「中身と経営を担う中立の伴走者」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6949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694944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920240"/>
            <a:ext cx="15240" cy="393192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6E6E6E"/>
                </a:solidFill>
                <a:latin typeface="Hiragino Sans"/>
              </a:rPr>
              <a:t>低コスト・低リスク（院）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33872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6E6E6E"/>
                </a:solidFill>
                <a:latin typeface="Hiragino Sans"/>
              </a:rPr>
              <a:t>高コスト・固定費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6E6E6E"/>
                </a:solidFill>
                <a:latin typeface="Hiragino Sans"/>
              </a:rPr>
              <a:t>ツールを売る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72160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6E6E6E"/>
                </a:solidFill>
                <a:latin typeface="Hiragino Sans"/>
              </a:rPr>
              <a:t>中身・経営を担う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2377440"/>
            <a:ext cx="2377440" cy="914400"/>
          </a:xfrm>
          <a:prstGeom prst="rect">
            <a:avLst/>
          </a:prstGeom>
          <a:solidFill>
            <a:srgbClr val="E1F5EE"/>
          </a:solidFill>
          <a:ln w="1905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4688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6E56"/>
                </a:solidFill>
                <a:latin typeface="Hiragino Sans"/>
              </a:rPr>
              <a:t>KHD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8346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0F6E56"/>
                </a:solidFill>
                <a:latin typeface="Hiragino Sans"/>
              </a:rPr>
              <a:t>中立・0円・成果報酬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0F6E56"/>
                </a:solidFill>
                <a:latin typeface="Hiragino Sans"/>
              </a:rPr>
              <a:t>×AI×経営伴走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480560"/>
            <a:ext cx="2468880" cy="914400"/>
          </a:xfrm>
          <a:prstGeom prst="rect">
            <a:avLst/>
          </a:prstGeom>
          <a:solidFill>
            <a:srgbClr val="ECE8D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720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6E6E6E"/>
                </a:solidFill>
                <a:latin typeface="Hiragino Sans"/>
              </a:rPr>
              <a:t>既存の構築代行・ツール各社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749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高額初期＋月額固定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9202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勝ち筋（3つ）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2468880"/>
            <a:ext cx="384048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2468880"/>
            <a:ext cx="73152" cy="1005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256032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リスクを消す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292608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固定費0×成果報酬で、院の「払って効果ゼロ」を排除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611880"/>
            <a:ext cx="384048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3611880"/>
            <a:ext cx="73152" cy="1005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370332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中立で最適化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7" y="406908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ツールを売らないから、院に合う組合せを選べる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4754880"/>
            <a:ext cx="384048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4754880"/>
            <a:ext cx="73152" cy="10058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484632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経営に接続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7" y="5212080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LINEで終わらず、承継・テナント等の本丸へつなぐ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
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77240"/>
            <a:ext cx="10515600" cy="502920"/>
          </a:xfrm>
          <a:prstGeom prst="rect">
            <a:avLst/>
          </a:prstGeom>
          <a:noFill/>
        </p:spPr>
        <p:txBody>
          <a:bodyPr wrap="square">
            <a:spAutoFit/>
          </a:bodyPr>
          <a:lstStyle/>
          <a:p>
            <a:pPr algn="l"/>
            <a:r>
              <a:rPr sz="1700" b="0" i="1">
                <a:solidFill>
                  <a:srgbClr val="E8A800"/>
                </a:solidFill>
              </a:rPr>
              <a:t>「物件を追うな、情報の非対称性を狩れ」</a:t>
            </a:r>
          </a:p>
        </p:txBody>
      </p:sp>
      <p:sp>
        <p:nvSpPr>
          <p:cNvPr id="4" name="TextBox 3"/>
          <p:cNvSpPr txBox="1"/>
          <p:nvPr/>
        </p:nvSpPr>
        <p:spPr>
          <a:xfrm>
            <a:off x="822960" y="1417320"/>
            <a:ext cx="10515600" cy="1097280"/>
          </a:xfrm>
          <a:prstGeom prst="rect">
            <a:avLst/>
          </a:prstGeom>
          <a:noFill/>
        </p:spPr>
        <p:txBody>
          <a:bodyPr wrap="square">
            <a:spAutoFit/>
          </a:bodyPr>
          <a:lstStyle/>
          <a:p>
            <a:pPr algn="l"/>
            <a:r>
              <a:rPr sz="4000" b="1" i="0">
                <a:solidFill>
                  <a:srgbClr val="FFFFFF"/>
                </a:solidFill>
              </a:rPr>
              <a:t>医療専門不動産のビジネスモデル</a:t>
            </a:r>
          </a:p>
        </p:txBody>
      </p:sp>
      <p:sp>
        <p:nvSpPr>
          <p:cNvPr id="5" name="TextBox 4"/>
          <p:cNvSpPr txBox="1"/>
          <p:nvPr/>
        </p:nvSpPr>
        <p:spPr>
          <a:xfrm>
            <a:off x="822960" y="2743200"/>
            <a:ext cx="10058400" cy="502920"/>
          </a:xfrm>
          <a:prstGeom prst="rect">
            <a:avLst/>
          </a:prstGeom>
          <a:noFill/>
        </p:spPr>
        <p:txBody>
          <a:bodyPr wrap="square">
            <a:spAutoFit/>
          </a:bodyPr>
          <a:lstStyle/>
          <a:p>
            <a:pPr algn="l"/>
            <a:r>
              <a:rPr sz="1500" b="0" i="0">
                <a:solidFill>
                  <a:srgbClr val="CCD6E0"/>
                </a:solidFill>
              </a:rPr>
              <a:t>一般不動産屋との事業モデルの比較、そして「30年単位で勝つ」ための設計思想。</a:t>
            </a:r>
          </a:p>
        </p:txBody>
      </p:sp>
      <p:sp>
        <p:nvSpPr>
          <p:cNvPr id="6" name="Rectangle 5"/>
          <p:cNvSpPr/>
          <p:nvPr/>
        </p:nvSpPr>
        <p:spPr>
          <a:xfrm>
            <a:off x="822960" y="3429000"/>
            <a:ext cx="9144000" cy="36576"/>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566160"/>
            <a:ext cx="9144000" cy="411480"/>
          </a:xfrm>
          <a:prstGeom prst="rect">
            <a:avLst/>
          </a:prstGeom>
          <a:noFill/>
        </p:spPr>
        <p:txBody>
          <a:bodyPr wrap="square">
            <a:spAutoFit/>
          </a:bodyPr>
          <a:lstStyle/>
          <a:p>
            <a:pPr algn="l"/>
            <a:r>
              <a:rPr sz="1400" b="0" i="0">
                <a:solidFill>
                  <a:srgbClr val="CCD6E0"/>
                </a:solidFill>
              </a:rPr>
              <a:t>チームてっかん  |  菊池　　宅建業免許：東京都知事 (4)　　2026年</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6510528"/>
            <a:ext cx="12188952" cy="34747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37960"/>
            <a:ext cx="9144000" cy="292608"/>
          </a:xfrm>
          <a:prstGeom prst="rect">
            <a:avLst/>
          </a:prstGeom>
          <a:noFill/>
        </p:spPr>
        <p:txBody>
          <a:bodyPr wrap="square">
            <a:spAutoFit/>
          </a:bodyPr>
          <a:lstStyle/>
          <a:p>
            <a:pPr algn="l"/>
            <a:r>
              <a:rPr sz="900" b="0" i="0">
                <a:solidFill>
                  <a:srgbClr val="CCD6E0"/>
                </a:solidFill>
              </a:rPr>
              <a:t>医療専門不動産  |  ビジネスモデル</a:t>
            </a:r>
          </a:p>
        </p:txBody>
      </p:sp>
      <p:sp>
        <p:nvSpPr>
          <p:cNvPr id="4" name="Rectangle 3"/>
          <p:cNvSpPr/>
          <p:nvPr/>
        </p:nvSpPr>
        <p:spPr>
          <a:xfrm>
            <a:off x="0" y="0"/>
            <a:ext cx="12188952"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972800" cy="594360"/>
          </a:xfrm>
          <a:prstGeom prst="rect">
            <a:avLst/>
          </a:prstGeom>
          <a:noFill/>
        </p:spPr>
        <p:txBody>
          <a:bodyPr wrap="square">
            <a:spAutoFit/>
          </a:bodyPr>
          <a:lstStyle/>
          <a:p>
            <a:pPr algn="l"/>
            <a:r>
              <a:rPr sz="2400" b="1" i="0">
                <a:solidFill>
                  <a:srgbClr val="FFFFFF"/>
                </a:solidFill>
              </a:rPr>
              <a:t>AGENDA  /  本日の構成</a:t>
            </a:r>
          </a:p>
        </p:txBody>
      </p:sp>
      <p:sp>
        <p:nvSpPr>
          <p:cNvPr id="6" name="Rectangle 5"/>
          <p:cNvSpPr/>
          <p:nvPr/>
        </p:nvSpPr>
        <p:spPr>
          <a:xfrm>
            <a:off x="457200" y="1234440"/>
            <a:ext cx="2788920" cy="42976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234440"/>
            <a:ext cx="278892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371600"/>
            <a:ext cx="2560320" cy="502920"/>
          </a:xfrm>
          <a:prstGeom prst="rect">
            <a:avLst/>
          </a:prstGeom>
          <a:noFill/>
        </p:spPr>
        <p:txBody>
          <a:bodyPr wrap="square">
            <a:spAutoFit/>
          </a:bodyPr>
          <a:lstStyle/>
          <a:p>
            <a:pPr algn="l"/>
            <a:r>
              <a:rPr sz="1600" b="1" i="0">
                <a:solidFill>
                  <a:srgbClr val="E8A800"/>
                </a:solidFill>
              </a:rPr>
              <a:t>01  事業モデル</a:t>
            </a:r>
          </a:p>
        </p:txBody>
      </p:sp>
      <p:sp>
        <p:nvSpPr>
          <p:cNvPr id="9" name="TextBox 8"/>
          <p:cNvSpPr txBox="1"/>
          <p:nvPr/>
        </p:nvSpPr>
        <p:spPr>
          <a:xfrm>
            <a:off x="594360" y="1965960"/>
            <a:ext cx="2560320" cy="3383280"/>
          </a:xfrm>
          <a:prstGeom prst="rect">
            <a:avLst/>
          </a:prstGeom>
          <a:noFill/>
        </p:spPr>
        <p:txBody>
          <a:bodyPr wrap="square">
            <a:spAutoFit/>
          </a:bodyPr>
          <a:lstStyle/>
          <a:p>
            <a:pPr algn="l"/>
            <a:r>
              <a:rPr sz="1200" b="0" i="0">
                <a:solidFill>
                  <a:srgbClr val="FFFFFF"/>
                </a:solidFill>
              </a:rPr>
              <a:t>なぜ「医療×不動産」は長期で勝てるのか。／情報の非対称性という最強の堀</a:t>
            </a:r>
          </a:p>
        </p:txBody>
      </p:sp>
      <p:sp>
        <p:nvSpPr>
          <p:cNvPr id="10" name="Rectangle 9"/>
          <p:cNvSpPr/>
          <p:nvPr/>
        </p:nvSpPr>
        <p:spPr>
          <a:xfrm>
            <a:off x="3374136" y="1234440"/>
            <a:ext cx="2788920" cy="42976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74136" y="1234440"/>
            <a:ext cx="278892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11296" y="1371600"/>
            <a:ext cx="2560320" cy="502920"/>
          </a:xfrm>
          <a:prstGeom prst="rect">
            <a:avLst/>
          </a:prstGeom>
          <a:noFill/>
        </p:spPr>
        <p:txBody>
          <a:bodyPr wrap="square">
            <a:spAutoFit/>
          </a:bodyPr>
          <a:lstStyle/>
          <a:p>
            <a:pPr algn="l"/>
            <a:r>
              <a:rPr sz="1600" b="1" i="0">
                <a:solidFill>
                  <a:srgbClr val="E8A800"/>
                </a:solidFill>
              </a:rPr>
              <a:t>02  営業ノウハウ</a:t>
            </a:r>
          </a:p>
        </p:txBody>
      </p:sp>
      <p:sp>
        <p:nvSpPr>
          <p:cNvPr id="13" name="TextBox 12"/>
          <p:cNvSpPr txBox="1"/>
          <p:nvPr/>
        </p:nvSpPr>
        <p:spPr>
          <a:xfrm>
            <a:off x="3511296" y="1965960"/>
            <a:ext cx="2560320" cy="3383280"/>
          </a:xfrm>
          <a:prstGeom prst="rect">
            <a:avLst/>
          </a:prstGeom>
          <a:noFill/>
        </p:spPr>
        <p:txBody>
          <a:bodyPr wrap="square">
            <a:spAutoFit/>
          </a:bodyPr>
          <a:lstStyle/>
          <a:p>
            <a:pPr algn="l"/>
            <a:r>
              <a:rPr sz="1200" b="0" i="0">
                <a:solidFill>
                  <a:srgbClr val="FFFFFF"/>
                </a:solidFill>
              </a:rPr>
              <a:t>再現できる「型」になるまでの実装。／ハンター式ヒアリングトーク含む</a:t>
            </a:r>
          </a:p>
        </p:txBody>
      </p:sp>
      <p:sp>
        <p:nvSpPr>
          <p:cNvPr id="14" name="Rectangle 13"/>
          <p:cNvSpPr/>
          <p:nvPr/>
        </p:nvSpPr>
        <p:spPr>
          <a:xfrm>
            <a:off x="6291072" y="1234440"/>
            <a:ext cx="2788920" cy="42976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91072" y="1234440"/>
            <a:ext cx="278892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28232" y="1371600"/>
            <a:ext cx="2560320" cy="502920"/>
          </a:xfrm>
          <a:prstGeom prst="rect">
            <a:avLst/>
          </a:prstGeom>
          <a:noFill/>
        </p:spPr>
        <p:txBody>
          <a:bodyPr wrap="square">
            <a:spAutoFit/>
          </a:bodyPr>
          <a:lstStyle/>
          <a:p>
            <a:pPr algn="l"/>
            <a:r>
              <a:rPr sz="1600" b="1" i="0">
                <a:solidFill>
                  <a:srgbClr val="E8A800"/>
                </a:solidFill>
              </a:rPr>
              <a:t>03  成約事例</a:t>
            </a:r>
          </a:p>
        </p:txBody>
      </p:sp>
      <p:sp>
        <p:nvSpPr>
          <p:cNvPr id="17" name="TextBox 16"/>
          <p:cNvSpPr txBox="1"/>
          <p:nvPr/>
        </p:nvSpPr>
        <p:spPr>
          <a:xfrm>
            <a:off x="6428232" y="1965960"/>
            <a:ext cx="2560320" cy="3383280"/>
          </a:xfrm>
          <a:prstGeom prst="rect">
            <a:avLst/>
          </a:prstGeom>
          <a:noFill/>
        </p:spPr>
        <p:txBody>
          <a:bodyPr wrap="square">
            <a:spAutoFit/>
          </a:bodyPr>
          <a:lstStyle/>
          <a:p>
            <a:pPr algn="l"/>
            <a:r>
              <a:rPr sz="1200" b="0" i="0">
                <a:solidFill>
                  <a:srgbClr val="FFFFFF"/>
                </a:solidFill>
              </a:rPr>
              <a:t>1件の入口が、どう収益として重なるか。／6,000万粗利事例の全解剖</a:t>
            </a:r>
          </a:p>
        </p:txBody>
      </p:sp>
      <p:sp>
        <p:nvSpPr>
          <p:cNvPr id="18" name="Rectangle 17"/>
          <p:cNvSpPr/>
          <p:nvPr/>
        </p:nvSpPr>
        <p:spPr>
          <a:xfrm>
            <a:off x="9208008" y="1234440"/>
            <a:ext cx="2788920" cy="42976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08008" y="1234440"/>
            <a:ext cx="278892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45168" y="1371600"/>
            <a:ext cx="2560320" cy="502920"/>
          </a:xfrm>
          <a:prstGeom prst="rect">
            <a:avLst/>
          </a:prstGeom>
          <a:noFill/>
        </p:spPr>
        <p:txBody>
          <a:bodyPr wrap="square">
            <a:spAutoFit/>
          </a:bodyPr>
          <a:lstStyle/>
          <a:p>
            <a:pPr algn="l"/>
            <a:r>
              <a:rPr sz="1600" b="1" i="0">
                <a:solidFill>
                  <a:srgbClr val="E8A800"/>
                </a:solidFill>
              </a:rPr>
              <a:t>04  事業展開</a:t>
            </a:r>
          </a:p>
        </p:txBody>
      </p:sp>
      <p:sp>
        <p:nvSpPr>
          <p:cNvPr id="21" name="TextBox 20"/>
          <p:cNvSpPr txBox="1"/>
          <p:nvPr/>
        </p:nvSpPr>
        <p:spPr>
          <a:xfrm>
            <a:off x="9345168" y="1965960"/>
            <a:ext cx="2560320" cy="3383280"/>
          </a:xfrm>
          <a:prstGeom prst="rect">
            <a:avLst/>
          </a:prstGeom>
          <a:noFill/>
        </p:spPr>
        <p:txBody>
          <a:bodyPr wrap="square">
            <a:spAutoFit/>
          </a:bodyPr>
          <a:lstStyle/>
          <a:p>
            <a:pPr algn="l"/>
            <a:r>
              <a:rPr sz="1200" b="0" i="0">
                <a:solidFill>
                  <a:srgbClr val="FFFFFF"/>
                </a:solidFill>
              </a:rPr>
              <a:t>チームとSNSで「ダムを作る」次のステージ。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6510528"/>
            <a:ext cx="12188952" cy="34747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37960"/>
            <a:ext cx="9144000" cy="292608"/>
          </a:xfrm>
          <a:prstGeom prst="rect">
            <a:avLst/>
          </a:prstGeom>
          <a:noFill/>
        </p:spPr>
        <p:txBody>
          <a:bodyPr wrap="square">
            <a:spAutoFit/>
          </a:bodyPr>
          <a:lstStyle/>
          <a:p>
            <a:pPr algn="l"/>
            <a:r>
              <a:rPr sz="900" b="0" i="0">
                <a:solidFill>
                  <a:srgbClr val="CCD6E0"/>
                </a:solidFill>
              </a:rPr>
              <a:t>医療専門不動産  |  ビジネスモデル</a:t>
            </a:r>
          </a:p>
        </p:txBody>
      </p:sp>
      <p:sp>
        <p:nvSpPr>
          <p:cNvPr id="4" name="Rectangle 3"/>
          <p:cNvSpPr/>
          <p:nvPr/>
        </p:nvSpPr>
        <p:spPr>
          <a:xfrm>
            <a:off x="0" y="0"/>
            <a:ext cx="12188952"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972800" cy="594360"/>
          </a:xfrm>
          <a:prstGeom prst="rect">
            <a:avLst/>
          </a:prstGeom>
          <a:noFill/>
        </p:spPr>
        <p:txBody>
          <a:bodyPr wrap="square">
            <a:spAutoFit/>
          </a:bodyPr>
          <a:lstStyle/>
          <a:p>
            <a:pPr algn="l"/>
            <a:r>
              <a:rPr sz="2400" b="1" i="0">
                <a:solidFill>
                  <a:srgbClr val="FFFFFF"/>
                </a:solidFill>
              </a:rPr>
              <a:t>SPEAKER  /  自己紹介</a:t>
            </a:r>
          </a:p>
        </p:txBody>
      </p:sp>
      <p:sp>
        <p:nvSpPr>
          <p:cNvPr id="6" name="TextBox 5"/>
          <p:cNvSpPr txBox="1"/>
          <p:nvPr/>
        </p:nvSpPr>
        <p:spPr>
          <a:xfrm>
            <a:off x="548640" y="713232"/>
            <a:ext cx="10972800" cy="274320"/>
          </a:xfrm>
          <a:prstGeom prst="rect">
            <a:avLst/>
          </a:prstGeom>
          <a:noFill/>
        </p:spPr>
        <p:txBody>
          <a:bodyPr wrap="square">
            <a:spAutoFit/>
          </a:bodyPr>
          <a:lstStyle/>
          <a:p>
            <a:pPr algn="l"/>
            <a:r>
              <a:rPr sz="1100" b="0" i="0">
                <a:solidFill>
                  <a:srgbClr val="CCD6E0"/>
                </a:solidFill>
              </a:rPr>
              <a:t>「カバン持ちから始まった、医療専門不動産」</a:t>
            </a:r>
          </a:p>
        </p:txBody>
      </p:sp>
      <p:sp>
        <p:nvSpPr>
          <p:cNvPr id="7" name="TextBox 6"/>
          <p:cNvSpPr txBox="1"/>
          <p:nvPr/>
        </p:nvSpPr>
        <p:spPr>
          <a:xfrm>
            <a:off x="640080" y="1143000"/>
            <a:ext cx="10972800" cy="384048"/>
          </a:xfrm>
          <a:prstGeom prst="rect">
            <a:avLst/>
          </a:prstGeom>
          <a:noFill/>
        </p:spPr>
        <p:txBody>
          <a:bodyPr wrap="square">
            <a:spAutoFit/>
          </a:bodyPr>
          <a:lstStyle/>
          <a:p>
            <a:pPr algn="l"/>
            <a:r>
              <a:rPr sz="1400" b="0" i="0">
                <a:solidFill>
                  <a:srgbClr val="CCD6E0"/>
                </a:solidFill>
              </a:rPr>
              <a:t>大叔父の医業コンサル法人を承継中。宅建業免許：東京都知事 (4)</a:t>
            </a:r>
          </a:p>
        </p:txBody>
      </p:sp>
      <p:sp>
        <p:nvSpPr>
          <p:cNvPr id="8" name="Rectangle 7"/>
          <p:cNvSpPr/>
          <p:nvPr/>
        </p:nvSpPr>
        <p:spPr>
          <a:xfrm>
            <a:off x="502920" y="1600200"/>
            <a:ext cx="73152" cy="77724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73352"/>
            <a:ext cx="10972800" cy="658368"/>
          </a:xfrm>
          <a:prstGeom prst="rect">
            <a:avLst/>
          </a:prstGeom>
          <a:noFill/>
        </p:spPr>
        <p:txBody>
          <a:bodyPr wrap="square">
            <a:spAutoFit/>
          </a:bodyPr>
          <a:lstStyle/>
          <a:p>
            <a:pPr algn="l"/>
            <a:r>
              <a:rPr sz="1100" b="0" i="0">
                <a:solidFill>
                  <a:srgbClr val="FFFFFF"/>
                </a:solidFill>
              </a:rPr>
              <a:t>【原点エピソード】大叔父（医業コンサル第一人者）の後ろを歩きながら医師の診察室に入り続けた。気づいたのは「医師は不動産の話を、信頼できる身内にしか相談しない」こと。情報は看板ではなく、信頼の深さに従って流れる──これが業態の本質。</a:t>
            </a:r>
          </a:p>
        </p:txBody>
      </p:sp>
      <p:sp>
        <p:nvSpPr>
          <p:cNvPr id="10" name="TextBox 9"/>
          <p:cNvSpPr txBox="1"/>
          <p:nvPr/>
        </p:nvSpPr>
        <p:spPr>
          <a:xfrm>
            <a:off x="640080" y="3200400"/>
            <a:ext cx="5303520" cy="384048"/>
          </a:xfrm>
          <a:prstGeom prst="rect">
            <a:avLst/>
          </a:prstGeom>
          <a:noFill/>
        </p:spPr>
        <p:txBody>
          <a:bodyPr wrap="square">
            <a:spAutoFit/>
          </a:bodyPr>
          <a:lstStyle/>
          <a:p>
            <a:pPr algn="l"/>
            <a:r>
              <a:rPr sz="1300" b="1" i="0">
                <a:solidFill>
                  <a:srgbClr val="4A9ECB"/>
                </a:solidFill>
              </a:rPr>
              <a:t>01  医療業界の構造的な「強さ」</a:t>
            </a:r>
          </a:p>
        </p:txBody>
      </p:sp>
      <p:sp>
        <p:nvSpPr>
          <p:cNvPr id="11" name="TextBox 10"/>
          <p:cNvSpPr txBox="1"/>
          <p:nvPr/>
        </p:nvSpPr>
        <p:spPr>
          <a:xfrm>
            <a:off x="822960" y="3584448"/>
            <a:ext cx="5120640" cy="384048"/>
          </a:xfrm>
          <a:prstGeom prst="rect">
            <a:avLst/>
          </a:prstGeom>
          <a:noFill/>
        </p:spPr>
        <p:txBody>
          <a:bodyPr wrap="square">
            <a:spAutoFit/>
          </a:bodyPr>
          <a:lstStyle/>
          <a:p>
            <a:pPr algn="l"/>
            <a:r>
              <a:rPr sz="1100" b="0" i="0">
                <a:solidFill>
                  <a:srgbClr val="CCD6E0"/>
                </a:solidFill>
              </a:rPr>
              <a:t>なぜ値下げ競争に巻き込まれないのか。</a:t>
            </a:r>
          </a:p>
        </p:txBody>
      </p:sp>
      <p:sp>
        <p:nvSpPr>
          <p:cNvPr id="12" name="TextBox 11"/>
          <p:cNvSpPr txBox="1"/>
          <p:nvPr/>
        </p:nvSpPr>
        <p:spPr>
          <a:xfrm>
            <a:off x="6309360" y="3200400"/>
            <a:ext cx="5303520" cy="384048"/>
          </a:xfrm>
          <a:prstGeom prst="rect">
            <a:avLst/>
          </a:prstGeom>
          <a:noFill/>
        </p:spPr>
        <p:txBody>
          <a:bodyPr wrap="square">
            <a:spAutoFit/>
          </a:bodyPr>
          <a:lstStyle/>
          <a:p>
            <a:pPr algn="l"/>
            <a:r>
              <a:rPr sz="1300" b="1" i="0">
                <a:solidFill>
                  <a:srgbClr val="4A9ECB"/>
                </a:solidFill>
              </a:rPr>
              <a:t>02  30年単位の顧客LTV設計</a:t>
            </a:r>
          </a:p>
        </p:txBody>
      </p:sp>
      <p:sp>
        <p:nvSpPr>
          <p:cNvPr id="13" name="TextBox 12"/>
          <p:cNvSpPr txBox="1"/>
          <p:nvPr/>
        </p:nvSpPr>
        <p:spPr>
          <a:xfrm>
            <a:off x="6492240" y="3584448"/>
            <a:ext cx="5120640" cy="384048"/>
          </a:xfrm>
          <a:prstGeom prst="rect">
            <a:avLst/>
          </a:prstGeom>
          <a:noFill/>
        </p:spPr>
        <p:txBody>
          <a:bodyPr wrap="square">
            <a:spAutoFit/>
          </a:bodyPr>
          <a:lstStyle/>
          <a:p>
            <a:pPr algn="l"/>
            <a:r>
              <a:rPr sz="1100" b="0" i="0">
                <a:solidFill>
                  <a:srgbClr val="CCD6E0"/>
                </a:solidFill>
              </a:rPr>
              <a:t>開業→拡張→機材→承継→売却まで関わる仕組み。</a:t>
            </a:r>
          </a:p>
        </p:txBody>
      </p:sp>
      <p:sp>
        <p:nvSpPr>
          <p:cNvPr id="14" name="TextBox 13"/>
          <p:cNvSpPr txBox="1"/>
          <p:nvPr/>
        </p:nvSpPr>
        <p:spPr>
          <a:xfrm>
            <a:off x="640080" y="4114800"/>
            <a:ext cx="5303520" cy="384048"/>
          </a:xfrm>
          <a:prstGeom prst="rect">
            <a:avLst/>
          </a:prstGeom>
          <a:noFill/>
        </p:spPr>
        <p:txBody>
          <a:bodyPr wrap="square">
            <a:spAutoFit/>
          </a:bodyPr>
          <a:lstStyle/>
          <a:p>
            <a:pPr algn="l"/>
            <a:r>
              <a:rPr sz="1300" b="1" i="0">
                <a:solidFill>
                  <a:srgbClr val="4A9ECB"/>
                </a:solidFill>
              </a:rPr>
              <a:t>03  横のつながり＝チームビルディング</a:t>
            </a:r>
          </a:p>
        </p:txBody>
      </p:sp>
      <p:sp>
        <p:nvSpPr>
          <p:cNvPr id="15" name="TextBox 14"/>
          <p:cNvSpPr txBox="1"/>
          <p:nvPr/>
        </p:nvSpPr>
        <p:spPr>
          <a:xfrm>
            <a:off x="822960" y="4498848"/>
            <a:ext cx="5120640" cy="384048"/>
          </a:xfrm>
          <a:prstGeom prst="rect">
            <a:avLst/>
          </a:prstGeom>
          <a:noFill/>
        </p:spPr>
        <p:txBody>
          <a:bodyPr wrap="square">
            <a:spAutoFit/>
          </a:bodyPr>
          <a:lstStyle/>
          <a:p>
            <a:pPr algn="l"/>
            <a:r>
              <a:rPr sz="1100" b="0" i="0">
                <a:solidFill>
                  <a:srgbClr val="CCD6E0"/>
                </a:solidFill>
              </a:rPr>
              <a:t>士業・医療機器・保険・金融を束ねる動き方。</a:t>
            </a:r>
          </a:p>
        </p:txBody>
      </p:sp>
      <p:sp>
        <p:nvSpPr>
          <p:cNvPr id="16" name="TextBox 15"/>
          <p:cNvSpPr txBox="1"/>
          <p:nvPr/>
        </p:nvSpPr>
        <p:spPr>
          <a:xfrm>
            <a:off x="6309360" y="4114800"/>
            <a:ext cx="5303520" cy="384048"/>
          </a:xfrm>
          <a:prstGeom prst="rect">
            <a:avLst/>
          </a:prstGeom>
          <a:noFill/>
        </p:spPr>
        <p:txBody>
          <a:bodyPr wrap="square">
            <a:spAutoFit/>
          </a:bodyPr>
          <a:lstStyle/>
          <a:p>
            <a:pPr algn="l"/>
            <a:r>
              <a:rPr sz="1300" b="1" i="0">
                <a:solidFill>
                  <a:srgbClr val="4A9ECB"/>
                </a:solidFill>
              </a:rPr>
              <a:t>04  明日から動ける、シンプルな原則</a:t>
            </a:r>
          </a:p>
        </p:txBody>
      </p:sp>
      <p:sp>
        <p:nvSpPr>
          <p:cNvPr id="17" name="TextBox 16"/>
          <p:cNvSpPr txBox="1"/>
          <p:nvPr/>
        </p:nvSpPr>
        <p:spPr>
          <a:xfrm>
            <a:off x="6492240" y="4498848"/>
            <a:ext cx="5120640" cy="384048"/>
          </a:xfrm>
          <a:prstGeom prst="rect">
            <a:avLst/>
          </a:prstGeom>
          <a:noFill/>
        </p:spPr>
        <p:txBody>
          <a:bodyPr wrap="square">
            <a:spAutoFit/>
          </a:bodyPr>
          <a:lstStyle/>
          <a:p>
            <a:pPr algn="l"/>
            <a:r>
              <a:rPr sz="1100" b="0" i="0">
                <a:solidFill>
                  <a:srgbClr val="CCD6E0"/>
                </a:solidFill>
              </a:rPr>
              <a:t>派手な近道はない。1件ずつ、目の前を大切にする。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6510528"/>
            <a:ext cx="12188952" cy="34747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37960"/>
            <a:ext cx="9144000" cy="292608"/>
          </a:xfrm>
          <a:prstGeom prst="rect">
            <a:avLst/>
          </a:prstGeom>
          <a:noFill/>
        </p:spPr>
        <p:txBody>
          <a:bodyPr wrap="square">
            <a:spAutoFit/>
          </a:bodyPr>
          <a:lstStyle/>
          <a:p>
            <a:pPr algn="l"/>
            <a:r>
              <a:rPr sz="900" b="0" i="0">
                <a:solidFill>
                  <a:srgbClr val="CCD6E0"/>
                </a:solidFill>
              </a:rPr>
              <a:t>医療専門不動産  |  ビジネスモデル</a:t>
            </a:r>
          </a:p>
        </p:txBody>
      </p:sp>
      <p:sp>
        <p:nvSpPr>
          <p:cNvPr id="4" name="Rectangle 3"/>
          <p:cNvSpPr/>
          <p:nvPr/>
        </p:nvSpPr>
        <p:spPr>
          <a:xfrm>
            <a:off x="0" y="0"/>
            <a:ext cx="12188952"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972800" cy="594360"/>
          </a:xfrm>
          <a:prstGeom prst="rect">
            <a:avLst/>
          </a:prstGeom>
          <a:noFill/>
        </p:spPr>
        <p:txBody>
          <a:bodyPr wrap="square">
            <a:spAutoFit/>
          </a:bodyPr>
          <a:lstStyle/>
          <a:p>
            <a:pPr algn="l"/>
            <a:r>
              <a:rPr sz="2400" b="1" i="0">
                <a:solidFill>
                  <a:srgbClr val="FFFFFF"/>
                </a:solidFill>
              </a:rPr>
              <a:t>今日お伝えするのは「不動産の売り方」ではない。</a:t>
            </a:r>
          </a:p>
        </p:txBody>
      </p:sp>
      <p:sp>
        <p:nvSpPr>
          <p:cNvPr id="6" name="Rectangle 5"/>
          <p:cNvSpPr/>
          <p:nvPr/>
        </p:nvSpPr>
        <p:spPr>
          <a:xfrm>
            <a:off x="548640" y="1234440"/>
            <a:ext cx="5212080" cy="21945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25880"/>
            <a:ext cx="4846320" cy="347472"/>
          </a:xfrm>
          <a:prstGeom prst="rect">
            <a:avLst/>
          </a:prstGeom>
          <a:noFill/>
        </p:spPr>
        <p:txBody>
          <a:bodyPr wrap="square">
            <a:spAutoFit/>
          </a:bodyPr>
          <a:lstStyle/>
          <a:p>
            <a:pPr algn="l"/>
            <a:r>
              <a:rPr sz="1200" b="0" i="0">
                <a:solidFill>
                  <a:srgbClr val="CCD6E0"/>
                </a:solidFill>
              </a:rPr>
              <a:t>NOT TEACHING</a:t>
            </a:r>
          </a:p>
        </p:txBody>
      </p:sp>
      <p:sp>
        <p:nvSpPr>
          <p:cNvPr id="8" name="TextBox 7"/>
          <p:cNvSpPr txBox="1"/>
          <p:nvPr/>
        </p:nvSpPr>
        <p:spPr>
          <a:xfrm>
            <a:off x="731520" y="1783080"/>
            <a:ext cx="4846320" cy="475488"/>
          </a:xfrm>
          <a:prstGeom prst="rect">
            <a:avLst/>
          </a:prstGeom>
          <a:noFill/>
        </p:spPr>
        <p:txBody>
          <a:bodyPr wrap="square">
            <a:spAutoFit/>
          </a:bodyPr>
          <a:lstStyle/>
          <a:p>
            <a:pPr algn="l"/>
            <a:r>
              <a:rPr sz="1400" b="0" i="0">
                <a:solidFill>
                  <a:srgbClr val="FF6666"/>
                </a:solidFill>
              </a:rPr>
              <a:t>✕  物件の見つけ方</a:t>
            </a:r>
          </a:p>
        </p:txBody>
      </p:sp>
      <p:sp>
        <p:nvSpPr>
          <p:cNvPr id="9" name="TextBox 8"/>
          <p:cNvSpPr txBox="1"/>
          <p:nvPr/>
        </p:nvSpPr>
        <p:spPr>
          <a:xfrm>
            <a:off x="731520" y="2331720"/>
            <a:ext cx="4846320" cy="475488"/>
          </a:xfrm>
          <a:prstGeom prst="rect">
            <a:avLst/>
          </a:prstGeom>
          <a:noFill/>
        </p:spPr>
        <p:txBody>
          <a:bodyPr wrap="square">
            <a:spAutoFit/>
          </a:bodyPr>
          <a:lstStyle/>
          <a:p>
            <a:pPr algn="l"/>
            <a:r>
              <a:rPr sz="1400" b="0" i="0">
                <a:solidFill>
                  <a:srgbClr val="FF6666"/>
                </a:solidFill>
              </a:rPr>
              <a:t>✕  SUUMO・レインズの活用法</a:t>
            </a:r>
          </a:p>
        </p:txBody>
      </p:sp>
      <p:sp>
        <p:nvSpPr>
          <p:cNvPr id="10" name="TextBox 9"/>
          <p:cNvSpPr txBox="1"/>
          <p:nvPr/>
        </p:nvSpPr>
        <p:spPr>
          <a:xfrm>
            <a:off x="731520" y="2880360"/>
            <a:ext cx="4846320" cy="475488"/>
          </a:xfrm>
          <a:prstGeom prst="rect">
            <a:avLst/>
          </a:prstGeom>
          <a:noFill/>
        </p:spPr>
        <p:txBody>
          <a:bodyPr wrap="square">
            <a:spAutoFit/>
          </a:bodyPr>
          <a:lstStyle/>
          <a:p>
            <a:pPr algn="l"/>
            <a:r>
              <a:rPr sz="1400" b="0" i="0">
                <a:solidFill>
                  <a:srgbClr val="FF6666"/>
                </a:solidFill>
              </a:rPr>
              <a:t>✕  仲介手数料の交渉術</a:t>
            </a:r>
          </a:p>
        </p:txBody>
      </p:sp>
      <p:sp>
        <p:nvSpPr>
          <p:cNvPr id="11" name="Rectangle 10"/>
          <p:cNvSpPr/>
          <p:nvPr/>
        </p:nvSpPr>
        <p:spPr>
          <a:xfrm>
            <a:off x="6309360" y="1234440"/>
            <a:ext cx="5486400" cy="21945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1234440"/>
            <a:ext cx="548640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1325880"/>
            <a:ext cx="5120640" cy="347472"/>
          </a:xfrm>
          <a:prstGeom prst="rect">
            <a:avLst/>
          </a:prstGeom>
          <a:noFill/>
        </p:spPr>
        <p:txBody>
          <a:bodyPr wrap="square">
            <a:spAutoFit/>
          </a:bodyPr>
          <a:lstStyle/>
          <a:p>
            <a:pPr algn="l"/>
            <a:r>
              <a:rPr sz="1200" b="1" i="0">
                <a:solidFill>
                  <a:srgbClr val="E8A800"/>
                </a:solidFill>
              </a:rPr>
              <a:t>TEACHING</a:t>
            </a:r>
          </a:p>
        </p:txBody>
      </p:sp>
      <p:sp>
        <p:nvSpPr>
          <p:cNvPr id="14" name="TextBox 13"/>
          <p:cNvSpPr txBox="1"/>
          <p:nvPr/>
        </p:nvSpPr>
        <p:spPr>
          <a:xfrm>
            <a:off x="6492240" y="1783080"/>
            <a:ext cx="5120640" cy="475488"/>
          </a:xfrm>
          <a:prstGeom prst="rect">
            <a:avLst/>
          </a:prstGeom>
          <a:noFill/>
        </p:spPr>
        <p:txBody>
          <a:bodyPr wrap="square">
            <a:spAutoFit/>
          </a:bodyPr>
          <a:lstStyle/>
          <a:p>
            <a:pPr algn="l"/>
            <a:r>
              <a:rPr sz="1300" b="0" i="0">
                <a:solidFill>
                  <a:srgbClr val="FFFFFF"/>
                </a:solidFill>
              </a:rPr>
              <a:t>✓  情報の源泉（門番）にどう近づくか</a:t>
            </a:r>
          </a:p>
        </p:txBody>
      </p:sp>
      <p:sp>
        <p:nvSpPr>
          <p:cNvPr id="15" name="TextBox 14"/>
          <p:cNvSpPr txBox="1"/>
          <p:nvPr/>
        </p:nvSpPr>
        <p:spPr>
          <a:xfrm>
            <a:off x="6492240" y="2331720"/>
            <a:ext cx="5120640" cy="475488"/>
          </a:xfrm>
          <a:prstGeom prst="rect">
            <a:avLst/>
          </a:prstGeom>
          <a:noFill/>
        </p:spPr>
        <p:txBody>
          <a:bodyPr wrap="square">
            <a:spAutoFit/>
          </a:bodyPr>
          <a:lstStyle/>
          <a:p>
            <a:pPr algn="l"/>
            <a:r>
              <a:rPr sz="1300" b="0" i="0">
                <a:solidFill>
                  <a:srgbClr val="FFFFFF"/>
                </a:solidFill>
              </a:rPr>
              <a:t>✓  「悩み」から数千万の収益を生む設計</a:t>
            </a:r>
          </a:p>
        </p:txBody>
      </p:sp>
      <p:sp>
        <p:nvSpPr>
          <p:cNvPr id="16" name="TextBox 15"/>
          <p:cNvSpPr txBox="1"/>
          <p:nvPr/>
        </p:nvSpPr>
        <p:spPr>
          <a:xfrm>
            <a:off x="6492240" y="2880360"/>
            <a:ext cx="5120640" cy="475488"/>
          </a:xfrm>
          <a:prstGeom prst="rect">
            <a:avLst/>
          </a:prstGeom>
          <a:noFill/>
        </p:spPr>
        <p:txBody>
          <a:bodyPr wrap="square">
            <a:spAutoFit/>
          </a:bodyPr>
          <a:lstStyle/>
          <a:p>
            <a:pPr algn="l"/>
            <a:r>
              <a:rPr sz="1300" b="0" i="0">
                <a:solidFill>
                  <a:srgbClr val="FFFFFF"/>
                </a:solidFill>
              </a:rPr>
              <a:t>✓  値下げ競争に入らず30年勝ち続ける構造</a:t>
            </a:r>
          </a:p>
        </p:txBody>
      </p:sp>
      <p:sp>
        <p:nvSpPr>
          <p:cNvPr id="17" name="Rectangle 16"/>
          <p:cNvSpPr/>
          <p:nvPr/>
        </p:nvSpPr>
        <p:spPr>
          <a:xfrm>
            <a:off x="548640" y="3657600"/>
            <a:ext cx="11064240" cy="12801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657600"/>
            <a:ext cx="73152" cy="128016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749039"/>
            <a:ext cx="10607040" cy="1097280"/>
          </a:xfrm>
          <a:prstGeom prst="rect">
            <a:avLst/>
          </a:prstGeom>
          <a:noFill/>
        </p:spPr>
        <p:txBody>
          <a:bodyPr wrap="square">
            <a:spAutoFit/>
          </a:bodyPr>
          <a:lstStyle/>
          <a:p>
            <a:pPr algn="l"/>
            <a:r>
              <a:rPr sz="1600" b="0" i="1">
                <a:solidFill>
                  <a:srgbClr val="E8A800"/>
                </a:solidFill>
              </a:rPr>
              <a:t>「物件を追っているうちは、仲介手数料（3%）の奴隷から抜け出せない。</a:t>
            </a:r>
          </a:p>
          <a:p>
            <a:pPr algn="l"/>
            <a:r>
              <a:rPr sz="1600" b="0" i="1">
                <a:solidFill>
                  <a:srgbClr val="E8A800"/>
                </a:solidFill>
              </a:rPr>
              <a:t> 10〜30%の粗利は、ネットの向こうではなく『人の悩みの深さ』の中にある。」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97280"/>
            <a:ext cx="4572000" cy="548640"/>
          </a:xfrm>
          <a:prstGeom prst="rect">
            <a:avLst/>
          </a:prstGeom>
          <a:noFill/>
        </p:spPr>
        <p:txBody>
          <a:bodyPr wrap="square">
            <a:spAutoFit/>
          </a:bodyPr>
          <a:lstStyle/>
          <a:p>
            <a:pPr algn="l"/>
            <a:r>
              <a:rPr sz="2000" b="0" i="0">
                <a:solidFill>
                  <a:srgbClr val="CCD6E0"/>
                </a:solidFill>
              </a:rPr>
              <a:t>SECTION</a:t>
            </a:r>
          </a:p>
        </p:txBody>
      </p:sp>
      <p:sp>
        <p:nvSpPr>
          <p:cNvPr id="4" name="TextBox 3"/>
          <p:cNvSpPr txBox="1"/>
          <p:nvPr/>
        </p:nvSpPr>
        <p:spPr>
          <a:xfrm>
            <a:off x="822960" y="1645920"/>
            <a:ext cx="4572000" cy="1645920"/>
          </a:xfrm>
          <a:prstGeom prst="rect">
            <a:avLst/>
          </a:prstGeom>
          <a:noFill/>
        </p:spPr>
        <p:txBody>
          <a:bodyPr wrap="square">
            <a:spAutoFit/>
          </a:bodyPr>
          <a:lstStyle/>
          <a:p>
            <a:pPr algn="l"/>
            <a:r>
              <a:rPr sz="9000" b="1" i="0">
                <a:solidFill>
                  <a:srgbClr val="E8A800"/>
                </a:solidFill>
              </a:rPr>
              <a:t>01</a:t>
            </a:r>
          </a:p>
        </p:txBody>
      </p:sp>
      <p:sp>
        <p:nvSpPr>
          <p:cNvPr id="5" name="TextBox 4"/>
          <p:cNvSpPr txBox="1"/>
          <p:nvPr/>
        </p:nvSpPr>
        <p:spPr>
          <a:xfrm>
            <a:off x="822960" y="3383280"/>
            <a:ext cx="9144000" cy="685800"/>
          </a:xfrm>
          <a:prstGeom prst="rect">
            <a:avLst/>
          </a:prstGeom>
          <a:noFill/>
        </p:spPr>
        <p:txBody>
          <a:bodyPr wrap="square">
            <a:spAutoFit/>
          </a:bodyPr>
          <a:lstStyle/>
          <a:p>
            <a:pPr algn="l"/>
            <a:r>
              <a:rPr sz="3200" b="1" i="0">
                <a:solidFill>
                  <a:srgbClr val="FFFFFF"/>
                </a:solidFill>
              </a:rPr>
              <a:t>事業モデル</a:t>
            </a:r>
          </a:p>
        </p:txBody>
      </p:sp>
      <p:sp>
        <p:nvSpPr>
          <p:cNvPr id="6" name="TextBox 5"/>
          <p:cNvSpPr txBox="1"/>
          <p:nvPr/>
        </p:nvSpPr>
        <p:spPr>
          <a:xfrm>
            <a:off x="822960" y="4160520"/>
            <a:ext cx="10058400" cy="914400"/>
          </a:xfrm>
          <a:prstGeom prst="rect">
            <a:avLst/>
          </a:prstGeom>
          <a:noFill/>
        </p:spPr>
        <p:txBody>
          <a:bodyPr wrap="square">
            <a:spAutoFit/>
          </a:bodyPr>
          <a:lstStyle/>
          <a:p>
            <a:pPr algn="l"/>
            <a:r>
              <a:rPr sz="1500" b="0" i="0">
                <a:solidFill>
                  <a:srgbClr val="CCD6E0"/>
                </a:solidFill>
              </a:rPr>
              <a:t>なぜ「医療×不動産」は、長期で勝てるのか。</a:t>
            </a:r>
          </a:p>
          <a:p>
            <a:pPr algn="l"/>
            <a:r>
              <a:rPr sz="1500" b="0" i="0">
                <a:solidFill>
                  <a:srgbClr val="CCD6E0"/>
                </a:solidFill>
              </a:rPr>
              <a:t>情報の非対称性・業界構造・長期事業の設計、の4枚で。</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6510528"/>
            <a:ext cx="12188952" cy="34747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37960"/>
            <a:ext cx="9144000" cy="292608"/>
          </a:xfrm>
          <a:prstGeom prst="rect">
            <a:avLst/>
          </a:prstGeom>
          <a:noFill/>
        </p:spPr>
        <p:txBody>
          <a:bodyPr wrap="square">
            <a:spAutoFit/>
          </a:bodyPr>
          <a:lstStyle/>
          <a:p>
            <a:pPr algn="l"/>
            <a:r>
              <a:rPr sz="900" b="0" i="0">
                <a:solidFill>
                  <a:srgbClr val="CCD6E0"/>
                </a:solidFill>
              </a:rPr>
              <a:t>医療専門不動産  |  ビジネスモデル</a:t>
            </a:r>
          </a:p>
        </p:txBody>
      </p:sp>
      <p:sp>
        <p:nvSpPr>
          <p:cNvPr id="4" name="Rectangle 3"/>
          <p:cNvSpPr/>
          <p:nvPr/>
        </p:nvSpPr>
        <p:spPr>
          <a:xfrm>
            <a:off x="0" y="0"/>
            <a:ext cx="12188952"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972800" cy="594360"/>
          </a:xfrm>
          <a:prstGeom prst="rect">
            <a:avLst/>
          </a:prstGeom>
          <a:noFill/>
        </p:spPr>
        <p:txBody>
          <a:bodyPr wrap="square">
            <a:spAutoFit/>
          </a:bodyPr>
          <a:lstStyle/>
          <a:p>
            <a:pPr algn="l"/>
            <a:r>
              <a:rPr sz="2400" b="1" i="0">
                <a:solidFill>
                  <a:srgbClr val="FFFFFF"/>
                </a:solidFill>
              </a:rPr>
              <a:t>01  /  会社の成り立ちと実績</a:t>
            </a:r>
          </a:p>
        </p:txBody>
      </p:sp>
      <p:sp>
        <p:nvSpPr>
          <p:cNvPr id="6" name="TextBox 5"/>
          <p:cNvSpPr txBox="1"/>
          <p:nvPr/>
        </p:nvSpPr>
        <p:spPr>
          <a:xfrm>
            <a:off x="548640" y="713232"/>
            <a:ext cx="10972800" cy="274320"/>
          </a:xfrm>
          <a:prstGeom prst="rect">
            <a:avLst/>
          </a:prstGeom>
          <a:noFill/>
        </p:spPr>
        <p:txBody>
          <a:bodyPr wrap="square">
            <a:spAutoFit/>
          </a:bodyPr>
          <a:lstStyle/>
          <a:p>
            <a:pPr algn="l"/>
            <a:r>
              <a:rPr sz="1100" b="0" i="0">
                <a:solidFill>
                  <a:srgbClr val="CCD6E0"/>
                </a:solidFill>
              </a:rPr>
              <a:t>「医療コンサル不動産」は、銀行の現場発注で生まれた。後付けではなく、現場で組み上げた業態。</a:t>
            </a:r>
          </a:p>
        </p:txBody>
      </p:sp>
      <p:sp>
        <p:nvSpPr>
          <p:cNvPr id="7" name="Rectangle 6"/>
          <p:cNvSpPr/>
          <p:nvPr/>
        </p:nvSpPr>
        <p:spPr>
          <a:xfrm>
            <a:off x="457200" y="1188720"/>
            <a:ext cx="2606040" cy="15087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88720"/>
            <a:ext cx="260604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261872"/>
            <a:ext cx="2423160" cy="457200"/>
          </a:xfrm>
          <a:prstGeom prst="rect">
            <a:avLst/>
          </a:prstGeom>
          <a:noFill/>
        </p:spPr>
        <p:txBody>
          <a:bodyPr wrap="square">
            <a:spAutoFit/>
          </a:bodyPr>
          <a:lstStyle/>
          <a:p>
            <a:pPr algn="l"/>
            <a:r>
              <a:rPr sz="1400" b="1" i="0">
                <a:solidFill>
                  <a:srgbClr val="E8A800"/>
                </a:solidFill>
              </a:rPr>
              <a:t>01 証券会社時代</a:t>
            </a:r>
          </a:p>
        </p:txBody>
      </p:sp>
      <p:sp>
        <p:nvSpPr>
          <p:cNvPr id="10" name="TextBox 9"/>
          <p:cNvSpPr txBox="1"/>
          <p:nvPr/>
        </p:nvSpPr>
        <p:spPr>
          <a:xfrm>
            <a:off x="594360" y="1737360"/>
            <a:ext cx="2423160" cy="822960"/>
          </a:xfrm>
          <a:prstGeom prst="rect">
            <a:avLst/>
          </a:prstGeom>
          <a:noFill/>
        </p:spPr>
        <p:txBody>
          <a:bodyPr wrap="square">
            <a:spAutoFit/>
          </a:bodyPr>
          <a:lstStyle/>
          <a:p>
            <a:pPr algn="l"/>
            <a:r>
              <a:rPr sz="1200" b="0" i="0">
                <a:solidFill>
                  <a:srgbClr val="CCD6E0"/>
                </a:solidFill>
              </a:rPr>
              <a:t>金融の原則を身につける</a:t>
            </a:r>
          </a:p>
        </p:txBody>
      </p:sp>
      <p:sp>
        <p:nvSpPr>
          <p:cNvPr id="11" name="Rectangle 10"/>
          <p:cNvSpPr/>
          <p:nvPr/>
        </p:nvSpPr>
        <p:spPr>
          <a:xfrm>
            <a:off x="3227832" y="1188720"/>
            <a:ext cx="2606040" cy="15087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27832" y="1188720"/>
            <a:ext cx="260604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64992" y="1261872"/>
            <a:ext cx="2423160" cy="457200"/>
          </a:xfrm>
          <a:prstGeom prst="rect">
            <a:avLst/>
          </a:prstGeom>
          <a:noFill/>
        </p:spPr>
        <p:txBody>
          <a:bodyPr wrap="square">
            <a:spAutoFit/>
          </a:bodyPr>
          <a:lstStyle/>
          <a:p>
            <a:pPr algn="l"/>
            <a:r>
              <a:rPr sz="1400" b="1" i="0">
                <a:solidFill>
                  <a:srgbClr val="E8A800"/>
                </a:solidFill>
              </a:rPr>
              <a:t>02 NECメディカル</a:t>
            </a:r>
          </a:p>
        </p:txBody>
      </p:sp>
      <p:sp>
        <p:nvSpPr>
          <p:cNvPr id="14" name="TextBox 13"/>
          <p:cNvSpPr txBox="1"/>
          <p:nvPr/>
        </p:nvSpPr>
        <p:spPr>
          <a:xfrm>
            <a:off x="3364992" y="1737360"/>
            <a:ext cx="2423160" cy="822960"/>
          </a:xfrm>
          <a:prstGeom prst="rect">
            <a:avLst/>
          </a:prstGeom>
          <a:noFill/>
        </p:spPr>
        <p:txBody>
          <a:bodyPr wrap="square">
            <a:spAutoFit/>
          </a:bodyPr>
          <a:lstStyle/>
          <a:p>
            <a:pPr algn="l"/>
            <a:r>
              <a:rPr sz="1200" b="0" i="0">
                <a:solidFill>
                  <a:srgbClr val="CCD6E0"/>
                </a:solidFill>
              </a:rPr>
              <a:t>医療業界の構造に気付く</a:t>
            </a:r>
          </a:p>
        </p:txBody>
      </p:sp>
      <p:sp>
        <p:nvSpPr>
          <p:cNvPr id="15" name="Rectangle 14"/>
          <p:cNvSpPr/>
          <p:nvPr/>
        </p:nvSpPr>
        <p:spPr>
          <a:xfrm>
            <a:off x="5998464" y="1188720"/>
            <a:ext cx="2606040" cy="15087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98464" y="1188720"/>
            <a:ext cx="260604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35624" y="1261872"/>
            <a:ext cx="2423160" cy="457200"/>
          </a:xfrm>
          <a:prstGeom prst="rect">
            <a:avLst/>
          </a:prstGeom>
          <a:noFill/>
        </p:spPr>
        <p:txBody>
          <a:bodyPr wrap="square">
            <a:spAutoFit/>
          </a:bodyPr>
          <a:lstStyle/>
          <a:p>
            <a:pPr algn="l"/>
            <a:r>
              <a:rPr sz="1400" b="1" i="0">
                <a:solidFill>
                  <a:srgbClr val="E8A800"/>
                </a:solidFill>
              </a:rPr>
              <a:t>03 住友銀行との連携</a:t>
            </a:r>
          </a:p>
        </p:txBody>
      </p:sp>
      <p:sp>
        <p:nvSpPr>
          <p:cNvPr id="18" name="TextBox 17"/>
          <p:cNvSpPr txBox="1"/>
          <p:nvPr/>
        </p:nvSpPr>
        <p:spPr>
          <a:xfrm>
            <a:off x="6135624" y="1737360"/>
            <a:ext cx="2423160" cy="822960"/>
          </a:xfrm>
          <a:prstGeom prst="rect">
            <a:avLst/>
          </a:prstGeom>
          <a:noFill/>
        </p:spPr>
        <p:txBody>
          <a:bodyPr wrap="square">
            <a:spAutoFit/>
          </a:bodyPr>
          <a:lstStyle/>
          <a:p>
            <a:pPr algn="l"/>
            <a:r>
              <a:rPr sz="1200" b="0" i="0">
                <a:solidFill>
                  <a:srgbClr val="CCD6E0"/>
                </a:solidFill>
              </a:rPr>
              <a:t>「貸せるがコンサルがいない」</a:t>
            </a:r>
          </a:p>
        </p:txBody>
      </p:sp>
      <p:sp>
        <p:nvSpPr>
          <p:cNvPr id="19" name="Rectangle 18"/>
          <p:cNvSpPr/>
          <p:nvPr/>
        </p:nvSpPr>
        <p:spPr>
          <a:xfrm>
            <a:off x="8769096" y="1188720"/>
            <a:ext cx="2606040" cy="15087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769096" y="1188720"/>
            <a:ext cx="260604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06256" y="1261872"/>
            <a:ext cx="2423160" cy="457200"/>
          </a:xfrm>
          <a:prstGeom prst="rect">
            <a:avLst/>
          </a:prstGeom>
          <a:noFill/>
        </p:spPr>
        <p:txBody>
          <a:bodyPr wrap="square">
            <a:spAutoFit/>
          </a:bodyPr>
          <a:lstStyle/>
          <a:p>
            <a:pPr algn="l"/>
            <a:r>
              <a:rPr sz="1400" b="1" i="0">
                <a:solidFill>
                  <a:srgbClr val="E8A800"/>
                </a:solidFill>
              </a:rPr>
              <a:t>04 事業化・会社設立</a:t>
            </a:r>
          </a:p>
        </p:txBody>
      </p:sp>
      <p:sp>
        <p:nvSpPr>
          <p:cNvPr id="22" name="TextBox 21"/>
          <p:cNvSpPr txBox="1"/>
          <p:nvPr/>
        </p:nvSpPr>
        <p:spPr>
          <a:xfrm>
            <a:off x="8906256" y="1737360"/>
            <a:ext cx="2423160" cy="822960"/>
          </a:xfrm>
          <a:prstGeom prst="rect">
            <a:avLst/>
          </a:prstGeom>
          <a:noFill/>
        </p:spPr>
        <p:txBody>
          <a:bodyPr wrap="square">
            <a:spAutoFit/>
          </a:bodyPr>
          <a:lstStyle/>
          <a:p>
            <a:pPr algn="l"/>
            <a:r>
              <a:rPr sz="1200" b="0" i="0">
                <a:solidFill>
                  <a:srgbClr val="CCD6E0"/>
                </a:solidFill>
              </a:rPr>
              <a:t>型を文書化、事業として確立</a:t>
            </a:r>
          </a:p>
        </p:txBody>
      </p:sp>
      <p:sp>
        <p:nvSpPr>
          <p:cNvPr id="23" name="Rectangle 22"/>
          <p:cNvSpPr/>
          <p:nvPr/>
        </p:nvSpPr>
        <p:spPr>
          <a:xfrm>
            <a:off x="502920" y="2880360"/>
            <a:ext cx="73152" cy="77724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2953512"/>
            <a:ext cx="10972800" cy="658368"/>
          </a:xfrm>
          <a:prstGeom prst="rect">
            <a:avLst/>
          </a:prstGeom>
          <a:noFill/>
        </p:spPr>
        <p:txBody>
          <a:bodyPr wrap="square">
            <a:spAutoFit/>
          </a:bodyPr>
          <a:lstStyle/>
          <a:p>
            <a:pPr algn="l"/>
            <a:r>
              <a:rPr sz="1100" b="0" i="0">
                <a:solidFill>
                  <a:srgbClr val="FFFFFF"/>
                </a:solidFill>
              </a:rPr>
              <a:t>【エピソード：住友銀行の担当者の一言】「菊池さん、うちは医師に貸したい。でも事業計画書を正しく読めるコンサルがいないから融資の判断ができない」──銀行は資金を持つが目利きができない。私は人脈と知見を持つが融資力が弱い。「タッグを組めば最強だ」翌日から連携が始まった。</a:t>
            </a:r>
          </a:p>
        </p:txBody>
      </p:sp>
      <p:sp>
        <p:nvSpPr>
          <p:cNvPr id="25" name="Rectangle 24"/>
          <p:cNvSpPr/>
          <p:nvPr/>
        </p:nvSpPr>
        <p:spPr>
          <a:xfrm>
            <a:off x="457200" y="3886200"/>
            <a:ext cx="3657600"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950208"/>
            <a:ext cx="3291840" cy="502920"/>
          </a:xfrm>
          <a:prstGeom prst="rect">
            <a:avLst/>
          </a:prstGeom>
          <a:noFill/>
        </p:spPr>
        <p:txBody>
          <a:bodyPr wrap="square">
            <a:spAutoFit/>
          </a:bodyPr>
          <a:lstStyle/>
          <a:p>
            <a:pPr algn="l"/>
            <a:r>
              <a:rPr sz="2800" b="1" i="0">
                <a:solidFill>
                  <a:srgbClr val="E8A800"/>
                </a:solidFill>
              </a:rPr>
              <a:t>140件超</a:t>
            </a:r>
          </a:p>
        </p:txBody>
      </p:sp>
      <p:sp>
        <p:nvSpPr>
          <p:cNvPr id="27" name="TextBox 26"/>
          <p:cNvSpPr txBox="1"/>
          <p:nvPr/>
        </p:nvSpPr>
        <p:spPr>
          <a:xfrm>
            <a:off x="640080" y="4453128"/>
            <a:ext cx="3291840" cy="347472"/>
          </a:xfrm>
          <a:prstGeom prst="rect">
            <a:avLst/>
          </a:prstGeom>
          <a:noFill/>
        </p:spPr>
        <p:txBody>
          <a:bodyPr wrap="square">
            <a:spAutoFit/>
          </a:bodyPr>
          <a:lstStyle/>
          <a:p>
            <a:pPr algn="l"/>
            <a:r>
              <a:rPr sz="1300" b="0" i="0">
                <a:solidFill>
                  <a:srgbClr val="CCD6E0"/>
                </a:solidFill>
              </a:rPr>
              <a:t>開業支援</a:t>
            </a:r>
          </a:p>
        </p:txBody>
      </p:sp>
      <p:sp>
        <p:nvSpPr>
          <p:cNvPr id="28" name="Rectangle 27"/>
          <p:cNvSpPr/>
          <p:nvPr/>
        </p:nvSpPr>
        <p:spPr>
          <a:xfrm>
            <a:off x="4343400" y="3886200"/>
            <a:ext cx="3657600"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26280" y="3950208"/>
            <a:ext cx="3291840" cy="502920"/>
          </a:xfrm>
          <a:prstGeom prst="rect">
            <a:avLst/>
          </a:prstGeom>
          <a:noFill/>
        </p:spPr>
        <p:txBody>
          <a:bodyPr wrap="square">
            <a:spAutoFit/>
          </a:bodyPr>
          <a:lstStyle/>
          <a:p>
            <a:pPr algn="l"/>
            <a:r>
              <a:rPr sz="2800" b="1" i="0">
                <a:solidFill>
                  <a:srgbClr val="E8A800"/>
                </a:solidFill>
              </a:rPr>
              <a:t>20件超</a:t>
            </a:r>
          </a:p>
        </p:txBody>
      </p:sp>
      <p:sp>
        <p:nvSpPr>
          <p:cNvPr id="30" name="TextBox 29"/>
          <p:cNvSpPr txBox="1"/>
          <p:nvPr/>
        </p:nvSpPr>
        <p:spPr>
          <a:xfrm>
            <a:off x="4526280" y="4453128"/>
            <a:ext cx="3291840" cy="347472"/>
          </a:xfrm>
          <a:prstGeom prst="rect">
            <a:avLst/>
          </a:prstGeom>
          <a:noFill/>
        </p:spPr>
        <p:txBody>
          <a:bodyPr wrap="square">
            <a:spAutoFit/>
          </a:bodyPr>
          <a:lstStyle/>
          <a:p>
            <a:pPr algn="l"/>
            <a:r>
              <a:rPr sz="1300" b="0" i="0">
                <a:solidFill>
                  <a:srgbClr val="CCD6E0"/>
                </a:solidFill>
              </a:rPr>
              <a:t>事業承継</a:t>
            </a:r>
          </a:p>
        </p:txBody>
      </p:sp>
      <p:sp>
        <p:nvSpPr>
          <p:cNvPr id="31" name="Rectangle 30"/>
          <p:cNvSpPr/>
          <p:nvPr/>
        </p:nvSpPr>
        <p:spPr>
          <a:xfrm>
            <a:off x="8229600" y="3886200"/>
            <a:ext cx="3657600"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80" y="3950208"/>
            <a:ext cx="3291840" cy="502920"/>
          </a:xfrm>
          <a:prstGeom prst="rect">
            <a:avLst/>
          </a:prstGeom>
          <a:noFill/>
        </p:spPr>
        <p:txBody>
          <a:bodyPr wrap="square">
            <a:spAutoFit/>
          </a:bodyPr>
          <a:lstStyle/>
          <a:p>
            <a:pPr algn="l"/>
            <a:r>
              <a:rPr sz="2800" b="1" i="0">
                <a:solidFill>
                  <a:srgbClr val="E8A800"/>
                </a:solidFill>
              </a:rPr>
              <a:t>17件超</a:t>
            </a:r>
          </a:p>
        </p:txBody>
      </p:sp>
      <p:sp>
        <p:nvSpPr>
          <p:cNvPr id="33" name="TextBox 32"/>
          <p:cNvSpPr txBox="1"/>
          <p:nvPr/>
        </p:nvSpPr>
        <p:spPr>
          <a:xfrm>
            <a:off x="8412480" y="4453128"/>
            <a:ext cx="3291840" cy="347472"/>
          </a:xfrm>
          <a:prstGeom prst="rect">
            <a:avLst/>
          </a:prstGeom>
          <a:noFill/>
        </p:spPr>
        <p:txBody>
          <a:bodyPr wrap="square">
            <a:spAutoFit/>
          </a:bodyPr>
          <a:lstStyle/>
          <a:p>
            <a:pPr algn="l"/>
            <a:r>
              <a:rPr sz="1300" b="0" i="0">
                <a:solidFill>
                  <a:srgbClr val="CCD6E0"/>
                </a:solidFill>
              </a:rPr>
              <a:t>経営支援・救済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6510528"/>
            <a:ext cx="12188952" cy="34747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37960"/>
            <a:ext cx="9144000" cy="292608"/>
          </a:xfrm>
          <a:prstGeom prst="rect">
            <a:avLst/>
          </a:prstGeom>
          <a:noFill/>
        </p:spPr>
        <p:txBody>
          <a:bodyPr wrap="square">
            <a:spAutoFit/>
          </a:bodyPr>
          <a:lstStyle/>
          <a:p>
            <a:pPr algn="l"/>
            <a:r>
              <a:rPr sz="900" b="0" i="0">
                <a:solidFill>
                  <a:srgbClr val="CCD6E0"/>
                </a:solidFill>
              </a:rPr>
              <a:t>医療専門不動産  |  ビジネスモデル</a:t>
            </a:r>
          </a:p>
        </p:txBody>
      </p:sp>
      <p:sp>
        <p:nvSpPr>
          <p:cNvPr id="4" name="Rectangle 3"/>
          <p:cNvSpPr/>
          <p:nvPr/>
        </p:nvSpPr>
        <p:spPr>
          <a:xfrm>
            <a:off x="0" y="0"/>
            <a:ext cx="12188952"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972800" cy="594360"/>
          </a:xfrm>
          <a:prstGeom prst="rect">
            <a:avLst/>
          </a:prstGeom>
          <a:noFill/>
        </p:spPr>
        <p:txBody>
          <a:bodyPr wrap="square">
            <a:spAutoFit/>
          </a:bodyPr>
          <a:lstStyle/>
          <a:p>
            <a:pPr algn="l"/>
            <a:r>
              <a:rPr sz="2400" b="1" i="0">
                <a:solidFill>
                  <a:srgbClr val="FFFFFF"/>
                </a:solidFill>
              </a:rPr>
              <a:t>02  /  業界の違いと構造的優位</a:t>
            </a:r>
          </a:p>
        </p:txBody>
      </p:sp>
      <p:sp>
        <p:nvSpPr>
          <p:cNvPr id="6" name="TextBox 5"/>
          <p:cNvSpPr txBox="1"/>
          <p:nvPr/>
        </p:nvSpPr>
        <p:spPr>
          <a:xfrm>
            <a:off x="548640" y="713232"/>
            <a:ext cx="10972800" cy="274320"/>
          </a:xfrm>
          <a:prstGeom prst="rect">
            <a:avLst/>
          </a:prstGeom>
          <a:noFill/>
        </p:spPr>
        <p:txBody>
          <a:bodyPr wrap="square">
            <a:spAutoFit/>
          </a:bodyPr>
          <a:lstStyle/>
          <a:p>
            <a:pPr algn="l"/>
            <a:r>
              <a:rPr sz="1100" b="0" i="0">
                <a:solidFill>
                  <a:srgbClr val="CCD6E0"/>
                </a:solidFill>
              </a:rPr>
              <a:t>医療不動産は「売買」ではなく「コンサルティング」。真の強みは業界横断の「チームビルディング」にある。</a:t>
            </a:r>
          </a:p>
        </p:txBody>
      </p:sp>
      <p:sp>
        <p:nvSpPr>
          <p:cNvPr id="7" name="Rectangle 6"/>
          <p:cNvSpPr/>
          <p:nvPr/>
        </p:nvSpPr>
        <p:spPr>
          <a:xfrm>
            <a:off x="457200" y="1143000"/>
            <a:ext cx="5303520" cy="2103120"/>
          </a:xfrm>
          <a:prstGeom prst="rect">
            <a:avLst/>
          </a:prstGeom>
          <a:solidFill>
            <a:srgbClr val="151B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34440"/>
            <a:ext cx="4937760" cy="384048"/>
          </a:xfrm>
          <a:prstGeom prst="rect">
            <a:avLst/>
          </a:prstGeom>
          <a:noFill/>
        </p:spPr>
        <p:txBody>
          <a:bodyPr wrap="square">
            <a:spAutoFit/>
          </a:bodyPr>
          <a:lstStyle/>
          <a:p>
            <a:pPr algn="l"/>
            <a:r>
              <a:rPr sz="1400" b="1" i="0">
                <a:solidFill>
                  <a:srgbClr val="CCD6E0"/>
                </a:solidFill>
              </a:rPr>
              <a:t>一般不動産　単発の「売買仲介」</a:t>
            </a:r>
          </a:p>
        </p:txBody>
      </p:sp>
      <p:sp>
        <p:nvSpPr>
          <p:cNvPr id="9" name="TextBox 8"/>
          <p:cNvSpPr txBox="1"/>
          <p:nvPr/>
        </p:nvSpPr>
        <p:spPr>
          <a:xfrm>
            <a:off x="640080" y="1691640"/>
            <a:ext cx="4937760" cy="438912"/>
          </a:xfrm>
          <a:prstGeom prst="rect">
            <a:avLst/>
          </a:prstGeom>
          <a:noFill/>
        </p:spPr>
        <p:txBody>
          <a:bodyPr wrap="square">
            <a:spAutoFit/>
          </a:bodyPr>
          <a:lstStyle/>
          <a:p>
            <a:pPr algn="l"/>
            <a:r>
              <a:rPr sz="1300" b="0" i="0">
                <a:solidFill>
                  <a:srgbClr val="CCD6E0"/>
                </a:solidFill>
              </a:rPr>
              <a:t>・情報はオープン、利幅は薄い</a:t>
            </a:r>
          </a:p>
        </p:txBody>
      </p:sp>
      <p:sp>
        <p:nvSpPr>
          <p:cNvPr id="10" name="TextBox 9"/>
          <p:cNvSpPr txBox="1"/>
          <p:nvPr/>
        </p:nvSpPr>
        <p:spPr>
          <a:xfrm>
            <a:off x="640080" y="2194560"/>
            <a:ext cx="4937760" cy="438912"/>
          </a:xfrm>
          <a:prstGeom prst="rect">
            <a:avLst/>
          </a:prstGeom>
          <a:noFill/>
        </p:spPr>
        <p:txBody>
          <a:bodyPr wrap="square">
            <a:spAutoFit/>
          </a:bodyPr>
          <a:lstStyle/>
          <a:p>
            <a:pPr algn="l"/>
            <a:r>
              <a:rPr sz="1300" b="0" i="0">
                <a:solidFill>
                  <a:srgbClr val="CCD6E0"/>
                </a:solidFill>
              </a:rPr>
              <a:t>・毎回ゼロから集客</a:t>
            </a:r>
          </a:p>
        </p:txBody>
      </p:sp>
      <p:sp>
        <p:nvSpPr>
          <p:cNvPr id="11" name="TextBox 10"/>
          <p:cNvSpPr txBox="1"/>
          <p:nvPr/>
        </p:nvSpPr>
        <p:spPr>
          <a:xfrm>
            <a:off x="640080" y="2697480"/>
            <a:ext cx="4937760" cy="438912"/>
          </a:xfrm>
          <a:prstGeom prst="rect">
            <a:avLst/>
          </a:prstGeom>
          <a:noFill/>
        </p:spPr>
        <p:txBody>
          <a:bodyPr wrap="square">
            <a:spAutoFit/>
          </a:bodyPr>
          <a:lstStyle/>
          <a:p>
            <a:pPr algn="l"/>
            <a:r>
              <a:rPr sz="1300" b="0" i="0">
                <a:solidFill>
                  <a:srgbClr val="CCD6E0"/>
                </a:solidFill>
              </a:rPr>
              <a:t>・1件決まれば、次は振り出し</a:t>
            </a:r>
          </a:p>
        </p:txBody>
      </p:sp>
      <p:sp>
        <p:nvSpPr>
          <p:cNvPr id="12" name="Rectangle 11"/>
          <p:cNvSpPr/>
          <p:nvPr/>
        </p:nvSpPr>
        <p:spPr>
          <a:xfrm>
            <a:off x="6309360" y="1143000"/>
            <a:ext cx="5394960" cy="21031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09360" y="1143000"/>
            <a:ext cx="539496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234440"/>
            <a:ext cx="5029200" cy="384048"/>
          </a:xfrm>
          <a:prstGeom prst="rect">
            <a:avLst/>
          </a:prstGeom>
          <a:noFill/>
        </p:spPr>
        <p:txBody>
          <a:bodyPr wrap="square">
            <a:spAutoFit/>
          </a:bodyPr>
          <a:lstStyle/>
          <a:p>
            <a:pPr algn="l"/>
            <a:r>
              <a:rPr sz="1400" b="1" i="0">
                <a:solidFill>
                  <a:srgbClr val="FFFFFF"/>
                </a:solidFill>
              </a:rPr>
              <a:t>医療不動産　「コンサル」＋「チームビルディング」</a:t>
            </a:r>
          </a:p>
        </p:txBody>
      </p:sp>
      <p:sp>
        <p:nvSpPr>
          <p:cNvPr id="15" name="TextBox 14"/>
          <p:cNvSpPr txBox="1"/>
          <p:nvPr/>
        </p:nvSpPr>
        <p:spPr>
          <a:xfrm>
            <a:off x="6492240" y="1691640"/>
            <a:ext cx="5029200" cy="438912"/>
          </a:xfrm>
          <a:prstGeom prst="rect">
            <a:avLst/>
          </a:prstGeom>
          <a:noFill/>
        </p:spPr>
        <p:txBody>
          <a:bodyPr wrap="square">
            <a:spAutoFit/>
          </a:bodyPr>
          <a:lstStyle/>
          <a:p>
            <a:pPr algn="l"/>
            <a:r>
              <a:rPr sz="1300" b="0" i="0">
                <a:solidFill>
                  <a:srgbClr val="FFFFFF"/>
                </a:solidFill>
              </a:rPr>
              <a:t>・開業→移転→拡張→機材→承継→売却と連鎖</a:t>
            </a:r>
          </a:p>
        </p:txBody>
      </p:sp>
      <p:sp>
        <p:nvSpPr>
          <p:cNvPr id="16" name="TextBox 15"/>
          <p:cNvSpPr txBox="1"/>
          <p:nvPr/>
        </p:nvSpPr>
        <p:spPr>
          <a:xfrm>
            <a:off x="6492240" y="2194560"/>
            <a:ext cx="5029200" cy="438912"/>
          </a:xfrm>
          <a:prstGeom prst="rect">
            <a:avLst/>
          </a:prstGeom>
          <a:noFill/>
        </p:spPr>
        <p:txBody>
          <a:bodyPr wrap="square">
            <a:spAutoFit/>
          </a:bodyPr>
          <a:lstStyle/>
          <a:p>
            <a:pPr algn="l"/>
            <a:r>
              <a:rPr sz="1300" b="0" i="0">
                <a:solidFill>
                  <a:srgbClr val="FFFFFF"/>
                </a:solidFill>
              </a:rPr>
              <a:t>・信頼は次の紹介を呼ぶ</a:t>
            </a:r>
          </a:p>
        </p:txBody>
      </p:sp>
      <p:sp>
        <p:nvSpPr>
          <p:cNvPr id="17" name="TextBox 16"/>
          <p:cNvSpPr txBox="1"/>
          <p:nvPr/>
        </p:nvSpPr>
        <p:spPr>
          <a:xfrm>
            <a:off x="6492240" y="2697480"/>
            <a:ext cx="5029200" cy="438912"/>
          </a:xfrm>
          <a:prstGeom prst="rect">
            <a:avLst/>
          </a:prstGeom>
          <a:noFill/>
        </p:spPr>
        <p:txBody>
          <a:bodyPr wrap="square">
            <a:spAutoFit/>
          </a:bodyPr>
          <a:lstStyle/>
          <a:p>
            <a:pPr algn="l"/>
            <a:r>
              <a:rPr sz="1300" b="0" i="0">
                <a:solidFill>
                  <a:srgbClr val="FFFFFF"/>
                </a:solidFill>
              </a:rPr>
              <a:t>・利益が長期で複利的に積み上がる</a:t>
            </a:r>
          </a:p>
        </p:txBody>
      </p:sp>
      <p:sp>
        <p:nvSpPr>
          <p:cNvPr id="18" name="TextBox 17"/>
          <p:cNvSpPr txBox="1"/>
          <p:nvPr/>
        </p:nvSpPr>
        <p:spPr>
          <a:xfrm>
            <a:off x="5486400" y="1828800"/>
            <a:ext cx="777240" cy="548640"/>
          </a:xfrm>
          <a:prstGeom prst="rect">
            <a:avLst/>
          </a:prstGeom>
          <a:noFill/>
        </p:spPr>
        <p:txBody>
          <a:bodyPr wrap="square">
            <a:spAutoFit/>
          </a:bodyPr>
          <a:lstStyle/>
          <a:p>
            <a:pPr algn="ctr"/>
            <a:r>
              <a:rPr sz="1800" b="1" i="0">
                <a:solidFill>
                  <a:srgbClr val="E8A800"/>
                </a:solidFill>
              </a:rPr>
              <a:t>VS</a:t>
            </a:r>
          </a:p>
        </p:txBody>
      </p:sp>
      <p:sp>
        <p:nvSpPr>
          <p:cNvPr id="19" name="Rectangle 18"/>
          <p:cNvSpPr/>
          <p:nvPr/>
        </p:nvSpPr>
        <p:spPr>
          <a:xfrm>
            <a:off x="457200" y="3429000"/>
            <a:ext cx="3611880" cy="182880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429000"/>
            <a:ext cx="36118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3502152"/>
            <a:ext cx="3383280" cy="384048"/>
          </a:xfrm>
          <a:prstGeom prst="rect">
            <a:avLst/>
          </a:prstGeom>
          <a:noFill/>
        </p:spPr>
        <p:txBody>
          <a:bodyPr wrap="square">
            <a:spAutoFit/>
          </a:bodyPr>
          <a:lstStyle/>
          <a:p>
            <a:pPr algn="l"/>
            <a:r>
              <a:rPr sz="1300" b="1" i="0">
                <a:solidFill>
                  <a:srgbClr val="E8A800"/>
                </a:solidFill>
              </a:rPr>
              <a:t>①  情報の非対称性</a:t>
            </a:r>
          </a:p>
        </p:txBody>
      </p:sp>
      <p:sp>
        <p:nvSpPr>
          <p:cNvPr id="22" name="TextBox 21"/>
          <p:cNvSpPr txBox="1"/>
          <p:nvPr/>
        </p:nvSpPr>
        <p:spPr>
          <a:xfrm>
            <a:off x="594360" y="3950208"/>
            <a:ext cx="3383280" cy="1188720"/>
          </a:xfrm>
          <a:prstGeom prst="rect">
            <a:avLst/>
          </a:prstGeom>
          <a:noFill/>
        </p:spPr>
        <p:txBody>
          <a:bodyPr wrap="square">
            <a:spAutoFit/>
          </a:bodyPr>
          <a:lstStyle/>
          <a:p>
            <a:pPr algn="l"/>
            <a:r>
              <a:rPr sz="1100" b="0" i="0">
                <a:solidFill>
                  <a:srgbClr val="FFFFFF"/>
                </a:solidFill>
              </a:rPr>
              <a:t>医師は本業多忙で不動産情報に疎い。比較サイトの安値競争に陥らず、信頼で選ばれる。</a:t>
            </a:r>
          </a:p>
        </p:txBody>
      </p:sp>
      <p:sp>
        <p:nvSpPr>
          <p:cNvPr id="23" name="Rectangle 22"/>
          <p:cNvSpPr/>
          <p:nvPr/>
        </p:nvSpPr>
        <p:spPr>
          <a:xfrm>
            <a:off x="4197096" y="3429000"/>
            <a:ext cx="3611880" cy="182880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97096" y="3429000"/>
            <a:ext cx="36118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34256" y="3502152"/>
            <a:ext cx="3383280" cy="384048"/>
          </a:xfrm>
          <a:prstGeom prst="rect">
            <a:avLst/>
          </a:prstGeom>
          <a:noFill/>
        </p:spPr>
        <p:txBody>
          <a:bodyPr wrap="square">
            <a:spAutoFit/>
          </a:bodyPr>
          <a:lstStyle/>
          <a:p>
            <a:pPr algn="l"/>
            <a:r>
              <a:rPr sz="1300" b="1" i="0">
                <a:solidFill>
                  <a:srgbClr val="E8A800"/>
                </a:solidFill>
              </a:rPr>
              <a:t>②  ライフサイクルの長さ</a:t>
            </a:r>
          </a:p>
        </p:txBody>
      </p:sp>
      <p:sp>
        <p:nvSpPr>
          <p:cNvPr id="26" name="TextBox 25"/>
          <p:cNvSpPr txBox="1"/>
          <p:nvPr/>
        </p:nvSpPr>
        <p:spPr>
          <a:xfrm>
            <a:off x="4334256" y="3950208"/>
            <a:ext cx="3383280" cy="1188720"/>
          </a:xfrm>
          <a:prstGeom prst="rect">
            <a:avLst/>
          </a:prstGeom>
          <a:noFill/>
        </p:spPr>
        <p:txBody>
          <a:bodyPr wrap="square">
            <a:spAutoFit/>
          </a:bodyPr>
          <a:lstStyle/>
          <a:p>
            <a:pPr algn="l"/>
            <a:r>
              <a:rPr sz="1100" b="0" i="0">
                <a:solidFill>
                  <a:srgbClr val="FFFFFF"/>
                </a:solidFill>
              </a:rPr>
              <a:t>1人の医師に30年関わり続けられる。開業→拡張→機材→承継→引退後の自宅売却まで。</a:t>
            </a:r>
          </a:p>
        </p:txBody>
      </p:sp>
      <p:sp>
        <p:nvSpPr>
          <p:cNvPr id="27" name="Rectangle 26"/>
          <p:cNvSpPr/>
          <p:nvPr/>
        </p:nvSpPr>
        <p:spPr>
          <a:xfrm>
            <a:off x="7936992" y="3429000"/>
            <a:ext cx="3611880" cy="182880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36992" y="3429000"/>
            <a:ext cx="36118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74152" y="3502152"/>
            <a:ext cx="3383280" cy="384048"/>
          </a:xfrm>
          <a:prstGeom prst="rect">
            <a:avLst/>
          </a:prstGeom>
          <a:noFill/>
        </p:spPr>
        <p:txBody>
          <a:bodyPr wrap="square">
            <a:spAutoFit/>
          </a:bodyPr>
          <a:lstStyle/>
          <a:p>
            <a:pPr algn="l"/>
            <a:r>
              <a:rPr sz="1300" b="1" i="0">
                <a:solidFill>
                  <a:srgbClr val="E8A800"/>
                </a:solidFill>
              </a:rPr>
              <a:t>③  チームビルディング</a:t>
            </a:r>
          </a:p>
        </p:txBody>
      </p:sp>
      <p:sp>
        <p:nvSpPr>
          <p:cNvPr id="30" name="TextBox 29"/>
          <p:cNvSpPr txBox="1"/>
          <p:nvPr/>
        </p:nvSpPr>
        <p:spPr>
          <a:xfrm>
            <a:off x="8074152" y="3950208"/>
            <a:ext cx="3383280" cy="1188720"/>
          </a:xfrm>
          <a:prstGeom prst="rect">
            <a:avLst/>
          </a:prstGeom>
          <a:noFill/>
        </p:spPr>
        <p:txBody>
          <a:bodyPr wrap="square">
            <a:spAutoFit/>
          </a:bodyPr>
          <a:lstStyle/>
          <a:p>
            <a:pPr algn="l"/>
            <a:r>
              <a:rPr sz="1100" b="0" i="0">
                <a:solidFill>
                  <a:srgbClr val="FFFFFF"/>
                </a:solidFill>
              </a:rPr>
              <a:t>士業・医療機器・薬品卸・保険・設計・金融──業界横断チームを束ねる位置に立つ。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6510528"/>
            <a:ext cx="12188952" cy="34747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37960"/>
            <a:ext cx="9144000" cy="292608"/>
          </a:xfrm>
          <a:prstGeom prst="rect">
            <a:avLst/>
          </a:prstGeom>
          <a:noFill/>
        </p:spPr>
        <p:txBody>
          <a:bodyPr wrap="square">
            <a:spAutoFit/>
          </a:bodyPr>
          <a:lstStyle/>
          <a:p>
            <a:pPr algn="l"/>
            <a:r>
              <a:rPr sz="900" b="0" i="0">
                <a:solidFill>
                  <a:srgbClr val="CCD6E0"/>
                </a:solidFill>
              </a:rPr>
              <a:t>医療専門不動産  |  ビジネスモデル</a:t>
            </a:r>
          </a:p>
        </p:txBody>
      </p:sp>
      <p:sp>
        <p:nvSpPr>
          <p:cNvPr id="4" name="Rectangle 3"/>
          <p:cNvSpPr/>
          <p:nvPr/>
        </p:nvSpPr>
        <p:spPr>
          <a:xfrm>
            <a:off x="0" y="0"/>
            <a:ext cx="12188952"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972800" cy="594360"/>
          </a:xfrm>
          <a:prstGeom prst="rect">
            <a:avLst/>
          </a:prstGeom>
          <a:noFill/>
        </p:spPr>
        <p:txBody>
          <a:bodyPr wrap="square">
            <a:spAutoFit/>
          </a:bodyPr>
          <a:lstStyle/>
          <a:p>
            <a:pPr algn="l"/>
            <a:r>
              <a:rPr sz="2400" b="1" i="0">
                <a:solidFill>
                  <a:srgbClr val="FFFFFF"/>
                </a:solidFill>
              </a:rPr>
              <a:t>情報の非対称性  ──  核心スライド  【NEW】</a:t>
            </a:r>
          </a:p>
        </p:txBody>
      </p:sp>
      <p:sp>
        <p:nvSpPr>
          <p:cNvPr id="6" name="TextBox 5"/>
          <p:cNvSpPr txBox="1"/>
          <p:nvPr/>
        </p:nvSpPr>
        <p:spPr>
          <a:xfrm>
            <a:off x="548640" y="713232"/>
            <a:ext cx="10972800" cy="274320"/>
          </a:xfrm>
          <a:prstGeom prst="rect">
            <a:avLst/>
          </a:prstGeom>
          <a:noFill/>
        </p:spPr>
        <p:txBody>
          <a:bodyPr wrap="square">
            <a:spAutoFit/>
          </a:bodyPr>
          <a:lstStyle/>
          <a:p>
            <a:pPr algn="l"/>
            <a:r>
              <a:rPr sz="1100" b="0" i="0">
                <a:solidFill>
                  <a:srgbClr val="CCD6E0"/>
                </a:solidFill>
              </a:rPr>
              <a:t>良い情報は「不動産屋」には来ない。「信頼できる身内」にしか落ちない。</a:t>
            </a:r>
          </a:p>
        </p:txBody>
      </p:sp>
      <p:sp>
        <p:nvSpPr>
          <p:cNvPr id="7" name="Rectangle 6"/>
          <p:cNvSpPr/>
          <p:nvPr/>
        </p:nvSpPr>
        <p:spPr>
          <a:xfrm>
            <a:off x="457200" y="1188720"/>
            <a:ext cx="2514600" cy="182880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88720"/>
            <a:ext cx="251460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25880"/>
            <a:ext cx="2286000" cy="1554480"/>
          </a:xfrm>
          <a:prstGeom prst="rect">
            <a:avLst/>
          </a:prstGeom>
          <a:noFill/>
        </p:spPr>
        <p:txBody>
          <a:bodyPr wrap="square">
            <a:spAutoFit/>
          </a:bodyPr>
          <a:lstStyle/>
          <a:p>
            <a:pPr algn="ctr"/>
            <a:r>
              <a:rPr sz="1300" b="1" i="0">
                <a:solidFill>
                  <a:srgbClr val="FFFFFF"/>
                </a:solidFill>
              </a:rPr>
              <a:t>医師の本音</a:t>
            </a:r>
          </a:p>
        </p:txBody>
      </p:sp>
      <p:sp>
        <p:nvSpPr>
          <p:cNvPr id="10" name="TextBox 9"/>
          <p:cNvSpPr txBox="1"/>
          <p:nvPr/>
        </p:nvSpPr>
        <p:spPr>
          <a:xfrm>
            <a:off x="3035808" y="1874519"/>
            <a:ext cx="347472" cy="457200"/>
          </a:xfrm>
          <a:prstGeom prst="rect">
            <a:avLst/>
          </a:prstGeom>
          <a:noFill/>
        </p:spPr>
        <p:txBody>
          <a:bodyPr wrap="square">
            <a:spAutoFit/>
          </a:bodyPr>
          <a:lstStyle/>
          <a:p>
            <a:pPr algn="l"/>
            <a:r>
              <a:rPr sz="1800" b="0" i="0">
                <a:solidFill>
                  <a:srgbClr val="E8A800"/>
                </a:solidFill>
              </a:rPr>
              <a:t>→</a:t>
            </a:r>
          </a:p>
        </p:txBody>
      </p:sp>
      <p:sp>
        <p:nvSpPr>
          <p:cNvPr id="11" name="Rectangle 10"/>
          <p:cNvSpPr/>
          <p:nvPr/>
        </p:nvSpPr>
        <p:spPr>
          <a:xfrm>
            <a:off x="3383280" y="1188720"/>
            <a:ext cx="2514600" cy="182880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83280" y="1188720"/>
            <a:ext cx="251460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0440" y="1325880"/>
            <a:ext cx="2286000" cy="1554480"/>
          </a:xfrm>
          <a:prstGeom prst="rect">
            <a:avLst/>
          </a:prstGeom>
          <a:noFill/>
        </p:spPr>
        <p:txBody>
          <a:bodyPr wrap="square">
            <a:spAutoFit/>
          </a:bodyPr>
          <a:lstStyle/>
          <a:p>
            <a:pPr algn="ctr"/>
            <a:r>
              <a:rPr sz="1300" b="1" i="0">
                <a:solidFill>
                  <a:srgbClr val="FFFFFF"/>
                </a:solidFill>
              </a:rPr>
              <a:t>門番</a:t>
            </a:r>
          </a:p>
          <a:p>
            <a:pPr algn="ctr"/>
            <a:r>
              <a:rPr sz="1300" b="1" i="0">
                <a:solidFill>
                  <a:srgbClr val="FFFFFF"/>
                </a:solidFill>
              </a:rPr>
              <a:t>（税理士・弁護士</a:t>
            </a:r>
          </a:p>
          <a:p>
            <a:pPr algn="ctr"/>
            <a:r>
              <a:rPr sz="1300" b="1" i="0">
                <a:solidFill>
                  <a:srgbClr val="FFFFFF"/>
                </a:solidFill>
              </a:rPr>
              <a:t>・銀行員）</a:t>
            </a:r>
          </a:p>
        </p:txBody>
      </p:sp>
      <p:sp>
        <p:nvSpPr>
          <p:cNvPr id="14" name="TextBox 13"/>
          <p:cNvSpPr txBox="1"/>
          <p:nvPr/>
        </p:nvSpPr>
        <p:spPr>
          <a:xfrm>
            <a:off x="5961888" y="1874519"/>
            <a:ext cx="347472" cy="457200"/>
          </a:xfrm>
          <a:prstGeom prst="rect">
            <a:avLst/>
          </a:prstGeom>
          <a:noFill/>
        </p:spPr>
        <p:txBody>
          <a:bodyPr wrap="square">
            <a:spAutoFit/>
          </a:bodyPr>
          <a:lstStyle/>
          <a:p>
            <a:pPr algn="l"/>
            <a:r>
              <a:rPr sz="1800" b="0" i="0">
                <a:solidFill>
                  <a:srgbClr val="E8A800"/>
                </a:solidFill>
              </a:rPr>
              <a:t>→</a:t>
            </a:r>
          </a:p>
        </p:txBody>
      </p:sp>
      <p:sp>
        <p:nvSpPr>
          <p:cNvPr id="15" name="Rectangle 14"/>
          <p:cNvSpPr/>
          <p:nvPr/>
        </p:nvSpPr>
        <p:spPr>
          <a:xfrm>
            <a:off x="6309360" y="1188720"/>
            <a:ext cx="2514600" cy="182880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60" y="1188720"/>
            <a:ext cx="251460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1325880"/>
            <a:ext cx="2286000" cy="1554480"/>
          </a:xfrm>
          <a:prstGeom prst="rect">
            <a:avLst/>
          </a:prstGeom>
          <a:noFill/>
        </p:spPr>
        <p:txBody>
          <a:bodyPr wrap="square">
            <a:spAutoFit/>
          </a:bodyPr>
          <a:lstStyle/>
          <a:p>
            <a:pPr algn="ctr"/>
            <a:r>
              <a:rPr sz="1300" b="1" i="0">
                <a:solidFill>
                  <a:srgbClr val="FFFFFF"/>
                </a:solidFill>
              </a:rPr>
              <a:t>私たち</a:t>
            </a:r>
          </a:p>
          <a:p>
            <a:pPr algn="ctr"/>
            <a:r>
              <a:rPr sz="1300" b="1" i="0">
                <a:solidFill>
                  <a:srgbClr val="FFFFFF"/>
                </a:solidFill>
              </a:rPr>
              <a:t>（コンサルとして</a:t>
            </a:r>
          </a:p>
          <a:p>
            <a:pPr algn="ctr"/>
            <a:r>
              <a:rPr sz="1300" b="1" i="0">
                <a:solidFill>
                  <a:srgbClr val="FFFFFF"/>
                </a:solidFill>
              </a:rPr>
              <a:t>認知された場合のみ）</a:t>
            </a:r>
          </a:p>
        </p:txBody>
      </p:sp>
      <p:sp>
        <p:nvSpPr>
          <p:cNvPr id="18" name="TextBox 17"/>
          <p:cNvSpPr txBox="1"/>
          <p:nvPr/>
        </p:nvSpPr>
        <p:spPr>
          <a:xfrm>
            <a:off x="8887968" y="1874519"/>
            <a:ext cx="347472" cy="457200"/>
          </a:xfrm>
          <a:prstGeom prst="rect">
            <a:avLst/>
          </a:prstGeom>
          <a:noFill/>
        </p:spPr>
        <p:txBody>
          <a:bodyPr wrap="square">
            <a:spAutoFit/>
          </a:bodyPr>
          <a:lstStyle/>
          <a:p>
            <a:pPr algn="l"/>
            <a:r>
              <a:rPr sz="1800" b="0" i="0">
                <a:solidFill>
                  <a:srgbClr val="E8A800"/>
                </a:solidFill>
              </a:rPr>
              <a:t>→</a:t>
            </a:r>
          </a:p>
        </p:txBody>
      </p:sp>
      <p:sp>
        <p:nvSpPr>
          <p:cNvPr id="19" name="Rectangle 18"/>
          <p:cNvSpPr/>
          <p:nvPr/>
        </p:nvSpPr>
        <p:spPr>
          <a:xfrm>
            <a:off x="9235440" y="1188720"/>
            <a:ext cx="2514600" cy="182880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235440" y="1188720"/>
            <a:ext cx="251460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72600" y="1325880"/>
            <a:ext cx="2286000" cy="1554480"/>
          </a:xfrm>
          <a:prstGeom prst="rect">
            <a:avLst/>
          </a:prstGeom>
          <a:noFill/>
        </p:spPr>
        <p:txBody>
          <a:bodyPr wrap="square">
            <a:spAutoFit/>
          </a:bodyPr>
          <a:lstStyle/>
          <a:p>
            <a:pPr algn="ctr"/>
            <a:r>
              <a:rPr sz="1300" b="1" i="0">
                <a:solidFill>
                  <a:srgbClr val="FFFFFF"/>
                </a:solidFill>
              </a:rPr>
              <a:t>不動産を</a:t>
            </a:r>
          </a:p>
          <a:p>
            <a:pPr algn="ctr"/>
            <a:r>
              <a:rPr sz="1300" b="1" i="0">
                <a:solidFill>
                  <a:srgbClr val="FFFFFF"/>
                </a:solidFill>
              </a:rPr>
              <a:t>「処方箋」として</a:t>
            </a:r>
          </a:p>
          <a:p>
            <a:pPr algn="ctr"/>
            <a:r>
              <a:rPr sz="1300" b="1" i="0">
                <a:solidFill>
                  <a:srgbClr val="FFFFFF"/>
                </a:solidFill>
              </a:rPr>
              <a:t>活用</a:t>
            </a:r>
          </a:p>
        </p:txBody>
      </p:sp>
      <p:sp>
        <p:nvSpPr>
          <p:cNvPr id="22" name="Rectangle 21"/>
          <p:cNvSpPr/>
          <p:nvPr/>
        </p:nvSpPr>
        <p:spPr>
          <a:xfrm>
            <a:off x="457200" y="3200400"/>
            <a:ext cx="5212080" cy="1234440"/>
          </a:xfrm>
          <a:prstGeom prst="rect">
            <a:avLst/>
          </a:prstGeom>
          <a:solidFill>
            <a:srgbClr val="1515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291840"/>
            <a:ext cx="4846320" cy="347472"/>
          </a:xfrm>
          <a:prstGeom prst="rect">
            <a:avLst/>
          </a:prstGeom>
          <a:noFill/>
        </p:spPr>
        <p:txBody>
          <a:bodyPr wrap="square">
            <a:spAutoFit/>
          </a:bodyPr>
          <a:lstStyle/>
          <a:p>
            <a:pPr algn="l"/>
            <a:r>
              <a:rPr sz="1400" b="1" i="0">
                <a:solidFill>
                  <a:srgbClr val="CCD6E0"/>
                </a:solidFill>
              </a:rPr>
              <a:t>一般流通物件</a:t>
            </a:r>
          </a:p>
        </p:txBody>
      </p:sp>
      <p:sp>
        <p:nvSpPr>
          <p:cNvPr id="24" name="TextBox 23"/>
          <p:cNvSpPr txBox="1"/>
          <p:nvPr/>
        </p:nvSpPr>
        <p:spPr>
          <a:xfrm>
            <a:off x="640080" y="3703320"/>
            <a:ext cx="4846320" cy="594360"/>
          </a:xfrm>
          <a:prstGeom prst="rect">
            <a:avLst/>
          </a:prstGeom>
          <a:noFill/>
        </p:spPr>
        <p:txBody>
          <a:bodyPr wrap="square">
            <a:spAutoFit/>
          </a:bodyPr>
          <a:lstStyle/>
          <a:p>
            <a:pPr algn="l"/>
            <a:r>
              <a:rPr sz="1300" b="0" i="0">
                <a:solidFill>
                  <a:srgbClr val="CCD6E0"/>
                </a:solidFill>
              </a:rPr>
              <a:t>仲介手数料3%　全員が同じ情報を持つ</a:t>
            </a:r>
          </a:p>
        </p:txBody>
      </p:sp>
      <p:sp>
        <p:nvSpPr>
          <p:cNvPr id="25" name="Rectangle 24"/>
          <p:cNvSpPr/>
          <p:nvPr/>
        </p:nvSpPr>
        <p:spPr>
          <a:xfrm>
            <a:off x="6400800" y="3200400"/>
            <a:ext cx="5303520" cy="12344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0" y="3200400"/>
            <a:ext cx="530352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0" y="3291840"/>
            <a:ext cx="4937760" cy="347472"/>
          </a:xfrm>
          <a:prstGeom prst="rect">
            <a:avLst/>
          </a:prstGeom>
          <a:noFill/>
        </p:spPr>
        <p:txBody>
          <a:bodyPr wrap="square">
            <a:spAutoFit/>
          </a:bodyPr>
          <a:lstStyle/>
          <a:p>
            <a:pPr algn="l"/>
            <a:r>
              <a:rPr sz="1400" b="1" i="0">
                <a:solidFill>
                  <a:srgbClr val="E8A800"/>
                </a:solidFill>
              </a:rPr>
              <a:t>非公開・難件</a:t>
            </a:r>
          </a:p>
        </p:txBody>
      </p:sp>
      <p:sp>
        <p:nvSpPr>
          <p:cNvPr id="28" name="TextBox 27"/>
          <p:cNvSpPr txBox="1"/>
          <p:nvPr/>
        </p:nvSpPr>
        <p:spPr>
          <a:xfrm>
            <a:off x="6583680" y="3703320"/>
            <a:ext cx="4937760" cy="594360"/>
          </a:xfrm>
          <a:prstGeom prst="rect">
            <a:avLst/>
          </a:prstGeom>
          <a:noFill/>
        </p:spPr>
        <p:txBody>
          <a:bodyPr wrap="square">
            <a:spAutoFit/>
          </a:bodyPr>
          <a:lstStyle/>
          <a:p>
            <a:pPr algn="l"/>
            <a:r>
              <a:rPr sz="1300" b="0" i="0">
                <a:solidFill>
                  <a:srgbClr val="FFFFFF"/>
                </a:solidFill>
              </a:rPr>
              <a:t>粗利10〜30%　情報を持つのは1人だけ</a:t>
            </a:r>
          </a:p>
        </p:txBody>
      </p:sp>
      <p:sp>
        <p:nvSpPr>
          <p:cNvPr id="29" name="Rectangle 28"/>
          <p:cNvSpPr/>
          <p:nvPr/>
        </p:nvSpPr>
        <p:spPr>
          <a:xfrm>
            <a:off x="502920" y="4617720"/>
            <a:ext cx="73152" cy="77724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690872"/>
            <a:ext cx="10972800" cy="658368"/>
          </a:xfrm>
          <a:prstGeom prst="rect">
            <a:avLst/>
          </a:prstGeom>
          <a:noFill/>
        </p:spPr>
        <p:txBody>
          <a:bodyPr wrap="square">
            <a:spAutoFit/>
          </a:bodyPr>
          <a:lstStyle/>
          <a:p>
            <a:pPr algn="l"/>
            <a:r>
              <a:rPr sz="1100" b="0" i="0">
                <a:solidFill>
                  <a:srgbClr val="FFFFFF"/>
                </a:solidFill>
              </a:rPr>
              <a:t>【エピソード】大叔父のカバン持ち中、医師が「来年クリニックを移転しようと思っているが、どこに相談すればいいか分からなくて……」と言った。不動産屋としてではなく「連れ」として入ったからこそ聞けた話。情報は看板ではなく信頼の深さに従って流れ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6510528"/>
            <a:ext cx="12188952" cy="34747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37960"/>
            <a:ext cx="9144000" cy="292608"/>
          </a:xfrm>
          <a:prstGeom prst="rect">
            <a:avLst/>
          </a:prstGeom>
          <a:noFill/>
        </p:spPr>
        <p:txBody>
          <a:bodyPr wrap="square">
            <a:spAutoFit/>
          </a:bodyPr>
          <a:lstStyle/>
          <a:p>
            <a:pPr algn="l"/>
            <a:r>
              <a:rPr sz="900" b="0" i="0">
                <a:solidFill>
                  <a:srgbClr val="CCD6E0"/>
                </a:solidFill>
              </a:rPr>
              <a:t>医療専門不動産  |  ビジネスモデル</a:t>
            </a:r>
          </a:p>
        </p:txBody>
      </p:sp>
      <p:sp>
        <p:nvSpPr>
          <p:cNvPr id="4" name="Rectangle 3"/>
          <p:cNvSpPr/>
          <p:nvPr/>
        </p:nvSpPr>
        <p:spPr>
          <a:xfrm>
            <a:off x="0" y="0"/>
            <a:ext cx="12188952"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972800" cy="594360"/>
          </a:xfrm>
          <a:prstGeom prst="rect">
            <a:avLst/>
          </a:prstGeom>
          <a:noFill/>
        </p:spPr>
        <p:txBody>
          <a:bodyPr wrap="square">
            <a:spAutoFit/>
          </a:bodyPr>
          <a:lstStyle/>
          <a:p>
            <a:pPr algn="l"/>
            <a:r>
              <a:rPr sz="2400" b="1" i="0">
                <a:solidFill>
                  <a:srgbClr val="FFFFFF"/>
                </a:solidFill>
              </a:rPr>
              <a:t>03  /  長期事業モデルの作り方</a:t>
            </a:r>
          </a:p>
        </p:txBody>
      </p:sp>
      <p:sp>
        <p:nvSpPr>
          <p:cNvPr id="6" name="TextBox 5"/>
          <p:cNvSpPr txBox="1"/>
          <p:nvPr/>
        </p:nvSpPr>
        <p:spPr>
          <a:xfrm>
            <a:off x="548640" y="713232"/>
            <a:ext cx="10972800" cy="274320"/>
          </a:xfrm>
          <a:prstGeom prst="rect">
            <a:avLst/>
          </a:prstGeom>
          <a:noFill/>
        </p:spPr>
        <p:txBody>
          <a:bodyPr wrap="square">
            <a:spAutoFit/>
          </a:bodyPr>
          <a:lstStyle/>
          <a:p>
            <a:pPr algn="l"/>
            <a:r>
              <a:rPr sz="1100" b="0" i="0">
                <a:solidFill>
                  <a:srgbClr val="CCD6E0"/>
                </a:solidFill>
              </a:rPr>
              <a:t>1件の相談を、生涯にわたる収益ストリームに育てる。複利で積み上がる事業設計。</a:t>
            </a:r>
          </a:p>
        </p:txBody>
      </p:sp>
      <p:sp>
        <p:nvSpPr>
          <p:cNvPr id="7" name="Rectangle 6"/>
          <p:cNvSpPr/>
          <p:nvPr/>
        </p:nvSpPr>
        <p:spPr>
          <a:xfrm>
            <a:off x="411480" y="1188720"/>
            <a:ext cx="2176272" cy="19202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188720"/>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8" y="1261872"/>
            <a:ext cx="1993392" cy="347472"/>
          </a:xfrm>
          <a:prstGeom prst="rect">
            <a:avLst/>
          </a:prstGeom>
          <a:noFill/>
        </p:spPr>
        <p:txBody>
          <a:bodyPr wrap="square">
            <a:spAutoFit/>
          </a:bodyPr>
          <a:lstStyle/>
          <a:p>
            <a:pPr algn="l"/>
            <a:r>
              <a:rPr sz="1100" b="0" i="0">
                <a:solidFill>
                  <a:srgbClr val="CCD6E0"/>
                </a:solidFill>
              </a:rPr>
              <a:t>0年目</a:t>
            </a:r>
          </a:p>
        </p:txBody>
      </p:sp>
      <p:sp>
        <p:nvSpPr>
          <p:cNvPr id="10" name="TextBox 9"/>
          <p:cNvSpPr txBox="1"/>
          <p:nvPr/>
        </p:nvSpPr>
        <p:spPr>
          <a:xfrm>
            <a:off x="521208" y="1645920"/>
            <a:ext cx="1993392" cy="502920"/>
          </a:xfrm>
          <a:prstGeom prst="rect">
            <a:avLst/>
          </a:prstGeom>
          <a:noFill/>
        </p:spPr>
        <p:txBody>
          <a:bodyPr wrap="square">
            <a:spAutoFit/>
          </a:bodyPr>
          <a:lstStyle/>
          <a:p>
            <a:pPr algn="l"/>
            <a:r>
              <a:rPr sz="1300" b="1" i="0">
                <a:solidFill>
                  <a:srgbClr val="FFFFFF"/>
                </a:solidFill>
              </a:rPr>
              <a:t>相談・受付</a:t>
            </a:r>
          </a:p>
        </p:txBody>
      </p:sp>
      <p:sp>
        <p:nvSpPr>
          <p:cNvPr id="11" name="TextBox 10"/>
          <p:cNvSpPr txBox="1"/>
          <p:nvPr/>
        </p:nvSpPr>
        <p:spPr>
          <a:xfrm>
            <a:off x="521208" y="2212848"/>
            <a:ext cx="1993392" cy="731520"/>
          </a:xfrm>
          <a:prstGeom prst="rect">
            <a:avLst/>
          </a:prstGeom>
          <a:noFill/>
        </p:spPr>
        <p:txBody>
          <a:bodyPr wrap="square">
            <a:spAutoFit/>
          </a:bodyPr>
          <a:lstStyle/>
          <a:p>
            <a:pPr algn="l"/>
            <a:r>
              <a:rPr sz="1100" b="0" i="0">
                <a:solidFill>
                  <a:srgbClr val="E8A800"/>
                </a:solidFill>
              </a:rPr>
              <a:t>紹介・無料</a:t>
            </a:r>
          </a:p>
        </p:txBody>
      </p:sp>
      <p:sp>
        <p:nvSpPr>
          <p:cNvPr id="12" name="Rectangle 11"/>
          <p:cNvSpPr/>
          <p:nvPr/>
        </p:nvSpPr>
        <p:spPr>
          <a:xfrm>
            <a:off x="2697480" y="1188720"/>
            <a:ext cx="2176272" cy="19202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97480" y="1188720"/>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07208" y="1261872"/>
            <a:ext cx="1993392" cy="347472"/>
          </a:xfrm>
          <a:prstGeom prst="rect">
            <a:avLst/>
          </a:prstGeom>
          <a:noFill/>
        </p:spPr>
        <p:txBody>
          <a:bodyPr wrap="square">
            <a:spAutoFit/>
          </a:bodyPr>
          <a:lstStyle/>
          <a:p>
            <a:pPr algn="l"/>
            <a:r>
              <a:rPr sz="1100" b="0" i="0">
                <a:solidFill>
                  <a:srgbClr val="CCD6E0"/>
                </a:solidFill>
              </a:rPr>
              <a:t>0–1年目</a:t>
            </a:r>
          </a:p>
        </p:txBody>
      </p:sp>
      <p:sp>
        <p:nvSpPr>
          <p:cNvPr id="15" name="TextBox 14"/>
          <p:cNvSpPr txBox="1"/>
          <p:nvPr/>
        </p:nvSpPr>
        <p:spPr>
          <a:xfrm>
            <a:off x="2807208" y="1645920"/>
            <a:ext cx="1993392" cy="502920"/>
          </a:xfrm>
          <a:prstGeom prst="rect">
            <a:avLst/>
          </a:prstGeom>
          <a:noFill/>
        </p:spPr>
        <p:txBody>
          <a:bodyPr wrap="square">
            <a:spAutoFit/>
          </a:bodyPr>
          <a:lstStyle/>
          <a:p>
            <a:pPr algn="l"/>
            <a:r>
              <a:rPr sz="1300" b="1" i="0">
                <a:solidFill>
                  <a:srgbClr val="FFFFFF"/>
                </a:solidFill>
              </a:rPr>
              <a:t>診療圏調査</a:t>
            </a:r>
          </a:p>
        </p:txBody>
      </p:sp>
      <p:sp>
        <p:nvSpPr>
          <p:cNvPr id="16" name="TextBox 15"/>
          <p:cNvSpPr txBox="1"/>
          <p:nvPr/>
        </p:nvSpPr>
        <p:spPr>
          <a:xfrm>
            <a:off x="2807208" y="2212848"/>
            <a:ext cx="1993392" cy="731520"/>
          </a:xfrm>
          <a:prstGeom prst="rect">
            <a:avLst/>
          </a:prstGeom>
          <a:noFill/>
        </p:spPr>
        <p:txBody>
          <a:bodyPr wrap="square">
            <a:spAutoFit/>
          </a:bodyPr>
          <a:lstStyle/>
          <a:p>
            <a:pPr algn="l"/>
            <a:r>
              <a:rPr sz="1100" b="0" i="0">
                <a:solidFill>
                  <a:srgbClr val="E8A800"/>
                </a:solidFill>
              </a:rPr>
              <a:t>コンサルfee</a:t>
            </a:r>
          </a:p>
        </p:txBody>
      </p:sp>
      <p:sp>
        <p:nvSpPr>
          <p:cNvPr id="17" name="Rectangle 16"/>
          <p:cNvSpPr/>
          <p:nvPr/>
        </p:nvSpPr>
        <p:spPr>
          <a:xfrm>
            <a:off x="4983480" y="1188720"/>
            <a:ext cx="2176272" cy="19202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83480" y="1188720"/>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93208" y="1261872"/>
            <a:ext cx="1993392" cy="347472"/>
          </a:xfrm>
          <a:prstGeom prst="rect">
            <a:avLst/>
          </a:prstGeom>
          <a:noFill/>
        </p:spPr>
        <p:txBody>
          <a:bodyPr wrap="square">
            <a:spAutoFit/>
          </a:bodyPr>
          <a:lstStyle/>
          <a:p>
            <a:pPr algn="l"/>
            <a:r>
              <a:rPr sz="1100" b="0" i="0">
                <a:solidFill>
                  <a:srgbClr val="CCD6E0"/>
                </a:solidFill>
              </a:rPr>
              <a:t>1年目</a:t>
            </a:r>
          </a:p>
        </p:txBody>
      </p:sp>
      <p:sp>
        <p:nvSpPr>
          <p:cNvPr id="20" name="TextBox 19"/>
          <p:cNvSpPr txBox="1"/>
          <p:nvPr/>
        </p:nvSpPr>
        <p:spPr>
          <a:xfrm>
            <a:off x="5093208" y="1645920"/>
            <a:ext cx="1993392" cy="502920"/>
          </a:xfrm>
          <a:prstGeom prst="rect">
            <a:avLst/>
          </a:prstGeom>
          <a:noFill/>
        </p:spPr>
        <p:txBody>
          <a:bodyPr wrap="square">
            <a:spAutoFit/>
          </a:bodyPr>
          <a:lstStyle/>
          <a:p>
            <a:pPr algn="l"/>
            <a:r>
              <a:rPr sz="1300" b="1" i="0">
                <a:solidFill>
                  <a:srgbClr val="FFFFFF"/>
                </a:solidFill>
              </a:rPr>
              <a:t>事業計画・物件</a:t>
            </a:r>
          </a:p>
        </p:txBody>
      </p:sp>
      <p:sp>
        <p:nvSpPr>
          <p:cNvPr id="21" name="TextBox 20"/>
          <p:cNvSpPr txBox="1"/>
          <p:nvPr/>
        </p:nvSpPr>
        <p:spPr>
          <a:xfrm>
            <a:off x="5093208" y="2212848"/>
            <a:ext cx="1993392" cy="731520"/>
          </a:xfrm>
          <a:prstGeom prst="rect">
            <a:avLst/>
          </a:prstGeom>
          <a:noFill/>
        </p:spPr>
        <p:txBody>
          <a:bodyPr wrap="square">
            <a:spAutoFit/>
          </a:bodyPr>
          <a:lstStyle/>
          <a:p>
            <a:pPr algn="l"/>
            <a:r>
              <a:rPr sz="1100" b="0" i="0">
                <a:solidFill>
                  <a:srgbClr val="E8A800"/>
                </a:solidFill>
              </a:rPr>
              <a:t>仲介手数料</a:t>
            </a:r>
          </a:p>
        </p:txBody>
      </p:sp>
      <p:sp>
        <p:nvSpPr>
          <p:cNvPr id="22" name="Rectangle 21"/>
          <p:cNvSpPr/>
          <p:nvPr/>
        </p:nvSpPr>
        <p:spPr>
          <a:xfrm>
            <a:off x="7269480" y="1188720"/>
            <a:ext cx="2176272" cy="19202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9480" y="1188720"/>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79208" y="1261872"/>
            <a:ext cx="1993392" cy="347472"/>
          </a:xfrm>
          <a:prstGeom prst="rect">
            <a:avLst/>
          </a:prstGeom>
          <a:noFill/>
        </p:spPr>
        <p:txBody>
          <a:bodyPr wrap="square">
            <a:spAutoFit/>
          </a:bodyPr>
          <a:lstStyle/>
          <a:p>
            <a:pPr algn="l"/>
            <a:r>
              <a:rPr sz="1100" b="0" i="0">
                <a:solidFill>
                  <a:srgbClr val="CCD6E0"/>
                </a:solidFill>
              </a:rPr>
              <a:t>1年〜継続</a:t>
            </a:r>
          </a:p>
        </p:txBody>
      </p:sp>
      <p:sp>
        <p:nvSpPr>
          <p:cNvPr id="25" name="TextBox 24"/>
          <p:cNvSpPr txBox="1"/>
          <p:nvPr/>
        </p:nvSpPr>
        <p:spPr>
          <a:xfrm>
            <a:off x="7379208" y="1645920"/>
            <a:ext cx="1993392" cy="502920"/>
          </a:xfrm>
          <a:prstGeom prst="rect">
            <a:avLst/>
          </a:prstGeom>
          <a:noFill/>
        </p:spPr>
        <p:txBody>
          <a:bodyPr wrap="square">
            <a:spAutoFit/>
          </a:bodyPr>
          <a:lstStyle/>
          <a:p>
            <a:pPr algn="l"/>
            <a:r>
              <a:rPr sz="1300" b="1" i="0">
                <a:solidFill>
                  <a:srgbClr val="FFFFFF"/>
                </a:solidFill>
              </a:rPr>
              <a:t>機材・備品</a:t>
            </a:r>
          </a:p>
        </p:txBody>
      </p:sp>
      <p:sp>
        <p:nvSpPr>
          <p:cNvPr id="26" name="TextBox 25"/>
          <p:cNvSpPr txBox="1"/>
          <p:nvPr/>
        </p:nvSpPr>
        <p:spPr>
          <a:xfrm>
            <a:off x="7379208" y="2212848"/>
            <a:ext cx="1993392" cy="731520"/>
          </a:xfrm>
          <a:prstGeom prst="rect">
            <a:avLst/>
          </a:prstGeom>
          <a:noFill/>
        </p:spPr>
        <p:txBody>
          <a:bodyPr wrap="square">
            <a:spAutoFit/>
          </a:bodyPr>
          <a:lstStyle/>
          <a:p>
            <a:pPr algn="l"/>
            <a:r>
              <a:rPr sz="1100" b="0" i="0">
                <a:solidFill>
                  <a:srgbClr val="E8A800"/>
                </a:solidFill>
              </a:rPr>
              <a:t>卸売・継続収益</a:t>
            </a:r>
          </a:p>
        </p:txBody>
      </p:sp>
      <p:sp>
        <p:nvSpPr>
          <p:cNvPr id="27" name="Rectangle 26"/>
          <p:cNvSpPr/>
          <p:nvPr/>
        </p:nvSpPr>
        <p:spPr>
          <a:xfrm>
            <a:off x="9555480" y="1188720"/>
            <a:ext cx="2176272" cy="19202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555480" y="1188720"/>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65208" y="1261872"/>
            <a:ext cx="1993392" cy="347472"/>
          </a:xfrm>
          <a:prstGeom prst="rect">
            <a:avLst/>
          </a:prstGeom>
          <a:noFill/>
        </p:spPr>
        <p:txBody>
          <a:bodyPr wrap="square">
            <a:spAutoFit/>
          </a:bodyPr>
          <a:lstStyle/>
          <a:p>
            <a:pPr algn="l"/>
            <a:r>
              <a:rPr sz="1100" b="0" i="0">
                <a:solidFill>
                  <a:srgbClr val="CCD6E0"/>
                </a:solidFill>
              </a:rPr>
              <a:t>5–30年目</a:t>
            </a:r>
          </a:p>
        </p:txBody>
      </p:sp>
      <p:sp>
        <p:nvSpPr>
          <p:cNvPr id="30" name="TextBox 29"/>
          <p:cNvSpPr txBox="1"/>
          <p:nvPr/>
        </p:nvSpPr>
        <p:spPr>
          <a:xfrm>
            <a:off x="9665208" y="1645920"/>
            <a:ext cx="1993392" cy="502920"/>
          </a:xfrm>
          <a:prstGeom prst="rect">
            <a:avLst/>
          </a:prstGeom>
          <a:noFill/>
        </p:spPr>
        <p:txBody>
          <a:bodyPr wrap="square">
            <a:spAutoFit/>
          </a:bodyPr>
          <a:lstStyle/>
          <a:p>
            <a:pPr algn="l"/>
            <a:r>
              <a:rPr sz="1300" b="1" i="0">
                <a:solidFill>
                  <a:srgbClr val="FFFFFF"/>
                </a:solidFill>
              </a:rPr>
              <a:t>拡張・承継・売却</a:t>
            </a:r>
          </a:p>
        </p:txBody>
      </p:sp>
      <p:sp>
        <p:nvSpPr>
          <p:cNvPr id="31" name="TextBox 30"/>
          <p:cNvSpPr txBox="1"/>
          <p:nvPr/>
        </p:nvSpPr>
        <p:spPr>
          <a:xfrm>
            <a:off x="9665208" y="2212848"/>
            <a:ext cx="1993392" cy="731520"/>
          </a:xfrm>
          <a:prstGeom prst="rect">
            <a:avLst/>
          </a:prstGeom>
          <a:noFill/>
        </p:spPr>
        <p:txBody>
          <a:bodyPr wrap="square">
            <a:spAutoFit/>
          </a:bodyPr>
          <a:lstStyle/>
          <a:p>
            <a:pPr algn="l"/>
            <a:r>
              <a:rPr sz="1100" b="0" i="0">
                <a:solidFill>
                  <a:srgbClr val="E8A800"/>
                </a:solidFill>
              </a:rPr>
              <a:t>再仲介・買取再販</a:t>
            </a:r>
          </a:p>
        </p:txBody>
      </p:sp>
      <p:sp>
        <p:nvSpPr>
          <p:cNvPr id="32" name="TextBox 31"/>
          <p:cNvSpPr txBox="1"/>
          <p:nvPr/>
        </p:nvSpPr>
        <p:spPr>
          <a:xfrm>
            <a:off x="457200" y="3291840"/>
            <a:ext cx="11155680" cy="384048"/>
          </a:xfrm>
          <a:prstGeom prst="rect">
            <a:avLst/>
          </a:prstGeom>
          <a:noFill/>
        </p:spPr>
        <p:txBody>
          <a:bodyPr wrap="square">
            <a:spAutoFit/>
          </a:bodyPr>
          <a:lstStyle/>
          <a:p>
            <a:pPr algn="l"/>
            <a:r>
              <a:rPr sz="1500" b="1" i="0">
                <a:solidFill>
                  <a:srgbClr val="E8A800"/>
                </a:solidFill>
              </a:rPr>
              <a:t>1人の医師から、生涯で  数千万〜数億円規模  の累積取引が積み上がる構造。</a:t>
            </a:r>
          </a:p>
        </p:txBody>
      </p:sp>
      <p:sp>
        <p:nvSpPr>
          <p:cNvPr id="33" name="Rectangle 32"/>
          <p:cNvSpPr/>
          <p:nvPr/>
        </p:nvSpPr>
        <p:spPr>
          <a:xfrm>
            <a:off x="411480" y="3840480"/>
            <a:ext cx="2176272" cy="17830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1208" y="3931920"/>
            <a:ext cx="1993392" cy="384048"/>
          </a:xfrm>
          <a:prstGeom prst="rect">
            <a:avLst/>
          </a:prstGeom>
          <a:noFill/>
        </p:spPr>
        <p:txBody>
          <a:bodyPr wrap="square">
            <a:spAutoFit/>
          </a:bodyPr>
          <a:lstStyle/>
          <a:p>
            <a:pPr algn="l"/>
            <a:r>
              <a:rPr sz="1200" b="1" i="0">
                <a:solidFill>
                  <a:srgbClr val="4A9ECB"/>
                </a:solidFill>
              </a:rPr>
              <a:t>01 利他のマインド</a:t>
            </a:r>
          </a:p>
        </p:txBody>
      </p:sp>
      <p:sp>
        <p:nvSpPr>
          <p:cNvPr id="35" name="TextBox 34"/>
          <p:cNvSpPr txBox="1"/>
          <p:nvPr/>
        </p:nvSpPr>
        <p:spPr>
          <a:xfrm>
            <a:off x="521208" y="4370832"/>
            <a:ext cx="1993392" cy="1097280"/>
          </a:xfrm>
          <a:prstGeom prst="rect">
            <a:avLst/>
          </a:prstGeom>
          <a:noFill/>
        </p:spPr>
        <p:txBody>
          <a:bodyPr wrap="square">
            <a:spAutoFit/>
          </a:bodyPr>
          <a:lstStyle/>
          <a:p>
            <a:pPr algn="l"/>
            <a:r>
              <a:rPr sz="1100" b="0" i="0">
                <a:solidFill>
                  <a:srgbClr val="CCD6E0"/>
                </a:solidFill>
              </a:rPr>
              <a:t>目先の手数料を追わず伴走</a:t>
            </a:r>
          </a:p>
        </p:txBody>
      </p:sp>
      <p:sp>
        <p:nvSpPr>
          <p:cNvPr id="36" name="Rectangle 35"/>
          <p:cNvSpPr/>
          <p:nvPr/>
        </p:nvSpPr>
        <p:spPr>
          <a:xfrm>
            <a:off x="2697480" y="3840480"/>
            <a:ext cx="2176272" cy="17830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07208" y="3931920"/>
            <a:ext cx="1993392" cy="384048"/>
          </a:xfrm>
          <a:prstGeom prst="rect">
            <a:avLst/>
          </a:prstGeom>
          <a:noFill/>
        </p:spPr>
        <p:txBody>
          <a:bodyPr wrap="square">
            <a:spAutoFit/>
          </a:bodyPr>
          <a:lstStyle/>
          <a:p>
            <a:pPr algn="l"/>
            <a:r>
              <a:rPr sz="1200" b="1" i="0">
                <a:solidFill>
                  <a:srgbClr val="4A9ECB"/>
                </a:solidFill>
              </a:rPr>
              <a:t>02 ハブとして繋ぐ</a:t>
            </a:r>
          </a:p>
        </p:txBody>
      </p:sp>
      <p:sp>
        <p:nvSpPr>
          <p:cNvPr id="38" name="TextBox 37"/>
          <p:cNvSpPr txBox="1"/>
          <p:nvPr/>
        </p:nvSpPr>
        <p:spPr>
          <a:xfrm>
            <a:off x="2807208" y="4370832"/>
            <a:ext cx="1993392" cy="1097280"/>
          </a:xfrm>
          <a:prstGeom prst="rect">
            <a:avLst/>
          </a:prstGeom>
          <a:noFill/>
        </p:spPr>
        <p:txBody>
          <a:bodyPr wrap="square">
            <a:spAutoFit/>
          </a:bodyPr>
          <a:lstStyle/>
          <a:p>
            <a:pPr algn="l"/>
            <a:r>
              <a:rPr sz="1100" b="0" i="0">
                <a:solidFill>
                  <a:srgbClr val="CCD6E0"/>
                </a:solidFill>
              </a:rPr>
              <a:t>全部やらない。最初に電話される存在に</a:t>
            </a:r>
          </a:p>
        </p:txBody>
      </p:sp>
      <p:sp>
        <p:nvSpPr>
          <p:cNvPr id="39" name="Rectangle 38"/>
          <p:cNvSpPr/>
          <p:nvPr/>
        </p:nvSpPr>
        <p:spPr>
          <a:xfrm>
            <a:off x="4983480" y="3840480"/>
            <a:ext cx="2176272" cy="17830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93208" y="3931920"/>
            <a:ext cx="1993392" cy="384048"/>
          </a:xfrm>
          <a:prstGeom prst="rect">
            <a:avLst/>
          </a:prstGeom>
          <a:noFill/>
        </p:spPr>
        <p:txBody>
          <a:bodyPr wrap="square">
            <a:spAutoFit/>
          </a:bodyPr>
          <a:lstStyle/>
          <a:p>
            <a:pPr algn="l"/>
            <a:r>
              <a:rPr sz="1200" b="1" i="0">
                <a:solidFill>
                  <a:srgbClr val="4A9ECB"/>
                </a:solidFill>
              </a:rPr>
              <a:t>03 双方向ネットワーク</a:t>
            </a:r>
          </a:p>
        </p:txBody>
      </p:sp>
      <p:sp>
        <p:nvSpPr>
          <p:cNvPr id="41" name="TextBox 40"/>
          <p:cNvSpPr txBox="1"/>
          <p:nvPr/>
        </p:nvSpPr>
        <p:spPr>
          <a:xfrm>
            <a:off x="5093208" y="4370832"/>
            <a:ext cx="1993392" cy="1097280"/>
          </a:xfrm>
          <a:prstGeom prst="rect">
            <a:avLst/>
          </a:prstGeom>
          <a:noFill/>
        </p:spPr>
        <p:txBody>
          <a:bodyPr wrap="square">
            <a:spAutoFit/>
          </a:bodyPr>
          <a:lstStyle/>
          <a:p>
            <a:pPr algn="l"/>
            <a:r>
              <a:rPr sz="1100" b="0" i="0">
                <a:solidFill>
                  <a:srgbClr val="CCD6E0"/>
                </a:solidFill>
              </a:rPr>
              <a:t>「もらう」関係を脱し「紹介する側」にも</a:t>
            </a:r>
          </a:p>
        </p:txBody>
      </p:sp>
      <p:sp>
        <p:nvSpPr>
          <p:cNvPr id="42" name="Rectangle 41"/>
          <p:cNvSpPr/>
          <p:nvPr/>
        </p:nvSpPr>
        <p:spPr>
          <a:xfrm>
            <a:off x="7269480" y="3840480"/>
            <a:ext cx="2176272" cy="17830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79208" y="3931920"/>
            <a:ext cx="1993392" cy="384048"/>
          </a:xfrm>
          <a:prstGeom prst="rect">
            <a:avLst/>
          </a:prstGeom>
          <a:noFill/>
        </p:spPr>
        <p:txBody>
          <a:bodyPr wrap="square">
            <a:spAutoFit/>
          </a:bodyPr>
          <a:lstStyle/>
          <a:p>
            <a:pPr algn="l"/>
            <a:r>
              <a:rPr sz="1200" b="1" i="0">
                <a:solidFill>
                  <a:srgbClr val="4A9ECB"/>
                </a:solidFill>
              </a:rPr>
              <a:t>04 30年の領域選び</a:t>
            </a:r>
          </a:p>
        </p:txBody>
      </p:sp>
      <p:sp>
        <p:nvSpPr>
          <p:cNvPr id="44" name="TextBox 43"/>
          <p:cNvSpPr txBox="1"/>
          <p:nvPr/>
        </p:nvSpPr>
        <p:spPr>
          <a:xfrm>
            <a:off x="7379208" y="4370832"/>
            <a:ext cx="1993392" cy="1097280"/>
          </a:xfrm>
          <a:prstGeom prst="rect">
            <a:avLst/>
          </a:prstGeom>
          <a:noFill/>
        </p:spPr>
        <p:txBody>
          <a:bodyPr wrap="square">
            <a:spAutoFit/>
          </a:bodyPr>
          <a:lstStyle/>
          <a:p>
            <a:pPr algn="l"/>
            <a:r>
              <a:rPr sz="1100" b="0" i="0">
                <a:solidFill>
                  <a:srgbClr val="CCD6E0"/>
                </a:solidFill>
              </a:rPr>
              <a:t>ライフサイクルが長い業界でLTVを伸ばす</a:t>
            </a:r>
          </a:p>
        </p:txBody>
      </p:sp>
      <p:sp>
        <p:nvSpPr>
          <p:cNvPr id="45" name="Rectangle 44"/>
          <p:cNvSpPr/>
          <p:nvPr/>
        </p:nvSpPr>
        <p:spPr>
          <a:xfrm>
            <a:off x="9555480" y="3840480"/>
            <a:ext cx="2176272" cy="17830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665208" y="3931920"/>
            <a:ext cx="1993392" cy="384048"/>
          </a:xfrm>
          <a:prstGeom prst="rect">
            <a:avLst/>
          </a:prstGeom>
          <a:noFill/>
        </p:spPr>
        <p:txBody>
          <a:bodyPr wrap="square">
            <a:spAutoFit/>
          </a:bodyPr>
          <a:lstStyle/>
          <a:p>
            <a:pPr algn="l"/>
            <a:r>
              <a:rPr sz="1200" b="1" i="0">
                <a:solidFill>
                  <a:srgbClr val="4A9ECB"/>
                </a:solidFill>
              </a:rPr>
              <a:t>05 ノウハウの「型」化</a:t>
            </a:r>
          </a:p>
        </p:txBody>
      </p:sp>
      <p:sp>
        <p:nvSpPr>
          <p:cNvPr id="47" name="TextBox 46"/>
          <p:cNvSpPr txBox="1"/>
          <p:nvPr/>
        </p:nvSpPr>
        <p:spPr>
          <a:xfrm>
            <a:off x="9665208" y="4370832"/>
            <a:ext cx="1993392" cy="1097280"/>
          </a:xfrm>
          <a:prstGeom prst="rect">
            <a:avLst/>
          </a:prstGeom>
          <a:noFill/>
        </p:spPr>
        <p:txBody>
          <a:bodyPr wrap="square">
            <a:spAutoFit/>
          </a:bodyPr>
          <a:lstStyle/>
          <a:p>
            <a:pPr algn="l"/>
            <a:r>
              <a:rPr sz="1100" b="0" i="0">
                <a:solidFill>
                  <a:srgbClr val="CCD6E0"/>
                </a:solidFill>
              </a:rPr>
              <a:t>属人性を抜き、再現性を残す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97280"/>
            <a:ext cx="4572000" cy="548640"/>
          </a:xfrm>
          <a:prstGeom prst="rect">
            <a:avLst/>
          </a:prstGeom>
          <a:noFill/>
        </p:spPr>
        <p:txBody>
          <a:bodyPr wrap="square">
            <a:spAutoFit/>
          </a:bodyPr>
          <a:lstStyle/>
          <a:p>
            <a:pPr algn="l"/>
            <a:r>
              <a:rPr sz="2000" b="0" i="0">
                <a:solidFill>
                  <a:srgbClr val="CCD6E0"/>
                </a:solidFill>
              </a:rPr>
              <a:t>SECTION</a:t>
            </a:r>
          </a:p>
        </p:txBody>
      </p:sp>
      <p:sp>
        <p:nvSpPr>
          <p:cNvPr id="4" name="TextBox 3"/>
          <p:cNvSpPr txBox="1"/>
          <p:nvPr/>
        </p:nvSpPr>
        <p:spPr>
          <a:xfrm>
            <a:off x="822960" y="1645920"/>
            <a:ext cx="4572000" cy="1645920"/>
          </a:xfrm>
          <a:prstGeom prst="rect">
            <a:avLst/>
          </a:prstGeom>
          <a:noFill/>
        </p:spPr>
        <p:txBody>
          <a:bodyPr wrap="square">
            <a:spAutoFit/>
          </a:bodyPr>
          <a:lstStyle/>
          <a:p>
            <a:pPr algn="l"/>
            <a:r>
              <a:rPr sz="9000" b="1" i="0">
                <a:solidFill>
                  <a:srgbClr val="E8A800"/>
                </a:solidFill>
              </a:rPr>
              <a:t>02</a:t>
            </a:r>
          </a:p>
        </p:txBody>
      </p:sp>
      <p:sp>
        <p:nvSpPr>
          <p:cNvPr id="5" name="TextBox 4"/>
          <p:cNvSpPr txBox="1"/>
          <p:nvPr/>
        </p:nvSpPr>
        <p:spPr>
          <a:xfrm>
            <a:off x="822960" y="3383280"/>
            <a:ext cx="9144000" cy="685800"/>
          </a:xfrm>
          <a:prstGeom prst="rect">
            <a:avLst/>
          </a:prstGeom>
          <a:noFill/>
        </p:spPr>
        <p:txBody>
          <a:bodyPr wrap="square">
            <a:spAutoFit/>
          </a:bodyPr>
          <a:lstStyle/>
          <a:p>
            <a:pPr algn="l"/>
            <a:r>
              <a:rPr sz="3200" b="1" i="0">
                <a:solidFill>
                  <a:srgbClr val="FFFFFF"/>
                </a:solidFill>
              </a:rPr>
              <a:t>営業ノウハウ</a:t>
            </a:r>
          </a:p>
        </p:txBody>
      </p:sp>
      <p:sp>
        <p:nvSpPr>
          <p:cNvPr id="6" name="TextBox 5"/>
          <p:cNvSpPr txBox="1"/>
          <p:nvPr/>
        </p:nvSpPr>
        <p:spPr>
          <a:xfrm>
            <a:off x="822960" y="4160520"/>
            <a:ext cx="10058400" cy="1005840"/>
          </a:xfrm>
          <a:prstGeom prst="rect">
            <a:avLst/>
          </a:prstGeom>
          <a:noFill/>
        </p:spPr>
        <p:txBody>
          <a:bodyPr wrap="square">
            <a:spAutoFit/>
          </a:bodyPr>
          <a:lstStyle/>
          <a:p>
            <a:pPr algn="l"/>
            <a:r>
              <a:rPr sz="1500" b="0" i="0">
                <a:solidFill>
                  <a:srgbClr val="CCD6E0"/>
                </a:solidFill>
              </a:rPr>
              <a:t>再現できる「型」になるまで、現場で何をやってきたか。</a:t>
            </a:r>
          </a:p>
          <a:p>
            <a:pPr algn="l"/>
            <a:r>
              <a:rPr sz="1500" b="0" i="0">
                <a:solidFill>
                  <a:srgbClr val="CCD6E0"/>
                </a:solidFill>
              </a:rPr>
              <a:t>5ステップ──士業との関係・相談ハブ化・診療圏調査・事業計画書・ハンター式ヒアリング。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6510528"/>
            <a:ext cx="12188952" cy="34747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37960"/>
            <a:ext cx="9144000" cy="292608"/>
          </a:xfrm>
          <a:prstGeom prst="rect">
            <a:avLst/>
          </a:prstGeom>
          <a:noFill/>
        </p:spPr>
        <p:txBody>
          <a:bodyPr wrap="square">
            <a:spAutoFit/>
          </a:bodyPr>
          <a:lstStyle/>
          <a:p>
            <a:pPr algn="l"/>
            <a:r>
              <a:rPr sz="900" b="0" i="0">
                <a:solidFill>
                  <a:srgbClr val="CCD6E0"/>
                </a:solidFill>
              </a:rPr>
              <a:t>医療専門不動産  |  ビジネスモデル</a:t>
            </a:r>
          </a:p>
        </p:txBody>
      </p:sp>
      <p:sp>
        <p:nvSpPr>
          <p:cNvPr id="4" name="Rectangle 3"/>
          <p:cNvSpPr/>
          <p:nvPr/>
        </p:nvSpPr>
        <p:spPr>
          <a:xfrm>
            <a:off x="0" y="0"/>
            <a:ext cx="12188952"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972800" cy="594360"/>
          </a:xfrm>
          <a:prstGeom prst="rect">
            <a:avLst/>
          </a:prstGeom>
          <a:noFill/>
        </p:spPr>
        <p:txBody>
          <a:bodyPr wrap="square">
            <a:spAutoFit/>
          </a:bodyPr>
          <a:lstStyle/>
          <a:p>
            <a:pPr algn="l"/>
            <a:r>
              <a:rPr sz="2400" b="1" i="0">
                <a:solidFill>
                  <a:srgbClr val="FFFFFF"/>
                </a:solidFill>
              </a:rPr>
              <a:t>STEP 01  /  士業との関係構築</a:t>
            </a:r>
          </a:p>
        </p:txBody>
      </p:sp>
      <p:sp>
        <p:nvSpPr>
          <p:cNvPr id="6" name="TextBox 5"/>
          <p:cNvSpPr txBox="1"/>
          <p:nvPr/>
        </p:nvSpPr>
        <p:spPr>
          <a:xfrm>
            <a:off x="548640" y="713232"/>
            <a:ext cx="10972800" cy="274320"/>
          </a:xfrm>
          <a:prstGeom prst="rect">
            <a:avLst/>
          </a:prstGeom>
          <a:noFill/>
        </p:spPr>
        <p:txBody>
          <a:bodyPr wrap="square">
            <a:spAutoFit/>
          </a:bodyPr>
          <a:lstStyle/>
          <a:p>
            <a:pPr algn="l"/>
            <a:r>
              <a:rPr sz="1100" b="0" i="0">
                <a:solidFill>
                  <a:srgbClr val="CCD6E0"/>
                </a:solidFill>
              </a:rPr>
              <a:t>「お願いします」をやめた瞬間、紹介が来始めた。5年通った、泥臭い5年。</a:t>
            </a:r>
          </a:p>
        </p:txBody>
      </p:sp>
      <p:sp>
        <p:nvSpPr>
          <p:cNvPr id="7" name="Rectangle 6"/>
          <p:cNvSpPr/>
          <p:nvPr/>
        </p:nvSpPr>
        <p:spPr>
          <a:xfrm>
            <a:off x="457200" y="1143000"/>
            <a:ext cx="5303520" cy="2103120"/>
          </a:xfrm>
          <a:prstGeom prst="rect">
            <a:avLst/>
          </a:prstGeom>
          <a:solidFill>
            <a:srgbClr val="1515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16152"/>
            <a:ext cx="4937760" cy="365760"/>
          </a:xfrm>
          <a:prstGeom prst="rect">
            <a:avLst/>
          </a:prstGeom>
          <a:noFill/>
        </p:spPr>
        <p:txBody>
          <a:bodyPr wrap="square">
            <a:spAutoFit/>
          </a:bodyPr>
          <a:lstStyle/>
          <a:p>
            <a:pPr algn="l"/>
            <a:r>
              <a:rPr sz="1300" b="1" i="0">
                <a:solidFill>
                  <a:srgbClr val="CCD6E0"/>
                </a:solidFill>
              </a:rPr>
              <a:t>BEFORE  「お願いします」の営業</a:t>
            </a:r>
          </a:p>
        </p:txBody>
      </p:sp>
      <p:sp>
        <p:nvSpPr>
          <p:cNvPr id="9" name="TextBox 8"/>
          <p:cNvSpPr txBox="1"/>
          <p:nvPr/>
        </p:nvSpPr>
        <p:spPr>
          <a:xfrm>
            <a:off x="640080" y="1673352"/>
            <a:ext cx="4937760" cy="457200"/>
          </a:xfrm>
          <a:prstGeom prst="rect">
            <a:avLst/>
          </a:prstGeom>
          <a:noFill/>
        </p:spPr>
        <p:txBody>
          <a:bodyPr wrap="square">
            <a:spAutoFit/>
          </a:bodyPr>
          <a:lstStyle/>
          <a:p>
            <a:pPr algn="l"/>
            <a:r>
              <a:rPr sz="1200" b="0" i="0">
                <a:solidFill>
                  <a:srgbClr val="CCD6E0"/>
                </a:solidFill>
              </a:rPr>
              <a:t>・士業事務所を回り案件を「もらう」立場</a:t>
            </a:r>
          </a:p>
        </p:txBody>
      </p:sp>
      <p:sp>
        <p:nvSpPr>
          <p:cNvPr id="10" name="TextBox 9"/>
          <p:cNvSpPr txBox="1"/>
          <p:nvPr/>
        </p:nvSpPr>
        <p:spPr>
          <a:xfrm>
            <a:off x="640080" y="2203704"/>
            <a:ext cx="4937760" cy="457200"/>
          </a:xfrm>
          <a:prstGeom prst="rect">
            <a:avLst/>
          </a:prstGeom>
          <a:noFill/>
        </p:spPr>
        <p:txBody>
          <a:bodyPr wrap="square">
            <a:spAutoFit/>
          </a:bodyPr>
          <a:lstStyle/>
          <a:p>
            <a:pPr algn="l"/>
            <a:r>
              <a:rPr sz="1200" b="0" i="0">
                <a:solidFill>
                  <a:srgbClr val="CCD6E0"/>
                </a:solidFill>
              </a:rPr>
              <a:t>・他業者と並列、紹介は来ない</a:t>
            </a:r>
          </a:p>
        </p:txBody>
      </p:sp>
      <p:sp>
        <p:nvSpPr>
          <p:cNvPr id="11" name="TextBox 10"/>
          <p:cNvSpPr txBox="1"/>
          <p:nvPr/>
        </p:nvSpPr>
        <p:spPr>
          <a:xfrm>
            <a:off x="640080" y="2734056"/>
            <a:ext cx="4937760" cy="457200"/>
          </a:xfrm>
          <a:prstGeom prst="rect">
            <a:avLst/>
          </a:prstGeom>
          <a:noFill/>
        </p:spPr>
        <p:txBody>
          <a:bodyPr wrap="square">
            <a:spAutoFit/>
          </a:bodyPr>
          <a:lstStyle/>
          <a:p>
            <a:pPr algn="l"/>
            <a:r>
              <a:rPr sz="1200" b="0" i="0">
                <a:solidFill>
                  <a:srgbClr val="CCD6E0"/>
                </a:solidFill>
              </a:rPr>
              <a:t>・条件の悪い案件だけ回ってくる</a:t>
            </a:r>
          </a:p>
        </p:txBody>
      </p:sp>
      <p:sp>
        <p:nvSpPr>
          <p:cNvPr id="12" name="Rectangle 11"/>
          <p:cNvSpPr/>
          <p:nvPr/>
        </p:nvSpPr>
        <p:spPr>
          <a:xfrm>
            <a:off x="6263640" y="1143000"/>
            <a:ext cx="5440680" cy="21031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143000"/>
            <a:ext cx="54406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1216152"/>
            <a:ext cx="5029200" cy="365760"/>
          </a:xfrm>
          <a:prstGeom prst="rect">
            <a:avLst/>
          </a:prstGeom>
          <a:noFill/>
        </p:spPr>
        <p:txBody>
          <a:bodyPr wrap="square">
            <a:spAutoFit/>
          </a:bodyPr>
          <a:lstStyle/>
          <a:p>
            <a:pPr algn="l"/>
            <a:r>
              <a:rPr sz="1300" b="1" i="0">
                <a:solidFill>
                  <a:srgbClr val="E8A800"/>
                </a:solidFill>
              </a:rPr>
              <a:t>AFTER  「ご紹介します」の営業</a:t>
            </a:r>
          </a:p>
        </p:txBody>
      </p:sp>
      <p:sp>
        <p:nvSpPr>
          <p:cNvPr id="15" name="TextBox 14"/>
          <p:cNvSpPr txBox="1"/>
          <p:nvPr/>
        </p:nvSpPr>
        <p:spPr>
          <a:xfrm>
            <a:off x="6446520" y="1673352"/>
            <a:ext cx="5029200" cy="457200"/>
          </a:xfrm>
          <a:prstGeom prst="rect">
            <a:avLst/>
          </a:prstGeom>
          <a:noFill/>
        </p:spPr>
        <p:txBody>
          <a:bodyPr wrap="square">
            <a:spAutoFit/>
          </a:bodyPr>
          <a:lstStyle/>
          <a:p>
            <a:pPr algn="l"/>
            <a:r>
              <a:rPr sz="1200" b="0" i="0">
                <a:solidFill>
                  <a:srgbClr val="FFFFFF"/>
                </a:solidFill>
              </a:rPr>
              <a:t>・医師に「税理士いますか？◯◯先生を紹介します」</a:t>
            </a:r>
          </a:p>
        </p:txBody>
      </p:sp>
      <p:sp>
        <p:nvSpPr>
          <p:cNvPr id="16" name="TextBox 15"/>
          <p:cNvSpPr txBox="1"/>
          <p:nvPr/>
        </p:nvSpPr>
        <p:spPr>
          <a:xfrm>
            <a:off x="6446520" y="2203704"/>
            <a:ext cx="5029200" cy="457200"/>
          </a:xfrm>
          <a:prstGeom prst="rect">
            <a:avLst/>
          </a:prstGeom>
          <a:noFill/>
        </p:spPr>
        <p:txBody>
          <a:bodyPr wrap="square">
            <a:spAutoFit/>
          </a:bodyPr>
          <a:lstStyle/>
          <a:p>
            <a:pPr algn="l"/>
            <a:r>
              <a:rPr sz="1200" b="0" i="0">
                <a:solidFill>
                  <a:srgbClr val="FFFFFF"/>
                </a:solidFill>
              </a:rPr>
              <a:t>・士業に頼られる位置に、案件は双方向に</a:t>
            </a:r>
          </a:p>
        </p:txBody>
      </p:sp>
      <p:sp>
        <p:nvSpPr>
          <p:cNvPr id="17" name="TextBox 16"/>
          <p:cNvSpPr txBox="1"/>
          <p:nvPr/>
        </p:nvSpPr>
        <p:spPr>
          <a:xfrm>
            <a:off x="6446520" y="2734056"/>
            <a:ext cx="5029200" cy="457200"/>
          </a:xfrm>
          <a:prstGeom prst="rect">
            <a:avLst/>
          </a:prstGeom>
          <a:noFill/>
        </p:spPr>
        <p:txBody>
          <a:bodyPr wrap="square">
            <a:spAutoFit/>
          </a:bodyPr>
          <a:lstStyle/>
          <a:p>
            <a:pPr algn="l"/>
            <a:r>
              <a:rPr sz="1200" b="0" i="0">
                <a:solidFill>
                  <a:srgbClr val="FFFFFF"/>
                </a:solidFill>
              </a:rPr>
              <a:t>・コミュニティ内で「あの会社」と固有名詞で呼ばれる</a:t>
            </a:r>
          </a:p>
        </p:txBody>
      </p:sp>
      <p:sp>
        <p:nvSpPr>
          <p:cNvPr id="18" name="TextBox 17"/>
          <p:cNvSpPr txBox="1"/>
          <p:nvPr/>
        </p:nvSpPr>
        <p:spPr>
          <a:xfrm>
            <a:off x="5532120" y="1828800"/>
            <a:ext cx="731520" cy="548640"/>
          </a:xfrm>
          <a:prstGeom prst="rect">
            <a:avLst/>
          </a:prstGeom>
          <a:noFill/>
        </p:spPr>
        <p:txBody>
          <a:bodyPr wrap="square">
            <a:spAutoFit/>
          </a:bodyPr>
          <a:lstStyle/>
          <a:p>
            <a:pPr algn="ctr"/>
            <a:r>
              <a:rPr sz="1800" b="1" i="0">
                <a:solidFill>
                  <a:srgbClr val="E8A800"/>
                </a:solidFill>
              </a:rPr>
              <a:t>VS</a:t>
            </a:r>
          </a:p>
        </p:txBody>
      </p:sp>
      <p:sp>
        <p:nvSpPr>
          <p:cNvPr id="19" name="Rectangle 18"/>
          <p:cNvSpPr/>
          <p:nvPr/>
        </p:nvSpPr>
        <p:spPr>
          <a:xfrm>
            <a:off x="502920" y="3401568"/>
            <a:ext cx="73152" cy="77724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3474720"/>
            <a:ext cx="10972800" cy="658368"/>
          </a:xfrm>
          <a:prstGeom prst="rect">
            <a:avLst/>
          </a:prstGeom>
          <a:noFill/>
        </p:spPr>
        <p:txBody>
          <a:bodyPr wrap="square">
            <a:spAutoFit/>
          </a:bodyPr>
          <a:lstStyle/>
          <a:p>
            <a:pPr algn="l"/>
            <a:r>
              <a:rPr sz="1100" b="0" i="0">
                <a:solidFill>
                  <a:srgbClr val="FFFFFF"/>
                </a:solidFill>
              </a:rPr>
              <a:t>【転換点エピソード】税理士の先生への5回目の挨拶。「先週、信頼できる税理士を探している医師の先生から相談がありました。ぜひ先生をご紹介したいのですが」──その瞬間表情が変わった。1ヶ月後「クリニックの移転で相談したい先生がいる」と電話が来た。最初に投げることで、初めて返ってくる。</a:t>
            </a:r>
          </a:p>
        </p:txBody>
      </p:sp>
      <p:sp>
        <p:nvSpPr>
          <p:cNvPr id="21" name="Rectangle 20"/>
          <p:cNvSpPr/>
          <p:nvPr/>
        </p:nvSpPr>
        <p:spPr>
          <a:xfrm>
            <a:off x="457200" y="4572000"/>
            <a:ext cx="2697480" cy="9601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645152"/>
            <a:ext cx="2514600" cy="347472"/>
          </a:xfrm>
          <a:prstGeom prst="rect">
            <a:avLst/>
          </a:prstGeom>
          <a:noFill/>
        </p:spPr>
        <p:txBody>
          <a:bodyPr wrap="square">
            <a:spAutoFit/>
          </a:bodyPr>
          <a:lstStyle/>
          <a:p>
            <a:pPr algn="l"/>
            <a:r>
              <a:rPr sz="1200" b="1" i="0">
                <a:solidFill>
                  <a:srgbClr val="4A9ECB"/>
                </a:solidFill>
              </a:rPr>
              <a:t>断られても顔を出し続ける</a:t>
            </a:r>
          </a:p>
        </p:txBody>
      </p:sp>
      <p:sp>
        <p:nvSpPr>
          <p:cNvPr id="23" name="TextBox 22"/>
          <p:cNvSpPr txBox="1"/>
          <p:nvPr/>
        </p:nvSpPr>
        <p:spPr>
          <a:xfrm>
            <a:off x="566928" y="5029200"/>
            <a:ext cx="2514600" cy="411480"/>
          </a:xfrm>
          <a:prstGeom prst="rect">
            <a:avLst/>
          </a:prstGeom>
          <a:noFill/>
        </p:spPr>
        <p:txBody>
          <a:bodyPr wrap="square">
            <a:spAutoFit/>
          </a:bodyPr>
          <a:lstStyle/>
          <a:p>
            <a:pPr algn="l"/>
            <a:r>
              <a:rPr sz="1000" b="0" i="0">
                <a:solidFill>
                  <a:srgbClr val="CCD6E0"/>
                </a:solidFill>
              </a:rPr>
              <a:t>5回、10回通ってようやく覚えられる</a:t>
            </a:r>
          </a:p>
        </p:txBody>
      </p:sp>
      <p:sp>
        <p:nvSpPr>
          <p:cNvPr id="24" name="Rectangle 23"/>
          <p:cNvSpPr/>
          <p:nvPr/>
        </p:nvSpPr>
        <p:spPr>
          <a:xfrm>
            <a:off x="3264408" y="4572000"/>
            <a:ext cx="2697480" cy="9601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74136" y="4645152"/>
            <a:ext cx="2514600" cy="347472"/>
          </a:xfrm>
          <a:prstGeom prst="rect">
            <a:avLst/>
          </a:prstGeom>
          <a:noFill/>
        </p:spPr>
        <p:txBody>
          <a:bodyPr wrap="square">
            <a:spAutoFit/>
          </a:bodyPr>
          <a:lstStyle/>
          <a:p>
            <a:pPr algn="l"/>
            <a:r>
              <a:rPr sz="1200" b="1" i="0">
                <a:solidFill>
                  <a:srgbClr val="4A9ECB"/>
                </a:solidFill>
              </a:rPr>
              <a:t>「便利屋」上等で動く</a:t>
            </a:r>
          </a:p>
        </p:txBody>
      </p:sp>
      <p:sp>
        <p:nvSpPr>
          <p:cNvPr id="26" name="TextBox 25"/>
          <p:cNvSpPr txBox="1"/>
          <p:nvPr/>
        </p:nvSpPr>
        <p:spPr>
          <a:xfrm>
            <a:off x="3374136" y="5029200"/>
            <a:ext cx="2514600" cy="411480"/>
          </a:xfrm>
          <a:prstGeom prst="rect">
            <a:avLst/>
          </a:prstGeom>
          <a:noFill/>
        </p:spPr>
        <p:txBody>
          <a:bodyPr wrap="square">
            <a:spAutoFit/>
          </a:bodyPr>
          <a:lstStyle/>
          <a:p>
            <a:pPr algn="l"/>
            <a:r>
              <a:rPr sz="1000" b="0" i="0">
                <a:solidFill>
                  <a:srgbClr val="CCD6E0"/>
                </a:solidFill>
              </a:rPr>
              <a:t>「いつでも対応してくれる」が入口</a:t>
            </a:r>
          </a:p>
        </p:txBody>
      </p:sp>
      <p:sp>
        <p:nvSpPr>
          <p:cNvPr id="27" name="Rectangle 26"/>
          <p:cNvSpPr/>
          <p:nvPr/>
        </p:nvSpPr>
        <p:spPr>
          <a:xfrm>
            <a:off x="6071616" y="4572000"/>
            <a:ext cx="2697480" cy="9601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81344" y="4645152"/>
            <a:ext cx="2514600" cy="347472"/>
          </a:xfrm>
          <a:prstGeom prst="rect">
            <a:avLst/>
          </a:prstGeom>
          <a:noFill/>
        </p:spPr>
        <p:txBody>
          <a:bodyPr wrap="square">
            <a:spAutoFit/>
          </a:bodyPr>
          <a:lstStyle/>
          <a:p>
            <a:pPr algn="l"/>
            <a:r>
              <a:rPr sz="1200" b="1" i="0">
                <a:solidFill>
                  <a:srgbClr val="4A9ECB"/>
                </a:solidFill>
              </a:rPr>
              <a:t>勉強会・葬式まで出る</a:t>
            </a:r>
          </a:p>
        </p:txBody>
      </p:sp>
      <p:sp>
        <p:nvSpPr>
          <p:cNvPr id="29" name="TextBox 28"/>
          <p:cNvSpPr txBox="1"/>
          <p:nvPr/>
        </p:nvSpPr>
        <p:spPr>
          <a:xfrm>
            <a:off x="6181344" y="5029200"/>
            <a:ext cx="2514600" cy="411480"/>
          </a:xfrm>
          <a:prstGeom prst="rect">
            <a:avLst/>
          </a:prstGeom>
          <a:noFill/>
        </p:spPr>
        <p:txBody>
          <a:bodyPr wrap="square">
            <a:spAutoFit/>
          </a:bodyPr>
          <a:lstStyle/>
          <a:p>
            <a:pPr algn="l"/>
            <a:r>
              <a:rPr sz="1000" b="0" i="0">
                <a:solidFill>
                  <a:srgbClr val="CCD6E0"/>
                </a:solidFill>
              </a:rPr>
              <a:t>業務外で会う回数が信頼の上限</a:t>
            </a:r>
          </a:p>
        </p:txBody>
      </p:sp>
      <p:sp>
        <p:nvSpPr>
          <p:cNvPr id="30" name="Rectangle 29"/>
          <p:cNvSpPr/>
          <p:nvPr/>
        </p:nvSpPr>
        <p:spPr>
          <a:xfrm>
            <a:off x="8878824" y="4572000"/>
            <a:ext cx="2697480" cy="9601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88552" y="4645152"/>
            <a:ext cx="2514600" cy="347472"/>
          </a:xfrm>
          <a:prstGeom prst="rect">
            <a:avLst/>
          </a:prstGeom>
          <a:noFill/>
        </p:spPr>
        <p:txBody>
          <a:bodyPr wrap="square">
            <a:spAutoFit/>
          </a:bodyPr>
          <a:lstStyle/>
          <a:p>
            <a:pPr algn="l"/>
            <a:r>
              <a:rPr sz="1200" b="1" i="0">
                <a:solidFill>
                  <a:srgbClr val="4A9ECB"/>
                </a:solidFill>
              </a:rPr>
              <a:t>「先に紹介」を実装する</a:t>
            </a:r>
          </a:p>
        </p:txBody>
      </p:sp>
      <p:sp>
        <p:nvSpPr>
          <p:cNvPr id="32" name="TextBox 31"/>
          <p:cNvSpPr txBox="1"/>
          <p:nvPr/>
        </p:nvSpPr>
        <p:spPr>
          <a:xfrm>
            <a:off x="8988552" y="5029200"/>
            <a:ext cx="2514600" cy="411480"/>
          </a:xfrm>
          <a:prstGeom prst="rect">
            <a:avLst/>
          </a:prstGeom>
          <a:noFill/>
        </p:spPr>
        <p:txBody>
          <a:bodyPr wrap="square">
            <a:spAutoFit/>
          </a:bodyPr>
          <a:lstStyle/>
          <a:p>
            <a:pPr algn="l"/>
            <a:r>
              <a:rPr sz="1000" b="0" i="0">
                <a:solidFill>
                  <a:srgbClr val="CCD6E0"/>
                </a:solidFill>
              </a:rPr>
              <a:t>もらう前に投げる。義理で返ってくる</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6510528"/>
            <a:ext cx="12188952" cy="34747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37960"/>
            <a:ext cx="9144000" cy="292608"/>
          </a:xfrm>
          <a:prstGeom prst="rect">
            <a:avLst/>
          </a:prstGeom>
          <a:noFill/>
        </p:spPr>
        <p:txBody>
          <a:bodyPr wrap="square">
            <a:spAutoFit/>
          </a:bodyPr>
          <a:lstStyle/>
          <a:p>
            <a:pPr algn="l"/>
            <a:r>
              <a:rPr sz="900" b="0" i="0">
                <a:solidFill>
                  <a:srgbClr val="CCD6E0"/>
                </a:solidFill>
              </a:rPr>
              <a:t>医療専門不動産  |  ビジネスモデル</a:t>
            </a:r>
          </a:p>
        </p:txBody>
      </p:sp>
      <p:sp>
        <p:nvSpPr>
          <p:cNvPr id="4" name="Rectangle 3"/>
          <p:cNvSpPr/>
          <p:nvPr/>
        </p:nvSpPr>
        <p:spPr>
          <a:xfrm>
            <a:off x="0" y="0"/>
            <a:ext cx="12188952"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972800" cy="594360"/>
          </a:xfrm>
          <a:prstGeom prst="rect">
            <a:avLst/>
          </a:prstGeom>
          <a:noFill/>
        </p:spPr>
        <p:txBody>
          <a:bodyPr wrap="square">
            <a:spAutoFit/>
          </a:bodyPr>
          <a:lstStyle/>
          <a:p>
            <a:pPr algn="l"/>
            <a:r>
              <a:rPr sz="2400" b="1" i="0">
                <a:solidFill>
                  <a:srgbClr val="FFFFFF"/>
                </a:solidFill>
              </a:rPr>
              <a:t>STEP 02  /  相談プラットフォーム化</a:t>
            </a:r>
          </a:p>
        </p:txBody>
      </p:sp>
      <p:sp>
        <p:nvSpPr>
          <p:cNvPr id="6" name="TextBox 5"/>
          <p:cNvSpPr txBox="1"/>
          <p:nvPr/>
        </p:nvSpPr>
        <p:spPr>
          <a:xfrm>
            <a:off x="548640" y="713232"/>
            <a:ext cx="10972800" cy="274320"/>
          </a:xfrm>
          <a:prstGeom prst="rect">
            <a:avLst/>
          </a:prstGeom>
          <a:noFill/>
        </p:spPr>
        <p:txBody>
          <a:bodyPr wrap="square">
            <a:spAutoFit/>
          </a:bodyPr>
          <a:lstStyle/>
          <a:p>
            <a:pPr algn="l"/>
            <a:r>
              <a:rPr sz="1100" b="0" i="0">
                <a:solidFill>
                  <a:srgbClr val="CCD6E0"/>
                </a:solidFill>
              </a:rPr>
              <a:t>横のつながりが「集客の入口」になる。「最初に電話される存在」になる。</a:t>
            </a:r>
          </a:p>
        </p:txBody>
      </p:sp>
      <p:sp>
        <p:nvSpPr>
          <p:cNvPr id="7" name="Rectangle 6"/>
          <p:cNvSpPr/>
          <p:nvPr/>
        </p:nvSpPr>
        <p:spPr>
          <a:xfrm>
            <a:off x="4937760" y="2423160"/>
            <a:ext cx="2286000" cy="82296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37760" y="2450592"/>
            <a:ext cx="2286000" cy="777240"/>
          </a:xfrm>
          <a:prstGeom prst="rect">
            <a:avLst/>
          </a:prstGeom>
          <a:noFill/>
        </p:spPr>
        <p:txBody>
          <a:bodyPr wrap="square">
            <a:spAutoFit/>
          </a:bodyPr>
          <a:lstStyle/>
          <a:p>
            <a:pPr algn="ctr"/>
            <a:r>
              <a:rPr sz="1300" b="1" i="0">
                <a:solidFill>
                  <a:srgbClr val="0D1B2A"/>
                </a:solidFill>
              </a:rPr>
              <a:t>医療チームのHUB</a:t>
            </a:r>
          </a:p>
        </p:txBody>
      </p:sp>
      <p:sp>
        <p:nvSpPr>
          <p:cNvPr id="9" name="Rectangle 8"/>
          <p:cNvSpPr/>
          <p:nvPr/>
        </p:nvSpPr>
        <p:spPr>
          <a:xfrm>
            <a:off x="5120640" y="1234440"/>
            <a:ext cx="2468880" cy="5943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12080" y="1280160"/>
            <a:ext cx="1828800" cy="320040"/>
          </a:xfrm>
          <a:prstGeom prst="rect">
            <a:avLst/>
          </a:prstGeom>
          <a:noFill/>
        </p:spPr>
        <p:txBody>
          <a:bodyPr wrap="square">
            <a:spAutoFit/>
          </a:bodyPr>
          <a:lstStyle/>
          <a:p>
            <a:pPr algn="l"/>
            <a:r>
              <a:rPr sz="1200" b="1" i="0">
                <a:solidFill>
                  <a:srgbClr val="FFFFFF"/>
                </a:solidFill>
              </a:rPr>
              <a:t>医師・クリニック</a:t>
            </a:r>
          </a:p>
        </p:txBody>
      </p:sp>
      <p:sp>
        <p:nvSpPr>
          <p:cNvPr id="11" name="TextBox 10"/>
          <p:cNvSpPr txBox="1"/>
          <p:nvPr/>
        </p:nvSpPr>
        <p:spPr>
          <a:xfrm>
            <a:off x="5212080" y="1581912"/>
            <a:ext cx="1371600" cy="228600"/>
          </a:xfrm>
          <a:prstGeom prst="rect">
            <a:avLst/>
          </a:prstGeom>
          <a:noFill/>
        </p:spPr>
        <p:txBody>
          <a:bodyPr wrap="square">
            <a:spAutoFit/>
          </a:bodyPr>
          <a:lstStyle/>
          <a:p>
            <a:pPr algn="l"/>
            <a:r>
              <a:rPr sz="900" b="0" i="0">
                <a:solidFill>
                  <a:srgbClr val="E8A800"/>
                </a:solidFill>
              </a:rPr>
              <a:t>起点</a:t>
            </a:r>
          </a:p>
        </p:txBody>
      </p:sp>
      <p:sp>
        <p:nvSpPr>
          <p:cNvPr id="12" name="Rectangle 11"/>
          <p:cNvSpPr/>
          <p:nvPr/>
        </p:nvSpPr>
        <p:spPr>
          <a:xfrm>
            <a:off x="548640" y="1783080"/>
            <a:ext cx="2468880" cy="5943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1828800"/>
            <a:ext cx="1828800" cy="320040"/>
          </a:xfrm>
          <a:prstGeom prst="rect">
            <a:avLst/>
          </a:prstGeom>
          <a:noFill/>
        </p:spPr>
        <p:txBody>
          <a:bodyPr wrap="square">
            <a:spAutoFit/>
          </a:bodyPr>
          <a:lstStyle/>
          <a:p>
            <a:pPr algn="l"/>
            <a:r>
              <a:rPr sz="1200" b="1" i="0">
                <a:solidFill>
                  <a:srgbClr val="FFFFFF"/>
                </a:solidFill>
              </a:rPr>
              <a:t>会計士・税理士</a:t>
            </a:r>
          </a:p>
        </p:txBody>
      </p:sp>
      <p:sp>
        <p:nvSpPr>
          <p:cNvPr id="14" name="TextBox 13"/>
          <p:cNvSpPr txBox="1"/>
          <p:nvPr/>
        </p:nvSpPr>
        <p:spPr>
          <a:xfrm>
            <a:off x="640080" y="2130552"/>
            <a:ext cx="1371600" cy="228600"/>
          </a:xfrm>
          <a:prstGeom prst="rect">
            <a:avLst/>
          </a:prstGeom>
          <a:noFill/>
        </p:spPr>
        <p:txBody>
          <a:bodyPr wrap="square">
            <a:spAutoFit/>
          </a:bodyPr>
          <a:lstStyle/>
          <a:p>
            <a:pPr algn="l"/>
            <a:r>
              <a:rPr sz="900" b="0" i="0">
                <a:solidFill>
                  <a:srgbClr val="E8A800"/>
                </a:solidFill>
              </a:rPr>
              <a:t>提携</a:t>
            </a:r>
          </a:p>
        </p:txBody>
      </p:sp>
      <p:sp>
        <p:nvSpPr>
          <p:cNvPr id="15" name="Rectangle 14"/>
          <p:cNvSpPr/>
          <p:nvPr/>
        </p:nvSpPr>
        <p:spPr>
          <a:xfrm>
            <a:off x="548640" y="2743200"/>
            <a:ext cx="2468880" cy="5943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788920"/>
            <a:ext cx="1828800" cy="320040"/>
          </a:xfrm>
          <a:prstGeom prst="rect">
            <a:avLst/>
          </a:prstGeom>
          <a:noFill/>
        </p:spPr>
        <p:txBody>
          <a:bodyPr wrap="square">
            <a:spAutoFit/>
          </a:bodyPr>
          <a:lstStyle/>
          <a:p>
            <a:pPr algn="l"/>
            <a:r>
              <a:rPr sz="1200" b="1" i="0">
                <a:solidFill>
                  <a:srgbClr val="FFFFFF"/>
                </a:solidFill>
              </a:rPr>
              <a:t>弁護士・司法書士</a:t>
            </a:r>
          </a:p>
        </p:txBody>
      </p:sp>
      <p:sp>
        <p:nvSpPr>
          <p:cNvPr id="17" name="TextBox 16"/>
          <p:cNvSpPr txBox="1"/>
          <p:nvPr/>
        </p:nvSpPr>
        <p:spPr>
          <a:xfrm>
            <a:off x="640080" y="3090672"/>
            <a:ext cx="1371600" cy="228600"/>
          </a:xfrm>
          <a:prstGeom prst="rect">
            <a:avLst/>
          </a:prstGeom>
          <a:noFill/>
        </p:spPr>
        <p:txBody>
          <a:bodyPr wrap="square">
            <a:spAutoFit/>
          </a:bodyPr>
          <a:lstStyle/>
          <a:p>
            <a:pPr algn="l"/>
            <a:r>
              <a:rPr sz="900" b="0" i="0">
                <a:solidFill>
                  <a:srgbClr val="E8A800"/>
                </a:solidFill>
              </a:rPr>
              <a:t>提携</a:t>
            </a:r>
          </a:p>
        </p:txBody>
      </p:sp>
      <p:sp>
        <p:nvSpPr>
          <p:cNvPr id="18" name="Rectangle 17"/>
          <p:cNvSpPr/>
          <p:nvPr/>
        </p:nvSpPr>
        <p:spPr>
          <a:xfrm>
            <a:off x="548640" y="3703320"/>
            <a:ext cx="2468880" cy="5943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749040"/>
            <a:ext cx="1828800" cy="320040"/>
          </a:xfrm>
          <a:prstGeom prst="rect">
            <a:avLst/>
          </a:prstGeom>
          <a:noFill/>
        </p:spPr>
        <p:txBody>
          <a:bodyPr wrap="square">
            <a:spAutoFit/>
          </a:bodyPr>
          <a:lstStyle/>
          <a:p>
            <a:pPr algn="l"/>
            <a:r>
              <a:rPr sz="1200" b="1" i="0">
                <a:solidFill>
                  <a:srgbClr val="FFFFFF"/>
                </a:solidFill>
              </a:rPr>
              <a:t>医療機器メーカー</a:t>
            </a:r>
          </a:p>
        </p:txBody>
      </p:sp>
      <p:sp>
        <p:nvSpPr>
          <p:cNvPr id="20" name="TextBox 19"/>
          <p:cNvSpPr txBox="1"/>
          <p:nvPr/>
        </p:nvSpPr>
        <p:spPr>
          <a:xfrm>
            <a:off x="640080" y="4050792"/>
            <a:ext cx="1371600" cy="228600"/>
          </a:xfrm>
          <a:prstGeom prst="rect">
            <a:avLst/>
          </a:prstGeom>
          <a:noFill/>
        </p:spPr>
        <p:txBody>
          <a:bodyPr wrap="square">
            <a:spAutoFit/>
          </a:bodyPr>
          <a:lstStyle/>
          <a:p>
            <a:pPr algn="l"/>
            <a:r>
              <a:rPr sz="900" b="0" i="0">
                <a:solidFill>
                  <a:srgbClr val="E8A800"/>
                </a:solidFill>
              </a:rPr>
              <a:t>自社対応</a:t>
            </a:r>
          </a:p>
        </p:txBody>
      </p:sp>
      <p:sp>
        <p:nvSpPr>
          <p:cNvPr id="21" name="Rectangle 20"/>
          <p:cNvSpPr/>
          <p:nvPr/>
        </p:nvSpPr>
        <p:spPr>
          <a:xfrm>
            <a:off x="548640" y="4663440"/>
            <a:ext cx="2468880" cy="5943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709160"/>
            <a:ext cx="1828800" cy="320040"/>
          </a:xfrm>
          <a:prstGeom prst="rect">
            <a:avLst/>
          </a:prstGeom>
          <a:noFill/>
        </p:spPr>
        <p:txBody>
          <a:bodyPr wrap="square">
            <a:spAutoFit/>
          </a:bodyPr>
          <a:lstStyle/>
          <a:p>
            <a:pPr algn="l"/>
            <a:r>
              <a:rPr sz="1200" b="1" i="0">
                <a:solidFill>
                  <a:srgbClr val="FFFFFF"/>
                </a:solidFill>
              </a:rPr>
              <a:t>薬品卸・販売企業</a:t>
            </a:r>
          </a:p>
        </p:txBody>
      </p:sp>
      <p:sp>
        <p:nvSpPr>
          <p:cNvPr id="23" name="TextBox 22"/>
          <p:cNvSpPr txBox="1"/>
          <p:nvPr/>
        </p:nvSpPr>
        <p:spPr>
          <a:xfrm>
            <a:off x="640080" y="5010912"/>
            <a:ext cx="1371600" cy="228600"/>
          </a:xfrm>
          <a:prstGeom prst="rect">
            <a:avLst/>
          </a:prstGeom>
          <a:noFill/>
        </p:spPr>
        <p:txBody>
          <a:bodyPr wrap="square">
            <a:spAutoFit/>
          </a:bodyPr>
          <a:lstStyle/>
          <a:p>
            <a:pPr algn="l"/>
            <a:r>
              <a:rPr sz="900" b="0" i="0">
                <a:solidFill>
                  <a:srgbClr val="E8A800"/>
                </a:solidFill>
              </a:rPr>
              <a:t>提携</a:t>
            </a:r>
          </a:p>
        </p:txBody>
      </p:sp>
      <p:sp>
        <p:nvSpPr>
          <p:cNvPr id="24" name="Rectangle 23"/>
          <p:cNvSpPr/>
          <p:nvPr/>
        </p:nvSpPr>
        <p:spPr>
          <a:xfrm>
            <a:off x="8732520" y="1783080"/>
            <a:ext cx="2468880" cy="5943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823960" y="1828800"/>
            <a:ext cx="1828800" cy="320040"/>
          </a:xfrm>
          <a:prstGeom prst="rect">
            <a:avLst/>
          </a:prstGeom>
          <a:noFill/>
        </p:spPr>
        <p:txBody>
          <a:bodyPr wrap="square">
            <a:spAutoFit/>
          </a:bodyPr>
          <a:lstStyle/>
          <a:p>
            <a:pPr algn="l"/>
            <a:r>
              <a:rPr sz="1200" b="1" i="0">
                <a:solidFill>
                  <a:srgbClr val="FFFFFF"/>
                </a:solidFill>
              </a:rPr>
              <a:t>保険代理店</a:t>
            </a:r>
          </a:p>
        </p:txBody>
      </p:sp>
      <p:sp>
        <p:nvSpPr>
          <p:cNvPr id="26" name="TextBox 25"/>
          <p:cNvSpPr txBox="1"/>
          <p:nvPr/>
        </p:nvSpPr>
        <p:spPr>
          <a:xfrm>
            <a:off x="8823960" y="2130552"/>
            <a:ext cx="1371600" cy="228600"/>
          </a:xfrm>
          <a:prstGeom prst="rect">
            <a:avLst/>
          </a:prstGeom>
          <a:noFill/>
        </p:spPr>
        <p:txBody>
          <a:bodyPr wrap="square">
            <a:spAutoFit/>
          </a:bodyPr>
          <a:lstStyle/>
          <a:p>
            <a:pPr algn="l"/>
            <a:r>
              <a:rPr sz="900" b="0" i="0">
                <a:solidFill>
                  <a:srgbClr val="E8A800"/>
                </a:solidFill>
              </a:rPr>
              <a:t>提携</a:t>
            </a:r>
          </a:p>
        </p:txBody>
      </p:sp>
      <p:sp>
        <p:nvSpPr>
          <p:cNvPr id="27" name="Rectangle 26"/>
          <p:cNvSpPr/>
          <p:nvPr/>
        </p:nvSpPr>
        <p:spPr>
          <a:xfrm>
            <a:off x="8732520" y="2743200"/>
            <a:ext cx="2468880" cy="5943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23960" y="2788920"/>
            <a:ext cx="1828800" cy="320040"/>
          </a:xfrm>
          <a:prstGeom prst="rect">
            <a:avLst/>
          </a:prstGeom>
          <a:noFill/>
        </p:spPr>
        <p:txBody>
          <a:bodyPr wrap="square">
            <a:spAutoFit/>
          </a:bodyPr>
          <a:lstStyle/>
          <a:p>
            <a:pPr algn="l"/>
            <a:r>
              <a:rPr sz="1200" b="1" i="0">
                <a:solidFill>
                  <a:srgbClr val="FFFFFF"/>
                </a:solidFill>
              </a:rPr>
              <a:t>設計建築・内装</a:t>
            </a:r>
          </a:p>
        </p:txBody>
      </p:sp>
      <p:sp>
        <p:nvSpPr>
          <p:cNvPr id="29" name="TextBox 28"/>
          <p:cNvSpPr txBox="1"/>
          <p:nvPr/>
        </p:nvSpPr>
        <p:spPr>
          <a:xfrm>
            <a:off x="8823960" y="3090672"/>
            <a:ext cx="1371600" cy="228600"/>
          </a:xfrm>
          <a:prstGeom prst="rect">
            <a:avLst/>
          </a:prstGeom>
          <a:noFill/>
        </p:spPr>
        <p:txBody>
          <a:bodyPr wrap="square">
            <a:spAutoFit/>
          </a:bodyPr>
          <a:lstStyle/>
          <a:p>
            <a:pPr algn="l"/>
            <a:r>
              <a:rPr sz="900" b="0" i="0">
                <a:solidFill>
                  <a:srgbClr val="E8A800"/>
                </a:solidFill>
              </a:rPr>
              <a:t>提携</a:t>
            </a:r>
          </a:p>
        </p:txBody>
      </p:sp>
      <p:sp>
        <p:nvSpPr>
          <p:cNvPr id="30" name="Rectangle 29"/>
          <p:cNvSpPr/>
          <p:nvPr/>
        </p:nvSpPr>
        <p:spPr>
          <a:xfrm>
            <a:off x="8732520" y="3703320"/>
            <a:ext cx="2468880" cy="5943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23960" y="3749040"/>
            <a:ext cx="1828800" cy="320040"/>
          </a:xfrm>
          <a:prstGeom prst="rect">
            <a:avLst/>
          </a:prstGeom>
          <a:noFill/>
        </p:spPr>
        <p:txBody>
          <a:bodyPr wrap="square">
            <a:spAutoFit/>
          </a:bodyPr>
          <a:lstStyle/>
          <a:p>
            <a:pPr algn="l"/>
            <a:r>
              <a:rPr sz="1200" b="1" i="0">
                <a:solidFill>
                  <a:srgbClr val="FFFFFF"/>
                </a:solidFill>
              </a:rPr>
              <a:t>ハウスメーカー</a:t>
            </a:r>
          </a:p>
        </p:txBody>
      </p:sp>
      <p:sp>
        <p:nvSpPr>
          <p:cNvPr id="32" name="TextBox 31"/>
          <p:cNvSpPr txBox="1"/>
          <p:nvPr/>
        </p:nvSpPr>
        <p:spPr>
          <a:xfrm>
            <a:off x="8823960" y="4050792"/>
            <a:ext cx="1371600" cy="228600"/>
          </a:xfrm>
          <a:prstGeom prst="rect">
            <a:avLst/>
          </a:prstGeom>
          <a:noFill/>
        </p:spPr>
        <p:txBody>
          <a:bodyPr wrap="square">
            <a:spAutoFit/>
          </a:bodyPr>
          <a:lstStyle/>
          <a:p>
            <a:pPr algn="l"/>
            <a:r>
              <a:rPr sz="900" b="0" i="0">
                <a:solidFill>
                  <a:srgbClr val="E8A800"/>
                </a:solidFill>
              </a:rPr>
              <a:t>提携</a:t>
            </a:r>
          </a:p>
        </p:txBody>
      </p:sp>
      <p:sp>
        <p:nvSpPr>
          <p:cNvPr id="33" name="Rectangle 32"/>
          <p:cNvSpPr/>
          <p:nvPr/>
        </p:nvSpPr>
        <p:spPr>
          <a:xfrm>
            <a:off x="8732520" y="4663440"/>
            <a:ext cx="2468880" cy="5943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23960" y="4709160"/>
            <a:ext cx="1828800" cy="320040"/>
          </a:xfrm>
          <a:prstGeom prst="rect">
            <a:avLst/>
          </a:prstGeom>
          <a:noFill/>
        </p:spPr>
        <p:txBody>
          <a:bodyPr wrap="square">
            <a:spAutoFit/>
          </a:bodyPr>
          <a:lstStyle/>
          <a:p>
            <a:pPr algn="l"/>
            <a:r>
              <a:rPr sz="1200" b="1" i="0">
                <a:solidFill>
                  <a:srgbClr val="FFFFFF"/>
                </a:solidFill>
              </a:rPr>
              <a:t>金融機関</a:t>
            </a:r>
          </a:p>
        </p:txBody>
      </p:sp>
      <p:sp>
        <p:nvSpPr>
          <p:cNvPr id="35" name="TextBox 34"/>
          <p:cNvSpPr txBox="1"/>
          <p:nvPr/>
        </p:nvSpPr>
        <p:spPr>
          <a:xfrm>
            <a:off x="8823960" y="5010912"/>
            <a:ext cx="1371600" cy="228600"/>
          </a:xfrm>
          <a:prstGeom prst="rect">
            <a:avLst/>
          </a:prstGeom>
          <a:noFill/>
        </p:spPr>
        <p:txBody>
          <a:bodyPr wrap="square">
            <a:spAutoFit/>
          </a:bodyPr>
          <a:lstStyle/>
          <a:p>
            <a:pPr algn="l"/>
            <a:r>
              <a:rPr sz="900" b="0" i="0">
                <a:solidFill>
                  <a:srgbClr val="E8A800"/>
                </a:solidFill>
              </a:rPr>
              <a:t>提携</a:t>
            </a:r>
          </a:p>
        </p:txBody>
      </p:sp>
      <p:sp>
        <p:nvSpPr>
          <p:cNvPr id="36" name="Rectangle 35"/>
          <p:cNvSpPr/>
          <p:nvPr/>
        </p:nvSpPr>
        <p:spPr>
          <a:xfrm>
            <a:off x="5120640" y="5212080"/>
            <a:ext cx="2468880" cy="5943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212080" y="5257800"/>
            <a:ext cx="1828800" cy="320040"/>
          </a:xfrm>
          <a:prstGeom prst="rect">
            <a:avLst/>
          </a:prstGeom>
          <a:noFill/>
        </p:spPr>
        <p:txBody>
          <a:bodyPr wrap="square">
            <a:spAutoFit/>
          </a:bodyPr>
          <a:lstStyle/>
          <a:p>
            <a:pPr algn="l"/>
            <a:r>
              <a:rPr sz="1200" b="1" i="0">
                <a:solidFill>
                  <a:srgbClr val="FFFFFF"/>
                </a:solidFill>
              </a:rPr>
              <a:t>人材紹介</a:t>
            </a:r>
          </a:p>
        </p:txBody>
      </p:sp>
      <p:sp>
        <p:nvSpPr>
          <p:cNvPr id="38" name="TextBox 37"/>
          <p:cNvSpPr txBox="1"/>
          <p:nvPr/>
        </p:nvSpPr>
        <p:spPr>
          <a:xfrm>
            <a:off x="5212080" y="5559552"/>
            <a:ext cx="1371600" cy="228600"/>
          </a:xfrm>
          <a:prstGeom prst="rect">
            <a:avLst/>
          </a:prstGeom>
          <a:noFill/>
        </p:spPr>
        <p:txBody>
          <a:bodyPr wrap="square">
            <a:spAutoFit/>
          </a:bodyPr>
          <a:lstStyle/>
          <a:p>
            <a:pPr algn="l"/>
            <a:r>
              <a:rPr sz="900" b="0" i="0">
                <a:solidFill>
                  <a:srgbClr val="E8A800"/>
                </a:solidFill>
              </a:rPr>
              <a:t>提携</a:t>
            </a:r>
          </a:p>
        </p:txBody>
      </p:sp>
      <p:sp>
        <p:nvSpPr>
          <p:cNvPr id="39" name="TextBox 38"/>
          <p:cNvSpPr txBox="1"/>
          <p:nvPr/>
        </p:nvSpPr>
        <p:spPr>
          <a:xfrm>
            <a:off x="548640" y="6053328"/>
            <a:ext cx="11155680" cy="347472"/>
          </a:xfrm>
          <a:prstGeom prst="rect">
            <a:avLst/>
          </a:prstGeom>
          <a:noFill/>
        </p:spPr>
        <p:txBody>
          <a:bodyPr wrap="square">
            <a:spAutoFit/>
          </a:bodyPr>
          <a:lstStyle/>
          <a:p>
            <a:pPr algn="l"/>
            <a:r>
              <a:rPr sz="1300" b="1" i="1">
                <a:solidFill>
                  <a:srgbClr val="E8A800"/>
                </a:solidFill>
              </a:rPr>
              <a:t>自分で全部やる必要はない。「最初に電話される存在」になれば、案件は向こうから来る。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6510528"/>
            <a:ext cx="12188952" cy="34747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37960"/>
            <a:ext cx="9144000" cy="292608"/>
          </a:xfrm>
          <a:prstGeom prst="rect">
            <a:avLst/>
          </a:prstGeom>
          <a:noFill/>
        </p:spPr>
        <p:txBody>
          <a:bodyPr wrap="square">
            <a:spAutoFit/>
          </a:bodyPr>
          <a:lstStyle/>
          <a:p>
            <a:pPr algn="l"/>
            <a:r>
              <a:rPr sz="900" b="0" i="0">
                <a:solidFill>
                  <a:srgbClr val="CCD6E0"/>
                </a:solidFill>
              </a:rPr>
              <a:t>医療専門不動産  |  ビジネスモデル</a:t>
            </a:r>
          </a:p>
        </p:txBody>
      </p:sp>
      <p:sp>
        <p:nvSpPr>
          <p:cNvPr id="4" name="Rectangle 3"/>
          <p:cNvSpPr/>
          <p:nvPr/>
        </p:nvSpPr>
        <p:spPr>
          <a:xfrm>
            <a:off x="0" y="0"/>
            <a:ext cx="12188952"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972800" cy="594360"/>
          </a:xfrm>
          <a:prstGeom prst="rect">
            <a:avLst/>
          </a:prstGeom>
          <a:noFill/>
        </p:spPr>
        <p:txBody>
          <a:bodyPr wrap="square">
            <a:spAutoFit/>
          </a:bodyPr>
          <a:lstStyle/>
          <a:p>
            <a:pPr algn="l"/>
            <a:r>
              <a:rPr sz="2400" b="1" i="0">
                <a:solidFill>
                  <a:srgbClr val="FFFFFF"/>
                </a:solidFill>
              </a:rPr>
              <a:t>STEP 03  /  診療圏調査</a:t>
            </a:r>
          </a:p>
        </p:txBody>
      </p:sp>
      <p:sp>
        <p:nvSpPr>
          <p:cNvPr id="6" name="TextBox 5"/>
          <p:cNvSpPr txBox="1"/>
          <p:nvPr/>
        </p:nvSpPr>
        <p:spPr>
          <a:xfrm>
            <a:off x="548640" y="713232"/>
            <a:ext cx="10972800" cy="274320"/>
          </a:xfrm>
          <a:prstGeom prst="rect">
            <a:avLst/>
          </a:prstGeom>
          <a:noFill/>
        </p:spPr>
        <p:txBody>
          <a:bodyPr wrap="square">
            <a:spAutoFit/>
          </a:bodyPr>
          <a:lstStyle/>
          <a:p>
            <a:pPr algn="l"/>
            <a:r>
              <a:rPr sz="1100" b="0" i="0">
                <a:solidFill>
                  <a:srgbClr val="CCD6E0"/>
                </a:solidFill>
              </a:rPr>
              <a:t>数字で「ここなら勝てる」を示す。サンプル：T整形外科リウマチ科（川崎市宮前区／鷺沼駅圏）</a:t>
            </a:r>
          </a:p>
        </p:txBody>
      </p:sp>
      <p:sp>
        <p:nvSpPr>
          <p:cNvPr id="7" name="Rectangle 6"/>
          <p:cNvSpPr/>
          <p:nvPr/>
        </p:nvSpPr>
        <p:spPr>
          <a:xfrm>
            <a:off x="411480" y="1170432"/>
            <a:ext cx="2176272" cy="16459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170432"/>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8" y="1234440"/>
            <a:ext cx="1993392" cy="502920"/>
          </a:xfrm>
          <a:prstGeom prst="rect">
            <a:avLst/>
          </a:prstGeom>
          <a:noFill/>
        </p:spPr>
        <p:txBody>
          <a:bodyPr wrap="square">
            <a:spAutoFit/>
          </a:bodyPr>
          <a:lstStyle/>
          <a:p>
            <a:pPr algn="l"/>
            <a:r>
              <a:rPr sz="1200" b="1" i="0">
                <a:solidFill>
                  <a:srgbClr val="E8A800"/>
                </a:solidFill>
              </a:rPr>
              <a:t>01 診療圏マップ確定</a:t>
            </a:r>
          </a:p>
        </p:txBody>
      </p:sp>
      <p:sp>
        <p:nvSpPr>
          <p:cNvPr id="10" name="TextBox 9"/>
          <p:cNvSpPr txBox="1"/>
          <p:nvPr/>
        </p:nvSpPr>
        <p:spPr>
          <a:xfrm>
            <a:off x="521208" y="1783080"/>
            <a:ext cx="1993392" cy="868680"/>
          </a:xfrm>
          <a:prstGeom prst="rect">
            <a:avLst/>
          </a:prstGeom>
          <a:noFill/>
        </p:spPr>
        <p:txBody>
          <a:bodyPr wrap="square">
            <a:spAutoFit/>
          </a:bodyPr>
          <a:lstStyle/>
          <a:p>
            <a:pPr algn="l"/>
            <a:r>
              <a:rPr sz="1100" b="0" i="0">
                <a:solidFill>
                  <a:srgbClr val="CCD6E0"/>
                </a:solidFill>
              </a:rPr>
              <a:t>地形・道路・公共交通でエリア確定</a:t>
            </a:r>
          </a:p>
        </p:txBody>
      </p:sp>
      <p:sp>
        <p:nvSpPr>
          <p:cNvPr id="11" name="Rectangle 10"/>
          <p:cNvSpPr/>
          <p:nvPr/>
        </p:nvSpPr>
        <p:spPr>
          <a:xfrm>
            <a:off x="2697480" y="1170432"/>
            <a:ext cx="2176272" cy="16459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697480" y="1170432"/>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07208" y="1234440"/>
            <a:ext cx="1993392" cy="502920"/>
          </a:xfrm>
          <a:prstGeom prst="rect">
            <a:avLst/>
          </a:prstGeom>
          <a:noFill/>
        </p:spPr>
        <p:txBody>
          <a:bodyPr wrap="square">
            <a:spAutoFit/>
          </a:bodyPr>
          <a:lstStyle/>
          <a:p>
            <a:pPr algn="l"/>
            <a:r>
              <a:rPr sz="1200" b="1" i="0">
                <a:solidFill>
                  <a:srgbClr val="E8A800"/>
                </a:solidFill>
              </a:rPr>
              <a:t>02 競合施設の調査</a:t>
            </a:r>
          </a:p>
        </p:txBody>
      </p:sp>
      <p:sp>
        <p:nvSpPr>
          <p:cNvPr id="14" name="TextBox 13"/>
          <p:cNvSpPr txBox="1"/>
          <p:nvPr/>
        </p:nvSpPr>
        <p:spPr>
          <a:xfrm>
            <a:off x="2807208" y="1783080"/>
            <a:ext cx="1993392" cy="868680"/>
          </a:xfrm>
          <a:prstGeom prst="rect">
            <a:avLst/>
          </a:prstGeom>
          <a:noFill/>
        </p:spPr>
        <p:txBody>
          <a:bodyPr wrap="square">
            <a:spAutoFit/>
          </a:bodyPr>
          <a:lstStyle/>
          <a:p>
            <a:pPr algn="l"/>
            <a:r>
              <a:rPr sz="1100" b="0" i="0">
                <a:solidFill>
                  <a:srgbClr val="CCD6E0"/>
                </a:solidFill>
              </a:rPr>
              <a:t>競合7施設をリスト化</a:t>
            </a:r>
          </a:p>
        </p:txBody>
      </p:sp>
      <p:sp>
        <p:nvSpPr>
          <p:cNvPr id="15" name="Rectangle 14"/>
          <p:cNvSpPr/>
          <p:nvPr/>
        </p:nvSpPr>
        <p:spPr>
          <a:xfrm>
            <a:off x="4983480" y="1170432"/>
            <a:ext cx="2176272" cy="16459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983480" y="1170432"/>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93208" y="1234440"/>
            <a:ext cx="1993392" cy="502920"/>
          </a:xfrm>
          <a:prstGeom prst="rect">
            <a:avLst/>
          </a:prstGeom>
          <a:noFill/>
        </p:spPr>
        <p:txBody>
          <a:bodyPr wrap="square">
            <a:spAutoFit/>
          </a:bodyPr>
          <a:lstStyle/>
          <a:p>
            <a:pPr algn="l"/>
            <a:r>
              <a:rPr sz="1200" b="1" i="0">
                <a:solidFill>
                  <a:srgbClr val="E8A800"/>
                </a:solidFill>
              </a:rPr>
              <a:t>03 診療圏人口集計</a:t>
            </a:r>
          </a:p>
        </p:txBody>
      </p:sp>
      <p:sp>
        <p:nvSpPr>
          <p:cNvPr id="18" name="TextBox 17"/>
          <p:cNvSpPr txBox="1"/>
          <p:nvPr/>
        </p:nvSpPr>
        <p:spPr>
          <a:xfrm>
            <a:off x="5093208" y="1783080"/>
            <a:ext cx="1993392" cy="868680"/>
          </a:xfrm>
          <a:prstGeom prst="rect">
            <a:avLst/>
          </a:prstGeom>
          <a:noFill/>
        </p:spPr>
        <p:txBody>
          <a:bodyPr wrap="square">
            <a:spAutoFit/>
          </a:bodyPr>
          <a:lstStyle/>
          <a:p>
            <a:pPr algn="l"/>
            <a:r>
              <a:rPr sz="1100" b="0" i="0">
                <a:solidFill>
                  <a:srgbClr val="CCD6E0"/>
                </a:solidFill>
              </a:rPr>
              <a:t>総人口48,201人</a:t>
            </a:r>
          </a:p>
        </p:txBody>
      </p:sp>
      <p:sp>
        <p:nvSpPr>
          <p:cNvPr id="19" name="Rectangle 18"/>
          <p:cNvSpPr/>
          <p:nvPr/>
        </p:nvSpPr>
        <p:spPr>
          <a:xfrm>
            <a:off x="7269480" y="1170432"/>
            <a:ext cx="2176272" cy="16459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69480" y="1170432"/>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79208" y="1234440"/>
            <a:ext cx="1993392" cy="502920"/>
          </a:xfrm>
          <a:prstGeom prst="rect">
            <a:avLst/>
          </a:prstGeom>
          <a:noFill/>
        </p:spPr>
        <p:txBody>
          <a:bodyPr wrap="square">
            <a:spAutoFit/>
          </a:bodyPr>
          <a:lstStyle/>
          <a:p>
            <a:pPr algn="l"/>
            <a:r>
              <a:rPr sz="1200" b="1" i="0">
                <a:solidFill>
                  <a:srgbClr val="E8A800"/>
                </a:solidFill>
              </a:rPr>
              <a:t>04 受療率の適用</a:t>
            </a:r>
          </a:p>
        </p:txBody>
      </p:sp>
      <p:sp>
        <p:nvSpPr>
          <p:cNvPr id="22" name="TextBox 21"/>
          <p:cNvSpPr txBox="1"/>
          <p:nvPr/>
        </p:nvSpPr>
        <p:spPr>
          <a:xfrm>
            <a:off x="7379208" y="1783080"/>
            <a:ext cx="1993392" cy="868680"/>
          </a:xfrm>
          <a:prstGeom prst="rect">
            <a:avLst/>
          </a:prstGeom>
          <a:noFill/>
        </p:spPr>
        <p:txBody>
          <a:bodyPr wrap="square">
            <a:spAutoFit/>
          </a:bodyPr>
          <a:lstStyle/>
          <a:p>
            <a:pPr algn="l"/>
            <a:r>
              <a:rPr sz="1100" b="0" i="0">
                <a:solidFill>
                  <a:srgbClr val="CCD6E0"/>
                </a:solidFill>
              </a:rPr>
              <a:t>厚労省データで最適化</a:t>
            </a:r>
          </a:p>
        </p:txBody>
      </p:sp>
      <p:sp>
        <p:nvSpPr>
          <p:cNvPr id="23" name="Rectangle 22"/>
          <p:cNvSpPr/>
          <p:nvPr/>
        </p:nvSpPr>
        <p:spPr>
          <a:xfrm>
            <a:off x="9555480" y="1170432"/>
            <a:ext cx="2176272" cy="16459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555480" y="1170432"/>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65208" y="1234440"/>
            <a:ext cx="1993392" cy="502920"/>
          </a:xfrm>
          <a:prstGeom prst="rect">
            <a:avLst/>
          </a:prstGeom>
          <a:noFill/>
        </p:spPr>
        <p:txBody>
          <a:bodyPr wrap="square">
            <a:spAutoFit/>
          </a:bodyPr>
          <a:lstStyle/>
          <a:p>
            <a:pPr algn="l"/>
            <a:r>
              <a:rPr sz="1200" b="1" i="0">
                <a:solidFill>
                  <a:srgbClr val="E8A800"/>
                </a:solidFill>
              </a:rPr>
              <a:t>05 自院推定外来算定</a:t>
            </a:r>
          </a:p>
        </p:txBody>
      </p:sp>
      <p:sp>
        <p:nvSpPr>
          <p:cNvPr id="26" name="TextBox 25"/>
          <p:cNvSpPr txBox="1"/>
          <p:nvPr/>
        </p:nvSpPr>
        <p:spPr>
          <a:xfrm>
            <a:off x="9665208" y="1783080"/>
            <a:ext cx="1993392" cy="868680"/>
          </a:xfrm>
          <a:prstGeom prst="rect">
            <a:avLst/>
          </a:prstGeom>
          <a:noFill/>
        </p:spPr>
        <p:txBody>
          <a:bodyPr wrap="square">
            <a:spAutoFit/>
          </a:bodyPr>
          <a:lstStyle/>
          <a:p>
            <a:pPr algn="l"/>
            <a:r>
              <a:rPr sz="1100" b="0" i="0">
                <a:solidFill>
                  <a:srgbClr val="CCD6E0"/>
                </a:solidFill>
              </a:rPr>
              <a:t>(人口×受療率)÷(競合数+1)</a:t>
            </a:r>
          </a:p>
        </p:txBody>
      </p:sp>
      <p:sp>
        <p:nvSpPr>
          <p:cNvPr id="27" name="Rectangle 26"/>
          <p:cNvSpPr/>
          <p:nvPr/>
        </p:nvSpPr>
        <p:spPr>
          <a:xfrm>
            <a:off x="411480" y="2999232"/>
            <a:ext cx="1536192" cy="11887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4632" y="3063240"/>
            <a:ext cx="1426464" cy="566928"/>
          </a:xfrm>
          <a:prstGeom prst="rect">
            <a:avLst/>
          </a:prstGeom>
          <a:noFill/>
        </p:spPr>
        <p:txBody>
          <a:bodyPr wrap="square">
            <a:spAutoFit/>
          </a:bodyPr>
          <a:lstStyle/>
          <a:p>
            <a:pPr algn="ctr"/>
            <a:r>
              <a:rPr sz="1700" b="1" i="0">
                <a:solidFill>
                  <a:srgbClr val="E8A800"/>
                </a:solidFill>
              </a:rPr>
              <a:t>鷺沼駅/半径2km</a:t>
            </a:r>
          </a:p>
        </p:txBody>
      </p:sp>
      <p:sp>
        <p:nvSpPr>
          <p:cNvPr id="29" name="TextBox 28"/>
          <p:cNvSpPr txBox="1"/>
          <p:nvPr/>
        </p:nvSpPr>
        <p:spPr>
          <a:xfrm>
            <a:off x="484632" y="3630168"/>
            <a:ext cx="1426464" cy="411480"/>
          </a:xfrm>
          <a:prstGeom prst="rect">
            <a:avLst/>
          </a:prstGeom>
          <a:noFill/>
        </p:spPr>
        <p:txBody>
          <a:bodyPr wrap="square">
            <a:spAutoFit/>
          </a:bodyPr>
          <a:lstStyle/>
          <a:p>
            <a:pPr algn="ctr"/>
            <a:r>
              <a:rPr sz="900" b="0" i="0">
                <a:solidFill>
                  <a:srgbClr val="CCD6E0"/>
                </a:solidFill>
              </a:rPr>
              <a:t>対象エリア</a:t>
            </a:r>
          </a:p>
        </p:txBody>
      </p:sp>
      <p:sp>
        <p:nvSpPr>
          <p:cNvPr id="30" name="Rectangle 29"/>
          <p:cNvSpPr/>
          <p:nvPr/>
        </p:nvSpPr>
        <p:spPr>
          <a:xfrm>
            <a:off x="2039112" y="2999232"/>
            <a:ext cx="1536192" cy="11887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12264" y="3063240"/>
            <a:ext cx="1426464" cy="566928"/>
          </a:xfrm>
          <a:prstGeom prst="rect">
            <a:avLst/>
          </a:prstGeom>
          <a:noFill/>
        </p:spPr>
        <p:txBody>
          <a:bodyPr wrap="square">
            <a:spAutoFit/>
          </a:bodyPr>
          <a:lstStyle/>
          <a:p>
            <a:pPr algn="ctr"/>
            <a:r>
              <a:rPr sz="1700" b="1" i="0">
                <a:solidFill>
                  <a:srgbClr val="E8A800"/>
                </a:solidFill>
              </a:rPr>
              <a:t>48,201人</a:t>
            </a:r>
          </a:p>
        </p:txBody>
      </p:sp>
      <p:sp>
        <p:nvSpPr>
          <p:cNvPr id="32" name="TextBox 31"/>
          <p:cNvSpPr txBox="1"/>
          <p:nvPr/>
        </p:nvSpPr>
        <p:spPr>
          <a:xfrm>
            <a:off x="2112264" y="3630168"/>
            <a:ext cx="1426464" cy="411480"/>
          </a:xfrm>
          <a:prstGeom prst="rect">
            <a:avLst/>
          </a:prstGeom>
          <a:noFill/>
        </p:spPr>
        <p:txBody>
          <a:bodyPr wrap="square">
            <a:spAutoFit/>
          </a:bodyPr>
          <a:lstStyle/>
          <a:p>
            <a:pPr algn="ctr"/>
            <a:r>
              <a:rPr sz="900" b="0" i="0">
                <a:solidFill>
                  <a:srgbClr val="CCD6E0"/>
                </a:solidFill>
              </a:rPr>
              <a:t>診療圏人口</a:t>
            </a:r>
          </a:p>
        </p:txBody>
      </p:sp>
      <p:sp>
        <p:nvSpPr>
          <p:cNvPr id="33" name="Rectangle 32"/>
          <p:cNvSpPr/>
          <p:nvPr/>
        </p:nvSpPr>
        <p:spPr>
          <a:xfrm>
            <a:off x="3666744" y="2999232"/>
            <a:ext cx="1536192" cy="11887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739896" y="3063240"/>
            <a:ext cx="1426464" cy="566928"/>
          </a:xfrm>
          <a:prstGeom prst="rect">
            <a:avLst/>
          </a:prstGeom>
          <a:noFill/>
        </p:spPr>
        <p:txBody>
          <a:bodyPr wrap="square">
            <a:spAutoFit/>
          </a:bodyPr>
          <a:lstStyle/>
          <a:p>
            <a:pPr algn="ctr"/>
            <a:r>
              <a:rPr sz="1700" b="1" i="0">
                <a:solidFill>
                  <a:srgbClr val="E8A800"/>
                </a:solidFill>
              </a:rPr>
              <a:t>23.8%</a:t>
            </a:r>
          </a:p>
        </p:txBody>
      </p:sp>
      <p:sp>
        <p:nvSpPr>
          <p:cNvPr id="35" name="TextBox 34"/>
          <p:cNvSpPr txBox="1"/>
          <p:nvPr/>
        </p:nvSpPr>
        <p:spPr>
          <a:xfrm>
            <a:off x="3739896" y="3630168"/>
            <a:ext cx="1426464" cy="411480"/>
          </a:xfrm>
          <a:prstGeom prst="rect">
            <a:avLst/>
          </a:prstGeom>
          <a:noFill/>
        </p:spPr>
        <p:txBody>
          <a:bodyPr wrap="square">
            <a:spAutoFit/>
          </a:bodyPr>
          <a:lstStyle/>
          <a:p>
            <a:pPr algn="ctr"/>
            <a:r>
              <a:rPr sz="900" b="0" i="0">
                <a:solidFill>
                  <a:srgbClr val="CCD6E0"/>
                </a:solidFill>
              </a:rPr>
              <a:t>65歳以上比率</a:t>
            </a:r>
          </a:p>
        </p:txBody>
      </p:sp>
      <p:sp>
        <p:nvSpPr>
          <p:cNvPr id="36" name="Rectangle 35"/>
          <p:cNvSpPr/>
          <p:nvPr/>
        </p:nvSpPr>
        <p:spPr>
          <a:xfrm>
            <a:off x="5294376" y="2999232"/>
            <a:ext cx="1536192" cy="11887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67528" y="3063240"/>
            <a:ext cx="1426464" cy="566928"/>
          </a:xfrm>
          <a:prstGeom prst="rect">
            <a:avLst/>
          </a:prstGeom>
          <a:noFill/>
        </p:spPr>
        <p:txBody>
          <a:bodyPr wrap="square">
            <a:spAutoFit/>
          </a:bodyPr>
          <a:lstStyle/>
          <a:p>
            <a:pPr algn="ctr"/>
            <a:r>
              <a:rPr sz="1700" b="1" i="0">
                <a:solidFill>
                  <a:srgbClr val="E8A800"/>
                </a:solidFill>
              </a:rPr>
              <a:t>7施設</a:t>
            </a:r>
          </a:p>
        </p:txBody>
      </p:sp>
      <p:sp>
        <p:nvSpPr>
          <p:cNvPr id="38" name="TextBox 37"/>
          <p:cNvSpPr txBox="1"/>
          <p:nvPr/>
        </p:nvSpPr>
        <p:spPr>
          <a:xfrm>
            <a:off x="5367528" y="3630168"/>
            <a:ext cx="1426464" cy="411480"/>
          </a:xfrm>
          <a:prstGeom prst="rect">
            <a:avLst/>
          </a:prstGeom>
          <a:noFill/>
        </p:spPr>
        <p:txBody>
          <a:bodyPr wrap="square">
            <a:spAutoFit/>
          </a:bodyPr>
          <a:lstStyle/>
          <a:p>
            <a:pPr algn="ctr"/>
            <a:r>
              <a:rPr sz="900" b="0" i="0">
                <a:solidFill>
                  <a:srgbClr val="CCD6E0"/>
                </a:solidFill>
              </a:rPr>
              <a:t>競合施設</a:t>
            </a:r>
          </a:p>
        </p:txBody>
      </p:sp>
      <p:sp>
        <p:nvSpPr>
          <p:cNvPr id="39" name="Rectangle 38"/>
          <p:cNvSpPr/>
          <p:nvPr/>
        </p:nvSpPr>
        <p:spPr>
          <a:xfrm>
            <a:off x="6922008" y="2999232"/>
            <a:ext cx="1536192" cy="11887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95160" y="3063240"/>
            <a:ext cx="1426464" cy="566928"/>
          </a:xfrm>
          <a:prstGeom prst="rect">
            <a:avLst/>
          </a:prstGeom>
          <a:noFill/>
        </p:spPr>
        <p:txBody>
          <a:bodyPr wrap="square">
            <a:spAutoFit/>
          </a:bodyPr>
          <a:lstStyle/>
          <a:p>
            <a:pPr algn="ctr"/>
            <a:r>
              <a:rPr sz="1700" b="1" i="0">
                <a:solidFill>
                  <a:srgbClr val="E8A800"/>
                </a:solidFill>
              </a:rPr>
              <a:t>523人/日</a:t>
            </a:r>
          </a:p>
        </p:txBody>
      </p:sp>
      <p:sp>
        <p:nvSpPr>
          <p:cNvPr id="41" name="TextBox 40"/>
          <p:cNvSpPr txBox="1"/>
          <p:nvPr/>
        </p:nvSpPr>
        <p:spPr>
          <a:xfrm>
            <a:off x="6995160" y="3630168"/>
            <a:ext cx="1426464" cy="411480"/>
          </a:xfrm>
          <a:prstGeom prst="rect">
            <a:avLst/>
          </a:prstGeom>
          <a:noFill/>
        </p:spPr>
        <p:txBody>
          <a:bodyPr wrap="square">
            <a:spAutoFit/>
          </a:bodyPr>
          <a:lstStyle/>
          <a:p>
            <a:pPr algn="ctr"/>
            <a:r>
              <a:rPr sz="900" b="0" i="0">
                <a:solidFill>
                  <a:srgbClr val="CCD6E0"/>
                </a:solidFill>
              </a:rPr>
              <a:t>競合総外来</a:t>
            </a:r>
          </a:p>
        </p:txBody>
      </p:sp>
      <p:sp>
        <p:nvSpPr>
          <p:cNvPr id="42" name="Rectangle 41"/>
          <p:cNvSpPr/>
          <p:nvPr/>
        </p:nvSpPr>
        <p:spPr>
          <a:xfrm>
            <a:off x="8549640" y="2999232"/>
            <a:ext cx="1536192" cy="11887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622792" y="3063240"/>
            <a:ext cx="1426464" cy="566928"/>
          </a:xfrm>
          <a:prstGeom prst="rect">
            <a:avLst/>
          </a:prstGeom>
          <a:noFill/>
        </p:spPr>
        <p:txBody>
          <a:bodyPr wrap="square">
            <a:spAutoFit/>
          </a:bodyPr>
          <a:lstStyle/>
          <a:p>
            <a:pPr algn="ctr"/>
            <a:r>
              <a:rPr sz="1700" b="1" i="0">
                <a:solidFill>
                  <a:srgbClr val="E8A800"/>
                </a:solidFill>
              </a:rPr>
              <a:t>133人/日</a:t>
            </a:r>
          </a:p>
        </p:txBody>
      </p:sp>
      <p:sp>
        <p:nvSpPr>
          <p:cNvPr id="44" name="TextBox 43"/>
          <p:cNvSpPr txBox="1"/>
          <p:nvPr/>
        </p:nvSpPr>
        <p:spPr>
          <a:xfrm>
            <a:off x="8622792" y="3630168"/>
            <a:ext cx="1426464" cy="411480"/>
          </a:xfrm>
          <a:prstGeom prst="rect">
            <a:avLst/>
          </a:prstGeom>
          <a:noFill/>
        </p:spPr>
        <p:txBody>
          <a:bodyPr wrap="square">
            <a:spAutoFit/>
          </a:bodyPr>
          <a:lstStyle/>
          <a:p>
            <a:pPr algn="ctr"/>
            <a:r>
              <a:rPr sz="900" b="0" i="0">
                <a:solidFill>
                  <a:srgbClr val="CCD6E0"/>
                </a:solidFill>
              </a:rPr>
              <a:t>自院推定（昼）</a:t>
            </a:r>
          </a:p>
        </p:txBody>
      </p:sp>
      <p:sp>
        <p:nvSpPr>
          <p:cNvPr id="45" name="Rectangle 44"/>
          <p:cNvSpPr/>
          <p:nvPr/>
        </p:nvSpPr>
        <p:spPr>
          <a:xfrm>
            <a:off x="10177272" y="2999232"/>
            <a:ext cx="1536192" cy="11887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50424" y="3063240"/>
            <a:ext cx="1426464" cy="566928"/>
          </a:xfrm>
          <a:prstGeom prst="rect">
            <a:avLst/>
          </a:prstGeom>
          <a:noFill/>
        </p:spPr>
        <p:txBody>
          <a:bodyPr wrap="square">
            <a:spAutoFit/>
          </a:bodyPr>
          <a:lstStyle/>
          <a:p>
            <a:pPr algn="ctr"/>
            <a:r>
              <a:rPr sz="1700" b="1" i="0">
                <a:solidFill>
                  <a:srgbClr val="E8A800"/>
                </a:solidFill>
              </a:rPr>
              <a:t>123人/日</a:t>
            </a:r>
          </a:p>
        </p:txBody>
      </p:sp>
      <p:sp>
        <p:nvSpPr>
          <p:cNvPr id="47" name="TextBox 46"/>
          <p:cNvSpPr txBox="1"/>
          <p:nvPr/>
        </p:nvSpPr>
        <p:spPr>
          <a:xfrm>
            <a:off x="10250424" y="3630168"/>
            <a:ext cx="1426464" cy="411480"/>
          </a:xfrm>
          <a:prstGeom prst="rect">
            <a:avLst/>
          </a:prstGeom>
          <a:noFill/>
        </p:spPr>
        <p:txBody>
          <a:bodyPr wrap="square">
            <a:spAutoFit/>
          </a:bodyPr>
          <a:lstStyle/>
          <a:p>
            <a:pPr algn="ctr"/>
            <a:r>
              <a:rPr sz="900" b="0" i="0">
                <a:solidFill>
                  <a:srgbClr val="CCD6E0"/>
                </a:solidFill>
              </a:rPr>
              <a:t>自院推定（夜）</a:t>
            </a:r>
          </a:p>
        </p:txBody>
      </p:sp>
      <p:sp>
        <p:nvSpPr>
          <p:cNvPr id="48" name="TextBox 47"/>
          <p:cNvSpPr txBox="1"/>
          <p:nvPr/>
        </p:nvSpPr>
        <p:spPr>
          <a:xfrm>
            <a:off x="411480" y="4325112"/>
            <a:ext cx="11155680" cy="320040"/>
          </a:xfrm>
          <a:prstGeom prst="rect">
            <a:avLst/>
          </a:prstGeom>
          <a:noFill/>
        </p:spPr>
        <p:txBody>
          <a:bodyPr wrap="square">
            <a:spAutoFit/>
          </a:bodyPr>
          <a:lstStyle/>
          <a:p>
            <a:pPr algn="l"/>
            <a:r>
              <a:rPr sz="1100" b="0" i="1">
                <a:solidFill>
                  <a:srgbClr val="CCD6E0"/>
                </a:solidFill>
              </a:rPr>
              <a:t>テンプレに見えるが、過去140件超の現場データに裏打ちされた一品物。AI時代でも、ここは経験で差が出る。</a:t>
            </a:r>
          </a:p>
        </p:txBody>
      </p:sp>
      <p:sp>
        <p:nvSpPr>
          <p:cNvPr id="49" name="TextBox 48"/>
          <p:cNvSpPr txBox="1"/>
          <p:nvPr/>
        </p:nvSpPr>
        <p:spPr>
          <a:xfrm>
            <a:off x="411480" y="4736592"/>
            <a:ext cx="11155680" cy="502920"/>
          </a:xfrm>
          <a:prstGeom prst="rect">
            <a:avLst/>
          </a:prstGeom>
          <a:noFill/>
        </p:spPr>
        <p:txBody>
          <a:bodyPr wrap="square">
            <a:spAutoFit/>
          </a:bodyPr>
          <a:lstStyle/>
          <a:p>
            <a:pPr algn="l"/>
            <a:r>
              <a:rPr sz="1200" b="0" i="1">
                <a:solidFill>
                  <a:srgbClr val="FFFFFF"/>
                </a:solidFill>
              </a:rPr>
              <a:t>【現場の声】「こんな資料を出してくれた業者は初めてです。先生は本当に私のことを考えてくれているんですね」──数字は信頼を作る。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6510528"/>
            <a:ext cx="12188952" cy="34747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37960"/>
            <a:ext cx="9144000" cy="292608"/>
          </a:xfrm>
          <a:prstGeom prst="rect">
            <a:avLst/>
          </a:prstGeom>
          <a:noFill/>
        </p:spPr>
        <p:txBody>
          <a:bodyPr wrap="square">
            <a:spAutoFit/>
          </a:bodyPr>
          <a:lstStyle/>
          <a:p>
            <a:pPr algn="l"/>
            <a:r>
              <a:rPr sz="900" b="0" i="0">
                <a:solidFill>
                  <a:srgbClr val="CCD6E0"/>
                </a:solidFill>
              </a:rPr>
              <a:t>医療専門不動産  |  ビジネスモデル</a:t>
            </a:r>
          </a:p>
        </p:txBody>
      </p:sp>
      <p:sp>
        <p:nvSpPr>
          <p:cNvPr id="4" name="Rectangle 3"/>
          <p:cNvSpPr/>
          <p:nvPr/>
        </p:nvSpPr>
        <p:spPr>
          <a:xfrm>
            <a:off x="0" y="0"/>
            <a:ext cx="12188952"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972800" cy="594360"/>
          </a:xfrm>
          <a:prstGeom prst="rect">
            <a:avLst/>
          </a:prstGeom>
          <a:noFill/>
        </p:spPr>
        <p:txBody>
          <a:bodyPr wrap="square">
            <a:spAutoFit/>
          </a:bodyPr>
          <a:lstStyle/>
          <a:p>
            <a:pPr algn="l"/>
            <a:r>
              <a:rPr sz="2400" b="1" i="0">
                <a:solidFill>
                  <a:srgbClr val="FFFFFF"/>
                </a:solidFill>
              </a:rPr>
              <a:t>STEP 04  /  事業計画書</a:t>
            </a:r>
          </a:p>
        </p:txBody>
      </p:sp>
      <p:sp>
        <p:nvSpPr>
          <p:cNvPr id="6" name="TextBox 5"/>
          <p:cNvSpPr txBox="1"/>
          <p:nvPr/>
        </p:nvSpPr>
        <p:spPr>
          <a:xfrm>
            <a:off x="548640" y="713232"/>
            <a:ext cx="10972800" cy="274320"/>
          </a:xfrm>
          <a:prstGeom prst="rect">
            <a:avLst/>
          </a:prstGeom>
          <a:noFill/>
        </p:spPr>
        <p:txBody>
          <a:bodyPr wrap="square">
            <a:spAutoFit/>
          </a:bodyPr>
          <a:lstStyle/>
          <a:p>
            <a:pPr algn="l"/>
            <a:r>
              <a:rPr sz="1100" b="0" i="0">
                <a:solidFill>
                  <a:srgbClr val="CCD6E0"/>
                </a:solidFill>
              </a:rPr>
              <a:t>銀行が通す事業計画書──融資が通れば、すべてが動く。必要資金2.3億円 / 借入2億円</a:t>
            </a:r>
          </a:p>
        </p:txBody>
      </p:sp>
      <p:sp>
        <p:nvSpPr>
          <p:cNvPr id="7" name="Rectangle 6"/>
          <p:cNvSpPr/>
          <p:nvPr/>
        </p:nvSpPr>
        <p:spPr>
          <a:xfrm>
            <a:off x="457200" y="1170432"/>
            <a:ext cx="2606040" cy="8686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234440"/>
            <a:ext cx="2423160" cy="320040"/>
          </a:xfrm>
          <a:prstGeom prst="rect">
            <a:avLst/>
          </a:prstGeom>
          <a:noFill/>
        </p:spPr>
        <p:txBody>
          <a:bodyPr wrap="square">
            <a:spAutoFit/>
          </a:bodyPr>
          <a:lstStyle/>
          <a:p>
            <a:pPr algn="l"/>
            <a:r>
              <a:rPr sz="1200" b="1" i="0">
                <a:solidFill>
                  <a:srgbClr val="4A9ECB"/>
                </a:solidFill>
              </a:rPr>
              <a:t>①資金調達</a:t>
            </a:r>
          </a:p>
        </p:txBody>
      </p:sp>
      <p:sp>
        <p:nvSpPr>
          <p:cNvPr id="9" name="TextBox 8"/>
          <p:cNvSpPr txBox="1"/>
          <p:nvPr/>
        </p:nvSpPr>
        <p:spPr>
          <a:xfrm>
            <a:off x="566928" y="1581912"/>
            <a:ext cx="2423160" cy="365760"/>
          </a:xfrm>
          <a:prstGeom prst="rect">
            <a:avLst/>
          </a:prstGeom>
          <a:noFill/>
        </p:spPr>
        <p:txBody>
          <a:bodyPr wrap="square">
            <a:spAutoFit/>
          </a:bodyPr>
          <a:lstStyle/>
          <a:p>
            <a:pPr algn="l"/>
            <a:r>
              <a:rPr sz="1000" b="0" i="0">
                <a:solidFill>
                  <a:srgbClr val="CCD6E0"/>
                </a:solidFill>
              </a:rPr>
              <a:t>自己資金/借入/利率/返済</a:t>
            </a:r>
          </a:p>
        </p:txBody>
      </p:sp>
      <p:sp>
        <p:nvSpPr>
          <p:cNvPr id="10" name="Rectangle 9"/>
          <p:cNvSpPr/>
          <p:nvPr/>
        </p:nvSpPr>
        <p:spPr>
          <a:xfrm>
            <a:off x="3154680" y="1170432"/>
            <a:ext cx="2606040" cy="8686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64408" y="1234440"/>
            <a:ext cx="2423160" cy="320040"/>
          </a:xfrm>
          <a:prstGeom prst="rect">
            <a:avLst/>
          </a:prstGeom>
          <a:noFill/>
        </p:spPr>
        <p:txBody>
          <a:bodyPr wrap="square">
            <a:spAutoFit/>
          </a:bodyPr>
          <a:lstStyle/>
          <a:p>
            <a:pPr algn="l"/>
            <a:r>
              <a:rPr sz="1200" b="1" i="0">
                <a:solidFill>
                  <a:srgbClr val="4A9ECB"/>
                </a:solidFill>
              </a:rPr>
              <a:t>②概算総事業費</a:t>
            </a:r>
          </a:p>
        </p:txBody>
      </p:sp>
      <p:sp>
        <p:nvSpPr>
          <p:cNvPr id="12" name="TextBox 11"/>
          <p:cNvSpPr txBox="1"/>
          <p:nvPr/>
        </p:nvSpPr>
        <p:spPr>
          <a:xfrm>
            <a:off x="3264408" y="1581912"/>
            <a:ext cx="2423160" cy="365760"/>
          </a:xfrm>
          <a:prstGeom prst="rect">
            <a:avLst/>
          </a:prstGeom>
          <a:noFill/>
        </p:spPr>
        <p:txBody>
          <a:bodyPr wrap="square">
            <a:spAutoFit/>
          </a:bodyPr>
          <a:lstStyle/>
          <a:p>
            <a:pPr algn="l"/>
            <a:r>
              <a:rPr sz="1000" b="0" i="0">
                <a:solidFill>
                  <a:srgbClr val="CCD6E0"/>
                </a:solidFill>
              </a:rPr>
              <a:t>建設・不動産・諸費用・運転</a:t>
            </a:r>
          </a:p>
        </p:txBody>
      </p:sp>
      <p:sp>
        <p:nvSpPr>
          <p:cNvPr id="13" name="Rectangle 12"/>
          <p:cNvSpPr/>
          <p:nvPr/>
        </p:nvSpPr>
        <p:spPr>
          <a:xfrm>
            <a:off x="5852160" y="1170432"/>
            <a:ext cx="2606040" cy="8686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61888" y="1234440"/>
            <a:ext cx="2423160" cy="320040"/>
          </a:xfrm>
          <a:prstGeom prst="rect">
            <a:avLst/>
          </a:prstGeom>
          <a:noFill/>
        </p:spPr>
        <p:txBody>
          <a:bodyPr wrap="square">
            <a:spAutoFit/>
          </a:bodyPr>
          <a:lstStyle/>
          <a:p>
            <a:pPr algn="l"/>
            <a:r>
              <a:rPr sz="1200" b="1" i="0">
                <a:solidFill>
                  <a:srgbClr val="4A9ECB"/>
                </a:solidFill>
              </a:rPr>
              <a:t>③施設概要</a:t>
            </a:r>
          </a:p>
        </p:txBody>
      </p:sp>
      <p:sp>
        <p:nvSpPr>
          <p:cNvPr id="15" name="TextBox 14"/>
          <p:cNvSpPr txBox="1"/>
          <p:nvPr/>
        </p:nvSpPr>
        <p:spPr>
          <a:xfrm>
            <a:off x="5961888" y="1581912"/>
            <a:ext cx="2423160" cy="365760"/>
          </a:xfrm>
          <a:prstGeom prst="rect">
            <a:avLst/>
          </a:prstGeom>
          <a:noFill/>
        </p:spPr>
        <p:txBody>
          <a:bodyPr wrap="square">
            <a:spAutoFit/>
          </a:bodyPr>
          <a:lstStyle/>
          <a:p>
            <a:pPr algn="l"/>
            <a:r>
              <a:rPr sz="1000" b="0" i="0">
                <a:solidFill>
                  <a:srgbClr val="CCD6E0"/>
                </a:solidFill>
              </a:rPr>
              <a:t>法人・住所・診療科・床面積</a:t>
            </a:r>
          </a:p>
        </p:txBody>
      </p:sp>
      <p:sp>
        <p:nvSpPr>
          <p:cNvPr id="16" name="Rectangle 15"/>
          <p:cNvSpPr/>
          <p:nvPr/>
        </p:nvSpPr>
        <p:spPr>
          <a:xfrm>
            <a:off x="8549640" y="1170432"/>
            <a:ext cx="2606040" cy="8686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59368" y="1234440"/>
            <a:ext cx="2423160" cy="320040"/>
          </a:xfrm>
          <a:prstGeom prst="rect">
            <a:avLst/>
          </a:prstGeom>
          <a:noFill/>
        </p:spPr>
        <p:txBody>
          <a:bodyPr wrap="square">
            <a:spAutoFit/>
          </a:bodyPr>
          <a:lstStyle/>
          <a:p>
            <a:pPr algn="l"/>
            <a:r>
              <a:rPr sz="1200" b="1" i="0">
                <a:solidFill>
                  <a:srgbClr val="4A9ECB"/>
                </a:solidFill>
              </a:rPr>
              <a:t>④減価償却</a:t>
            </a:r>
          </a:p>
        </p:txBody>
      </p:sp>
      <p:sp>
        <p:nvSpPr>
          <p:cNvPr id="18" name="TextBox 17"/>
          <p:cNvSpPr txBox="1"/>
          <p:nvPr/>
        </p:nvSpPr>
        <p:spPr>
          <a:xfrm>
            <a:off x="8659368" y="1581912"/>
            <a:ext cx="2423160" cy="365760"/>
          </a:xfrm>
          <a:prstGeom prst="rect">
            <a:avLst/>
          </a:prstGeom>
          <a:noFill/>
        </p:spPr>
        <p:txBody>
          <a:bodyPr wrap="square">
            <a:spAutoFit/>
          </a:bodyPr>
          <a:lstStyle/>
          <a:p>
            <a:pPr algn="l"/>
            <a:r>
              <a:rPr sz="1000" b="0" i="0">
                <a:solidFill>
                  <a:srgbClr val="CCD6E0"/>
                </a:solidFill>
              </a:rPr>
              <a:t>建物・設備・医療機器</a:t>
            </a:r>
          </a:p>
        </p:txBody>
      </p:sp>
      <p:sp>
        <p:nvSpPr>
          <p:cNvPr id="19" name="Rectangle 18"/>
          <p:cNvSpPr/>
          <p:nvPr/>
        </p:nvSpPr>
        <p:spPr>
          <a:xfrm>
            <a:off x="457200" y="2130552"/>
            <a:ext cx="2606040" cy="8686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2194560"/>
            <a:ext cx="2423160" cy="320040"/>
          </a:xfrm>
          <a:prstGeom prst="rect">
            <a:avLst/>
          </a:prstGeom>
          <a:noFill/>
        </p:spPr>
        <p:txBody>
          <a:bodyPr wrap="square">
            <a:spAutoFit/>
          </a:bodyPr>
          <a:lstStyle/>
          <a:p>
            <a:pPr algn="l"/>
            <a:r>
              <a:rPr sz="1200" b="1" i="0">
                <a:solidFill>
                  <a:srgbClr val="4A9ECB"/>
                </a:solidFill>
              </a:rPr>
              <a:t>⑤人件費</a:t>
            </a:r>
          </a:p>
        </p:txBody>
      </p:sp>
      <p:sp>
        <p:nvSpPr>
          <p:cNvPr id="21" name="TextBox 20"/>
          <p:cNvSpPr txBox="1"/>
          <p:nvPr/>
        </p:nvSpPr>
        <p:spPr>
          <a:xfrm>
            <a:off x="566928" y="2542032"/>
            <a:ext cx="2423160" cy="365760"/>
          </a:xfrm>
          <a:prstGeom prst="rect">
            <a:avLst/>
          </a:prstGeom>
          <a:noFill/>
        </p:spPr>
        <p:txBody>
          <a:bodyPr wrap="square">
            <a:spAutoFit/>
          </a:bodyPr>
          <a:lstStyle/>
          <a:p>
            <a:pPr algn="l"/>
            <a:r>
              <a:rPr sz="1000" b="0" i="0">
                <a:solidFill>
                  <a:srgbClr val="CCD6E0"/>
                </a:solidFill>
              </a:rPr>
              <a:t>常勤・パート・福利・賞与</a:t>
            </a:r>
          </a:p>
        </p:txBody>
      </p:sp>
      <p:sp>
        <p:nvSpPr>
          <p:cNvPr id="22" name="Rectangle 21"/>
          <p:cNvSpPr/>
          <p:nvPr/>
        </p:nvSpPr>
        <p:spPr>
          <a:xfrm>
            <a:off x="3154680" y="2130552"/>
            <a:ext cx="2606040" cy="8686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64408" y="2194560"/>
            <a:ext cx="2423160" cy="320040"/>
          </a:xfrm>
          <a:prstGeom prst="rect">
            <a:avLst/>
          </a:prstGeom>
          <a:noFill/>
        </p:spPr>
        <p:txBody>
          <a:bodyPr wrap="square">
            <a:spAutoFit/>
          </a:bodyPr>
          <a:lstStyle/>
          <a:p>
            <a:pPr algn="l"/>
            <a:r>
              <a:rPr sz="1200" b="1" i="0">
                <a:solidFill>
                  <a:srgbClr val="4A9ECB"/>
                </a:solidFill>
              </a:rPr>
              <a:t>⑥収支算定</a:t>
            </a:r>
          </a:p>
        </p:txBody>
      </p:sp>
      <p:sp>
        <p:nvSpPr>
          <p:cNvPr id="24" name="TextBox 23"/>
          <p:cNvSpPr txBox="1"/>
          <p:nvPr/>
        </p:nvSpPr>
        <p:spPr>
          <a:xfrm>
            <a:off x="3264408" y="2542032"/>
            <a:ext cx="2423160" cy="365760"/>
          </a:xfrm>
          <a:prstGeom prst="rect">
            <a:avLst/>
          </a:prstGeom>
          <a:noFill/>
        </p:spPr>
        <p:txBody>
          <a:bodyPr wrap="square">
            <a:spAutoFit/>
          </a:bodyPr>
          <a:lstStyle/>
          <a:p>
            <a:pPr algn="l"/>
            <a:r>
              <a:rPr sz="1000" b="0" i="0">
                <a:solidFill>
                  <a:srgbClr val="CCD6E0"/>
                </a:solidFill>
              </a:rPr>
              <a:t>外来×単価×日数/経費率</a:t>
            </a:r>
          </a:p>
        </p:txBody>
      </p:sp>
      <p:sp>
        <p:nvSpPr>
          <p:cNvPr id="25" name="Rectangle 24"/>
          <p:cNvSpPr/>
          <p:nvPr/>
        </p:nvSpPr>
        <p:spPr>
          <a:xfrm>
            <a:off x="5852160" y="2130552"/>
            <a:ext cx="2606040" cy="8686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1888" y="2194560"/>
            <a:ext cx="2423160" cy="320040"/>
          </a:xfrm>
          <a:prstGeom prst="rect">
            <a:avLst/>
          </a:prstGeom>
          <a:noFill/>
        </p:spPr>
        <p:txBody>
          <a:bodyPr wrap="square">
            <a:spAutoFit/>
          </a:bodyPr>
          <a:lstStyle/>
          <a:p>
            <a:pPr algn="l"/>
            <a:r>
              <a:rPr sz="1200" b="1" i="0">
                <a:solidFill>
                  <a:srgbClr val="4A9ECB"/>
                </a:solidFill>
              </a:rPr>
              <a:t>⑦年度別損益</a:t>
            </a:r>
          </a:p>
        </p:txBody>
      </p:sp>
      <p:sp>
        <p:nvSpPr>
          <p:cNvPr id="27" name="TextBox 26"/>
          <p:cNvSpPr txBox="1"/>
          <p:nvPr/>
        </p:nvSpPr>
        <p:spPr>
          <a:xfrm>
            <a:off x="5961888" y="2542032"/>
            <a:ext cx="2423160" cy="365760"/>
          </a:xfrm>
          <a:prstGeom prst="rect">
            <a:avLst/>
          </a:prstGeom>
          <a:noFill/>
        </p:spPr>
        <p:txBody>
          <a:bodyPr wrap="square">
            <a:spAutoFit/>
          </a:bodyPr>
          <a:lstStyle/>
          <a:p>
            <a:pPr algn="l"/>
            <a:r>
              <a:rPr sz="1000" b="0" i="0">
                <a:solidFill>
                  <a:srgbClr val="CCD6E0"/>
                </a:solidFill>
              </a:rPr>
              <a:t>5期分・税引後・返済財源</a:t>
            </a:r>
          </a:p>
        </p:txBody>
      </p:sp>
      <p:sp>
        <p:nvSpPr>
          <p:cNvPr id="28" name="Rectangle 27"/>
          <p:cNvSpPr/>
          <p:nvPr/>
        </p:nvSpPr>
        <p:spPr>
          <a:xfrm>
            <a:off x="8549640" y="2130552"/>
            <a:ext cx="2606040" cy="8686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59368" y="2194560"/>
            <a:ext cx="2423160" cy="320040"/>
          </a:xfrm>
          <a:prstGeom prst="rect">
            <a:avLst/>
          </a:prstGeom>
          <a:noFill/>
        </p:spPr>
        <p:txBody>
          <a:bodyPr wrap="square">
            <a:spAutoFit/>
          </a:bodyPr>
          <a:lstStyle/>
          <a:p>
            <a:pPr algn="l"/>
            <a:r>
              <a:rPr sz="1200" b="1" i="0">
                <a:solidFill>
                  <a:srgbClr val="4A9ECB"/>
                </a:solidFill>
              </a:rPr>
              <a:t>⑧借入返済明細</a:t>
            </a:r>
          </a:p>
        </p:txBody>
      </p:sp>
      <p:sp>
        <p:nvSpPr>
          <p:cNvPr id="30" name="TextBox 29"/>
          <p:cNvSpPr txBox="1"/>
          <p:nvPr/>
        </p:nvSpPr>
        <p:spPr>
          <a:xfrm>
            <a:off x="8659368" y="2542032"/>
            <a:ext cx="2423160" cy="365760"/>
          </a:xfrm>
          <a:prstGeom prst="rect">
            <a:avLst/>
          </a:prstGeom>
          <a:noFill/>
        </p:spPr>
        <p:txBody>
          <a:bodyPr wrap="square">
            <a:spAutoFit/>
          </a:bodyPr>
          <a:lstStyle/>
          <a:p>
            <a:pPr algn="l"/>
            <a:r>
              <a:rPr sz="1000" b="0" i="0">
                <a:solidFill>
                  <a:srgbClr val="CCD6E0"/>
                </a:solidFill>
              </a:rPr>
              <a:t>元金均等の年次CF</a:t>
            </a:r>
          </a:p>
        </p:txBody>
      </p:sp>
      <p:sp>
        <p:nvSpPr>
          <p:cNvPr id="31" name="Rectangle 30"/>
          <p:cNvSpPr/>
          <p:nvPr/>
        </p:nvSpPr>
        <p:spPr>
          <a:xfrm>
            <a:off x="457200" y="3200400"/>
            <a:ext cx="2176272" cy="10515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3200400"/>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3264408"/>
            <a:ext cx="1993392" cy="320040"/>
          </a:xfrm>
          <a:prstGeom prst="rect">
            <a:avLst/>
          </a:prstGeom>
          <a:noFill/>
        </p:spPr>
        <p:txBody>
          <a:bodyPr wrap="square">
            <a:spAutoFit/>
          </a:bodyPr>
          <a:lstStyle/>
          <a:p>
            <a:pPr algn="l"/>
            <a:r>
              <a:rPr sz="1000" b="0" i="0">
                <a:solidFill>
                  <a:srgbClr val="CCD6E0"/>
                </a:solidFill>
              </a:rPr>
              <a:t>R8（初年度）</a:t>
            </a:r>
          </a:p>
        </p:txBody>
      </p:sp>
      <p:sp>
        <p:nvSpPr>
          <p:cNvPr id="34" name="TextBox 33"/>
          <p:cNvSpPr txBox="1"/>
          <p:nvPr/>
        </p:nvSpPr>
        <p:spPr>
          <a:xfrm>
            <a:off x="566928" y="3611880"/>
            <a:ext cx="1993392" cy="502920"/>
          </a:xfrm>
          <a:prstGeom prst="rect">
            <a:avLst/>
          </a:prstGeom>
          <a:noFill/>
        </p:spPr>
        <p:txBody>
          <a:bodyPr wrap="square">
            <a:spAutoFit/>
          </a:bodyPr>
          <a:lstStyle/>
          <a:p>
            <a:pPr algn="l"/>
            <a:r>
              <a:rPr sz="1800" b="1" i="0">
                <a:solidFill>
                  <a:srgbClr val="E8A800"/>
                </a:solidFill>
              </a:rPr>
              <a:t>+2,970 千円</a:t>
            </a:r>
          </a:p>
        </p:txBody>
      </p:sp>
      <p:sp>
        <p:nvSpPr>
          <p:cNvPr id="35" name="Rectangle 34"/>
          <p:cNvSpPr/>
          <p:nvPr/>
        </p:nvSpPr>
        <p:spPr>
          <a:xfrm>
            <a:off x="2743200" y="3200400"/>
            <a:ext cx="2176272" cy="10515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2743200" y="3200400"/>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852928" y="3264408"/>
            <a:ext cx="1993392" cy="320040"/>
          </a:xfrm>
          <a:prstGeom prst="rect">
            <a:avLst/>
          </a:prstGeom>
          <a:noFill/>
        </p:spPr>
        <p:txBody>
          <a:bodyPr wrap="square">
            <a:spAutoFit/>
          </a:bodyPr>
          <a:lstStyle/>
          <a:p>
            <a:pPr algn="l"/>
            <a:r>
              <a:rPr sz="1000" b="0" i="0">
                <a:solidFill>
                  <a:srgbClr val="CCD6E0"/>
                </a:solidFill>
              </a:rPr>
              <a:t>R9</a:t>
            </a:r>
          </a:p>
        </p:txBody>
      </p:sp>
      <p:sp>
        <p:nvSpPr>
          <p:cNvPr id="38" name="TextBox 37"/>
          <p:cNvSpPr txBox="1"/>
          <p:nvPr/>
        </p:nvSpPr>
        <p:spPr>
          <a:xfrm>
            <a:off x="2852928" y="3611880"/>
            <a:ext cx="1993392" cy="502920"/>
          </a:xfrm>
          <a:prstGeom prst="rect">
            <a:avLst/>
          </a:prstGeom>
          <a:noFill/>
        </p:spPr>
        <p:txBody>
          <a:bodyPr wrap="square">
            <a:spAutoFit/>
          </a:bodyPr>
          <a:lstStyle/>
          <a:p>
            <a:pPr algn="l"/>
            <a:r>
              <a:rPr sz="1800" b="1" i="0">
                <a:solidFill>
                  <a:srgbClr val="E8A800"/>
                </a:solidFill>
              </a:rPr>
              <a:t>+7,962 千円</a:t>
            </a:r>
          </a:p>
        </p:txBody>
      </p:sp>
      <p:sp>
        <p:nvSpPr>
          <p:cNvPr id="39" name="Rectangle 38"/>
          <p:cNvSpPr/>
          <p:nvPr/>
        </p:nvSpPr>
        <p:spPr>
          <a:xfrm>
            <a:off x="5029200" y="3200400"/>
            <a:ext cx="2176272" cy="10515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29200" y="3200400"/>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138928" y="3264408"/>
            <a:ext cx="1993392" cy="320040"/>
          </a:xfrm>
          <a:prstGeom prst="rect">
            <a:avLst/>
          </a:prstGeom>
          <a:noFill/>
        </p:spPr>
        <p:txBody>
          <a:bodyPr wrap="square">
            <a:spAutoFit/>
          </a:bodyPr>
          <a:lstStyle/>
          <a:p>
            <a:pPr algn="l"/>
            <a:r>
              <a:rPr sz="1000" b="0" i="0">
                <a:solidFill>
                  <a:srgbClr val="CCD6E0"/>
                </a:solidFill>
              </a:rPr>
              <a:t>R10</a:t>
            </a:r>
          </a:p>
        </p:txBody>
      </p:sp>
      <p:sp>
        <p:nvSpPr>
          <p:cNvPr id="42" name="TextBox 41"/>
          <p:cNvSpPr txBox="1"/>
          <p:nvPr/>
        </p:nvSpPr>
        <p:spPr>
          <a:xfrm>
            <a:off x="5138928" y="3611880"/>
            <a:ext cx="1993392" cy="502920"/>
          </a:xfrm>
          <a:prstGeom prst="rect">
            <a:avLst/>
          </a:prstGeom>
          <a:noFill/>
        </p:spPr>
        <p:txBody>
          <a:bodyPr wrap="square">
            <a:spAutoFit/>
          </a:bodyPr>
          <a:lstStyle/>
          <a:p>
            <a:pPr algn="l"/>
            <a:r>
              <a:rPr sz="1800" b="1" i="0">
                <a:solidFill>
                  <a:srgbClr val="E8A800"/>
                </a:solidFill>
              </a:rPr>
              <a:t>+12,966 千円</a:t>
            </a:r>
          </a:p>
        </p:txBody>
      </p:sp>
      <p:sp>
        <p:nvSpPr>
          <p:cNvPr id="43" name="Rectangle 42"/>
          <p:cNvSpPr/>
          <p:nvPr/>
        </p:nvSpPr>
        <p:spPr>
          <a:xfrm>
            <a:off x="7315200" y="3200400"/>
            <a:ext cx="2176272" cy="10515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315200" y="3200400"/>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24928" y="3264408"/>
            <a:ext cx="1993392" cy="320040"/>
          </a:xfrm>
          <a:prstGeom prst="rect">
            <a:avLst/>
          </a:prstGeom>
          <a:noFill/>
        </p:spPr>
        <p:txBody>
          <a:bodyPr wrap="square">
            <a:spAutoFit/>
          </a:bodyPr>
          <a:lstStyle/>
          <a:p>
            <a:pPr algn="l"/>
            <a:r>
              <a:rPr sz="1000" b="0" i="0">
                <a:solidFill>
                  <a:srgbClr val="CCD6E0"/>
                </a:solidFill>
              </a:rPr>
              <a:t>R11</a:t>
            </a:r>
          </a:p>
        </p:txBody>
      </p:sp>
      <p:sp>
        <p:nvSpPr>
          <p:cNvPr id="46" name="TextBox 45"/>
          <p:cNvSpPr txBox="1"/>
          <p:nvPr/>
        </p:nvSpPr>
        <p:spPr>
          <a:xfrm>
            <a:off x="7424928" y="3611880"/>
            <a:ext cx="1993392" cy="502920"/>
          </a:xfrm>
          <a:prstGeom prst="rect">
            <a:avLst/>
          </a:prstGeom>
          <a:noFill/>
        </p:spPr>
        <p:txBody>
          <a:bodyPr wrap="square">
            <a:spAutoFit/>
          </a:bodyPr>
          <a:lstStyle/>
          <a:p>
            <a:pPr algn="l"/>
            <a:r>
              <a:rPr sz="1800" b="1" i="0">
                <a:solidFill>
                  <a:srgbClr val="E8A800"/>
                </a:solidFill>
              </a:rPr>
              <a:t>+18,618 千円</a:t>
            </a:r>
          </a:p>
        </p:txBody>
      </p:sp>
      <p:sp>
        <p:nvSpPr>
          <p:cNvPr id="47" name="Rectangle 46"/>
          <p:cNvSpPr/>
          <p:nvPr/>
        </p:nvSpPr>
        <p:spPr>
          <a:xfrm>
            <a:off x="9601200" y="3200400"/>
            <a:ext cx="2176272" cy="10515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601200" y="3200400"/>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710928" y="3264408"/>
            <a:ext cx="1993392" cy="320040"/>
          </a:xfrm>
          <a:prstGeom prst="rect">
            <a:avLst/>
          </a:prstGeom>
          <a:noFill/>
        </p:spPr>
        <p:txBody>
          <a:bodyPr wrap="square">
            <a:spAutoFit/>
          </a:bodyPr>
          <a:lstStyle/>
          <a:p>
            <a:pPr algn="l"/>
            <a:r>
              <a:rPr sz="1000" b="0" i="0">
                <a:solidFill>
                  <a:srgbClr val="CCD6E0"/>
                </a:solidFill>
              </a:rPr>
              <a:t>R12</a:t>
            </a:r>
          </a:p>
        </p:txBody>
      </p:sp>
      <p:sp>
        <p:nvSpPr>
          <p:cNvPr id="50" name="TextBox 49"/>
          <p:cNvSpPr txBox="1"/>
          <p:nvPr/>
        </p:nvSpPr>
        <p:spPr>
          <a:xfrm>
            <a:off x="9710928" y="3611880"/>
            <a:ext cx="1993392" cy="502920"/>
          </a:xfrm>
          <a:prstGeom prst="rect">
            <a:avLst/>
          </a:prstGeom>
          <a:noFill/>
        </p:spPr>
        <p:txBody>
          <a:bodyPr wrap="square">
            <a:spAutoFit/>
          </a:bodyPr>
          <a:lstStyle/>
          <a:p>
            <a:pPr algn="l"/>
            <a:r>
              <a:rPr sz="1800" b="1" i="0">
                <a:solidFill>
                  <a:srgbClr val="E8A800"/>
                </a:solidFill>
              </a:rPr>
              <a:t>+25,822 千円</a:t>
            </a:r>
          </a:p>
        </p:txBody>
      </p:sp>
      <p:sp>
        <p:nvSpPr>
          <p:cNvPr id="51" name="TextBox 50"/>
          <p:cNvSpPr txBox="1"/>
          <p:nvPr/>
        </p:nvSpPr>
        <p:spPr>
          <a:xfrm>
            <a:off x="457200" y="4389120"/>
            <a:ext cx="10972800" cy="320040"/>
          </a:xfrm>
          <a:prstGeom prst="rect">
            <a:avLst/>
          </a:prstGeom>
          <a:noFill/>
        </p:spPr>
        <p:txBody>
          <a:bodyPr wrap="square">
            <a:spAutoFit/>
          </a:bodyPr>
          <a:lstStyle/>
          <a:p>
            <a:pPr algn="l"/>
            <a:r>
              <a:rPr sz="1100" b="0" i="0">
                <a:solidFill>
                  <a:srgbClr val="CCD6E0"/>
                </a:solidFill>
              </a:rPr>
              <a:t>※ 5年で借入残高1.0億円・返済原資が剰余に転じる</a:t>
            </a:r>
          </a:p>
        </p:txBody>
      </p:sp>
      <p:sp>
        <p:nvSpPr>
          <p:cNvPr id="52" name="TextBox 51"/>
          <p:cNvSpPr txBox="1"/>
          <p:nvPr/>
        </p:nvSpPr>
        <p:spPr>
          <a:xfrm>
            <a:off x="457200" y="4846320"/>
            <a:ext cx="11155680" cy="502920"/>
          </a:xfrm>
          <a:prstGeom prst="rect">
            <a:avLst/>
          </a:prstGeom>
          <a:noFill/>
        </p:spPr>
        <p:txBody>
          <a:bodyPr wrap="square">
            <a:spAutoFit/>
          </a:bodyPr>
          <a:lstStyle/>
          <a:p>
            <a:pPr algn="l"/>
            <a:r>
              <a:rPr sz="1200" b="0" i="1">
                <a:solidFill>
                  <a:srgbClr val="FFFFFF"/>
                </a:solidFill>
              </a:rPr>
              <a:t>「この計画書を持ってくる業者の案件なら、うちは前向きに検討します」──融資担当者を動かす資料が作れる。これが最大の差。</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6510528"/>
            <a:ext cx="12188952" cy="34747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37960"/>
            <a:ext cx="9144000" cy="292608"/>
          </a:xfrm>
          <a:prstGeom prst="rect">
            <a:avLst/>
          </a:prstGeom>
          <a:noFill/>
        </p:spPr>
        <p:txBody>
          <a:bodyPr wrap="square">
            <a:spAutoFit/>
          </a:bodyPr>
          <a:lstStyle/>
          <a:p>
            <a:pPr algn="l"/>
            <a:r>
              <a:rPr sz="900" b="0" i="0">
                <a:solidFill>
                  <a:srgbClr val="CCD6E0"/>
                </a:solidFill>
              </a:rPr>
              <a:t>医療専門不動産  |  ビジネスモデル</a:t>
            </a:r>
          </a:p>
        </p:txBody>
      </p:sp>
      <p:sp>
        <p:nvSpPr>
          <p:cNvPr id="4" name="Rectangle 3"/>
          <p:cNvSpPr/>
          <p:nvPr/>
        </p:nvSpPr>
        <p:spPr>
          <a:xfrm>
            <a:off x="0" y="0"/>
            <a:ext cx="12188952"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972800" cy="594360"/>
          </a:xfrm>
          <a:prstGeom prst="rect">
            <a:avLst/>
          </a:prstGeom>
          <a:noFill/>
        </p:spPr>
        <p:txBody>
          <a:bodyPr wrap="square">
            <a:spAutoFit/>
          </a:bodyPr>
          <a:lstStyle/>
          <a:p>
            <a:pPr algn="l"/>
            <a:r>
              <a:rPr sz="2400" b="1" i="0">
                <a:solidFill>
                  <a:srgbClr val="FFFFFF"/>
                </a:solidFill>
              </a:rPr>
              <a:t>STEP 05  /  ハンター式ヒアリングトーク  【NEW】</a:t>
            </a:r>
          </a:p>
        </p:txBody>
      </p:sp>
      <p:sp>
        <p:nvSpPr>
          <p:cNvPr id="6" name="TextBox 5"/>
          <p:cNvSpPr txBox="1"/>
          <p:nvPr/>
        </p:nvSpPr>
        <p:spPr>
          <a:xfrm>
            <a:off x="548640" y="713232"/>
            <a:ext cx="10972800" cy="274320"/>
          </a:xfrm>
          <a:prstGeom prst="rect">
            <a:avLst/>
          </a:prstGeom>
          <a:noFill/>
        </p:spPr>
        <p:txBody>
          <a:bodyPr wrap="square">
            <a:spAutoFit/>
          </a:bodyPr>
          <a:lstStyle/>
          <a:p>
            <a:pPr algn="l"/>
            <a:r>
              <a:rPr sz="1100" b="0" i="0">
                <a:solidFill>
                  <a:srgbClr val="CCD6E0"/>
                </a:solidFill>
              </a:rPr>
              <a:t>「不動産屋に話さない本音」を引き出す3ステップ。入り口は絶対に「不動産」の話をしない。</a:t>
            </a:r>
          </a:p>
        </p:txBody>
      </p:sp>
      <p:sp>
        <p:nvSpPr>
          <p:cNvPr id="7" name="Rectangle 6"/>
          <p:cNvSpPr/>
          <p:nvPr/>
        </p:nvSpPr>
        <p:spPr>
          <a:xfrm>
            <a:off x="457200" y="1170432"/>
            <a:ext cx="11247120" cy="160020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70432"/>
            <a:ext cx="73152" cy="160020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34440"/>
            <a:ext cx="2743200" cy="1417320"/>
          </a:xfrm>
          <a:prstGeom prst="rect">
            <a:avLst/>
          </a:prstGeom>
          <a:noFill/>
        </p:spPr>
        <p:txBody>
          <a:bodyPr wrap="square">
            <a:spAutoFit/>
          </a:bodyPr>
          <a:lstStyle/>
          <a:p>
            <a:pPr algn="l"/>
            <a:r>
              <a:rPr sz="1200" b="1" i="0">
                <a:solidFill>
                  <a:srgbClr val="E8A800"/>
                </a:solidFill>
              </a:rPr>
              <a:t>STEP①  業界特有の「苦しみ」への共感</a:t>
            </a:r>
          </a:p>
        </p:txBody>
      </p:sp>
      <p:sp>
        <p:nvSpPr>
          <p:cNvPr id="10" name="TextBox 9"/>
          <p:cNvSpPr txBox="1"/>
          <p:nvPr/>
        </p:nvSpPr>
        <p:spPr>
          <a:xfrm>
            <a:off x="3566160" y="1234440"/>
            <a:ext cx="4846320" cy="1417320"/>
          </a:xfrm>
          <a:prstGeom prst="rect">
            <a:avLst/>
          </a:prstGeom>
          <a:noFill/>
        </p:spPr>
        <p:txBody>
          <a:bodyPr wrap="square">
            <a:spAutoFit/>
          </a:bodyPr>
          <a:lstStyle/>
          <a:p>
            <a:pPr algn="l"/>
            <a:r>
              <a:rPr sz="1200" b="0" i="1">
                <a:solidFill>
                  <a:srgbClr val="FFFFFF"/>
                </a:solidFill>
              </a:rPr>
              <a:t>「先生、最近は診療報酬の改定で、現場を回すだけでも手出しが増えてるんじゃないですか？」</a:t>
            </a:r>
          </a:p>
        </p:txBody>
      </p:sp>
      <p:sp>
        <p:nvSpPr>
          <p:cNvPr id="11" name="TextBox 10"/>
          <p:cNvSpPr txBox="1"/>
          <p:nvPr/>
        </p:nvSpPr>
        <p:spPr>
          <a:xfrm>
            <a:off x="8549640" y="1234440"/>
            <a:ext cx="3017520" cy="1417320"/>
          </a:xfrm>
          <a:prstGeom prst="rect">
            <a:avLst/>
          </a:prstGeom>
          <a:noFill/>
        </p:spPr>
        <p:txBody>
          <a:bodyPr wrap="square">
            <a:spAutoFit/>
          </a:bodyPr>
          <a:lstStyle/>
          <a:p>
            <a:pPr algn="l"/>
            <a:r>
              <a:rPr sz="1000" b="0" i="0">
                <a:solidFill>
                  <a:srgbClr val="CCD6E0"/>
                </a:solidFill>
              </a:rPr>
              <a:t>→ 「この人は自分の業界を知っている」というインサイダー認定を得る。</a:t>
            </a:r>
          </a:p>
        </p:txBody>
      </p:sp>
      <p:sp>
        <p:nvSpPr>
          <p:cNvPr id="12" name="Rectangle 11"/>
          <p:cNvSpPr/>
          <p:nvPr/>
        </p:nvSpPr>
        <p:spPr>
          <a:xfrm>
            <a:off x="457200" y="2880360"/>
            <a:ext cx="11247120" cy="160020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880360"/>
            <a:ext cx="73152" cy="160020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944368"/>
            <a:ext cx="2743200" cy="1417320"/>
          </a:xfrm>
          <a:prstGeom prst="rect">
            <a:avLst/>
          </a:prstGeom>
          <a:noFill/>
        </p:spPr>
        <p:txBody>
          <a:bodyPr wrap="square">
            <a:spAutoFit/>
          </a:bodyPr>
          <a:lstStyle/>
          <a:p>
            <a:pPr algn="l"/>
            <a:r>
              <a:rPr sz="1200" b="1" i="0">
                <a:solidFill>
                  <a:srgbClr val="E8A800"/>
                </a:solidFill>
              </a:rPr>
              <a:t>STEP②  最悪のシナリオの言語化</a:t>
            </a:r>
          </a:p>
        </p:txBody>
      </p:sp>
      <p:sp>
        <p:nvSpPr>
          <p:cNvPr id="15" name="TextBox 14"/>
          <p:cNvSpPr txBox="1"/>
          <p:nvPr/>
        </p:nvSpPr>
        <p:spPr>
          <a:xfrm>
            <a:off x="3566160" y="2944368"/>
            <a:ext cx="4846320" cy="1417320"/>
          </a:xfrm>
          <a:prstGeom prst="rect">
            <a:avLst/>
          </a:prstGeom>
          <a:noFill/>
        </p:spPr>
        <p:txBody>
          <a:bodyPr wrap="square">
            <a:spAutoFit/>
          </a:bodyPr>
          <a:lstStyle/>
          <a:p>
            <a:pPr algn="l"/>
            <a:r>
              <a:rPr sz="1200" b="0" i="1">
                <a:solidFill>
                  <a:srgbClr val="FFFFFF"/>
                </a:solidFill>
              </a:rPr>
              <a:t>「もし今月、メインバンクからの融資が止まったら、どの資産から手をつけますか？」</a:t>
            </a:r>
          </a:p>
          <a:p>
            <a:pPr algn="l"/>
            <a:r>
              <a:rPr sz="1200" b="0" i="1">
                <a:solidFill>
                  <a:srgbClr val="FFFFFF"/>
                </a:solidFill>
              </a:rPr>
              <a:t>「後継者の方とは、万が一の際の出口について具体的に話したことはありますか？」</a:t>
            </a:r>
          </a:p>
        </p:txBody>
      </p:sp>
      <p:sp>
        <p:nvSpPr>
          <p:cNvPr id="16" name="TextBox 15"/>
          <p:cNvSpPr txBox="1"/>
          <p:nvPr/>
        </p:nvSpPr>
        <p:spPr>
          <a:xfrm>
            <a:off x="8549640" y="2944368"/>
            <a:ext cx="3017520" cy="1417320"/>
          </a:xfrm>
          <a:prstGeom prst="rect">
            <a:avLst/>
          </a:prstGeom>
          <a:noFill/>
        </p:spPr>
        <p:txBody>
          <a:bodyPr wrap="square">
            <a:spAutoFit/>
          </a:bodyPr>
          <a:lstStyle/>
          <a:p>
            <a:pPr algn="l"/>
            <a:r>
              <a:rPr sz="1000" b="0" i="0">
                <a:solidFill>
                  <a:srgbClr val="CCD6E0"/>
                </a:solidFill>
              </a:rPr>
              <a:t>→ 相手が「言えない悩み」を持っているかを確認する。</a:t>
            </a:r>
          </a:p>
        </p:txBody>
      </p:sp>
      <p:sp>
        <p:nvSpPr>
          <p:cNvPr id="17" name="Rectangle 16"/>
          <p:cNvSpPr/>
          <p:nvPr/>
        </p:nvSpPr>
        <p:spPr>
          <a:xfrm>
            <a:off x="457200" y="4590288"/>
            <a:ext cx="11247120" cy="160020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4590288"/>
            <a:ext cx="73152" cy="160020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654296"/>
            <a:ext cx="2743200" cy="1417320"/>
          </a:xfrm>
          <a:prstGeom prst="rect">
            <a:avLst/>
          </a:prstGeom>
          <a:noFill/>
        </p:spPr>
        <p:txBody>
          <a:bodyPr wrap="square">
            <a:spAutoFit/>
          </a:bodyPr>
          <a:lstStyle/>
          <a:p>
            <a:pPr algn="l"/>
            <a:r>
              <a:rPr sz="1200" b="1" i="0">
                <a:solidFill>
                  <a:srgbClr val="E8A800"/>
                </a:solidFill>
              </a:rPr>
              <a:t>STEP③  処方箋の提示（出口）</a:t>
            </a:r>
          </a:p>
        </p:txBody>
      </p:sp>
      <p:sp>
        <p:nvSpPr>
          <p:cNvPr id="20" name="TextBox 19"/>
          <p:cNvSpPr txBox="1"/>
          <p:nvPr/>
        </p:nvSpPr>
        <p:spPr>
          <a:xfrm>
            <a:off x="3566160" y="4654296"/>
            <a:ext cx="4846320" cy="1417320"/>
          </a:xfrm>
          <a:prstGeom prst="rect">
            <a:avLst/>
          </a:prstGeom>
          <a:noFill/>
        </p:spPr>
        <p:txBody>
          <a:bodyPr wrap="square">
            <a:spAutoFit/>
          </a:bodyPr>
          <a:lstStyle/>
          <a:p>
            <a:pPr algn="l"/>
            <a:r>
              <a:rPr sz="1200" b="0" i="1">
                <a:solidFill>
                  <a:srgbClr val="FFFFFF"/>
                </a:solidFill>
              </a:rPr>
              <a:t>「売ることが目的ではなく、先生の法人の『再起動』が目的です。</a:t>
            </a:r>
          </a:p>
          <a:p>
            <a:pPr algn="l"/>
            <a:r>
              <a:rPr sz="1200" b="0" i="1">
                <a:solidFill>
                  <a:srgbClr val="FFFFFF"/>
                </a:solidFill>
              </a:rPr>
              <a:t>私が泥を被って、1ヶ月以内に現金を用意するスキームを組みます。」</a:t>
            </a:r>
          </a:p>
        </p:txBody>
      </p:sp>
      <p:sp>
        <p:nvSpPr>
          <p:cNvPr id="21" name="TextBox 20"/>
          <p:cNvSpPr txBox="1"/>
          <p:nvPr/>
        </p:nvSpPr>
        <p:spPr>
          <a:xfrm>
            <a:off x="8549640" y="4654296"/>
            <a:ext cx="3017520" cy="1417320"/>
          </a:xfrm>
          <a:prstGeom prst="rect">
            <a:avLst/>
          </a:prstGeom>
          <a:noFill/>
        </p:spPr>
        <p:txBody>
          <a:bodyPr wrap="square">
            <a:spAutoFit/>
          </a:bodyPr>
          <a:lstStyle/>
          <a:p>
            <a:pPr algn="l"/>
            <a:r>
              <a:rPr sz="1000" b="0" i="0">
                <a:solidFill>
                  <a:srgbClr val="CCD6E0"/>
                </a:solidFill>
              </a:rPr>
              <a:t>→ 「守るための現金化」として提案。「業者」ではなく「救済者」として認識される。</a:t>
            </a:r>
          </a:p>
        </p:txBody>
      </p:sp>
      <p:sp>
        <p:nvSpPr>
          <p:cNvPr id="22" name="TextBox 21"/>
          <p:cNvSpPr txBox="1"/>
          <p:nvPr/>
        </p:nvSpPr>
        <p:spPr>
          <a:xfrm>
            <a:off x="457200" y="6400800"/>
            <a:ext cx="11247120" cy="320040"/>
          </a:xfrm>
          <a:prstGeom prst="rect">
            <a:avLst/>
          </a:prstGeom>
          <a:noFill/>
        </p:spPr>
        <p:txBody>
          <a:bodyPr wrap="square">
            <a:spAutoFit/>
          </a:bodyPr>
          <a:lstStyle/>
          <a:p>
            <a:pPr algn="l"/>
            <a:r>
              <a:rPr sz="1200" b="0" i="1">
                <a:solidFill>
                  <a:srgbClr val="E8A800"/>
                </a:solidFill>
              </a:rPr>
              <a:t>相手が「この人は同じ側の人間だ」と感じた瞬間から、本当の営業が始まる。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97280"/>
            <a:ext cx="4572000" cy="548640"/>
          </a:xfrm>
          <a:prstGeom prst="rect">
            <a:avLst/>
          </a:prstGeom>
          <a:noFill/>
        </p:spPr>
        <p:txBody>
          <a:bodyPr wrap="square">
            <a:spAutoFit/>
          </a:bodyPr>
          <a:lstStyle/>
          <a:p>
            <a:pPr algn="l"/>
            <a:r>
              <a:rPr sz="2000" b="0" i="0">
                <a:solidFill>
                  <a:srgbClr val="CCD6E0"/>
                </a:solidFill>
              </a:rPr>
              <a:t>SECTION</a:t>
            </a:r>
          </a:p>
        </p:txBody>
      </p:sp>
      <p:sp>
        <p:nvSpPr>
          <p:cNvPr id="4" name="TextBox 3"/>
          <p:cNvSpPr txBox="1"/>
          <p:nvPr/>
        </p:nvSpPr>
        <p:spPr>
          <a:xfrm>
            <a:off x="822960" y="1645920"/>
            <a:ext cx="4572000" cy="1645920"/>
          </a:xfrm>
          <a:prstGeom prst="rect">
            <a:avLst/>
          </a:prstGeom>
          <a:noFill/>
        </p:spPr>
        <p:txBody>
          <a:bodyPr wrap="square">
            <a:spAutoFit/>
          </a:bodyPr>
          <a:lstStyle/>
          <a:p>
            <a:pPr algn="l"/>
            <a:r>
              <a:rPr sz="9000" b="1" i="0">
                <a:solidFill>
                  <a:srgbClr val="E8A800"/>
                </a:solidFill>
              </a:rPr>
              <a:t>03</a:t>
            </a:r>
          </a:p>
        </p:txBody>
      </p:sp>
      <p:sp>
        <p:nvSpPr>
          <p:cNvPr id="5" name="TextBox 4"/>
          <p:cNvSpPr txBox="1"/>
          <p:nvPr/>
        </p:nvSpPr>
        <p:spPr>
          <a:xfrm>
            <a:off x="822960" y="3383280"/>
            <a:ext cx="9144000" cy="685800"/>
          </a:xfrm>
          <a:prstGeom prst="rect">
            <a:avLst/>
          </a:prstGeom>
          <a:noFill/>
        </p:spPr>
        <p:txBody>
          <a:bodyPr wrap="square">
            <a:spAutoFit/>
          </a:bodyPr>
          <a:lstStyle/>
          <a:p>
            <a:pPr algn="l"/>
            <a:r>
              <a:rPr sz="3200" b="1" i="0">
                <a:solidFill>
                  <a:srgbClr val="FFFFFF"/>
                </a:solidFill>
              </a:rPr>
              <a:t>成約事例</a:t>
            </a:r>
          </a:p>
        </p:txBody>
      </p:sp>
      <p:sp>
        <p:nvSpPr>
          <p:cNvPr id="6" name="TextBox 5"/>
          <p:cNvSpPr txBox="1"/>
          <p:nvPr/>
        </p:nvSpPr>
        <p:spPr>
          <a:xfrm>
            <a:off x="822960" y="4160520"/>
            <a:ext cx="10058400" cy="914400"/>
          </a:xfrm>
          <a:prstGeom prst="rect">
            <a:avLst/>
          </a:prstGeom>
          <a:noFill/>
        </p:spPr>
        <p:txBody>
          <a:bodyPr wrap="square">
            <a:spAutoFit/>
          </a:bodyPr>
          <a:lstStyle/>
          <a:p>
            <a:pPr algn="l"/>
            <a:r>
              <a:rPr sz="1500" b="0" i="0">
                <a:solidFill>
                  <a:srgbClr val="CCD6E0"/>
                </a:solidFill>
              </a:rPr>
              <a:t>1件の入口が、どう収益として重なっていくか。</a:t>
            </a:r>
          </a:p>
          <a:p>
            <a:pPr algn="l"/>
            <a:r>
              <a:rPr sz="1500" b="0" i="0">
                <a:solidFill>
                  <a:srgbClr val="CCD6E0"/>
                </a:solidFill>
              </a:rPr>
              <a:t>6,000万粗利の全解剖と、対照的な2件──「単発で終わらない」事業の実態を。</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6510528"/>
            <a:ext cx="12188952" cy="34747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37960"/>
            <a:ext cx="9144000" cy="292608"/>
          </a:xfrm>
          <a:prstGeom prst="rect">
            <a:avLst/>
          </a:prstGeom>
          <a:noFill/>
        </p:spPr>
        <p:txBody>
          <a:bodyPr wrap="square">
            <a:spAutoFit/>
          </a:bodyPr>
          <a:lstStyle/>
          <a:p>
            <a:pPr algn="l"/>
            <a:r>
              <a:rPr sz="900" b="0" i="0">
                <a:solidFill>
                  <a:srgbClr val="CCD6E0"/>
                </a:solidFill>
              </a:rPr>
              <a:t>医療専門不動産  |  ビジネスモデル</a:t>
            </a:r>
          </a:p>
        </p:txBody>
      </p:sp>
      <p:sp>
        <p:nvSpPr>
          <p:cNvPr id="4" name="Rectangle 3"/>
          <p:cNvSpPr/>
          <p:nvPr/>
        </p:nvSpPr>
        <p:spPr>
          <a:xfrm>
            <a:off x="0" y="0"/>
            <a:ext cx="12188952"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972800" cy="594360"/>
          </a:xfrm>
          <a:prstGeom prst="rect">
            <a:avLst/>
          </a:prstGeom>
          <a:noFill/>
        </p:spPr>
        <p:txBody>
          <a:bodyPr wrap="square">
            <a:spAutoFit/>
          </a:bodyPr>
          <a:lstStyle/>
          <a:p>
            <a:pPr algn="l"/>
            <a:r>
              <a:rPr sz="2400" b="1" i="0">
                <a:solidFill>
                  <a:srgbClr val="FFFFFF"/>
                </a:solidFill>
              </a:rPr>
              <a:t>CASE 01  /  弁護士ルート  ──  横のつながりが直接効いた事例</a:t>
            </a:r>
          </a:p>
        </p:txBody>
      </p:sp>
      <p:sp>
        <p:nvSpPr>
          <p:cNvPr id="6" name="TextBox 5"/>
          <p:cNvSpPr txBox="1"/>
          <p:nvPr/>
        </p:nvSpPr>
        <p:spPr>
          <a:xfrm>
            <a:off x="548640" y="713232"/>
            <a:ext cx="10972800" cy="274320"/>
          </a:xfrm>
          <a:prstGeom prst="rect">
            <a:avLst/>
          </a:prstGeom>
          <a:noFill/>
        </p:spPr>
        <p:txBody>
          <a:bodyPr wrap="square">
            <a:spAutoFit/>
          </a:bodyPr>
          <a:lstStyle/>
          <a:p>
            <a:pPr algn="l"/>
            <a:r>
              <a:rPr sz="1100" b="0" i="0">
                <a:solidFill>
                  <a:srgbClr val="CCD6E0"/>
                </a:solidFill>
              </a:rPr>
              <a:t>「医療を分かる人いる？」──弁護士からの1本の電話。一般不動産屋が断った居抜き案件。</a:t>
            </a:r>
          </a:p>
        </p:txBody>
      </p:sp>
      <p:sp>
        <p:nvSpPr>
          <p:cNvPr id="7" name="Rectangle 6"/>
          <p:cNvSpPr/>
          <p:nvPr/>
        </p:nvSpPr>
        <p:spPr>
          <a:xfrm>
            <a:off x="457200" y="1143000"/>
            <a:ext cx="2697480" cy="23774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43000"/>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207008"/>
            <a:ext cx="2514600" cy="320040"/>
          </a:xfrm>
          <a:prstGeom prst="rect">
            <a:avLst/>
          </a:prstGeom>
          <a:noFill/>
        </p:spPr>
        <p:txBody>
          <a:bodyPr wrap="square">
            <a:spAutoFit/>
          </a:bodyPr>
          <a:lstStyle/>
          <a:p>
            <a:pPr algn="l"/>
            <a:r>
              <a:rPr sz="1000" b="0" i="0">
                <a:solidFill>
                  <a:srgbClr val="CCD6E0"/>
                </a:solidFill>
              </a:rPr>
              <a:t>01 入口</a:t>
            </a:r>
          </a:p>
        </p:txBody>
      </p:sp>
      <p:sp>
        <p:nvSpPr>
          <p:cNvPr id="10" name="TextBox 9"/>
          <p:cNvSpPr txBox="1"/>
          <p:nvPr/>
        </p:nvSpPr>
        <p:spPr>
          <a:xfrm>
            <a:off x="566928" y="1554480"/>
            <a:ext cx="2514600" cy="457200"/>
          </a:xfrm>
          <a:prstGeom prst="rect">
            <a:avLst/>
          </a:prstGeom>
          <a:noFill/>
        </p:spPr>
        <p:txBody>
          <a:bodyPr wrap="square">
            <a:spAutoFit/>
          </a:bodyPr>
          <a:lstStyle/>
          <a:p>
            <a:pPr algn="l"/>
            <a:r>
              <a:rPr sz="1300" b="1" i="0">
                <a:solidFill>
                  <a:srgbClr val="FFFFFF"/>
                </a:solidFill>
              </a:rPr>
              <a:t>弁護士から居抜きの紹介</a:t>
            </a:r>
          </a:p>
        </p:txBody>
      </p:sp>
      <p:sp>
        <p:nvSpPr>
          <p:cNvPr id="11" name="TextBox 10"/>
          <p:cNvSpPr txBox="1"/>
          <p:nvPr/>
        </p:nvSpPr>
        <p:spPr>
          <a:xfrm>
            <a:off x="566928" y="2057400"/>
            <a:ext cx="2514600" cy="1325880"/>
          </a:xfrm>
          <a:prstGeom prst="rect">
            <a:avLst/>
          </a:prstGeom>
          <a:noFill/>
        </p:spPr>
        <p:txBody>
          <a:bodyPr wrap="square">
            <a:spAutoFit/>
          </a:bodyPr>
          <a:lstStyle/>
          <a:p>
            <a:pPr algn="l"/>
            <a:r>
              <a:rPr sz="1100" b="0" i="0">
                <a:solidFill>
                  <a:srgbClr val="CCD6E0"/>
                </a:solidFill>
              </a:rPr>
              <a:t>電源・水回り・フロア用途を評価できず一般屋で断られた案件が、医療分かる窓口として回ってきた。</a:t>
            </a:r>
          </a:p>
        </p:txBody>
      </p:sp>
      <p:sp>
        <p:nvSpPr>
          <p:cNvPr id="12" name="Rectangle 11"/>
          <p:cNvSpPr/>
          <p:nvPr/>
        </p:nvSpPr>
        <p:spPr>
          <a:xfrm>
            <a:off x="3264408" y="1143000"/>
            <a:ext cx="2697480" cy="23774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64408" y="1143000"/>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74136" y="1207008"/>
            <a:ext cx="2514600" cy="320040"/>
          </a:xfrm>
          <a:prstGeom prst="rect">
            <a:avLst/>
          </a:prstGeom>
          <a:noFill/>
        </p:spPr>
        <p:txBody>
          <a:bodyPr wrap="square">
            <a:spAutoFit/>
          </a:bodyPr>
          <a:lstStyle/>
          <a:p>
            <a:pPr algn="l"/>
            <a:r>
              <a:rPr sz="1000" b="0" i="0">
                <a:solidFill>
                  <a:srgbClr val="CCD6E0"/>
                </a:solidFill>
              </a:rPr>
              <a:t>02 なぜ我々に</a:t>
            </a:r>
          </a:p>
        </p:txBody>
      </p:sp>
      <p:sp>
        <p:nvSpPr>
          <p:cNvPr id="15" name="TextBox 14"/>
          <p:cNvSpPr txBox="1"/>
          <p:nvPr/>
        </p:nvSpPr>
        <p:spPr>
          <a:xfrm>
            <a:off x="3374136" y="1554480"/>
            <a:ext cx="2514600" cy="457200"/>
          </a:xfrm>
          <a:prstGeom prst="rect">
            <a:avLst/>
          </a:prstGeom>
          <a:noFill/>
        </p:spPr>
        <p:txBody>
          <a:bodyPr wrap="square">
            <a:spAutoFit/>
          </a:bodyPr>
          <a:lstStyle/>
          <a:p>
            <a:pPr algn="l"/>
            <a:r>
              <a:rPr sz="1300" b="1" i="0">
                <a:solidFill>
                  <a:srgbClr val="FFFFFF"/>
                </a:solidFill>
              </a:rPr>
              <a:t>「医療だけ」と思われていない</a:t>
            </a:r>
          </a:p>
        </p:txBody>
      </p:sp>
      <p:sp>
        <p:nvSpPr>
          <p:cNvPr id="16" name="TextBox 15"/>
          <p:cNvSpPr txBox="1"/>
          <p:nvPr/>
        </p:nvSpPr>
        <p:spPr>
          <a:xfrm>
            <a:off x="3374136" y="2057400"/>
            <a:ext cx="2514600" cy="1325880"/>
          </a:xfrm>
          <a:prstGeom prst="rect">
            <a:avLst/>
          </a:prstGeom>
          <a:noFill/>
        </p:spPr>
        <p:txBody>
          <a:bodyPr wrap="square">
            <a:spAutoFit/>
          </a:bodyPr>
          <a:lstStyle/>
          <a:p>
            <a:pPr algn="l"/>
            <a:r>
              <a:rPr sz="1100" b="0" i="0">
                <a:solidFill>
                  <a:srgbClr val="CCD6E0"/>
                </a:solidFill>
              </a:rPr>
              <a:t>事務所内で「人柄含めて信頼できる窓口」と認知。不動産が絡む案件はカジュアルに投げてもらえる位置。</a:t>
            </a:r>
          </a:p>
        </p:txBody>
      </p:sp>
      <p:sp>
        <p:nvSpPr>
          <p:cNvPr id="17" name="Rectangle 16"/>
          <p:cNvSpPr/>
          <p:nvPr/>
        </p:nvSpPr>
        <p:spPr>
          <a:xfrm>
            <a:off x="6071616" y="1143000"/>
            <a:ext cx="2697480" cy="23774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71616" y="1143000"/>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1344" y="1207008"/>
            <a:ext cx="2514600" cy="320040"/>
          </a:xfrm>
          <a:prstGeom prst="rect">
            <a:avLst/>
          </a:prstGeom>
          <a:noFill/>
        </p:spPr>
        <p:txBody>
          <a:bodyPr wrap="square">
            <a:spAutoFit/>
          </a:bodyPr>
          <a:lstStyle/>
          <a:p>
            <a:pPr algn="l"/>
            <a:r>
              <a:rPr sz="1000" b="0" i="0">
                <a:solidFill>
                  <a:srgbClr val="CCD6E0"/>
                </a:solidFill>
              </a:rPr>
              <a:t>03 アプローチ</a:t>
            </a:r>
          </a:p>
        </p:txBody>
      </p:sp>
      <p:sp>
        <p:nvSpPr>
          <p:cNvPr id="20" name="TextBox 19"/>
          <p:cNvSpPr txBox="1"/>
          <p:nvPr/>
        </p:nvSpPr>
        <p:spPr>
          <a:xfrm>
            <a:off x="6181344" y="1554480"/>
            <a:ext cx="2514600" cy="457200"/>
          </a:xfrm>
          <a:prstGeom prst="rect">
            <a:avLst/>
          </a:prstGeom>
          <a:noFill/>
        </p:spPr>
        <p:txBody>
          <a:bodyPr wrap="square">
            <a:spAutoFit/>
          </a:bodyPr>
          <a:lstStyle/>
          <a:p>
            <a:pPr algn="l"/>
            <a:r>
              <a:rPr sz="1300" b="1" i="0">
                <a:solidFill>
                  <a:srgbClr val="FFFFFF"/>
                </a:solidFill>
              </a:rPr>
              <a:t>自社買取＋再販</a:t>
            </a:r>
          </a:p>
        </p:txBody>
      </p:sp>
      <p:sp>
        <p:nvSpPr>
          <p:cNvPr id="21" name="TextBox 20"/>
          <p:cNvSpPr txBox="1"/>
          <p:nvPr/>
        </p:nvSpPr>
        <p:spPr>
          <a:xfrm>
            <a:off x="6181344" y="2057400"/>
            <a:ext cx="2514600" cy="1325880"/>
          </a:xfrm>
          <a:prstGeom prst="rect">
            <a:avLst/>
          </a:prstGeom>
          <a:noFill/>
        </p:spPr>
        <p:txBody>
          <a:bodyPr wrap="square">
            <a:spAutoFit/>
          </a:bodyPr>
          <a:lstStyle/>
          <a:p>
            <a:pPr algn="l"/>
            <a:r>
              <a:rPr sz="1100" b="0" i="0">
                <a:solidFill>
                  <a:srgbClr val="CCD6E0"/>
                </a:solidFill>
              </a:rPr>
              <a:t>売り急ぎで市場に出すと足元を見られる。買取で時間を作り、医療向けにバリューアップして次の使い手へ。</a:t>
            </a:r>
          </a:p>
        </p:txBody>
      </p:sp>
      <p:sp>
        <p:nvSpPr>
          <p:cNvPr id="22" name="Rectangle 21"/>
          <p:cNvSpPr/>
          <p:nvPr/>
        </p:nvSpPr>
        <p:spPr>
          <a:xfrm>
            <a:off x="8878824" y="1143000"/>
            <a:ext cx="2697480" cy="23774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78824" y="1143000"/>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88552" y="1207008"/>
            <a:ext cx="2514600" cy="320040"/>
          </a:xfrm>
          <a:prstGeom prst="rect">
            <a:avLst/>
          </a:prstGeom>
          <a:noFill/>
        </p:spPr>
        <p:txBody>
          <a:bodyPr wrap="square">
            <a:spAutoFit/>
          </a:bodyPr>
          <a:lstStyle/>
          <a:p>
            <a:pPr algn="l"/>
            <a:r>
              <a:rPr sz="1000" b="0" i="0">
                <a:solidFill>
                  <a:srgbClr val="CCD6E0"/>
                </a:solidFill>
              </a:rPr>
              <a:t>04 メッセージ</a:t>
            </a:r>
          </a:p>
        </p:txBody>
      </p:sp>
      <p:sp>
        <p:nvSpPr>
          <p:cNvPr id="25" name="TextBox 24"/>
          <p:cNvSpPr txBox="1"/>
          <p:nvPr/>
        </p:nvSpPr>
        <p:spPr>
          <a:xfrm>
            <a:off x="8988552" y="1554480"/>
            <a:ext cx="2514600" cy="457200"/>
          </a:xfrm>
          <a:prstGeom prst="rect">
            <a:avLst/>
          </a:prstGeom>
          <a:noFill/>
        </p:spPr>
        <p:txBody>
          <a:bodyPr wrap="square">
            <a:spAutoFit/>
          </a:bodyPr>
          <a:lstStyle/>
          <a:p>
            <a:pPr algn="l"/>
            <a:r>
              <a:rPr sz="1300" b="1" i="0">
                <a:solidFill>
                  <a:srgbClr val="FFFFFF"/>
                </a:solidFill>
              </a:rPr>
              <a:t>専門特化＝逆に間口が広がる</a:t>
            </a:r>
          </a:p>
        </p:txBody>
      </p:sp>
      <p:sp>
        <p:nvSpPr>
          <p:cNvPr id="26" name="TextBox 25"/>
          <p:cNvSpPr txBox="1"/>
          <p:nvPr/>
        </p:nvSpPr>
        <p:spPr>
          <a:xfrm>
            <a:off x="8988552" y="2057400"/>
            <a:ext cx="2514600" cy="1325880"/>
          </a:xfrm>
          <a:prstGeom prst="rect">
            <a:avLst/>
          </a:prstGeom>
          <a:noFill/>
        </p:spPr>
        <p:txBody>
          <a:bodyPr wrap="square">
            <a:spAutoFit/>
          </a:bodyPr>
          <a:lstStyle/>
          <a:p>
            <a:pPr algn="l"/>
            <a:r>
              <a:rPr sz="1100" b="0" i="0">
                <a:solidFill>
                  <a:srgbClr val="CCD6E0"/>
                </a:solidFill>
              </a:rPr>
              <a:t>医療を切り口にすると、一般不動産の窓口にもなれる。コンサルできる軸を1本持つことが効く。</a:t>
            </a:r>
          </a:p>
        </p:txBody>
      </p:sp>
      <p:sp>
        <p:nvSpPr>
          <p:cNvPr id="27" name="Rectangle 26"/>
          <p:cNvSpPr/>
          <p:nvPr/>
        </p:nvSpPr>
        <p:spPr>
          <a:xfrm>
            <a:off x="457200" y="3703320"/>
            <a:ext cx="1353312" cy="640080"/>
          </a:xfrm>
          <a:prstGeom prst="rect">
            <a:avLst/>
          </a:prstGeom>
          <a:solidFill>
            <a:srgbClr val="30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3767328"/>
            <a:ext cx="1280160" cy="502920"/>
          </a:xfrm>
          <a:prstGeom prst="rect">
            <a:avLst/>
          </a:prstGeom>
          <a:noFill/>
        </p:spPr>
        <p:txBody>
          <a:bodyPr wrap="square">
            <a:spAutoFit/>
          </a:bodyPr>
          <a:lstStyle/>
          <a:p>
            <a:pPr algn="l"/>
            <a:r>
              <a:rPr sz="900" b="0" i="0">
                <a:solidFill>
                  <a:srgbClr val="CCD6E0"/>
                </a:solidFill>
              </a:rPr>
              <a:t>診療圏調査fee</a:t>
            </a:r>
          </a:p>
        </p:txBody>
      </p:sp>
      <p:sp>
        <p:nvSpPr>
          <p:cNvPr id="29" name="Rectangle 28"/>
          <p:cNvSpPr/>
          <p:nvPr/>
        </p:nvSpPr>
        <p:spPr>
          <a:xfrm>
            <a:off x="1865376" y="3703320"/>
            <a:ext cx="1353312" cy="640080"/>
          </a:xfrm>
          <a:prstGeom prst="rect">
            <a:avLst/>
          </a:prstGeom>
          <a:solidFill>
            <a:srgbClr val="30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911096" y="3767328"/>
            <a:ext cx="1280160" cy="502920"/>
          </a:xfrm>
          <a:prstGeom prst="rect">
            <a:avLst/>
          </a:prstGeom>
          <a:noFill/>
        </p:spPr>
        <p:txBody>
          <a:bodyPr wrap="square">
            <a:spAutoFit/>
          </a:bodyPr>
          <a:lstStyle/>
          <a:p>
            <a:pPr algn="l"/>
            <a:r>
              <a:rPr sz="900" b="0" i="0">
                <a:solidFill>
                  <a:srgbClr val="CCD6E0"/>
                </a:solidFill>
              </a:rPr>
              <a:t>事業計画書fee</a:t>
            </a:r>
          </a:p>
        </p:txBody>
      </p:sp>
      <p:sp>
        <p:nvSpPr>
          <p:cNvPr id="31" name="Rectangle 30"/>
          <p:cNvSpPr/>
          <p:nvPr/>
        </p:nvSpPr>
        <p:spPr>
          <a:xfrm>
            <a:off x="3273552" y="3703320"/>
            <a:ext cx="1353312" cy="64008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319272" y="3767328"/>
            <a:ext cx="1280160" cy="502920"/>
          </a:xfrm>
          <a:prstGeom prst="rect">
            <a:avLst/>
          </a:prstGeom>
          <a:noFill/>
        </p:spPr>
        <p:txBody>
          <a:bodyPr wrap="square">
            <a:spAutoFit/>
          </a:bodyPr>
          <a:lstStyle/>
          <a:p>
            <a:pPr algn="l"/>
            <a:r>
              <a:rPr sz="900" b="0" i="0">
                <a:solidFill>
                  <a:srgbClr val="0D1B2A"/>
                </a:solidFill>
              </a:rPr>
              <a:t>物件仲介手数料</a:t>
            </a:r>
          </a:p>
        </p:txBody>
      </p:sp>
      <p:sp>
        <p:nvSpPr>
          <p:cNvPr id="33" name="Rectangle 32"/>
          <p:cNvSpPr/>
          <p:nvPr/>
        </p:nvSpPr>
        <p:spPr>
          <a:xfrm>
            <a:off x="4681728" y="3703320"/>
            <a:ext cx="1353312" cy="64008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27448" y="3767328"/>
            <a:ext cx="1280160" cy="502920"/>
          </a:xfrm>
          <a:prstGeom prst="rect">
            <a:avLst/>
          </a:prstGeom>
          <a:noFill/>
        </p:spPr>
        <p:txBody>
          <a:bodyPr wrap="square">
            <a:spAutoFit/>
          </a:bodyPr>
          <a:lstStyle/>
          <a:p>
            <a:pPr algn="l"/>
            <a:r>
              <a:rPr sz="900" b="0" i="0">
                <a:solidFill>
                  <a:srgbClr val="0D1B2A"/>
                </a:solidFill>
              </a:rPr>
              <a:t>買取・再販差益</a:t>
            </a:r>
          </a:p>
        </p:txBody>
      </p:sp>
      <p:sp>
        <p:nvSpPr>
          <p:cNvPr id="35" name="Rectangle 34"/>
          <p:cNvSpPr/>
          <p:nvPr/>
        </p:nvSpPr>
        <p:spPr>
          <a:xfrm>
            <a:off x="6089904" y="3703320"/>
            <a:ext cx="1353312" cy="640080"/>
          </a:xfrm>
          <a:prstGeom prst="rect">
            <a:avLst/>
          </a:prstGeom>
          <a:solidFill>
            <a:srgbClr val="30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35624" y="3767328"/>
            <a:ext cx="1280160" cy="502920"/>
          </a:xfrm>
          <a:prstGeom prst="rect">
            <a:avLst/>
          </a:prstGeom>
          <a:noFill/>
        </p:spPr>
        <p:txBody>
          <a:bodyPr wrap="square">
            <a:spAutoFit/>
          </a:bodyPr>
          <a:lstStyle/>
          <a:p>
            <a:pPr algn="l"/>
            <a:r>
              <a:rPr sz="900" b="0" i="0">
                <a:solidFill>
                  <a:srgbClr val="CCD6E0"/>
                </a:solidFill>
              </a:rPr>
              <a:t>機材・リース</a:t>
            </a:r>
          </a:p>
        </p:txBody>
      </p:sp>
      <p:sp>
        <p:nvSpPr>
          <p:cNvPr id="37" name="Rectangle 36"/>
          <p:cNvSpPr/>
          <p:nvPr/>
        </p:nvSpPr>
        <p:spPr>
          <a:xfrm>
            <a:off x="7498080" y="3703320"/>
            <a:ext cx="1353312" cy="64008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43800" y="3767328"/>
            <a:ext cx="1280160" cy="502920"/>
          </a:xfrm>
          <a:prstGeom prst="rect">
            <a:avLst/>
          </a:prstGeom>
          <a:noFill/>
        </p:spPr>
        <p:txBody>
          <a:bodyPr wrap="square">
            <a:spAutoFit/>
          </a:bodyPr>
          <a:lstStyle/>
          <a:p>
            <a:pPr algn="l"/>
            <a:r>
              <a:rPr sz="900" b="0" i="0">
                <a:solidFill>
                  <a:srgbClr val="0D1B2A"/>
                </a:solidFill>
              </a:rPr>
              <a:t>士業・税理士紹介</a:t>
            </a:r>
          </a:p>
        </p:txBody>
      </p:sp>
      <p:sp>
        <p:nvSpPr>
          <p:cNvPr id="39" name="Rectangle 38"/>
          <p:cNvSpPr/>
          <p:nvPr/>
        </p:nvSpPr>
        <p:spPr>
          <a:xfrm>
            <a:off x="8906256" y="3703320"/>
            <a:ext cx="1353312" cy="640080"/>
          </a:xfrm>
          <a:prstGeom prst="rect">
            <a:avLst/>
          </a:prstGeom>
          <a:solidFill>
            <a:srgbClr val="30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951976" y="3767328"/>
            <a:ext cx="1280160" cy="502920"/>
          </a:xfrm>
          <a:prstGeom prst="rect">
            <a:avLst/>
          </a:prstGeom>
          <a:noFill/>
        </p:spPr>
        <p:txBody>
          <a:bodyPr wrap="square">
            <a:spAutoFit/>
          </a:bodyPr>
          <a:lstStyle/>
          <a:p>
            <a:pPr algn="l"/>
            <a:r>
              <a:rPr sz="900" b="0" i="0">
                <a:solidFill>
                  <a:srgbClr val="CCD6E0"/>
                </a:solidFill>
              </a:rPr>
              <a:t>顧問料</a:t>
            </a:r>
          </a:p>
        </p:txBody>
      </p:sp>
      <p:sp>
        <p:nvSpPr>
          <p:cNvPr id="41" name="Rectangle 40"/>
          <p:cNvSpPr/>
          <p:nvPr/>
        </p:nvSpPr>
        <p:spPr>
          <a:xfrm>
            <a:off x="10314432" y="3703320"/>
            <a:ext cx="1353312" cy="640080"/>
          </a:xfrm>
          <a:prstGeom prst="rect">
            <a:avLst/>
          </a:prstGeom>
          <a:solidFill>
            <a:srgbClr val="304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360152" y="3767328"/>
            <a:ext cx="1280160" cy="502920"/>
          </a:xfrm>
          <a:prstGeom prst="rect">
            <a:avLst/>
          </a:prstGeom>
          <a:noFill/>
        </p:spPr>
        <p:txBody>
          <a:bodyPr wrap="square">
            <a:spAutoFit/>
          </a:bodyPr>
          <a:lstStyle/>
          <a:p>
            <a:pPr algn="l"/>
            <a:r>
              <a:rPr sz="900" b="0" i="0">
                <a:solidFill>
                  <a:srgbClr val="CCD6E0"/>
                </a:solidFill>
              </a:rPr>
              <a:t>承継・M&amp;A</a:t>
            </a:r>
          </a:p>
        </p:txBody>
      </p:sp>
      <p:sp>
        <p:nvSpPr>
          <p:cNvPr id="43" name="Rectangle 42"/>
          <p:cNvSpPr/>
          <p:nvPr/>
        </p:nvSpPr>
        <p:spPr>
          <a:xfrm>
            <a:off x="502920" y="4572000"/>
            <a:ext cx="73152" cy="77724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31520" y="4645152"/>
            <a:ext cx="10972800" cy="658368"/>
          </a:xfrm>
          <a:prstGeom prst="rect">
            <a:avLst/>
          </a:prstGeom>
          <a:noFill/>
        </p:spPr>
        <p:txBody>
          <a:bodyPr wrap="square">
            <a:spAutoFit/>
          </a:bodyPr>
          <a:lstStyle/>
          <a:p>
            <a:pPr algn="l"/>
            <a:r>
              <a:rPr sz="1100" b="0" i="0">
                <a:solidFill>
                  <a:srgbClr val="FFFFFF"/>
                </a:solidFill>
              </a:rPr>
              <a:t>【弁護士からの電話】「医療を分かる人いる？顧問先のクリニックが資金繰りで詰まっていて、一般の不動産屋が全員断ってくる」──断られた理由はすぐわかった。医療機器の残存価値、電気容量、フロア用途変更費用。翌朝8時に現地へ。当日夕方に買取価格を提示した。</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6510528"/>
            <a:ext cx="12188952" cy="34747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37960"/>
            <a:ext cx="9144000" cy="292608"/>
          </a:xfrm>
          <a:prstGeom prst="rect">
            <a:avLst/>
          </a:prstGeom>
          <a:noFill/>
        </p:spPr>
        <p:txBody>
          <a:bodyPr wrap="square">
            <a:spAutoFit/>
          </a:bodyPr>
          <a:lstStyle/>
          <a:p>
            <a:pPr algn="l"/>
            <a:r>
              <a:rPr sz="900" b="0" i="0">
                <a:solidFill>
                  <a:srgbClr val="CCD6E0"/>
                </a:solidFill>
              </a:rPr>
              <a:t>医療専門不動産  |  ビジネスモデル</a:t>
            </a:r>
          </a:p>
        </p:txBody>
      </p:sp>
      <p:sp>
        <p:nvSpPr>
          <p:cNvPr id="4" name="Rectangle 3"/>
          <p:cNvSpPr/>
          <p:nvPr/>
        </p:nvSpPr>
        <p:spPr>
          <a:xfrm>
            <a:off x="0" y="0"/>
            <a:ext cx="12188952"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972800" cy="594360"/>
          </a:xfrm>
          <a:prstGeom prst="rect">
            <a:avLst/>
          </a:prstGeom>
          <a:noFill/>
        </p:spPr>
        <p:txBody>
          <a:bodyPr wrap="square">
            <a:spAutoFit/>
          </a:bodyPr>
          <a:lstStyle/>
          <a:p>
            <a:pPr algn="l"/>
            <a:r>
              <a:rPr sz="2400" b="1" i="0">
                <a:solidFill>
                  <a:srgbClr val="FFFFFF"/>
                </a:solidFill>
              </a:rPr>
              <a:t>CASE 02  /  危機対応  ──  長期顧客化の典型例</a:t>
            </a:r>
          </a:p>
        </p:txBody>
      </p:sp>
      <p:sp>
        <p:nvSpPr>
          <p:cNvPr id="6" name="TextBox 5"/>
          <p:cNvSpPr txBox="1"/>
          <p:nvPr/>
        </p:nvSpPr>
        <p:spPr>
          <a:xfrm>
            <a:off x="548640" y="713232"/>
            <a:ext cx="10972800" cy="274320"/>
          </a:xfrm>
          <a:prstGeom prst="rect">
            <a:avLst/>
          </a:prstGeom>
          <a:noFill/>
        </p:spPr>
        <p:txBody>
          <a:bodyPr wrap="square">
            <a:spAutoFit/>
          </a:bodyPr>
          <a:lstStyle/>
          <a:p>
            <a:pPr algn="l"/>
            <a:r>
              <a:rPr sz="1100" b="0" i="0">
                <a:solidFill>
                  <a:srgbClr val="CCD6E0"/>
                </a:solidFill>
              </a:rPr>
              <a:t>「閉院 vs 救済」の岐路で、医師の人生に伴走した数年。事務長の使い込みで資金破綻寸前。</a:t>
            </a:r>
          </a:p>
        </p:txBody>
      </p:sp>
      <p:sp>
        <p:nvSpPr>
          <p:cNvPr id="7" name="Rectangle 6"/>
          <p:cNvSpPr/>
          <p:nvPr/>
        </p:nvSpPr>
        <p:spPr>
          <a:xfrm>
            <a:off x="457200" y="1143000"/>
            <a:ext cx="2697480" cy="21945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43000"/>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207008"/>
            <a:ext cx="2514600" cy="320040"/>
          </a:xfrm>
          <a:prstGeom prst="rect">
            <a:avLst/>
          </a:prstGeom>
          <a:noFill/>
        </p:spPr>
        <p:txBody>
          <a:bodyPr wrap="square">
            <a:spAutoFit/>
          </a:bodyPr>
          <a:lstStyle/>
          <a:p>
            <a:pPr algn="l"/>
            <a:r>
              <a:rPr sz="1000" b="0" i="0">
                <a:solidFill>
                  <a:srgbClr val="CCD6E0"/>
                </a:solidFill>
              </a:rPr>
              <a:t>01 入口</a:t>
            </a:r>
          </a:p>
        </p:txBody>
      </p:sp>
      <p:sp>
        <p:nvSpPr>
          <p:cNvPr id="10" name="TextBox 9"/>
          <p:cNvSpPr txBox="1"/>
          <p:nvPr/>
        </p:nvSpPr>
        <p:spPr>
          <a:xfrm>
            <a:off x="566928" y="1554480"/>
            <a:ext cx="2514600" cy="457200"/>
          </a:xfrm>
          <a:prstGeom prst="rect">
            <a:avLst/>
          </a:prstGeom>
          <a:noFill/>
        </p:spPr>
        <p:txBody>
          <a:bodyPr wrap="square">
            <a:spAutoFit/>
          </a:bodyPr>
          <a:lstStyle/>
          <a:p>
            <a:pPr algn="l"/>
            <a:r>
              <a:rPr sz="1300" b="1" i="0">
                <a:solidFill>
                  <a:srgbClr val="FFFFFF"/>
                </a:solidFill>
              </a:rPr>
              <a:t>事務長の使い込みで資金破綻寸前</a:t>
            </a:r>
          </a:p>
        </p:txBody>
      </p:sp>
      <p:sp>
        <p:nvSpPr>
          <p:cNvPr id="11" name="TextBox 10"/>
          <p:cNvSpPr txBox="1"/>
          <p:nvPr/>
        </p:nvSpPr>
        <p:spPr>
          <a:xfrm>
            <a:off x="566928" y="2057400"/>
            <a:ext cx="2514600" cy="1143000"/>
          </a:xfrm>
          <a:prstGeom prst="rect">
            <a:avLst/>
          </a:prstGeom>
          <a:noFill/>
        </p:spPr>
        <p:txBody>
          <a:bodyPr wrap="square">
            <a:spAutoFit/>
          </a:bodyPr>
          <a:lstStyle/>
          <a:p>
            <a:pPr algn="l"/>
            <a:r>
              <a:rPr sz="1100" b="0" i="0">
                <a:solidFill>
                  <a:srgbClr val="CCD6E0"/>
                </a:solidFill>
              </a:rPr>
              <a:t>「人」の問題で経営が傾いた典型例。チームを設計してきたから相談が来る。</a:t>
            </a:r>
          </a:p>
        </p:txBody>
      </p:sp>
      <p:sp>
        <p:nvSpPr>
          <p:cNvPr id="12" name="Rectangle 11"/>
          <p:cNvSpPr/>
          <p:nvPr/>
        </p:nvSpPr>
        <p:spPr>
          <a:xfrm>
            <a:off x="3264408" y="1143000"/>
            <a:ext cx="2697480" cy="21945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64408" y="1143000"/>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74136" y="1207008"/>
            <a:ext cx="2514600" cy="320040"/>
          </a:xfrm>
          <a:prstGeom prst="rect">
            <a:avLst/>
          </a:prstGeom>
          <a:noFill/>
        </p:spPr>
        <p:txBody>
          <a:bodyPr wrap="square">
            <a:spAutoFit/>
          </a:bodyPr>
          <a:lstStyle/>
          <a:p>
            <a:pPr algn="l"/>
            <a:r>
              <a:rPr sz="1000" b="0" i="0">
                <a:solidFill>
                  <a:srgbClr val="CCD6E0"/>
                </a:solidFill>
              </a:rPr>
              <a:t>02 普通なら</a:t>
            </a:r>
          </a:p>
        </p:txBody>
      </p:sp>
      <p:sp>
        <p:nvSpPr>
          <p:cNvPr id="15" name="TextBox 14"/>
          <p:cNvSpPr txBox="1"/>
          <p:nvPr/>
        </p:nvSpPr>
        <p:spPr>
          <a:xfrm>
            <a:off x="3374136" y="1554480"/>
            <a:ext cx="2514600" cy="457200"/>
          </a:xfrm>
          <a:prstGeom prst="rect">
            <a:avLst/>
          </a:prstGeom>
          <a:noFill/>
        </p:spPr>
        <p:txBody>
          <a:bodyPr wrap="square">
            <a:spAutoFit/>
          </a:bodyPr>
          <a:lstStyle/>
          <a:p>
            <a:pPr algn="l"/>
            <a:r>
              <a:rPr sz="1300" b="1" i="0">
                <a:solidFill>
                  <a:srgbClr val="FFFFFF"/>
                </a:solidFill>
              </a:rPr>
              <a:t>閉院→物件売却で「終わり」</a:t>
            </a:r>
          </a:p>
        </p:txBody>
      </p:sp>
      <p:sp>
        <p:nvSpPr>
          <p:cNvPr id="16" name="TextBox 15"/>
          <p:cNvSpPr txBox="1"/>
          <p:nvPr/>
        </p:nvSpPr>
        <p:spPr>
          <a:xfrm>
            <a:off x="3374136" y="2057400"/>
            <a:ext cx="2514600" cy="1143000"/>
          </a:xfrm>
          <a:prstGeom prst="rect">
            <a:avLst/>
          </a:prstGeom>
          <a:noFill/>
        </p:spPr>
        <p:txBody>
          <a:bodyPr wrap="square">
            <a:spAutoFit/>
          </a:bodyPr>
          <a:lstStyle/>
          <a:p>
            <a:pPr algn="l"/>
            <a:r>
              <a:rPr sz="1100" b="0" i="0">
                <a:solidFill>
                  <a:srgbClr val="CCD6E0"/>
                </a:solidFill>
              </a:rPr>
              <a:t>医師は廃業、設備は二束三文、患者は離散。一般不動産屋ならここまで。</a:t>
            </a:r>
          </a:p>
        </p:txBody>
      </p:sp>
      <p:sp>
        <p:nvSpPr>
          <p:cNvPr id="17" name="Rectangle 16"/>
          <p:cNvSpPr/>
          <p:nvPr/>
        </p:nvSpPr>
        <p:spPr>
          <a:xfrm>
            <a:off x="6071616" y="1143000"/>
            <a:ext cx="2697480" cy="21945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71616" y="1143000"/>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81344" y="1207008"/>
            <a:ext cx="2514600" cy="320040"/>
          </a:xfrm>
          <a:prstGeom prst="rect">
            <a:avLst/>
          </a:prstGeom>
          <a:noFill/>
        </p:spPr>
        <p:txBody>
          <a:bodyPr wrap="square">
            <a:spAutoFit/>
          </a:bodyPr>
          <a:lstStyle/>
          <a:p>
            <a:pPr algn="l"/>
            <a:r>
              <a:rPr sz="1000" b="0" i="0">
                <a:solidFill>
                  <a:srgbClr val="CCD6E0"/>
                </a:solidFill>
              </a:rPr>
              <a:t>03 アプローチ</a:t>
            </a:r>
          </a:p>
        </p:txBody>
      </p:sp>
      <p:sp>
        <p:nvSpPr>
          <p:cNvPr id="20" name="TextBox 19"/>
          <p:cNvSpPr txBox="1"/>
          <p:nvPr/>
        </p:nvSpPr>
        <p:spPr>
          <a:xfrm>
            <a:off x="6181344" y="1554480"/>
            <a:ext cx="2514600" cy="457200"/>
          </a:xfrm>
          <a:prstGeom prst="rect">
            <a:avLst/>
          </a:prstGeom>
          <a:noFill/>
        </p:spPr>
        <p:txBody>
          <a:bodyPr wrap="square">
            <a:spAutoFit/>
          </a:bodyPr>
          <a:lstStyle/>
          <a:p>
            <a:pPr algn="l"/>
            <a:r>
              <a:rPr sz="1300" b="1" i="0">
                <a:solidFill>
                  <a:srgbClr val="FFFFFF"/>
                </a:solidFill>
              </a:rPr>
              <a:t>自宅売却＋チームから人材派遣</a:t>
            </a:r>
          </a:p>
        </p:txBody>
      </p:sp>
      <p:sp>
        <p:nvSpPr>
          <p:cNvPr id="21" name="TextBox 20"/>
          <p:cNvSpPr txBox="1"/>
          <p:nvPr/>
        </p:nvSpPr>
        <p:spPr>
          <a:xfrm>
            <a:off x="6181344" y="2057400"/>
            <a:ext cx="2514600" cy="1143000"/>
          </a:xfrm>
          <a:prstGeom prst="rect">
            <a:avLst/>
          </a:prstGeom>
          <a:noFill/>
        </p:spPr>
        <p:txBody>
          <a:bodyPr wrap="square">
            <a:spAutoFit/>
          </a:bodyPr>
          <a:lstStyle/>
          <a:p>
            <a:pPr algn="l"/>
            <a:r>
              <a:rPr sz="1100" b="0" i="0">
                <a:solidFill>
                  <a:srgbClr val="CCD6E0"/>
                </a:solidFill>
              </a:rPr>
              <a:t>資金は不動産売却で確保。チームから事務長を送り込み、診療を止めずに再建。</a:t>
            </a:r>
          </a:p>
        </p:txBody>
      </p:sp>
      <p:sp>
        <p:nvSpPr>
          <p:cNvPr id="22" name="Rectangle 21"/>
          <p:cNvSpPr/>
          <p:nvPr/>
        </p:nvSpPr>
        <p:spPr>
          <a:xfrm>
            <a:off x="8878824" y="1143000"/>
            <a:ext cx="2697480" cy="21945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78824" y="1143000"/>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88552" y="1207008"/>
            <a:ext cx="2514600" cy="320040"/>
          </a:xfrm>
          <a:prstGeom prst="rect">
            <a:avLst/>
          </a:prstGeom>
          <a:noFill/>
        </p:spPr>
        <p:txBody>
          <a:bodyPr wrap="square">
            <a:spAutoFit/>
          </a:bodyPr>
          <a:lstStyle/>
          <a:p>
            <a:pPr algn="l"/>
            <a:r>
              <a:rPr sz="1000" b="0" i="0">
                <a:solidFill>
                  <a:srgbClr val="CCD6E0"/>
                </a:solidFill>
              </a:rPr>
              <a:t>04 結果</a:t>
            </a:r>
          </a:p>
        </p:txBody>
      </p:sp>
      <p:sp>
        <p:nvSpPr>
          <p:cNvPr id="25" name="TextBox 24"/>
          <p:cNvSpPr txBox="1"/>
          <p:nvPr/>
        </p:nvSpPr>
        <p:spPr>
          <a:xfrm>
            <a:off x="8988552" y="1554480"/>
            <a:ext cx="2514600" cy="457200"/>
          </a:xfrm>
          <a:prstGeom prst="rect">
            <a:avLst/>
          </a:prstGeom>
          <a:noFill/>
        </p:spPr>
        <p:txBody>
          <a:bodyPr wrap="square">
            <a:spAutoFit/>
          </a:bodyPr>
          <a:lstStyle/>
          <a:p>
            <a:pPr algn="l"/>
            <a:r>
              <a:rPr sz="1300" b="1" i="0">
                <a:solidFill>
                  <a:srgbClr val="FFFFFF"/>
                </a:solidFill>
              </a:rPr>
              <a:t>売却益→派遣→顧問料の連結</a:t>
            </a:r>
          </a:p>
        </p:txBody>
      </p:sp>
      <p:sp>
        <p:nvSpPr>
          <p:cNvPr id="26" name="TextBox 25"/>
          <p:cNvSpPr txBox="1"/>
          <p:nvPr/>
        </p:nvSpPr>
        <p:spPr>
          <a:xfrm>
            <a:off x="8988552" y="2057400"/>
            <a:ext cx="2514600" cy="1143000"/>
          </a:xfrm>
          <a:prstGeom prst="rect">
            <a:avLst/>
          </a:prstGeom>
          <a:noFill/>
        </p:spPr>
        <p:txBody>
          <a:bodyPr wrap="square">
            <a:spAutoFit/>
          </a:bodyPr>
          <a:lstStyle/>
          <a:p>
            <a:pPr algn="l"/>
            <a:r>
              <a:rPr sz="1100" b="0" i="0">
                <a:solidFill>
                  <a:srgbClr val="CCD6E0"/>
                </a:solidFill>
              </a:rPr>
              <a:t>1件の不動産案件が、派遣収入と顧問料の継続収益に変わった。</a:t>
            </a:r>
          </a:p>
        </p:txBody>
      </p:sp>
      <p:sp>
        <p:nvSpPr>
          <p:cNvPr id="27" name="Rectangle 26"/>
          <p:cNvSpPr/>
          <p:nvPr/>
        </p:nvSpPr>
        <p:spPr>
          <a:xfrm>
            <a:off x="457200" y="3520440"/>
            <a:ext cx="2176272" cy="13258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3520440"/>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3584448"/>
            <a:ext cx="1993392" cy="292608"/>
          </a:xfrm>
          <a:prstGeom prst="rect">
            <a:avLst/>
          </a:prstGeom>
          <a:noFill/>
        </p:spPr>
        <p:txBody>
          <a:bodyPr wrap="square">
            <a:spAutoFit/>
          </a:bodyPr>
          <a:lstStyle/>
          <a:p>
            <a:pPr algn="l"/>
            <a:r>
              <a:rPr sz="1200" b="1" i="0">
                <a:solidFill>
                  <a:srgbClr val="E8A800"/>
                </a:solidFill>
              </a:rPr>
              <a:t>Y1</a:t>
            </a:r>
          </a:p>
        </p:txBody>
      </p:sp>
      <p:sp>
        <p:nvSpPr>
          <p:cNvPr id="30" name="TextBox 29"/>
          <p:cNvSpPr txBox="1"/>
          <p:nvPr/>
        </p:nvSpPr>
        <p:spPr>
          <a:xfrm>
            <a:off x="566928" y="3904487"/>
            <a:ext cx="1993392" cy="384048"/>
          </a:xfrm>
          <a:prstGeom prst="rect">
            <a:avLst/>
          </a:prstGeom>
          <a:noFill/>
        </p:spPr>
        <p:txBody>
          <a:bodyPr wrap="square">
            <a:spAutoFit/>
          </a:bodyPr>
          <a:lstStyle/>
          <a:p>
            <a:pPr algn="l"/>
            <a:r>
              <a:rPr sz="1200" b="1" i="0">
                <a:solidFill>
                  <a:srgbClr val="FFFFFF"/>
                </a:solidFill>
              </a:rPr>
              <a:t>自宅売却仲介＋利益</a:t>
            </a:r>
          </a:p>
        </p:txBody>
      </p:sp>
      <p:sp>
        <p:nvSpPr>
          <p:cNvPr id="31" name="TextBox 30"/>
          <p:cNvSpPr txBox="1"/>
          <p:nvPr/>
        </p:nvSpPr>
        <p:spPr>
          <a:xfrm>
            <a:off x="566928" y="4315968"/>
            <a:ext cx="1993392" cy="438912"/>
          </a:xfrm>
          <a:prstGeom prst="rect">
            <a:avLst/>
          </a:prstGeom>
          <a:noFill/>
        </p:spPr>
        <p:txBody>
          <a:bodyPr wrap="square">
            <a:spAutoFit/>
          </a:bodyPr>
          <a:lstStyle/>
          <a:p>
            <a:pPr algn="l"/>
            <a:r>
              <a:rPr sz="1000" b="0" i="0">
                <a:solidFill>
                  <a:srgbClr val="CCD6E0"/>
                </a:solidFill>
              </a:rPr>
              <a:t>資金繰り解消</a:t>
            </a:r>
          </a:p>
        </p:txBody>
      </p:sp>
      <p:sp>
        <p:nvSpPr>
          <p:cNvPr id="32" name="Rectangle 31"/>
          <p:cNvSpPr/>
          <p:nvPr/>
        </p:nvSpPr>
        <p:spPr>
          <a:xfrm>
            <a:off x="2743200" y="3520440"/>
            <a:ext cx="2176272" cy="13258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2743200" y="3520440"/>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52928" y="3584448"/>
            <a:ext cx="1993392" cy="292608"/>
          </a:xfrm>
          <a:prstGeom prst="rect">
            <a:avLst/>
          </a:prstGeom>
          <a:noFill/>
        </p:spPr>
        <p:txBody>
          <a:bodyPr wrap="square">
            <a:spAutoFit/>
          </a:bodyPr>
          <a:lstStyle/>
          <a:p>
            <a:pPr algn="l"/>
            <a:r>
              <a:rPr sz="1200" b="1" i="0">
                <a:solidFill>
                  <a:srgbClr val="E8A800"/>
                </a:solidFill>
              </a:rPr>
              <a:t>Y1</a:t>
            </a:r>
          </a:p>
        </p:txBody>
      </p:sp>
      <p:sp>
        <p:nvSpPr>
          <p:cNvPr id="35" name="TextBox 34"/>
          <p:cNvSpPr txBox="1"/>
          <p:nvPr/>
        </p:nvSpPr>
        <p:spPr>
          <a:xfrm>
            <a:off x="2852928" y="3904487"/>
            <a:ext cx="1993392" cy="384048"/>
          </a:xfrm>
          <a:prstGeom prst="rect">
            <a:avLst/>
          </a:prstGeom>
          <a:noFill/>
        </p:spPr>
        <p:txBody>
          <a:bodyPr wrap="square">
            <a:spAutoFit/>
          </a:bodyPr>
          <a:lstStyle/>
          <a:p>
            <a:pPr algn="l"/>
            <a:r>
              <a:rPr sz="1200" b="1" i="0">
                <a:solidFill>
                  <a:srgbClr val="FFFFFF"/>
                </a:solidFill>
              </a:rPr>
              <a:t>事務長の派遣収入</a:t>
            </a:r>
          </a:p>
        </p:txBody>
      </p:sp>
      <p:sp>
        <p:nvSpPr>
          <p:cNvPr id="36" name="TextBox 35"/>
          <p:cNvSpPr txBox="1"/>
          <p:nvPr/>
        </p:nvSpPr>
        <p:spPr>
          <a:xfrm>
            <a:off x="2852928" y="4315968"/>
            <a:ext cx="1993392" cy="438912"/>
          </a:xfrm>
          <a:prstGeom prst="rect">
            <a:avLst/>
          </a:prstGeom>
          <a:noFill/>
        </p:spPr>
        <p:txBody>
          <a:bodyPr wrap="square">
            <a:spAutoFit/>
          </a:bodyPr>
          <a:lstStyle/>
          <a:p>
            <a:pPr algn="l"/>
            <a:r>
              <a:rPr sz="1000" b="0" i="0">
                <a:solidFill>
                  <a:srgbClr val="CCD6E0"/>
                </a:solidFill>
              </a:rPr>
              <a:t>チームから人材送り売上化</a:t>
            </a:r>
          </a:p>
        </p:txBody>
      </p:sp>
      <p:sp>
        <p:nvSpPr>
          <p:cNvPr id="37" name="Rectangle 36"/>
          <p:cNvSpPr/>
          <p:nvPr/>
        </p:nvSpPr>
        <p:spPr>
          <a:xfrm>
            <a:off x="5029200" y="3520440"/>
            <a:ext cx="2176272" cy="13258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29200" y="3520440"/>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138928" y="3584448"/>
            <a:ext cx="1993392" cy="292608"/>
          </a:xfrm>
          <a:prstGeom prst="rect">
            <a:avLst/>
          </a:prstGeom>
          <a:noFill/>
        </p:spPr>
        <p:txBody>
          <a:bodyPr wrap="square">
            <a:spAutoFit/>
          </a:bodyPr>
          <a:lstStyle/>
          <a:p>
            <a:pPr algn="l"/>
            <a:r>
              <a:rPr sz="1200" b="1" i="0">
                <a:solidFill>
                  <a:srgbClr val="E8A800"/>
                </a:solidFill>
              </a:rPr>
              <a:t>継続</a:t>
            </a:r>
          </a:p>
        </p:txBody>
      </p:sp>
      <p:sp>
        <p:nvSpPr>
          <p:cNvPr id="40" name="TextBox 39"/>
          <p:cNvSpPr txBox="1"/>
          <p:nvPr/>
        </p:nvSpPr>
        <p:spPr>
          <a:xfrm>
            <a:off x="5138928" y="3904487"/>
            <a:ext cx="1993392" cy="384048"/>
          </a:xfrm>
          <a:prstGeom prst="rect">
            <a:avLst/>
          </a:prstGeom>
          <a:noFill/>
        </p:spPr>
        <p:txBody>
          <a:bodyPr wrap="square">
            <a:spAutoFit/>
          </a:bodyPr>
          <a:lstStyle/>
          <a:p>
            <a:pPr algn="l"/>
            <a:r>
              <a:rPr sz="1200" b="1" i="0">
                <a:solidFill>
                  <a:srgbClr val="FFFFFF"/>
                </a:solidFill>
              </a:rPr>
              <a:t>顧問料（毎月）</a:t>
            </a:r>
          </a:p>
        </p:txBody>
      </p:sp>
      <p:sp>
        <p:nvSpPr>
          <p:cNvPr id="41" name="TextBox 40"/>
          <p:cNvSpPr txBox="1"/>
          <p:nvPr/>
        </p:nvSpPr>
        <p:spPr>
          <a:xfrm>
            <a:off x="5138928" y="4315968"/>
            <a:ext cx="1993392" cy="438912"/>
          </a:xfrm>
          <a:prstGeom prst="rect">
            <a:avLst/>
          </a:prstGeom>
          <a:noFill/>
        </p:spPr>
        <p:txBody>
          <a:bodyPr wrap="square">
            <a:spAutoFit/>
          </a:bodyPr>
          <a:lstStyle/>
          <a:p>
            <a:pPr algn="l"/>
            <a:r>
              <a:rPr sz="1000" b="0" i="0">
                <a:solidFill>
                  <a:srgbClr val="CCD6E0"/>
                </a:solidFill>
              </a:rPr>
              <a:t>経営支援の継続収入</a:t>
            </a:r>
          </a:p>
        </p:txBody>
      </p:sp>
      <p:sp>
        <p:nvSpPr>
          <p:cNvPr id="42" name="Rectangle 41"/>
          <p:cNvSpPr/>
          <p:nvPr/>
        </p:nvSpPr>
        <p:spPr>
          <a:xfrm>
            <a:off x="7315200" y="3520440"/>
            <a:ext cx="2176272" cy="13258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315200" y="3520440"/>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24928" y="3584448"/>
            <a:ext cx="1993392" cy="292608"/>
          </a:xfrm>
          <a:prstGeom prst="rect">
            <a:avLst/>
          </a:prstGeom>
          <a:noFill/>
        </p:spPr>
        <p:txBody>
          <a:bodyPr wrap="square">
            <a:spAutoFit/>
          </a:bodyPr>
          <a:lstStyle/>
          <a:p>
            <a:pPr algn="l"/>
            <a:r>
              <a:rPr sz="1200" b="1" i="0">
                <a:solidFill>
                  <a:srgbClr val="E8A800"/>
                </a:solidFill>
              </a:rPr>
              <a:t>Y2+</a:t>
            </a:r>
          </a:p>
        </p:txBody>
      </p:sp>
      <p:sp>
        <p:nvSpPr>
          <p:cNvPr id="45" name="TextBox 44"/>
          <p:cNvSpPr txBox="1"/>
          <p:nvPr/>
        </p:nvSpPr>
        <p:spPr>
          <a:xfrm>
            <a:off x="7424928" y="3904487"/>
            <a:ext cx="1993392" cy="384048"/>
          </a:xfrm>
          <a:prstGeom prst="rect">
            <a:avLst/>
          </a:prstGeom>
          <a:noFill/>
        </p:spPr>
        <p:txBody>
          <a:bodyPr wrap="square">
            <a:spAutoFit/>
          </a:bodyPr>
          <a:lstStyle/>
          <a:p>
            <a:pPr algn="l"/>
            <a:r>
              <a:rPr sz="1200" b="1" i="0">
                <a:solidFill>
                  <a:srgbClr val="FFFFFF"/>
                </a:solidFill>
              </a:rPr>
              <a:t>クリニック移転・機材</a:t>
            </a:r>
          </a:p>
        </p:txBody>
      </p:sp>
      <p:sp>
        <p:nvSpPr>
          <p:cNvPr id="46" name="TextBox 45"/>
          <p:cNvSpPr txBox="1"/>
          <p:nvPr/>
        </p:nvSpPr>
        <p:spPr>
          <a:xfrm>
            <a:off x="7424928" y="4315968"/>
            <a:ext cx="1993392" cy="438912"/>
          </a:xfrm>
          <a:prstGeom prst="rect">
            <a:avLst/>
          </a:prstGeom>
          <a:noFill/>
        </p:spPr>
        <p:txBody>
          <a:bodyPr wrap="square">
            <a:spAutoFit/>
          </a:bodyPr>
          <a:lstStyle/>
          <a:p>
            <a:pPr algn="l"/>
            <a:r>
              <a:rPr sz="1000" b="0" i="0">
                <a:solidFill>
                  <a:srgbClr val="CCD6E0"/>
                </a:solidFill>
              </a:rPr>
              <a:t>立て直し後の案件</a:t>
            </a:r>
          </a:p>
        </p:txBody>
      </p:sp>
      <p:sp>
        <p:nvSpPr>
          <p:cNvPr id="47" name="Rectangle 46"/>
          <p:cNvSpPr/>
          <p:nvPr/>
        </p:nvSpPr>
        <p:spPr>
          <a:xfrm>
            <a:off x="9601200" y="3520440"/>
            <a:ext cx="2176272" cy="132588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601200" y="3520440"/>
            <a:ext cx="2176272"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710928" y="3584448"/>
            <a:ext cx="1993392" cy="292608"/>
          </a:xfrm>
          <a:prstGeom prst="rect">
            <a:avLst/>
          </a:prstGeom>
          <a:noFill/>
        </p:spPr>
        <p:txBody>
          <a:bodyPr wrap="square">
            <a:spAutoFit/>
          </a:bodyPr>
          <a:lstStyle/>
          <a:p>
            <a:pPr algn="l"/>
            <a:r>
              <a:rPr sz="1200" b="1" i="0">
                <a:solidFill>
                  <a:srgbClr val="E8A800"/>
                </a:solidFill>
              </a:rPr>
              <a:t>Y5+</a:t>
            </a:r>
          </a:p>
        </p:txBody>
      </p:sp>
      <p:sp>
        <p:nvSpPr>
          <p:cNvPr id="50" name="TextBox 49"/>
          <p:cNvSpPr txBox="1"/>
          <p:nvPr/>
        </p:nvSpPr>
        <p:spPr>
          <a:xfrm>
            <a:off x="9710928" y="3904487"/>
            <a:ext cx="1993392" cy="384048"/>
          </a:xfrm>
          <a:prstGeom prst="rect">
            <a:avLst/>
          </a:prstGeom>
          <a:noFill/>
        </p:spPr>
        <p:txBody>
          <a:bodyPr wrap="square">
            <a:spAutoFit/>
          </a:bodyPr>
          <a:lstStyle/>
          <a:p>
            <a:pPr algn="l"/>
            <a:r>
              <a:rPr sz="1200" b="1" i="0">
                <a:solidFill>
                  <a:srgbClr val="FFFFFF"/>
                </a:solidFill>
              </a:rPr>
              <a:t>事業承継の伴走</a:t>
            </a:r>
          </a:p>
        </p:txBody>
      </p:sp>
      <p:sp>
        <p:nvSpPr>
          <p:cNvPr id="51" name="TextBox 50"/>
          <p:cNvSpPr txBox="1"/>
          <p:nvPr/>
        </p:nvSpPr>
        <p:spPr>
          <a:xfrm>
            <a:off x="9710928" y="4315968"/>
            <a:ext cx="1993392" cy="438912"/>
          </a:xfrm>
          <a:prstGeom prst="rect">
            <a:avLst/>
          </a:prstGeom>
          <a:noFill/>
        </p:spPr>
        <p:txBody>
          <a:bodyPr wrap="square">
            <a:spAutoFit/>
          </a:bodyPr>
          <a:lstStyle/>
          <a:p>
            <a:pPr algn="l"/>
            <a:r>
              <a:rPr sz="1000" b="0" i="0">
                <a:solidFill>
                  <a:srgbClr val="CCD6E0"/>
                </a:solidFill>
              </a:rPr>
              <a:t>後継候補接続・関係継続</a:t>
            </a:r>
          </a:p>
        </p:txBody>
      </p:sp>
      <p:sp>
        <p:nvSpPr>
          <p:cNvPr id="52" name="TextBox 51"/>
          <p:cNvSpPr txBox="1"/>
          <p:nvPr/>
        </p:nvSpPr>
        <p:spPr>
          <a:xfrm>
            <a:off x="457200" y="5010912"/>
            <a:ext cx="11155680" cy="347472"/>
          </a:xfrm>
          <a:prstGeom prst="rect">
            <a:avLst/>
          </a:prstGeom>
          <a:noFill/>
        </p:spPr>
        <p:txBody>
          <a:bodyPr wrap="square">
            <a:spAutoFit/>
          </a:bodyPr>
          <a:lstStyle/>
          <a:p>
            <a:pPr algn="l"/>
            <a:r>
              <a:rPr sz="1200" b="0" i="1">
                <a:solidFill>
                  <a:srgbClr val="CCD6E0"/>
                </a:solidFill>
              </a:rPr>
              <a:t>学び：「人」の問題まで踏み込めると、不動産1件＋派遣＋顧問料で収益が重なる。チームがあるからこそ動ける。</a:t>
            </a:r>
          </a:p>
        </p:txBody>
      </p:sp>
      <p:sp>
        <p:nvSpPr>
          <p:cNvPr id="53" name="TextBox 52"/>
          <p:cNvSpPr txBox="1"/>
          <p:nvPr/>
        </p:nvSpPr>
        <p:spPr>
          <a:xfrm>
            <a:off x="457200" y="5440680"/>
            <a:ext cx="11155680" cy="347472"/>
          </a:xfrm>
          <a:prstGeom prst="rect">
            <a:avLst/>
          </a:prstGeom>
          <a:noFill/>
        </p:spPr>
        <p:txBody>
          <a:bodyPr wrap="square">
            <a:spAutoFit/>
          </a:bodyPr>
          <a:lstStyle/>
          <a:p>
            <a:pPr algn="l"/>
            <a:r>
              <a:rPr sz="1300" b="1" i="0">
                <a:solidFill>
                  <a:srgbClr val="E8A800"/>
                </a:solidFill>
              </a:rPr>
              <a:t>→ 次のスライド：6,000万が生まれた瞬間──この構造を徹底解剖</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6510528"/>
            <a:ext cx="12188952" cy="34747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37960"/>
            <a:ext cx="9144000" cy="292608"/>
          </a:xfrm>
          <a:prstGeom prst="rect">
            <a:avLst/>
          </a:prstGeom>
          <a:noFill/>
        </p:spPr>
        <p:txBody>
          <a:bodyPr wrap="square">
            <a:spAutoFit/>
          </a:bodyPr>
          <a:lstStyle/>
          <a:p>
            <a:pPr algn="l"/>
            <a:r>
              <a:rPr sz="900" b="0" i="0">
                <a:solidFill>
                  <a:srgbClr val="CCD6E0"/>
                </a:solidFill>
              </a:rPr>
              <a:t>医療専門不動産  |  ビジネスモデル</a:t>
            </a:r>
          </a:p>
        </p:txBody>
      </p:sp>
      <p:sp>
        <p:nvSpPr>
          <p:cNvPr id="4" name="Rectangle 3"/>
          <p:cNvSpPr/>
          <p:nvPr/>
        </p:nvSpPr>
        <p:spPr>
          <a:xfrm>
            <a:off x="0" y="0"/>
            <a:ext cx="12188952" cy="1005840"/>
          </a:xfrm>
          <a:prstGeom prst="rect">
            <a:avLst/>
          </a:prstGeom>
          <a:solidFill>
            <a:srgbClr val="1A2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972800" cy="594360"/>
          </a:xfrm>
          <a:prstGeom prst="rect">
            <a:avLst/>
          </a:prstGeom>
          <a:noFill/>
        </p:spPr>
        <p:txBody>
          <a:bodyPr wrap="square">
            <a:spAutoFit/>
          </a:bodyPr>
          <a:lstStyle/>
          <a:p>
            <a:pPr algn="l"/>
            <a:r>
              <a:rPr sz="2100" b="1" i="0">
                <a:solidFill>
                  <a:srgbClr val="E8A800"/>
                </a:solidFill>
              </a:rPr>
              <a:t>6,000万が生まれた瞬間  ──  破産寸前→資産現金化→再起動  【NEW】</a:t>
            </a:r>
          </a:p>
        </p:txBody>
      </p:sp>
      <p:sp>
        <p:nvSpPr>
          <p:cNvPr id="6" name="TextBox 5"/>
          <p:cNvSpPr txBox="1"/>
          <p:nvPr/>
        </p:nvSpPr>
        <p:spPr>
          <a:xfrm>
            <a:off x="548640" y="713232"/>
            <a:ext cx="10972800" cy="274320"/>
          </a:xfrm>
          <a:prstGeom prst="rect">
            <a:avLst/>
          </a:prstGeom>
          <a:noFill/>
        </p:spPr>
        <p:txBody>
          <a:bodyPr wrap="square">
            <a:spAutoFit/>
          </a:bodyPr>
          <a:lstStyle/>
          <a:p>
            <a:pPr algn="l"/>
            <a:r>
              <a:rPr sz="1200" b="0" i="0">
                <a:solidFill>
                  <a:srgbClr val="CCD6E0"/>
                </a:solidFill>
              </a:rPr>
              <a:t>医療法人救済の全記録。半年で完結。</a:t>
            </a:r>
          </a:p>
        </p:txBody>
      </p:sp>
      <p:sp>
        <p:nvSpPr>
          <p:cNvPr id="7" name="Rectangle 6"/>
          <p:cNvSpPr/>
          <p:nvPr/>
        </p:nvSpPr>
        <p:spPr>
          <a:xfrm>
            <a:off x="457200" y="1170432"/>
            <a:ext cx="2697480" cy="26517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170432"/>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234440"/>
            <a:ext cx="2514600" cy="502920"/>
          </a:xfrm>
          <a:prstGeom prst="rect">
            <a:avLst/>
          </a:prstGeom>
          <a:noFill/>
        </p:spPr>
        <p:txBody>
          <a:bodyPr wrap="square">
            <a:spAutoFit/>
          </a:bodyPr>
          <a:lstStyle/>
          <a:p>
            <a:pPr algn="l"/>
            <a:r>
              <a:rPr sz="1200" b="1" i="0">
                <a:solidFill>
                  <a:srgbClr val="E8A800"/>
                </a:solidFill>
              </a:rPr>
              <a:t>0ヶ月目  接触</a:t>
            </a:r>
          </a:p>
        </p:txBody>
      </p:sp>
      <p:sp>
        <p:nvSpPr>
          <p:cNvPr id="10" name="TextBox 9"/>
          <p:cNvSpPr txBox="1"/>
          <p:nvPr/>
        </p:nvSpPr>
        <p:spPr>
          <a:xfrm>
            <a:off x="566928" y="1783080"/>
            <a:ext cx="2514600" cy="1920240"/>
          </a:xfrm>
          <a:prstGeom prst="rect">
            <a:avLst/>
          </a:prstGeom>
          <a:noFill/>
        </p:spPr>
        <p:txBody>
          <a:bodyPr wrap="square">
            <a:spAutoFit/>
          </a:bodyPr>
          <a:lstStyle/>
          <a:p>
            <a:pPr algn="l"/>
            <a:r>
              <a:rPr sz="1100" b="0" i="0">
                <a:solidFill>
                  <a:srgbClr val="FFFFFF"/>
                </a:solidFill>
              </a:rPr>
              <a:t>大叔父（医業コンサル第一人者）のカバン持ちとして医療法人の経営相談に同席。不動産業者としてではなく「信頼できる連れ」として入室。</a:t>
            </a:r>
          </a:p>
        </p:txBody>
      </p:sp>
      <p:sp>
        <p:nvSpPr>
          <p:cNvPr id="11" name="Rectangle 10"/>
          <p:cNvSpPr/>
          <p:nvPr/>
        </p:nvSpPr>
        <p:spPr>
          <a:xfrm>
            <a:off x="3264408" y="1170432"/>
            <a:ext cx="2697480" cy="26517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64408" y="1170432"/>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74136" y="1234440"/>
            <a:ext cx="2514600" cy="502920"/>
          </a:xfrm>
          <a:prstGeom prst="rect">
            <a:avLst/>
          </a:prstGeom>
          <a:noFill/>
        </p:spPr>
        <p:txBody>
          <a:bodyPr wrap="square">
            <a:spAutoFit/>
          </a:bodyPr>
          <a:lstStyle/>
          <a:p>
            <a:pPr algn="l"/>
            <a:r>
              <a:rPr sz="1200" b="1" i="0">
                <a:solidFill>
                  <a:srgbClr val="E8A800"/>
                </a:solidFill>
              </a:rPr>
              <a:t>3〜5ヶ月目  発掘</a:t>
            </a:r>
          </a:p>
        </p:txBody>
      </p:sp>
      <p:sp>
        <p:nvSpPr>
          <p:cNvPr id="14" name="TextBox 13"/>
          <p:cNvSpPr txBox="1"/>
          <p:nvPr/>
        </p:nvSpPr>
        <p:spPr>
          <a:xfrm>
            <a:off x="3374136" y="1783080"/>
            <a:ext cx="2514600" cy="1920240"/>
          </a:xfrm>
          <a:prstGeom prst="rect">
            <a:avLst/>
          </a:prstGeom>
          <a:noFill/>
        </p:spPr>
        <p:txBody>
          <a:bodyPr wrap="square">
            <a:spAutoFit/>
          </a:bodyPr>
          <a:lstStyle/>
          <a:p>
            <a:pPr algn="l"/>
            <a:r>
              <a:rPr sz="1100" b="0" i="0">
                <a:solidFill>
                  <a:srgbClr val="FFFFFF"/>
                </a:solidFill>
              </a:rPr>
              <a:t>「事務長が資金を横領」という極秘情報が門番（大叔父）を通じて届く。資金ショートまであと2週間。</a:t>
            </a:r>
          </a:p>
        </p:txBody>
      </p:sp>
      <p:sp>
        <p:nvSpPr>
          <p:cNvPr id="15" name="Rectangle 14"/>
          <p:cNvSpPr/>
          <p:nvPr/>
        </p:nvSpPr>
        <p:spPr>
          <a:xfrm>
            <a:off x="6071616" y="1170432"/>
            <a:ext cx="2697480" cy="26517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71616" y="1170432"/>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1344" y="1234440"/>
            <a:ext cx="2514600" cy="502920"/>
          </a:xfrm>
          <a:prstGeom prst="rect">
            <a:avLst/>
          </a:prstGeom>
          <a:noFill/>
        </p:spPr>
        <p:txBody>
          <a:bodyPr wrap="square">
            <a:spAutoFit/>
          </a:bodyPr>
          <a:lstStyle/>
          <a:p>
            <a:pPr algn="l"/>
            <a:r>
              <a:rPr sz="1200" b="1" i="0">
                <a:solidFill>
                  <a:srgbClr val="E8A800"/>
                </a:solidFill>
              </a:rPr>
              <a:t>6ヶ月目  信頼の借用</a:t>
            </a:r>
          </a:p>
        </p:txBody>
      </p:sp>
      <p:sp>
        <p:nvSpPr>
          <p:cNvPr id="18" name="TextBox 17"/>
          <p:cNvSpPr txBox="1"/>
          <p:nvPr/>
        </p:nvSpPr>
        <p:spPr>
          <a:xfrm>
            <a:off x="6181344" y="1783080"/>
            <a:ext cx="2514600" cy="1920240"/>
          </a:xfrm>
          <a:prstGeom prst="rect">
            <a:avLst/>
          </a:prstGeom>
          <a:noFill/>
        </p:spPr>
        <p:txBody>
          <a:bodyPr wrap="square">
            <a:spAutoFit/>
          </a:bodyPr>
          <a:lstStyle/>
          <a:p>
            <a:pPr algn="l"/>
            <a:r>
              <a:rPr sz="1100" b="0" i="0">
                <a:solidFill>
                  <a:srgbClr val="FFFFFF"/>
                </a:solidFill>
              </a:rPr>
              <a:t>「大叔父が信頼している人」というお墨付きで院長に面談。警戒心はゼロ。「任せます」をその場でもらった。</a:t>
            </a:r>
          </a:p>
        </p:txBody>
      </p:sp>
      <p:sp>
        <p:nvSpPr>
          <p:cNvPr id="19" name="Rectangle 18"/>
          <p:cNvSpPr/>
          <p:nvPr/>
        </p:nvSpPr>
        <p:spPr>
          <a:xfrm>
            <a:off x="8878824" y="1170432"/>
            <a:ext cx="2697480" cy="26517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878824" y="1170432"/>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88552" y="1234440"/>
            <a:ext cx="2514600" cy="502920"/>
          </a:xfrm>
          <a:prstGeom prst="rect">
            <a:avLst/>
          </a:prstGeom>
          <a:noFill/>
        </p:spPr>
        <p:txBody>
          <a:bodyPr wrap="square">
            <a:spAutoFit/>
          </a:bodyPr>
          <a:lstStyle/>
          <a:p>
            <a:pPr algn="l"/>
            <a:r>
              <a:rPr sz="1200" b="1" i="0">
                <a:solidFill>
                  <a:srgbClr val="E8A800"/>
                </a:solidFill>
              </a:rPr>
              <a:t>決済期  スピードが命</a:t>
            </a:r>
          </a:p>
        </p:txBody>
      </p:sp>
      <p:sp>
        <p:nvSpPr>
          <p:cNvPr id="22" name="TextBox 21"/>
          <p:cNvSpPr txBox="1"/>
          <p:nvPr/>
        </p:nvSpPr>
        <p:spPr>
          <a:xfrm>
            <a:off x="8988552" y="1783080"/>
            <a:ext cx="2514600" cy="1920240"/>
          </a:xfrm>
          <a:prstGeom prst="rect">
            <a:avLst/>
          </a:prstGeom>
          <a:noFill/>
        </p:spPr>
        <p:txBody>
          <a:bodyPr wrap="square">
            <a:spAutoFit/>
          </a:bodyPr>
          <a:lstStyle/>
          <a:p>
            <a:pPr algn="l"/>
            <a:r>
              <a:rPr sz="1100" b="0" i="0">
                <a:solidFill>
                  <a:srgbClr val="FFFFFF"/>
                </a:solidFill>
              </a:rPr>
              <a:t>ノンバンク×プロジェクト融資を駆使。自宅＋医院不動産を48時間で査定・提示。「閉院」を「再起動」に変えた。</a:t>
            </a:r>
          </a:p>
        </p:txBody>
      </p:sp>
      <p:sp>
        <p:nvSpPr>
          <p:cNvPr id="23" name="Rectangle 22"/>
          <p:cNvSpPr/>
          <p:nvPr/>
        </p:nvSpPr>
        <p:spPr>
          <a:xfrm>
            <a:off x="457200" y="4005072"/>
            <a:ext cx="11247120" cy="749808"/>
          </a:xfrm>
          <a:prstGeom prst="rect">
            <a:avLst/>
          </a:prstGeom>
          <a:solidFill>
            <a:srgbClr val="1A3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069080"/>
            <a:ext cx="5486400" cy="384048"/>
          </a:xfrm>
          <a:prstGeom prst="rect">
            <a:avLst/>
          </a:prstGeom>
          <a:noFill/>
        </p:spPr>
        <p:txBody>
          <a:bodyPr wrap="square">
            <a:spAutoFit/>
          </a:bodyPr>
          <a:lstStyle/>
          <a:p>
            <a:pPr algn="l"/>
            <a:r>
              <a:rPr sz="2200" b="1" i="0">
                <a:solidFill>
                  <a:srgbClr val="E8A800"/>
                </a:solidFill>
              </a:rPr>
              <a:t>結果：自社粗利  約6,000万円</a:t>
            </a:r>
          </a:p>
        </p:txBody>
      </p:sp>
      <p:sp>
        <p:nvSpPr>
          <p:cNvPr id="25" name="TextBox 24"/>
          <p:cNvSpPr txBox="1"/>
          <p:nvPr/>
        </p:nvSpPr>
        <p:spPr>
          <a:xfrm>
            <a:off x="640080" y="4462272"/>
            <a:ext cx="10972800" cy="256032"/>
          </a:xfrm>
          <a:prstGeom prst="rect">
            <a:avLst/>
          </a:prstGeom>
          <a:noFill/>
        </p:spPr>
        <p:txBody>
          <a:bodyPr wrap="square">
            <a:spAutoFit/>
          </a:bodyPr>
          <a:lstStyle/>
          <a:p>
            <a:pPr algn="l"/>
            <a:r>
              <a:rPr sz="1300" b="0" i="1">
                <a:solidFill>
                  <a:srgbClr val="FFFFFF"/>
                </a:solidFill>
              </a:rPr>
              <a:t>院長の感想：「あなたがいなかったら終わっていた」</a:t>
            </a:r>
          </a:p>
        </p:txBody>
      </p:sp>
      <p:sp>
        <p:nvSpPr>
          <p:cNvPr id="26" name="Rectangle 25"/>
          <p:cNvSpPr/>
          <p:nvPr/>
        </p:nvSpPr>
        <p:spPr>
          <a:xfrm>
            <a:off x="502920" y="4956048"/>
            <a:ext cx="73152" cy="77724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5029200"/>
            <a:ext cx="10972800" cy="658368"/>
          </a:xfrm>
          <a:prstGeom prst="rect">
            <a:avLst/>
          </a:prstGeom>
          <a:noFill/>
        </p:spPr>
        <p:txBody>
          <a:bodyPr wrap="square">
            <a:spAutoFit/>
          </a:bodyPr>
          <a:lstStyle/>
          <a:p>
            <a:pPr algn="l"/>
            <a:r>
              <a:rPr sz="1100" b="0" i="0">
                <a:solidFill>
                  <a:srgbClr val="FFFFFF"/>
                </a:solidFill>
              </a:rPr>
              <a:t>【院長の一言】「最初は半信半疑でした。でもあなたは逃げなかった。48時間で現金を用意してくれた。うちの病院は終わりかけていたのに、今ここで診療を続けられている。本当にありがとうございます」</a:t>
            </a:r>
          </a:p>
          <a:p>
            <a:pPr algn="l"/>
            <a:r>
              <a:rPr sz="1100" b="0" i="0">
                <a:solidFill>
                  <a:srgbClr val="FFFFFF"/>
                </a:solidFill>
              </a:rPr>
              <a:t>──不動産は手段に過ぎない。誰かの人生の危機に、最後まで伴走できるかどうか。それだけです。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6510528"/>
            <a:ext cx="12188952" cy="34747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37960"/>
            <a:ext cx="9144000" cy="292608"/>
          </a:xfrm>
          <a:prstGeom prst="rect">
            <a:avLst/>
          </a:prstGeom>
          <a:noFill/>
        </p:spPr>
        <p:txBody>
          <a:bodyPr wrap="square">
            <a:spAutoFit/>
          </a:bodyPr>
          <a:lstStyle/>
          <a:p>
            <a:pPr algn="l"/>
            <a:r>
              <a:rPr sz="900" b="0" i="0">
                <a:solidFill>
                  <a:srgbClr val="CCD6E0"/>
                </a:solidFill>
              </a:rPr>
              <a:t>医療専門不動産  |  ビジネスモデル</a:t>
            </a:r>
          </a:p>
        </p:txBody>
      </p:sp>
      <p:sp>
        <p:nvSpPr>
          <p:cNvPr id="4" name="Rectangle 3"/>
          <p:cNvSpPr/>
          <p:nvPr/>
        </p:nvSpPr>
        <p:spPr>
          <a:xfrm>
            <a:off x="0" y="0"/>
            <a:ext cx="12188952"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972800" cy="594360"/>
          </a:xfrm>
          <a:prstGeom prst="rect">
            <a:avLst/>
          </a:prstGeom>
          <a:noFill/>
        </p:spPr>
        <p:txBody>
          <a:bodyPr wrap="square">
            <a:spAutoFit/>
          </a:bodyPr>
          <a:lstStyle/>
          <a:p>
            <a:pPr algn="l"/>
            <a:r>
              <a:rPr sz="2400" b="1" i="0">
                <a:solidFill>
                  <a:srgbClr val="FFFFFF"/>
                </a:solidFill>
              </a:rPr>
              <a:t>PATTERN CATALOG  /  案件のバラエティ</a:t>
            </a:r>
          </a:p>
        </p:txBody>
      </p:sp>
      <p:sp>
        <p:nvSpPr>
          <p:cNvPr id="6" name="TextBox 5"/>
          <p:cNvSpPr txBox="1"/>
          <p:nvPr/>
        </p:nvSpPr>
        <p:spPr>
          <a:xfrm>
            <a:off x="548640" y="713232"/>
            <a:ext cx="10972800" cy="274320"/>
          </a:xfrm>
          <a:prstGeom prst="rect">
            <a:avLst/>
          </a:prstGeom>
          <a:noFill/>
        </p:spPr>
        <p:txBody>
          <a:bodyPr wrap="square">
            <a:spAutoFit/>
          </a:bodyPr>
          <a:lstStyle/>
          <a:p>
            <a:pPr algn="l"/>
            <a:r>
              <a:rPr sz="1100" b="0" i="0">
                <a:solidFill>
                  <a:srgbClr val="CCD6E0"/>
                </a:solidFill>
              </a:rPr>
              <a:t>チームを束ねている結果、こうした案件パターンが日常的に発生する──「単発仲介」では捉えられない世界。</a:t>
            </a:r>
          </a:p>
        </p:txBody>
      </p:sp>
      <p:sp>
        <p:nvSpPr>
          <p:cNvPr id="7" name="Rectangle 6"/>
          <p:cNvSpPr/>
          <p:nvPr/>
        </p:nvSpPr>
        <p:spPr>
          <a:xfrm>
            <a:off x="411480" y="1170432"/>
            <a:ext cx="2697480" cy="19659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170432"/>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1208" y="1261872"/>
            <a:ext cx="2697480" cy="347472"/>
          </a:xfrm>
          <a:prstGeom prst="rect">
            <a:avLst/>
          </a:prstGeom>
          <a:noFill/>
        </p:spPr>
        <p:txBody>
          <a:bodyPr wrap="square">
            <a:spAutoFit/>
          </a:bodyPr>
          <a:lstStyle/>
          <a:p>
            <a:pPr algn="l"/>
            <a:r>
              <a:rPr sz="1500" b="1" i="0">
                <a:solidFill>
                  <a:srgbClr val="E8A800"/>
                </a:solidFill>
              </a:rPr>
              <a:t>P01</a:t>
            </a:r>
          </a:p>
        </p:txBody>
      </p:sp>
      <p:sp>
        <p:nvSpPr>
          <p:cNvPr id="10" name="TextBox 9"/>
          <p:cNvSpPr txBox="1"/>
          <p:nvPr/>
        </p:nvSpPr>
        <p:spPr>
          <a:xfrm>
            <a:off x="521208" y="1645920"/>
            <a:ext cx="2514600" cy="457200"/>
          </a:xfrm>
          <a:prstGeom prst="rect">
            <a:avLst/>
          </a:prstGeom>
          <a:noFill/>
        </p:spPr>
        <p:txBody>
          <a:bodyPr wrap="square">
            <a:spAutoFit/>
          </a:bodyPr>
          <a:lstStyle/>
          <a:p>
            <a:pPr algn="l"/>
            <a:r>
              <a:rPr sz="1200" b="1" i="0">
                <a:solidFill>
                  <a:srgbClr val="FFFFFF"/>
                </a:solidFill>
              </a:rPr>
              <a:t>新規開業の物件選定</a:t>
            </a:r>
          </a:p>
        </p:txBody>
      </p:sp>
      <p:sp>
        <p:nvSpPr>
          <p:cNvPr id="11" name="TextBox 10"/>
          <p:cNvSpPr txBox="1"/>
          <p:nvPr/>
        </p:nvSpPr>
        <p:spPr>
          <a:xfrm>
            <a:off x="521208" y="2157984"/>
            <a:ext cx="2514600" cy="868680"/>
          </a:xfrm>
          <a:prstGeom prst="rect">
            <a:avLst/>
          </a:prstGeom>
          <a:noFill/>
        </p:spPr>
        <p:txBody>
          <a:bodyPr wrap="square">
            <a:spAutoFit/>
          </a:bodyPr>
          <a:lstStyle/>
          <a:p>
            <a:pPr algn="l"/>
            <a:r>
              <a:rPr sz="1000" b="0" i="0">
                <a:solidFill>
                  <a:srgbClr val="CCD6E0"/>
                </a:solidFill>
              </a:rPr>
              <a:t>診療圏調査→候補抽出→賃貸契約まで士業ハブで完結。</a:t>
            </a:r>
          </a:p>
        </p:txBody>
      </p:sp>
      <p:sp>
        <p:nvSpPr>
          <p:cNvPr id="12" name="Rectangle 11"/>
          <p:cNvSpPr/>
          <p:nvPr/>
        </p:nvSpPr>
        <p:spPr>
          <a:xfrm>
            <a:off x="3218688" y="1170432"/>
            <a:ext cx="2697480" cy="19659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18688" y="1170432"/>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28416" y="1261872"/>
            <a:ext cx="2697480" cy="347472"/>
          </a:xfrm>
          <a:prstGeom prst="rect">
            <a:avLst/>
          </a:prstGeom>
          <a:noFill/>
        </p:spPr>
        <p:txBody>
          <a:bodyPr wrap="square">
            <a:spAutoFit/>
          </a:bodyPr>
          <a:lstStyle/>
          <a:p>
            <a:pPr algn="l"/>
            <a:r>
              <a:rPr sz="1500" b="1" i="0">
                <a:solidFill>
                  <a:srgbClr val="E8A800"/>
                </a:solidFill>
              </a:rPr>
              <a:t>P02</a:t>
            </a:r>
          </a:p>
        </p:txBody>
      </p:sp>
      <p:sp>
        <p:nvSpPr>
          <p:cNvPr id="15" name="TextBox 14"/>
          <p:cNvSpPr txBox="1"/>
          <p:nvPr/>
        </p:nvSpPr>
        <p:spPr>
          <a:xfrm>
            <a:off x="3328416" y="1645920"/>
            <a:ext cx="2514600" cy="457200"/>
          </a:xfrm>
          <a:prstGeom prst="rect">
            <a:avLst/>
          </a:prstGeom>
          <a:noFill/>
        </p:spPr>
        <p:txBody>
          <a:bodyPr wrap="square">
            <a:spAutoFit/>
          </a:bodyPr>
          <a:lstStyle/>
          <a:p>
            <a:pPr algn="l"/>
            <a:r>
              <a:rPr sz="1200" b="1" i="0">
                <a:solidFill>
                  <a:srgbClr val="FFFFFF"/>
                </a:solidFill>
              </a:rPr>
              <a:t>クリニック移転・拡張</a:t>
            </a:r>
          </a:p>
        </p:txBody>
      </p:sp>
      <p:sp>
        <p:nvSpPr>
          <p:cNvPr id="16" name="TextBox 15"/>
          <p:cNvSpPr txBox="1"/>
          <p:nvPr/>
        </p:nvSpPr>
        <p:spPr>
          <a:xfrm>
            <a:off x="3328416" y="2157984"/>
            <a:ext cx="2514600" cy="868680"/>
          </a:xfrm>
          <a:prstGeom prst="rect">
            <a:avLst/>
          </a:prstGeom>
          <a:noFill/>
        </p:spPr>
        <p:txBody>
          <a:bodyPr wrap="square">
            <a:spAutoFit/>
          </a:bodyPr>
          <a:lstStyle/>
          <a:p>
            <a:pPr algn="l"/>
            <a:r>
              <a:rPr sz="1000" b="0" i="0">
                <a:solidFill>
                  <a:srgbClr val="CCD6E0"/>
                </a:solidFill>
              </a:rPr>
              <a:t>現物件の出口設計と新物件選定を同時に。</a:t>
            </a:r>
          </a:p>
        </p:txBody>
      </p:sp>
      <p:sp>
        <p:nvSpPr>
          <p:cNvPr id="17" name="Rectangle 16"/>
          <p:cNvSpPr/>
          <p:nvPr/>
        </p:nvSpPr>
        <p:spPr>
          <a:xfrm>
            <a:off x="6025896" y="1170432"/>
            <a:ext cx="2697480" cy="19659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25896" y="1170432"/>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35624" y="1261872"/>
            <a:ext cx="2697480" cy="347472"/>
          </a:xfrm>
          <a:prstGeom prst="rect">
            <a:avLst/>
          </a:prstGeom>
          <a:noFill/>
        </p:spPr>
        <p:txBody>
          <a:bodyPr wrap="square">
            <a:spAutoFit/>
          </a:bodyPr>
          <a:lstStyle/>
          <a:p>
            <a:pPr algn="l"/>
            <a:r>
              <a:rPr sz="1500" b="1" i="0">
                <a:solidFill>
                  <a:srgbClr val="E8A800"/>
                </a:solidFill>
              </a:rPr>
              <a:t>P03</a:t>
            </a:r>
          </a:p>
        </p:txBody>
      </p:sp>
      <p:sp>
        <p:nvSpPr>
          <p:cNvPr id="20" name="TextBox 19"/>
          <p:cNvSpPr txBox="1"/>
          <p:nvPr/>
        </p:nvSpPr>
        <p:spPr>
          <a:xfrm>
            <a:off x="6135624" y="1645920"/>
            <a:ext cx="2514600" cy="457200"/>
          </a:xfrm>
          <a:prstGeom prst="rect">
            <a:avLst/>
          </a:prstGeom>
          <a:noFill/>
        </p:spPr>
        <p:txBody>
          <a:bodyPr wrap="square">
            <a:spAutoFit/>
          </a:bodyPr>
          <a:lstStyle/>
          <a:p>
            <a:pPr algn="l"/>
            <a:r>
              <a:rPr sz="1200" b="1" i="0">
                <a:solidFill>
                  <a:srgbClr val="FFFFFF"/>
                </a:solidFill>
              </a:rPr>
              <a:t>医療法人化に伴う本部移転</a:t>
            </a:r>
          </a:p>
        </p:txBody>
      </p:sp>
      <p:sp>
        <p:nvSpPr>
          <p:cNvPr id="21" name="TextBox 20"/>
          <p:cNvSpPr txBox="1"/>
          <p:nvPr/>
        </p:nvSpPr>
        <p:spPr>
          <a:xfrm>
            <a:off x="6135624" y="2157984"/>
            <a:ext cx="2514600" cy="868680"/>
          </a:xfrm>
          <a:prstGeom prst="rect">
            <a:avLst/>
          </a:prstGeom>
          <a:noFill/>
        </p:spPr>
        <p:txBody>
          <a:bodyPr wrap="square">
            <a:spAutoFit/>
          </a:bodyPr>
          <a:lstStyle/>
          <a:p>
            <a:pPr algn="l"/>
            <a:r>
              <a:rPr sz="1000" b="0" i="0">
                <a:solidFill>
                  <a:srgbClr val="CCD6E0"/>
                </a:solidFill>
              </a:rPr>
              <a:t>登記要件と運営動線を両立。会計士・行政書士と並走。</a:t>
            </a:r>
          </a:p>
        </p:txBody>
      </p:sp>
      <p:sp>
        <p:nvSpPr>
          <p:cNvPr id="22" name="Rectangle 21"/>
          <p:cNvSpPr/>
          <p:nvPr/>
        </p:nvSpPr>
        <p:spPr>
          <a:xfrm>
            <a:off x="8833104" y="1170432"/>
            <a:ext cx="2697480" cy="19659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33104" y="1170432"/>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42832" y="1261872"/>
            <a:ext cx="2697480" cy="347472"/>
          </a:xfrm>
          <a:prstGeom prst="rect">
            <a:avLst/>
          </a:prstGeom>
          <a:noFill/>
        </p:spPr>
        <p:txBody>
          <a:bodyPr wrap="square">
            <a:spAutoFit/>
          </a:bodyPr>
          <a:lstStyle/>
          <a:p>
            <a:pPr algn="l"/>
            <a:r>
              <a:rPr sz="1500" b="1" i="0">
                <a:solidFill>
                  <a:srgbClr val="E8A800"/>
                </a:solidFill>
              </a:rPr>
              <a:t>P04</a:t>
            </a:r>
          </a:p>
        </p:txBody>
      </p:sp>
      <p:sp>
        <p:nvSpPr>
          <p:cNvPr id="25" name="TextBox 24"/>
          <p:cNvSpPr txBox="1"/>
          <p:nvPr/>
        </p:nvSpPr>
        <p:spPr>
          <a:xfrm>
            <a:off x="8942832" y="1645920"/>
            <a:ext cx="2514600" cy="457200"/>
          </a:xfrm>
          <a:prstGeom prst="rect">
            <a:avLst/>
          </a:prstGeom>
          <a:noFill/>
        </p:spPr>
        <p:txBody>
          <a:bodyPr wrap="square">
            <a:spAutoFit/>
          </a:bodyPr>
          <a:lstStyle/>
          <a:p>
            <a:pPr algn="l"/>
            <a:r>
              <a:rPr sz="1200" b="1" i="0">
                <a:solidFill>
                  <a:srgbClr val="FFFFFF"/>
                </a:solidFill>
              </a:rPr>
              <a:t>機材入替・リース紹介</a:t>
            </a:r>
          </a:p>
        </p:txBody>
      </p:sp>
      <p:sp>
        <p:nvSpPr>
          <p:cNvPr id="26" name="TextBox 25"/>
          <p:cNvSpPr txBox="1"/>
          <p:nvPr/>
        </p:nvSpPr>
        <p:spPr>
          <a:xfrm>
            <a:off x="8942832" y="2157984"/>
            <a:ext cx="2514600" cy="868680"/>
          </a:xfrm>
          <a:prstGeom prst="rect">
            <a:avLst/>
          </a:prstGeom>
          <a:noFill/>
        </p:spPr>
        <p:txBody>
          <a:bodyPr wrap="square">
            <a:spAutoFit/>
          </a:bodyPr>
          <a:lstStyle/>
          <a:p>
            <a:pPr algn="l"/>
            <a:r>
              <a:rPr sz="1000" b="0" i="0">
                <a:solidFill>
                  <a:srgbClr val="CCD6E0"/>
                </a:solidFill>
              </a:rPr>
              <a:t>提携機材商社へ。設備更新タイミングで再接触。</a:t>
            </a:r>
          </a:p>
        </p:txBody>
      </p:sp>
      <p:sp>
        <p:nvSpPr>
          <p:cNvPr id="27" name="Rectangle 26"/>
          <p:cNvSpPr/>
          <p:nvPr/>
        </p:nvSpPr>
        <p:spPr>
          <a:xfrm>
            <a:off x="411480" y="3319272"/>
            <a:ext cx="2697480" cy="19659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 y="3319272"/>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1208" y="3410712"/>
            <a:ext cx="2697480" cy="347472"/>
          </a:xfrm>
          <a:prstGeom prst="rect">
            <a:avLst/>
          </a:prstGeom>
          <a:noFill/>
        </p:spPr>
        <p:txBody>
          <a:bodyPr wrap="square">
            <a:spAutoFit/>
          </a:bodyPr>
          <a:lstStyle/>
          <a:p>
            <a:pPr algn="l"/>
            <a:r>
              <a:rPr sz="1500" b="1" i="0">
                <a:solidFill>
                  <a:srgbClr val="E8A800"/>
                </a:solidFill>
              </a:rPr>
              <a:t>P05</a:t>
            </a:r>
          </a:p>
        </p:txBody>
      </p:sp>
      <p:sp>
        <p:nvSpPr>
          <p:cNvPr id="30" name="TextBox 29"/>
          <p:cNvSpPr txBox="1"/>
          <p:nvPr/>
        </p:nvSpPr>
        <p:spPr>
          <a:xfrm>
            <a:off x="521208" y="3794760"/>
            <a:ext cx="2514600" cy="457200"/>
          </a:xfrm>
          <a:prstGeom prst="rect">
            <a:avLst/>
          </a:prstGeom>
          <a:noFill/>
        </p:spPr>
        <p:txBody>
          <a:bodyPr wrap="square">
            <a:spAutoFit/>
          </a:bodyPr>
          <a:lstStyle/>
          <a:p>
            <a:pPr algn="l"/>
            <a:r>
              <a:rPr sz="1200" b="1" i="0">
                <a:solidFill>
                  <a:srgbClr val="FFFFFF"/>
                </a:solidFill>
              </a:rPr>
              <a:t>内装リニューアル</a:t>
            </a:r>
          </a:p>
        </p:txBody>
      </p:sp>
      <p:sp>
        <p:nvSpPr>
          <p:cNvPr id="31" name="TextBox 30"/>
          <p:cNvSpPr txBox="1"/>
          <p:nvPr/>
        </p:nvSpPr>
        <p:spPr>
          <a:xfrm>
            <a:off x="521208" y="4306824"/>
            <a:ext cx="2514600" cy="868680"/>
          </a:xfrm>
          <a:prstGeom prst="rect">
            <a:avLst/>
          </a:prstGeom>
          <a:noFill/>
        </p:spPr>
        <p:txBody>
          <a:bodyPr wrap="square">
            <a:spAutoFit/>
          </a:bodyPr>
          <a:lstStyle/>
          <a:p>
            <a:pPr algn="l"/>
            <a:r>
              <a:rPr sz="1000" b="0" i="0">
                <a:solidFill>
                  <a:srgbClr val="CCD6E0"/>
                </a:solidFill>
              </a:rPr>
              <a:t>提携内装業者へ繋ぎ、紹介マージン。動線改善も。</a:t>
            </a:r>
          </a:p>
        </p:txBody>
      </p:sp>
      <p:sp>
        <p:nvSpPr>
          <p:cNvPr id="32" name="Rectangle 31"/>
          <p:cNvSpPr/>
          <p:nvPr/>
        </p:nvSpPr>
        <p:spPr>
          <a:xfrm>
            <a:off x="3218688" y="3319272"/>
            <a:ext cx="2697480" cy="19659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218688" y="3319272"/>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328416" y="3410712"/>
            <a:ext cx="2697480" cy="347472"/>
          </a:xfrm>
          <a:prstGeom prst="rect">
            <a:avLst/>
          </a:prstGeom>
          <a:noFill/>
        </p:spPr>
        <p:txBody>
          <a:bodyPr wrap="square">
            <a:spAutoFit/>
          </a:bodyPr>
          <a:lstStyle/>
          <a:p>
            <a:pPr algn="l"/>
            <a:r>
              <a:rPr sz="1500" b="1" i="0">
                <a:solidFill>
                  <a:srgbClr val="E8A800"/>
                </a:solidFill>
              </a:rPr>
              <a:t>P06</a:t>
            </a:r>
          </a:p>
        </p:txBody>
      </p:sp>
      <p:sp>
        <p:nvSpPr>
          <p:cNvPr id="35" name="TextBox 34"/>
          <p:cNvSpPr txBox="1"/>
          <p:nvPr/>
        </p:nvSpPr>
        <p:spPr>
          <a:xfrm>
            <a:off x="3328416" y="3794760"/>
            <a:ext cx="2514600" cy="457200"/>
          </a:xfrm>
          <a:prstGeom prst="rect">
            <a:avLst/>
          </a:prstGeom>
          <a:noFill/>
        </p:spPr>
        <p:txBody>
          <a:bodyPr wrap="square">
            <a:spAutoFit/>
          </a:bodyPr>
          <a:lstStyle/>
          <a:p>
            <a:pPr algn="l"/>
            <a:r>
              <a:rPr sz="1200" b="1" i="0">
                <a:solidFill>
                  <a:srgbClr val="FFFFFF"/>
                </a:solidFill>
              </a:rPr>
              <a:t>事業承継・M&amp;A</a:t>
            </a:r>
          </a:p>
        </p:txBody>
      </p:sp>
      <p:sp>
        <p:nvSpPr>
          <p:cNvPr id="36" name="TextBox 35"/>
          <p:cNvSpPr txBox="1"/>
          <p:nvPr/>
        </p:nvSpPr>
        <p:spPr>
          <a:xfrm>
            <a:off x="3328416" y="4306824"/>
            <a:ext cx="2514600" cy="868680"/>
          </a:xfrm>
          <a:prstGeom prst="rect">
            <a:avLst/>
          </a:prstGeom>
          <a:noFill/>
        </p:spPr>
        <p:txBody>
          <a:bodyPr wrap="square">
            <a:spAutoFit/>
          </a:bodyPr>
          <a:lstStyle/>
          <a:p>
            <a:pPr algn="l"/>
            <a:r>
              <a:rPr sz="1000" b="0" i="0">
                <a:solidFill>
                  <a:srgbClr val="CCD6E0"/>
                </a:solidFill>
              </a:rPr>
              <a:t>後継候補との接続、銀行調整、設備譲渡。1案件で複数収益。</a:t>
            </a:r>
          </a:p>
        </p:txBody>
      </p:sp>
      <p:sp>
        <p:nvSpPr>
          <p:cNvPr id="37" name="Rectangle 36"/>
          <p:cNvSpPr/>
          <p:nvPr/>
        </p:nvSpPr>
        <p:spPr>
          <a:xfrm>
            <a:off x="6025896" y="3319272"/>
            <a:ext cx="2697480" cy="19659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025896" y="3319272"/>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135624" y="3410712"/>
            <a:ext cx="2697480" cy="347472"/>
          </a:xfrm>
          <a:prstGeom prst="rect">
            <a:avLst/>
          </a:prstGeom>
          <a:noFill/>
        </p:spPr>
        <p:txBody>
          <a:bodyPr wrap="square">
            <a:spAutoFit/>
          </a:bodyPr>
          <a:lstStyle/>
          <a:p>
            <a:pPr algn="l"/>
            <a:r>
              <a:rPr sz="1500" b="1" i="0">
                <a:solidFill>
                  <a:srgbClr val="E8A800"/>
                </a:solidFill>
              </a:rPr>
              <a:t>P07</a:t>
            </a:r>
          </a:p>
        </p:txBody>
      </p:sp>
      <p:sp>
        <p:nvSpPr>
          <p:cNvPr id="40" name="TextBox 39"/>
          <p:cNvSpPr txBox="1"/>
          <p:nvPr/>
        </p:nvSpPr>
        <p:spPr>
          <a:xfrm>
            <a:off x="6135624" y="3794760"/>
            <a:ext cx="2514600" cy="457200"/>
          </a:xfrm>
          <a:prstGeom prst="rect">
            <a:avLst/>
          </a:prstGeom>
          <a:noFill/>
        </p:spPr>
        <p:txBody>
          <a:bodyPr wrap="square">
            <a:spAutoFit/>
          </a:bodyPr>
          <a:lstStyle/>
          <a:p>
            <a:pPr algn="l"/>
            <a:r>
              <a:rPr sz="1200" b="1" i="0">
                <a:solidFill>
                  <a:srgbClr val="FFFFFF"/>
                </a:solidFill>
              </a:rPr>
              <a:t>廃業・救済（債権者対応）</a:t>
            </a:r>
          </a:p>
        </p:txBody>
      </p:sp>
      <p:sp>
        <p:nvSpPr>
          <p:cNvPr id="41" name="TextBox 40"/>
          <p:cNvSpPr txBox="1"/>
          <p:nvPr/>
        </p:nvSpPr>
        <p:spPr>
          <a:xfrm>
            <a:off x="6135624" y="4306824"/>
            <a:ext cx="2514600" cy="868680"/>
          </a:xfrm>
          <a:prstGeom prst="rect">
            <a:avLst/>
          </a:prstGeom>
          <a:noFill/>
        </p:spPr>
        <p:txBody>
          <a:bodyPr wrap="square">
            <a:spAutoFit/>
          </a:bodyPr>
          <a:lstStyle/>
          <a:p>
            <a:pPr algn="l"/>
            <a:r>
              <a:rPr sz="1000" b="0" i="0">
                <a:solidFill>
                  <a:srgbClr val="CCD6E0"/>
                </a:solidFill>
              </a:rPr>
              <a:t>閉院ではなく事業継続の道を提示。弁護士・会計士と数年並走。</a:t>
            </a:r>
          </a:p>
        </p:txBody>
      </p:sp>
      <p:sp>
        <p:nvSpPr>
          <p:cNvPr id="42" name="Rectangle 41"/>
          <p:cNvSpPr/>
          <p:nvPr/>
        </p:nvSpPr>
        <p:spPr>
          <a:xfrm>
            <a:off x="8833104" y="3319272"/>
            <a:ext cx="2697480" cy="196596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833104" y="3319272"/>
            <a:ext cx="26974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942832" y="3410712"/>
            <a:ext cx="2697480" cy="347472"/>
          </a:xfrm>
          <a:prstGeom prst="rect">
            <a:avLst/>
          </a:prstGeom>
          <a:noFill/>
        </p:spPr>
        <p:txBody>
          <a:bodyPr wrap="square">
            <a:spAutoFit/>
          </a:bodyPr>
          <a:lstStyle/>
          <a:p>
            <a:pPr algn="l"/>
            <a:r>
              <a:rPr sz="1500" b="1" i="0">
                <a:solidFill>
                  <a:srgbClr val="E8A800"/>
                </a:solidFill>
              </a:rPr>
              <a:t>P08</a:t>
            </a:r>
          </a:p>
        </p:txBody>
      </p:sp>
      <p:sp>
        <p:nvSpPr>
          <p:cNvPr id="45" name="TextBox 44"/>
          <p:cNvSpPr txBox="1"/>
          <p:nvPr/>
        </p:nvSpPr>
        <p:spPr>
          <a:xfrm>
            <a:off x="8942832" y="3794760"/>
            <a:ext cx="2514600" cy="457200"/>
          </a:xfrm>
          <a:prstGeom prst="rect">
            <a:avLst/>
          </a:prstGeom>
          <a:noFill/>
        </p:spPr>
        <p:txBody>
          <a:bodyPr wrap="square">
            <a:spAutoFit/>
          </a:bodyPr>
          <a:lstStyle/>
          <a:p>
            <a:pPr algn="l"/>
            <a:r>
              <a:rPr sz="1200" b="1" i="0">
                <a:solidFill>
                  <a:srgbClr val="FFFFFF"/>
                </a:solidFill>
              </a:rPr>
              <a:t>多店舗展開支援</a:t>
            </a:r>
          </a:p>
        </p:txBody>
      </p:sp>
      <p:sp>
        <p:nvSpPr>
          <p:cNvPr id="46" name="TextBox 45"/>
          <p:cNvSpPr txBox="1"/>
          <p:nvPr/>
        </p:nvSpPr>
        <p:spPr>
          <a:xfrm>
            <a:off x="8942832" y="4306824"/>
            <a:ext cx="2514600" cy="868680"/>
          </a:xfrm>
          <a:prstGeom prst="rect">
            <a:avLst/>
          </a:prstGeom>
          <a:noFill/>
        </p:spPr>
        <p:txBody>
          <a:bodyPr wrap="square">
            <a:spAutoFit/>
          </a:bodyPr>
          <a:lstStyle/>
          <a:p>
            <a:pPr algn="l"/>
            <a:r>
              <a:rPr sz="1000" b="0" i="0">
                <a:solidFill>
                  <a:srgbClr val="CCD6E0"/>
                </a:solidFill>
              </a:rPr>
              <a:t>2院目・3院目。組織設計と物件取得を同時伴走。</a:t>
            </a:r>
          </a:p>
        </p:txBody>
      </p:sp>
      <p:sp>
        <p:nvSpPr>
          <p:cNvPr id="47" name="TextBox 46"/>
          <p:cNvSpPr txBox="1"/>
          <p:nvPr/>
        </p:nvSpPr>
        <p:spPr>
          <a:xfrm>
            <a:off x="411480" y="6309360"/>
            <a:ext cx="11155680" cy="347472"/>
          </a:xfrm>
          <a:prstGeom prst="rect">
            <a:avLst/>
          </a:prstGeom>
          <a:noFill/>
        </p:spPr>
        <p:txBody>
          <a:bodyPr wrap="square">
            <a:spAutoFit/>
          </a:bodyPr>
          <a:lstStyle/>
          <a:p>
            <a:pPr algn="l"/>
            <a:r>
              <a:rPr sz="1100" b="0" i="1">
                <a:solidFill>
                  <a:srgbClr val="CCD6E0"/>
                </a:solidFill>
              </a:rPr>
              <a:t>年140件超の中で、「単発で終わる案件」はほとんど無い。どのパターンも、次のパターンの入口になっている。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097280"/>
            <a:ext cx="4572000" cy="548640"/>
          </a:xfrm>
          <a:prstGeom prst="rect">
            <a:avLst/>
          </a:prstGeom>
          <a:noFill/>
        </p:spPr>
        <p:txBody>
          <a:bodyPr wrap="square">
            <a:spAutoFit/>
          </a:bodyPr>
          <a:lstStyle/>
          <a:p>
            <a:pPr algn="l"/>
            <a:r>
              <a:rPr sz="2000" b="0" i="0">
                <a:solidFill>
                  <a:srgbClr val="CCD6E0"/>
                </a:solidFill>
              </a:rPr>
              <a:t>SECTION</a:t>
            </a:r>
          </a:p>
        </p:txBody>
      </p:sp>
      <p:sp>
        <p:nvSpPr>
          <p:cNvPr id="4" name="TextBox 3"/>
          <p:cNvSpPr txBox="1"/>
          <p:nvPr/>
        </p:nvSpPr>
        <p:spPr>
          <a:xfrm>
            <a:off x="822960" y="1645920"/>
            <a:ext cx="4572000" cy="1645920"/>
          </a:xfrm>
          <a:prstGeom prst="rect">
            <a:avLst/>
          </a:prstGeom>
          <a:noFill/>
        </p:spPr>
        <p:txBody>
          <a:bodyPr wrap="square">
            <a:spAutoFit/>
          </a:bodyPr>
          <a:lstStyle/>
          <a:p>
            <a:pPr algn="l"/>
            <a:r>
              <a:rPr sz="9000" b="1" i="0">
                <a:solidFill>
                  <a:srgbClr val="E8A800"/>
                </a:solidFill>
              </a:rPr>
              <a:t>04</a:t>
            </a:r>
          </a:p>
        </p:txBody>
      </p:sp>
      <p:sp>
        <p:nvSpPr>
          <p:cNvPr id="5" name="TextBox 4"/>
          <p:cNvSpPr txBox="1"/>
          <p:nvPr/>
        </p:nvSpPr>
        <p:spPr>
          <a:xfrm>
            <a:off x="822960" y="3383280"/>
            <a:ext cx="9144000" cy="685800"/>
          </a:xfrm>
          <a:prstGeom prst="rect">
            <a:avLst/>
          </a:prstGeom>
          <a:noFill/>
        </p:spPr>
        <p:txBody>
          <a:bodyPr wrap="square">
            <a:spAutoFit/>
          </a:bodyPr>
          <a:lstStyle/>
          <a:p>
            <a:pPr algn="l"/>
            <a:r>
              <a:rPr sz="3200" b="1" i="0">
                <a:solidFill>
                  <a:srgbClr val="FFFFFF"/>
                </a:solidFill>
              </a:rPr>
              <a:t>事業展開</a:t>
            </a:r>
          </a:p>
        </p:txBody>
      </p:sp>
      <p:sp>
        <p:nvSpPr>
          <p:cNvPr id="6" name="TextBox 5"/>
          <p:cNvSpPr txBox="1"/>
          <p:nvPr/>
        </p:nvSpPr>
        <p:spPr>
          <a:xfrm>
            <a:off x="822960" y="4160520"/>
            <a:ext cx="10058400" cy="914400"/>
          </a:xfrm>
          <a:prstGeom prst="rect">
            <a:avLst/>
          </a:prstGeom>
          <a:noFill/>
        </p:spPr>
        <p:txBody>
          <a:bodyPr wrap="square">
            <a:spAutoFit/>
          </a:bodyPr>
          <a:lstStyle/>
          <a:p>
            <a:pPr algn="l"/>
            <a:r>
              <a:rPr sz="1500" b="0" i="0">
                <a:solidFill>
                  <a:srgbClr val="CCD6E0"/>
                </a:solidFill>
              </a:rPr>
              <a:t>チームとSNSで「信頼のダムを作る」次のステージ。</a:t>
            </a:r>
          </a:p>
          <a:p>
            <a:pPr algn="l"/>
            <a:r>
              <a:rPr sz="1500" b="0" i="0">
                <a:solidFill>
                  <a:srgbClr val="CCD6E0"/>
                </a:solidFill>
              </a:rPr>
              <a:t>1人でやる限界を超えるための設計。</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6510528"/>
            <a:ext cx="12188952" cy="34747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37960"/>
            <a:ext cx="9144000" cy="292608"/>
          </a:xfrm>
          <a:prstGeom prst="rect">
            <a:avLst/>
          </a:prstGeom>
          <a:noFill/>
        </p:spPr>
        <p:txBody>
          <a:bodyPr wrap="square">
            <a:spAutoFit/>
          </a:bodyPr>
          <a:lstStyle/>
          <a:p>
            <a:pPr algn="l"/>
            <a:r>
              <a:rPr sz="900" b="0" i="0">
                <a:solidFill>
                  <a:srgbClr val="CCD6E0"/>
                </a:solidFill>
              </a:rPr>
              <a:t>医療専門不動産  |  ビジネスモデル</a:t>
            </a:r>
          </a:p>
        </p:txBody>
      </p:sp>
      <p:sp>
        <p:nvSpPr>
          <p:cNvPr id="4" name="Rectangle 3"/>
          <p:cNvSpPr/>
          <p:nvPr/>
        </p:nvSpPr>
        <p:spPr>
          <a:xfrm>
            <a:off x="0" y="0"/>
            <a:ext cx="12188952"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972800" cy="594360"/>
          </a:xfrm>
          <a:prstGeom prst="rect">
            <a:avLst/>
          </a:prstGeom>
          <a:noFill/>
        </p:spPr>
        <p:txBody>
          <a:bodyPr wrap="square">
            <a:spAutoFit/>
          </a:bodyPr>
          <a:lstStyle/>
          <a:p>
            <a:pPr algn="l"/>
            <a:r>
              <a:rPr sz="2400" b="1" i="0">
                <a:solidFill>
                  <a:srgbClr val="FFFFFF"/>
                </a:solidFill>
              </a:rPr>
              <a:t>次のステージ  /  「信頼のダムを作る」  【NEW】</a:t>
            </a:r>
          </a:p>
        </p:txBody>
      </p:sp>
      <p:sp>
        <p:nvSpPr>
          <p:cNvPr id="6" name="TextBox 5"/>
          <p:cNvSpPr txBox="1"/>
          <p:nvPr/>
        </p:nvSpPr>
        <p:spPr>
          <a:xfrm>
            <a:off x="548640" y="713232"/>
            <a:ext cx="10972800" cy="274320"/>
          </a:xfrm>
          <a:prstGeom prst="rect">
            <a:avLst/>
          </a:prstGeom>
          <a:noFill/>
        </p:spPr>
        <p:txBody>
          <a:bodyPr wrap="square">
            <a:spAutoFit/>
          </a:bodyPr>
          <a:lstStyle/>
          <a:p>
            <a:pPr algn="l"/>
            <a:r>
              <a:rPr sz="1100" b="0" i="0">
                <a:solidFill>
                  <a:srgbClr val="CCD6E0"/>
                </a:solidFill>
              </a:rPr>
              <a:t>あなたが構築すべきは「不動産を売る仕組み」ではなく、「誰にも言えない悩みが自動的に集まってくるダム」。</a:t>
            </a:r>
          </a:p>
        </p:txBody>
      </p:sp>
      <p:sp>
        <p:nvSpPr>
          <p:cNvPr id="7" name="TextBox 6"/>
          <p:cNvSpPr txBox="1"/>
          <p:nvPr/>
        </p:nvSpPr>
        <p:spPr>
          <a:xfrm>
            <a:off x="548640" y="1170432"/>
            <a:ext cx="10972800" cy="384048"/>
          </a:xfrm>
          <a:prstGeom prst="rect">
            <a:avLst/>
          </a:prstGeom>
          <a:noFill/>
        </p:spPr>
        <p:txBody>
          <a:bodyPr wrap="square">
            <a:spAutoFit/>
          </a:bodyPr>
          <a:lstStyle/>
          <a:p>
            <a:pPr algn="l"/>
            <a:r>
              <a:rPr sz="1800" b="1" i="0">
                <a:solidFill>
                  <a:srgbClr val="FFFFFF"/>
                </a:solidFill>
              </a:rPr>
              <a:t>入り口はコンサル、出口はハンター。</a:t>
            </a:r>
          </a:p>
        </p:txBody>
      </p:sp>
      <p:sp>
        <p:nvSpPr>
          <p:cNvPr id="8" name="Rectangle 7"/>
          <p:cNvSpPr/>
          <p:nvPr/>
        </p:nvSpPr>
        <p:spPr>
          <a:xfrm>
            <a:off x="457200" y="1737360"/>
            <a:ext cx="3611880" cy="25603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737360"/>
            <a:ext cx="36118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810512"/>
            <a:ext cx="3383280" cy="640080"/>
          </a:xfrm>
          <a:prstGeom prst="rect">
            <a:avLst/>
          </a:prstGeom>
          <a:noFill/>
        </p:spPr>
        <p:txBody>
          <a:bodyPr wrap="square">
            <a:spAutoFit/>
          </a:bodyPr>
          <a:lstStyle/>
          <a:p>
            <a:pPr algn="l"/>
            <a:r>
              <a:rPr sz="1300" b="1" i="0">
                <a:solidFill>
                  <a:srgbClr val="E8A800"/>
                </a:solidFill>
              </a:rPr>
              <a:t>① 恐怖と救済</a:t>
            </a:r>
          </a:p>
          <a:p>
            <a:pPr algn="l"/>
            <a:r>
              <a:rPr sz="1300" b="1" i="0">
                <a:solidFill>
                  <a:srgbClr val="E8A800"/>
                </a:solidFill>
              </a:rPr>
              <a:t>（エピソード発信）</a:t>
            </a:r>
          </a:p>
        </p:txBody>
      </p:sp>
      <p:sp>
        <p:nvSpPr>
          <p:cNvPr id="11" name="TextBox 10"/>
          <p:cNvSpPr txBox="1"/>
          <p:nvPr/>
        </p:nvSpPr>
        <p:spPr>
          <a:xfrm>
            <a:off x="594360" y="2487168"/>
            <a:ext cx="3383280" cy="1691640"/>
          </a:xfrm>
          <a:prstGeom prst="rect">
            <a:avLst/>
          </a:prstGeom>
          <a:noFill/>
        </p:spPr>
        <p:txBody>
          <a:bodyPr wrap="square">
            <a:spAutoFit/>
          </a:bodyPr>
          <a:lstStyle/>
          <a:p>
            <a:pPr algn="l"/>
            <a:r>
              <a:rPr sz="1100" b="0" i="0">
                <a:solidFill>
                  <a:srgbClr val="FFFFFF"/>
                </a:solidFill>
              </a:rPr>
              <a:t>「今月ショートする医療法人。事務長は逃亡。残されたのは動かない不動産。そこで私がやったこと──」</a:t>
            </a:r>
          </a:p>
          <a:p>
            <a:pPr algn="l"/>
            <a:r>
              <a:rPr sz="1100" b="0" i="0">
                <a:solidFill>
                  <a:srgbClr val="FFFFFF"/>
                </a:solidFill>
              </a:rPr>
              <a:t>→ 特定層が震えるリアルな実話を投稿。</a:t>
            </a:r>
          </a:p>
        </p:txBody>
      </p:sp>
      <p:sp>
        <p:nvSpPr>
          <p:cNvPr id="12" name="Rectangle 11"/>
          <p:cNvSpPr/>
          <p:nvPr/>
        </p:nvSpPr>
        <p:spPr>
          <a:xfrm>
            <a:off x="4178808" y="1737360"/>
            <a:ext cx="3611880" cy="25603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78808" y="1737360"/>
            <a:ext cx="36118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15968" y="1810512"/>
            <a:ext cx="3383280" cy="640080"/>
          </a:xfrm>
          <a:prstGeom prst="rect">
            <a:avLst/>
          </a:prstGeom>
          <a:noFill/>
        </p:spPr>
        <p:txBody>
          <a:bodyPr wrap="square">
            <a:spAutoFit/>
          </a:bodyPr>
          <a:lstStyle/>
          <a:p>
            <a:pPr algn="l"/>
            <a:r>
              <a:rPr sz="1300" b="1" i="0">
                <a:solidFill>
                  <a:srgbClr val="E8A800"/>
                </a:solidFill>
              </a:rPr>
              <a:t>② 情報の非対称性</a:t>
            </a:r>
          </a:p>
          <a:p>
            <a:pPr algn="l"/>
            <a:r>
              <a:rPr sz="1300" b="1" i="0">
                <a:solidFill>
                  <a:srgbClr val="E8A800"/>
                </a:solidFill>
              </a:rPr>
              <a:t>（専門家発信）</a:t>
            </a:r>
          </a:p>
        </p:txBody>
      </p:sp>
      <p:sp>
        <p:nvSpPr>
          <p:cNvPr id="15" name="TextBox 14"/>
          <p:cNvSpPr txBox="1"/>
          <p:nvPr/>
        </p:nvSpPr>
        <p:spPr>
          <a:xfrm>
            <a:off x="4315968" y="2487168"/>
            <a:ext cx="3383280" cy="1691640"/>
          </a:xfrm>
          <a:prstGeom prst="rect">
            <a:avLst/>
          </a:prstGeom>
          <a:noFill/>
        </p:spPr>
        <p:txBody>
          <a:bodyPr wrap="square">
            <a:spAutoFit/>
          </a:bodyPr>
          <a:lstStyle/>
          <a:p>
            <a:pPr algn="l"/>
            <a:r>
              <a:rPr sz="1100" b="0" i="0">
                <a:solidFill>
                  <a:srgbClr val="FFFFFF"/>
                </a:solidFill>
              </a:rPr>
              <a:t>「不動産業者に相談すると叩かれるだけの物件も、医療コンサルの視点を加えると価値が3倍になる理由」</a:t>
            </a:r>
          </a:p>
          <a:p>
            <a:pPr algn="l"/>
            <a:r>
              <a:rPr sz="1100" b="0" i="0">
                <a:solidFill>
                  <a:srgbClr val="FFFFFF"/>
                </a:solidFill>
              </a:rPr>
              <a:t>→ 専門知識を公開し権威を確立。</a:t>
            </a:r>
          </a:p>
        </p:txBody>
      </p:sp>
      <p:sp>
        <p:nvSpPr>
          <p:cNvPr id="16" name="Rectangle 15"/>
          <p:cNvSpPr/>
          <p:nvPr/>
        </p:nvSpPr>
        <p:spPr>
          <a:xfrm>
            <a:off x="7900416" y="1737360"/>
            <a:ext cx="3611880" cy="256032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00416" y="1737360"/>
            <a:ext cx="36118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37576" y="1810512"/>
            <a:ext cx="3383280" cy="640080"/>
          </a:xfrm>
          <a:prstGeom prst="rect">
            <a:avLst/>
          </a:prstGeom>
          <a:noFill/>
        </p:spPr>
        <p:txBody>
          <a:bodyPr wrap="square">
            <a:spAutoFit/>
          </a:bodyPr>
          <a:lstStyle/>
          <a:p>
            <a:pPr algn="l"/>
            <a:r>
              <a:rPr sz="1300" b="1" i="0">
                <a:solidFill>
                  <a:srgbClr val="E8A800"/>
                </a:solidFill>
              </a:rPr>
              <a:t>③ 逃げない覚悟</a:t>
            </a:r>
          </a:p>
          <a:p>
            <a:pPr algn="l"/>
            <a:r>
              <a:rPr sz="1300" b="1" i="0">
                <a:solidFill>
                  <a:srgbClr val="E8A800"/>
                </a:solidFill>
              </a:rPr>
              <a:t>（人間性発信）</a:t>
            </a:r>
          </a:p>
        </p:txBody>
      </p:sp>
      <p:sp>
        <p:nvSpPr>
          <p:cNvPr id="19" name="TextBox 18"/>
          <p:cNvSpPr txBox="1"/>
          <p:nvPr/>
        </p:nvSpPr>
        <p:spPr>
          <a:xfrm>
            <a:off x="8037576" y="2487168"/>
            <a:ext cx="3383280" cy="1691640"/>
          </a:xfrm>
          <a:prstGeom prst="rect">
            <a:avLst/>
          </a:prstGeom>
          <a:noFill/>
        </p:spPr>
        <p:txBody>
          <a:bodyPr wrap="square">
            <a:spAutoFit/>
          </a:bodyPr>
          <a:lstStyle/>
          <a:p>
            <a:pPr algn="l"/>
            <a:r>
              <a:rPr sz="1100" b="0" i="0">
                <a:solidFill>
                  <a:srgbClr val="FFFFFF"/>
                </a:solidFill>
              </a:rPr>
              <a:t>「カバン持ちから学んだ、最後の一人まで向き合う泥臭さ」</a:t>
            </a:r>
          </a:p>
          <a:p>
            <a:pPr algn="l"/>
            <a:r>
              <a:rPr sz="1100" b="0" i="0">
                <a:solidFill>
                  <a:srgbClr val="FFFFFF"/>
                </a:solidFill>
              </a:rPr>
              <a:t>→ 顧客が最も恐れる「業者の逃げ」を否定する。</a:t>
            </a:r>
          </a:p>
        </p:txBody>
      </p:sp>
      <p:sp>
        <p:nvSpPr>
          <p:cNvPr id="20" name="Rectangle 19"/>
          <p:cNvSpPr/>
          <p:nvPr/>
        </p:nvSpPr>
        <p:spPr>
          <a:xfrm>
            <a:off x="457200" y="4480560"/>
            <a:ext cx="2697480" cy="914400"/>
          </a:xfrm>
          <a:prstGeom prst="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544568"/>
            <a:ext cx="2514600" cy="274320"/>
          </a:xfrm>
          <a:prstGeom prst="rect">
            <a:avLst/>
          </a:prstGeom>
          <a:noFill/>
        </p:spPr>
        <p:txBody>
          <a:bodyPr wrap="square">
            <a:spAutoFit/>
          </a:bodyPr>
          <a:lstStyle/>
          <a:p>
            <a:pPr algn="l"/>
            <a:r>
              <a:rPr sz="1000" b="0" i="0">
                <a:solidFill>
                  <a:srgbClr val="E8A800"/>
                </a:solidFill>
              </a:rPr>
              <a:t>Step 1</a:t>
            </a:r>
          </a:p>
        </p:txBody>
      </p:sp>
      <p:sp>
        <p:nvSpPr>
          <p:cNvPr id="22" name="TextBox 21"/>
          <p:cNvSpPr txBox="1"/>
          <p:nvPr/>
        </p:nvSpPr>
        <p:spPr>
          <a:xfrm>
            <a:off x="566928" y="4846320"/>
            <a:ext cx="2514600" cy="502920"/>
          </a:xfrm>
          <a:prstGeom prst="rect">
            <a:avLst/>
          </a:prstGeom>
          <a:noFill/>
        </p:spPr>
        <p:txBody>
          <a:bodyPr wrap="square">
            <a:spAutoFit/>
          </a:bodyPr>
          <a:lstStyle/>
          <a:p>
            <a:pPr algn="l"/>
            <a:r>
              <a:rPr sz="1100" b="0" i="0">
                <a:solidFill>
                  <a:srgbClr val="FFFFFF"/>
                </a:solidFill>
              </a:rPr>
              <a:t>各業界の「太客の隣」に潜り込む</a:t>
            </a:r>
          </a:p>
          <a:p>
            <a:pPr algn="l"/>
            <a:r>
              <a:rPr sz="1100" b="0" i="0">
                <a:solidFill>
                  <a:srgbClr val="FFFFFF"/>
                </a:solidFill>
              </a:rPr>
              <a:t>（医療・福祉・士業など）</a:t>
            </a:r>
          </a:p>
        </p:txBody>
      </p:sp>
      <p:sp>
        <p:nvSpPr>
          <p:cNvPr id="23" name="Rectangle 22"/>
          <p:cNvSpPr/>
          <p:nvPr/>
        </p:nvSpPr>
        <p:spPr>
          <a:xfrm>
            <a:off x="3264408" y="4480560"/>
            <a:ext cx="2697480" cy="914400"/>
          </a:xfrm>
          <a:prstGeom prst="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74136" y="4544568"/>
            <a:ext cx="2514600" cy="274320"/>
          </a:xfrm>
          <a:prstGeom prst="rect">
            <a:avLst/>
          </a:prstGeom>
          <a:noFill/>
        </p:spPr>
        <p:txBody>
          <a:bodyPr wrap="square">
            <a:spAutoFit/>
          </a:bodyPr>
          <a:lstStyle/>
          <a:p>
            <a:pPr algn="l"/>
            <a:r>
              <a:rPr sz="1000" b="0" i="0">
                <a:solidFill>
                  <a:srgbClr val="E8A800"/>
                </a:solidFill>
              </a:rPr>
              <a:t>Step 2</a:t>
            </a:r>
          </a:p>
        </p:txBody>
      </p:sp>
      <p:sp>
        <p:nvSpPr>
          <p:cNvPr id="25" name="TextBox 24"/>
          <p:cNvSpPr txBox="1"/>
          <p:nvPr/>
        </p:nvSpPr>
        <p:spPr>
          <a:xfrm>
            <a:off x="3374136" y="4846320"/>
            <a:ext cx="2514600" cy="502920"/>
          </a:xfrm>
          <a:prstGeom prst="rect">
            <a:avLst/>
          </a:prstGeom>
          <a:noFill/>
        </p:spPr>
        <p:txBody>
          <a:bodyPr wrap="square">
            <a:spAutoFit/>
          </a:bodyPr>
          <a:lstStyle/>
          <a:p>
            <a:pPr algn="l"/>
            <a:r>
              <a:rPr sz="1100" b="0" i="0">
                <a:solidFill>
                  <a:srgbClr val="FFFFFF"/>
                </a:solidFill>
              </a:rPr>
              <a:t>難件を拾ってくる</a:t>
            </a:r>
          </a:p>
          <a:p>
            <a:pPr algn="l"/>
            <a:r>
              <a:rPr sz="1100" b="0" i="0">
                <a:solidFill>
                  <a:srgbClr val="FFFFFF"/>
                </a:solidFill>
              </a:rPr>
              <a:t>（入り口コンサル）</a:t>
            </a:r>
          </a:p>
        </p:txBody>
      </p:sp>
      <p:sp>
        <p:nvSpPr>
          <p:cNvPr id="26" name="Rectangle 25"/>
          <p:cNvSpPr/>
          <p:nvPr/>
        </p:nvSpPr>
        <p:spPr>
          <a:xfrm>
            <a:off x="6071616" y="4480560"/>
            <a:ext cx="2697480" cy="914400"/>
          </a:xfrm>
          <a:prstGeom prst="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81344" y="4544568"/>
            <a:ext cx="2514600" cy="274320"/>
          </a:xfrm>
          <a:prstGeom prst="rect">
            <a:avLst/>
          </a:prstGeom>
          <a:noFill/>
        </p:spPr>
        <p:txBody>
          <a:bodyPr wrap="square">
            <a:spAutoFit/>
          </a:bodyPr>
          <a:lstStyle/>
          <a:p>
            <a:pPr algn="l"/>
            <a:r>
              <a:rPr sz="1000" b="0" i="0">
                <a:solidFill>
                  <a:srgbClr val="E8A800"/>
                </a:solidFill>
              </a:rPr>
              <a:t>Step 3</a:t>
            </a:r>
          </a:p>
        </p:txBody>
      </p:sp>
      <p:sp>
        <p:nvSpPr>
          <p:cNvPr id="28" name="TextBox 27"/>
          <p:cNvSpPr txBox="1"/>
          <p:nvPr/>
        </p:nvSpPr>
        <p:spPr>
          <a:xfrm>
            <a:off x="6181344" y="4846320"/>
            <a:ext cx="2514600" cy="502920"/>
          </a:xfrm>
          <a:prstGeom prst="rect">
            <a:avLst/>
          </a:prstGeom>
          <a:noFill/>
        </p:spPr>
        <p:txBody>
          <a:bodyPr wrap="square">
            <a:spAutoFit/>
          </a:bodyPr>
          <a:lstStyle/>
          <a:p>
            <a:pPr algn="l"/>
            <a:r>
              <a:rPr sz="1100" b="0" i="0">
                <a:solidFill>
                  <a:srgbClr val="FFFFFF"/>
                </a:solidFill>
              </a:rPr>
              <a:t>出口の刈り取りを</a:t>
            </a:r>
          </a:p>
          <a:p>
            <a:pPr algn="l"/>
            <a:r>
              <a:rPr sz="1100" b="0" i="0">
                <a:solidFill>
                  <a:srgbClr val="FFFFFF"/>
                </a:solidFill>
              </a:rPr>
              <a:t>指揮・バックアップ</a:t>
            </a:r>
          </a:p>
        </p:txBody>
      </p:sp>
      <p:sp>
        <p:nvSpPr>
          <p:cNvPr id="29" name="Rectangle 28"/>
          <p:cNvSpPr/>
          <p:nvPr/>
        </p:nvSpPr>
        <p:spPr>
          <a:xfrm>
            <a:off x="8878824" y="4480560"/>
            <a:ext cx="2697480" cy="914400"/>
          </a:xfrm>
          <a:prstGeom prst="rect">
            <a:avLst/>
          </a:prstGeom>
          <a:solidFill>
            <a:srgbClr val="1A35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88552" y="4544568"/>
            <a:ext cx="2514600" cy="274320"/>
          </a:xfrm>
          <a:prstGeom prst="rect">
            <a:avLst/>
          </a:prstGeom>
          <a:noFill/>
        </p:spPr>
        <p:txBody>
          <a:bodyPr wrap="square">
            <a:spAutoFit/>
          </a:bodyPr>
          <a:lstStyle/>
          <a:p>
            <a:pPr algn="l"/>
            <a:r>
              <a:rPr sz="1000" b="0" i="0">
                <a:solidFill>
                  <a:srgbClr val="E8A800"/>
                </a:solidFill>
              </a:rPr>
              <a:t>Step 4</a:t>
            </a:r>
          </a:p>
        </p:txBody>
      </p:sp>
      <p:sp>
        <p:nvSpPr>
          <p:cNvPr id="31" name="TextBox 30"/>
          <p:cNvSpPr txBox="1"/>
          <p:nvPr/>
        </p:nvSpPr>
        <p:spPr>
          <a:xfrm>
            <a:off x="8988552" y="4846320"/>
            <a:ext cx="2514600" cy="502920"/>
          </a:xfrm>
          <a:prstGeom prst="rect">
            <a:avLst/>
          </a:prstGeom>
          <a:noFill/>
        </p:spPr>
        <p:txBody>
          <a:bodyPr wrap="square">
            <a:spAutoFit/>
          </a:bodyPr>
          <a:lstStyle/>
          <a:p>
            <a:pPr algn="l"/>
            <a:r>
              <a:rPr sz="1100" b="0" i="0">
                <a:solidFill>
                  <a:srgbClr val="FFFFFF"/>
                </a:solidFill>
              </a:rPr>
              <a:t>粗利を分配し</a:t>
            </a:r>
          </a:p>
          <a:p>
            <a:pPr algn="l"/>
            <a:r>
              <a:rPr sz="1100" b="0" i="0">
                <a:solidFill>
                  <a:srgbClr val="FFFFFF"/>
                </a:solidFill>
              </a:rPr>
              <a:t>実績としてコンテンツ化</a:t>
            </a:r>
          </a:p>
        </p:txBody>
      </p:sp>
      <p:sp>
        <p:nvSpPr>
          <p:cNvPr id="32" name="TextBox 31"/>
          <p:cNvSpPr txBox="1"/>
          <p:nvPr/>
        </p:nvSpPr>
        <p:spPr>
          <a:xfrm>
            <a:off x="457200" y="5577840"/>
            <a:ext cx="11155680" cy="320040"/>
          </a:xfrm>
          <a:prstGeom prst="rect">
            <a:avLst/>
          </a:prstGeom>
          <a:noFill/>
        </p:spPr>
        <p:txBody>
          <a:bodyPr wrap="square">
            <a:spAutoFit/>
          </a:bodyPr>
          <a:lstStyle/>
          <a:p>
            <a:pPr algn="l"/>
            <a:r>
              <a:rPr sz="1200" b="1" i="1">
                <a:solidFill>
                  <a:srgbClr val="E8A800"/>
                </a:solidFill>
              </a:rPr>
              <a:t>「不動産屋を名乗っているうちは、仲介手数料の枠から出られない。」</a:t>
            </a:r>
          </a:p>
        </p:txBody>
      </p:sp>
      <p:sp>
        <p:nvSpPr>
          <p:cNvPr id="33" name="TextBox 32"/>
          <p:cNvSpPr txBox="1"/>
          <p:nvPr/>
        </p:nvSpPr>
        <p:spPr>
          <a:xfrm>
            <a:off x="457200" y="5943600"/>
            <a:ext cx="11155680" cy="320040"/>
          </a:xfrm>
          <a:prstGeom prst="rect">
            <a:avLst/>
          </a:prstGeom>
          <a:noFill/>
        </p:spPr>
        <p:txBody>
          <a:bodyPr wrap="square">
            <a:spAutoFit/>
          </a:bodyPr>
          <a:lstStyle/>
          <a:p>
            <a:pPr algn="l"/>
            <a:r>
              <a:rPr sz="1200" b="1" i="1">
                <a:solidFill>
                  <a:srgbClr val="E8A800"/>
                </a:solidFill>
              </a:rPr>
              <a:t>「一生営業したくないなら、一生モノの『信頼のダム』を今すぐ掘れ。」</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6510528"/>
            <a:ext cx="12188952" cy="34747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6537960"/>
            <a:ext cx="9144000" cy="292608"/>
          </a:xfrm>
          <a:prstGeom prst="rect">
            <a:avLst/>
          </a:prstGeom>
          <a:noFill/>
        </p:spPr>
        <p:txBody>
          <a:bodyPr wrap="square">
            <a:spAutoFit/>
          </a:bodyPr>
          <a:lstStyle/>
          <a:p>
            <a:pPr algn="l"/>
            <a:r>
              <a:rPr sz="900" b="0" i="0">
                <a:solidFill>
                  <a:srgbClr val="CCD6E0"/>
                </a:solidFill>
              </a:rPr>
              <a:t>医療専門不動産  |  ビジネスモデル</a:t>
            </a:r>
          </a:p>
        </p:txBody>
      </p:sp>
      <p:sp>
        <p:nvSpPr>
          <p:cNvPr id="4" name="Rectangle 3"/>
          <p:cNvSpPr/>
          <p:nvPr/>
        </p:nvSpPr>
        <p:spPr>
          <a:xfrm>
            <a:off x="0" y="0"/>
            <a:ext cx="12188952"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64592"/>
            <a:ext cx="10972800" cy="594360"/>
          </a:xfrm>
          <a:prstGeom prst="rect">
            <a:avLst/>
          </a:prstGeom>
          <a:noFill/>
        </p:spPr>
        <p:txBody>
          <a:bodyPr wrap="square">
            <a:spAutoFit/>
          </a:bodyPr>
          <a:lstStyle/>
          <a:p>
            <a:pPr algn="l"/>
            <a:r>
              <a:rPr sz="2400" b="1" i="0">
                <a:solidFill>
                  <a:srgbClr val="FFFFFF"/>
                </a:solidFill>
              </a:rPr>
              <a:t>CLOSING  /  明日から動ける、ノウハウの結論</a:t>
            </a:r>
          </a:p>
        </p:txBody>
      </p:sp>
      <p:sp>
        <p:nvSpPr>
          <p:cNvPr id="6" name="TextBox 5"/>
          <p:cNvSpPr txBox="1"/>
          <p:nvPr/>
        </p:nvSpPr>
        <p:spPr>
          <a:xfrm>
            <a:off x="548640" y="713232"/>
            <a:ext cx="10972800" cy="274320"/>
          </a:xfrm>
          <a:prstGeom prst="rect">
            <a:avLst/>
          </a:prstGeom>
          <a:noFill/>
        </p:spPr>
        <p:txBody>
          <a:bodyPr wrap="square">
            <a:spAutoFit/>
          </a:bodyPr>
          <a:lstStyle/>
          <a:p>
            <a:pPr algn="l"/>
            <a:r>
              <a:rPr sz="1100" b="0" i="0">
                <a:solidFill>
                  <a:srgbClr val="CCD6E0"/>
                </a:solidFill>
              </a:rPr>
              <a:t>派手な近道はない。1件ずつ、目の前を大切にする。</a:t>
            </a:r>
          </a:p>
        </p:txBody>
      </p:sp>
      <p:sp>
        <p:nvSpPr>
          <p:cNvPr id="7" name="Rectangle 6"/>
          <p:cNvSpPr/>
          <p:nvPr/>
        </p:nvSpPr>
        <p:spPr>
          <a:xfrm>
            <a:off x="411480" y="1170432"/>
            <a:ext cx="3611880" cy="107899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 y="1170432"/>
            <a:ext cx="36118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280160"/>
            <a:ext cx="3383280" cy="347472"/>
          </a:xfrm>
          <a:prstGeom prst="rect">
            <a:avLst/>
          </a:prstGeom>
          <a:noFill/>
        </p:spPr>
        <p:txBody>
          <a:bodyPr wrap="square">
            <a:spAutoFit/>
          </a:bodyPr>
          <a:lstStyle/>
          <a:p>
            <a:pPr algn="l"/>
            <a:r>
              <a:rPr sz="1400" b="1" i="0">
                <a:solidFill>
                  <a:srgbClr val="E8A800"/>
                </a:solidFill>
              </a:rPr>
              <a:t>フットワーク軽く</a:t>
            </a:r>
          </a:p>
        </p:txBody>
      </p:sp>
      <p:sp>
        <p:nvSpPr>
          <p:cNvPr id="10" name="TextBox 9"/>
          <p:cNvSpPr txBox="1"/>
          <p:nvPr/>
        </p:nvSpPr>
        <p:spPr>
          <a:xfrm>
            <a:off x="548640" y="1673352"/>
            <a:ext cx="3383280" cy="502920"/>
          </a:xfrm>
          <a:prstGeom prst="rect">
            <a:avLst/>
          </a:prstGeom>
          <a:noFill/>
        </p:spPr>
        <p:txBody>
          <a:bodyPr wrap="square">
            <a:spAutoFit/>
          </a:bodyPr>
          <a:lstStyle/>
          <a:p>
            <a:pPr algn="l"/>
            <a:r>
              <a:rPr sz="1100" b="0" i="0">
                <a:solidFill>
                  <a:srgbClr val="FFFFFF"/>
                </a:solidFill>
              </a:rPr>
              <a:t>連絡は即返信。スピードで信頼を作る。</a:t>
            </a:r>
          </a:p>
        </p:txBody>
      </p:sp>
      <p:sp>
        <p:nvSpPr>
          <p:cNvPr id="11" name="Rectangle 10"/>
          <p:cNvSpPr/>
          <p:nvPr/>
        </p:nvSpPr>
        <p:spPr>
          <a:xfrm>
            <a:off x="4133088" y="1170432"/>
            <a:ext cx="3611880" cy="107899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33088" y="1170432"/>
            <a:ext cx="36118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70248" y="1280160"/>
            <a:ext cx="3383280" cy="347472"/>
          </a:xfrm>
          <a:prstGeom prst="rect">
            <a:avLst/>
          </a:prstGeom>
          <a:noFill/>
        </p:spPr>
        <p:txBody>
          <a:bodyPr wrap="square">
            <a:spAutoFit/>
          </a:bodyPr>
          <a:lstStyle/>
          <a:p>
            <a:pPr algn="l"/>
            <a:r>
              <a:rPr sz="1400" b="1" i="0">
                <a:solidFill>
                  <a:srgbClr val="E8A800"/>
                </a:solidFill>
              </a:rPr>
              <a:t>顔を出し続けろ</a:t>
            </a:r>
          </a:p>
        </p:txBody>
      </p:sp>
      <p:sp>
        <p:nvSpPr>
          <p:cNvPr id="14" name="TextBox 13"/>
          <p:cNvSpPr txBox="1"/>
          <p:nvPr/>
        </p:nvSpPr>
        <p:spPr>
          <a:xfrm>
            <a:off x="4270248" y="1673352"/>
            <a:ext cx="3383280" cy="502920"/>
          </a:xfrm>
          <a:prstGeom prst="rect">
            <a:avLst/>
          </a:prstGeom>
          <a:noFill/>
        </p:spPr>
        <p:txBody>
          <a:bodyPr wrap="square">
            <a:spAutoFit/>
          </a:bodyPr>
          <a:lstStyle/>
          <a:p>
            <a:pPr algn="l"/>
            <a:r>
              <a:rPr sz="1100" b="0" i="0">
                <a:solidFill>
                  <a:srgbClr val="FFFFFF"/>
                </a:solidFill>
              </a:rPr>
              <a:t>1回では覚えられない。3回、5回、10回。義理が信頼に化ける。</a:t>
            </a:r>
          </a:p>
        </p:txBody>
      </p:sp>
      <p:sp>
        <p:nvSpPr>
          <p:cNvPr id="15" name="Rectangle 14"/>
          <p:cNvSpPr/>
          <p:nvPr/>
        </p:nvSpPr>
        <p:spPr>
          <a:xfrm>
            <a:off x="7854696" y="1170432"/>
            <a:ext cx="3611880" cy="107899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54696" y="1170432"/>
            <a:ext cx="36118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91856" y="1280160"/>
            <a:ext cx="3383280" cy="347472"/>
          </a:xfrm>
          <a:prstGeom prst="rect">
            <a:avLst/>
          </a:prstGeom>
          <a:noFill/>
        </p:spPr>
        <p:txBody>
          <a:bodyPr wrap="square">
            <a:spAutoFit/>
          </a:bodyPr>
          <a:lstStyle/>
          <a:p>
            <a:pPr algn="l"/>
            <a:r>
              <a:rPr sz="1400" b="1" i="0">
                <a:solidFill>
                  <a:srgbClr val="E8A800"/>
                </a:solidFill>
              </a:rPr>
              <a:t>足を使え</a:t>
            </a:r>
          </a:p>
        </p:txBody>
      </p:sp>
      <p:sp>
        <p:nvSpPr>
          <p:cNvPr id="18" name="TextBox 17"/>
          <p:cNvSpPr txBox="1"/>
          <p:nvPr/>
        </p:nvSpPr>
        <p:spPr>
          <a:xfrm>
            <a:off x="7991856" y="1673352"/>
            <a:ext cx="3383280" cy="502920"/>
          </a:xfrm>
          <a:prstGeom prst="rect">
            <a:avLst/>
          </a:prstGeom>
          <a:noFill/>
        </p:spPr>
        <p:txBody>
          <a:bodyPr wrap="square">
            <a:spAutoFit/>
          </a:bodyPr>
          <a:lstStyle/>
          <a:p>
            <a:pPr algn="l"/>
            <a:r>
              <a:rPr sz="1100" b="0" i="0">
                <a:solidFill>
                  <a:srgbClr val="FFFFFF"/>
                </a:solidFill>
              </a:rPr>
              <a:t>現地・士業事務所・医師の診察室。机では分からないことが現場にある。</a:t>
            </a:r>
          </a:p>
        </p:txBody>
      </p:sp>
      <p:sp>
        <p:nvSpPr>
          <p:cNvPr id="19" name="Rectangle 18"/>
          <p:cNvSpPr/>
          <p:nvPr/>
        </p:nvSpPr>
        <p:spPr>
          <a:xfrm>
            <a:off x="411480" y="2377440"/>
            <a:ext cx="3611880" cy="107899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11480" y="2377440"/>
            <a:ext cx="36118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2487168"/>
            <a:ext cx="3383280" cy="347472"/>
          </a:xfrm>
          <a:prstGeom prst="rect">
            <a:avLst/>
          </a:prstGeom>
          <a:noFill/>
        </p:spPr>
        <p:txBody>
          <a:bodyPr wrap="square">
            <a:spAutoFit/>
          </a:bodyPr>
          <a:lstStyle/>
          <a:p>
            <a:pPr algn="l"/>
            <a:r>
              <a:rPr sz="1400" b="1" i="0">
                <a:solidFill>
                  <a:srgbClr val="E8A800"/>
                </a:solidFill>
              </a:rPr>
              <a:t>頭を使え</a:t>
            </a:r>
          </a:p>
        </p:txBody>
      </p:sp>
      <p:sp>
        <p:nvSpPr>
          <p:cNvPr id="22" name="TextBox 21"/>
          <p:cNvSpPr txBox="1"/>
          <p:nvPr/>
        </p:nvSpPr>
        <p:spPr>
          <a:xfrm>
            <a:off x="548640" y="2880360"/>
            <a:ext cx="3383280" cy="502920"/>
          </a:xfrm>
          <a:prstGeom prst="rect">
            <a:avLst/>
          </a:prstGeom>
          <a:noFill/>
        </p:spPr>
        <p:txBody>
          <a:bodyPr wrap="square">
            <a:spAutoFit/>
          </a:bodyPr>
          <a:lstStyle/>
          <a:p>
            <a:pPr algn="l"/>
            <a:r>
              <a:rPr sz="1100" b="0" i="0">
                <a:solidFill>
                  <a:srgbClr val="FFFFFF"/>
                </a:solidFill>
              </a:rPr>
              <a:t>30年スパンで考える。1件の手数料ではなく生涯LTVから逆算する。</a:t>
            </a:r>
          </a:p>
        </p:txBody>
      </p:sp>
      <p:sp>
        <p:nvSpPr>
          <p:cNvPr id="23" name="Rectangle 22"/>
          <p:cNvSpPr/>
          <p:nvPr/>
        </p:nvSpPr>
        <p:spPr>
          <a:xfrm>
            <a:off x="4133088" y="2377440"/>
            <a:ext cx="3611880" cy="107899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33088" y="2377440"/>
            <a:ext cx="36118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70248" y="2487168"/>
            <a:ext cx="3383280" cy="347472"/>
          </a:xfrm>
          <a:prstGeom prst="rect">
            <a:avLst/>
          </a:prstGeom>
          <a:noFill/>
        </p:spPr>
        <p:txBody>
          <a:bodyPr wrap="square">
            <a:spAutoFit/>
          </a:bodyPr>
          <a:lstStyle/>
          <a:p>
            <a:pPr algn="l"/>
            <a:r>
              <a:rPr sz="1400" b="1" i="0">
                <a:solidFill>
                  <a:srgbClr val="E8A800"/>
                </a:solidFill>
              </a:rPr>
              <a:t>金を使え</a:t>
            </a:r>
          </a:p>
        </p:txBody>
      </p:sp>
      <p:sp>
        <p:nvSpPr>
          <p:cNvPr id="26" name="TextBox 25"/>
          <p:cNvSpPr txBox="1"/>
          <p:nvPr/>
        </p:nvSpPr>
        <p:spPr>
          <a:xfrm>
            <a:off x="4270248" y="2880360"/>
            <a:ext cx="3383280" cy="502920"/>
          </a:xfrm>
          <a:prstGeom prst="rect">
            <a:avLst/>
          </a:prstGeom>
          <a:noFill/>
        </p:spPr>
        <p:txBody>
          <a:bodyPr wrap="square">
            <a:spAutoFit/>
          </a:bodyPr>
          <a:lstStyle/>
          <a:p>
            <a:pPr algn="l"/>
            <a:r>
              <a:rPr sz="1100" b="0" i="0">
                <a:solidFill>
                  <a:srgbClr val="FFFFFF"/>
                </a:solidFill>
              </a:rPr>
              <a:t>情報・人脈・道具に投資する。ケチると、機会のほうが先に去る。</a:t>
            </a:r>
          </a:p>
        </p:txBody>
      </p:sp>
      <p:sp>
        <p:nvSpPr>
          <p:cNvPr id="27" name="Rectangle 26"/>
          <p:cNvSpPr/>
          <p:nvPr/>
        </p:nvSpPr>
        <p:spPr>
          <a:xfrm>
            <a:off x="7854696" y="2377440"/>
            <a:ext cx="3611880" cy="1078992"/>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854696" y="2377440"/>
            <a:ext cx="3611880" cy="54864"/>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91856" y="2487168"/>
            <a:ext cx="3383280" cy="347472"/>
          </a:xfrm>
          <a:prstGeom prst="rect">
            <a:avLst/>
          </a:prstGeom>
          <a:noFill/>
        </p:spPr>
        <p:txBody>
          <a:bodyPr wrap="square">
            <a:spAutoFit/>
          </a:bodyPr>
          <a:lstStyle/>
          <a:p>
            <a:pPr algn="l"/>
            <a:r>
              <a:rPr sz="1400" b="1" i="0">
                <a:solidFill>
                  <a:srgbClr val="E8A800"/>
                </a:solidFill>
              </a:rPr>
              <a:t>まず1件取れ</a:t>
            </a:r>
          </a:p>
        </p:txBody>
      </p:sp>
      <p:sp>
        <p:nvSpPr>
          <p:cNvPr id="30" name="TextBox 29"/>
          <p:cNvSpPr txBox="1"/>
          <p:nvPr/>
        </p:nvSpPr>
        <p:spPr>
          <a:xfrm>
            <a:off x="7991856" y="2880360"/>
            <a:ext cx="3383280" cy="502920"/>
          </a:xfrm>
          <a:prstGeom prst="rect">
            <a:avLst/>
          </a:prstGeom>
          <a:noFill/>
        </p:spPr>
        <p:txBody>
          <a:bodyPr wrap="square">
            <a:spAutoFit/>
          </a:bodyPr>
          <a:lstStyle/>
          <a:p>
            <a:pPr algn="l"/>
            <a:r>
              <a:rPr sz="1100" b="0" i="0">
                <a:solidFill>
                  <a:srgbClr val="FFFFFF"/>
                </a:solidFill>
              </a:rPr>
              <a:t>完璧を待たずに動く。1件目を「事故なく」完遂すれば次の100件の入口になる。</a:t>
            </a:r>
          </a:p>
        </p:txBody>
      </p:sp>
      <p:sp>
        <p:nvSpPr>
          <p:cNvPr id="31" name="Rectangle 30"/>
          <p:cNvSpPr/>
          <p:nvPr/>
        </p:nvSpPr>
        <p:spPr>
          <a:xfrm>
            <a:off x="502920" y="3730752"/>
            <a:ext cx="73152" cy="77724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3803904"/>
            <a:ext cx="10972800" cy="658368"/>
          </a:xfrm>
          <a:prstGeom prst="rect">
            <a:avLst/>
          </a:prstGeom>
          <a:noFill/>
        </p:spPr>
        <p:txBody>
          <a:bodyPr wrap="square">
            <a:spAutoFit/>
          </a:bodyPr>
          <a:lstStyle/>
          <a:p>
            <a:pPr algn="l"/>
            <a:r>
              <a:rPr sz="1100" b="0" i="0">
                <a:solidFill>
                  <a:srgbClr val="FFFFFF"/>
                </a:solidFill>
              </a:rPr>
              <a:t>【エピソード：最初の1件】正直、何もわからなかった。でも逃げなかった。深夜まで資料を直した。融資担当者に電話をかけ続けた。その1件が完遂できた日、医師からこう言われた。「次の先生も紹介しますよ」──それが2件目の入口だった。完璧を待っていたら、その1件も2件目もなかった。</a:t>
            </a:r>
          </a:p>
        </p:txBody>
      </p:sp>
      <p:sp>
        <p:nvSpPr>
          <p:cNvPr id="33" name="TextBox 32"/>
          <p:cNvSpPr txBox="1"/>
          <p:nvPr/>
        </p:nvSpPr>
        <p:spPr>
          <a:xfrm>
            <a:off x="411480" y="5120640"/>
            <a:ext cx="11155680" cy="384048"/>
          </a:xfrm>
          <a:prstGeom prst="rect">
            <a:avLst/>
          </a:prstGeom>
          <a:noFill/>
        </p:spPr>
        <p:txBody>
          <a:bodyPr wrap="square">
            <a:spAutoFit/>
          </a:bodyPr>
          <a:lstStyle/>
          <a:p>
            <a:pPr algn="l"/>
            <a:r>
              <a:rPr sz="1500" b="1" i="0">
                <a:solidFill>
                  <a:srgbClr val="E8A800"/>
                </a:solidFill>
              </a:rPr>
              <a:t>そして──「医師を分かる業者」になれ。士業も医師も、結局そこを見ている。</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852160"/>
            <a:ext cx="12188952" cy="1005840"/>
          </a:xfrm>
          <a:prstGeom prst="rect">
            <a:avLst/>
          </a:prstGeom>
          <a:solidFill>
            <a:srgbClr val="1A2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3154680"/>
            <a:ext cx="9144000" cy="36576"/>
          </a:xfrm>
          <a:prstGeom prst="rect">
            <a:avLst/>
          </a:prstGeom>
          <a:solidFill>
            <a:srgbClr val="E8A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777240"/>
            <a:ext cx="10515600" cy="502920"/>
          </a:xfrm>
          <a:prstGeom prst="rect">
            <a:avLst/>
          </a:prstGeom>
          <a:noFill/>
        </p:spPr>
        <p:txBody>
          <a:bodyPr wrap="square">
            <a:spAutoFit/>
          </a:bodyPr>
          <a:lstStyle/>
          <a:p>
            <a:pPr algn="l"/>
            <a:r>
              <a:rPr sz="1900" b="0" i="0">
                <a:solidFill>
                  <a:srgbClr val="CCD6E0"/>
                </a:solidFill>
              </a:rPr>
              <a:t>ご清聴ありがとうございました。</a:t>
            </a:r>
          </a:p>
        </p:txBody>
      </p:sp>
      <p:sp>
        <p:nvSpPr>
          <p:cNvPr id="6" name="TextBox 5"/>
          <p:cNvSpPr txBox="1"/>
          <p:nvPr/>
        </p:nvSpPr>
        <p:spPr>
          <a:xfrm>
            <a:off x="822960" y="1371600"/>
            <a:ext cx="10515600" cy="1554480"/>
          </a:xfrm>
          <a:prstGeom prst="rect">
            <a:avLst/>
          </a:prstGeom>
          <a:noFill/>
        </p:spPr>
        <p:txBody>
          <a:bodyPr wrap="square">
            <a:spAutoFit/>
          </a:bodyPr>
          <a:lstStyle/>
          <a:p>
            <a:pPr algn="l"/>
            <a:r>
              <a:rPr sz="4400" b="1" i="0">
                <a:solidFill>
                  <a:srgbClr val="FFFFFF"/>
                </a:solidFill>
              </a:rPr>
              <a:t>1人の医師に、</a:t>
            </a:r>
          </a:p>
          <a:p>
            <a:pPr algn="l"/>
            <a:r>
              <a:rPr sz="4400" b="1" i="0">
                <a:solidFill>
                  <a:srgbClr val="FFFFFF"/>
                </a:solidFill>
              </a:rPr>
              <a:t>30年寄り添う。</a:t>
            </a:r>
          </a:p>
        </p:txBody>
      </p:sp>
      <p:sp>
        <p:nvSpPr>
          <p:cNvPr id="7" name="TextBox 6"/>
          <p:cNvSpPr txBox="1"/>
          <p:nvPr/>
        </p:nvSpPr>
        <p:spPr>
          <a:xfrm>
            <a:off x="822960" y="3246120"/>
            <a:ext cx="10515600" cy="475488"/>
          </a:xfrm>
          <a:prstGeom prst="rect">
            <a:avLst/>
          </a:prstGeom>
          <a:noFill/>
        </p:spPr>
        <p:txBody>
          <a:bodyPr wrap="square">
            <a:spAutoFit/>
          </a:bodyPr>
          <a:lstStyle/>
          <a:p>
            <a:pPr algn="l"/>
            <a:r>
              <a:rPr sz="1900" b="0" i="0">
                <a:solidFill>
                  <a:srgbClr val="CCD6E0"/>
                </a:solidFill>
              </a:rPr>
              <a:t>これが、医療専門不動産のビジネスモデル。</a:t>
            </a:r>
          </a:p>
        </p:txBody>
      </p:sp>
      <p:sp>
        <p:nvSpPr>
          <p:cNvPr id="8" name="TextBox 7"/>
          <p:cNvSpPr txBox="1"/>
          <p:nvPr/>
        </p:nvSpPr>
        <p:spPr>
          <a:xfrm>
            <a:off x="822960" y="4572000"/>
            <a:ext cx="6400800" cy="438912"/>
          </a:xfrm>
          <a:prstGeom prst="rect">
            <a:avLst/>
          </a:prstGeom>
          <a:noFill/>
        </p:spPr>
        <p:txBody>
          <a:bodyPr wrap="square">
            <a:spAutoFit/>
          </a:bodyPr>
          <a:lstStyle/>
          <a:p>
            <a:pPr algn="l"/>
            <a:r>
              <a:rPr sz="1900" b="1" i="0">
                <a:solidFill>
                  <a:srgbClr val="FFFFFF"/>
                </a:solidFill>
              </a:rPr>
              <a:t>チームてっかん  |  菊池</a:t>
            </a:r>
          </a:p>
        </p:txBody>
      </p:sp>
      <p:sp>
        <p:nvSpPr>
          <p:cNvPr id="9" name="TextBox 8"/>
          <p:cNvSpPr txBox="1"/>
          <p:nvPr/>
        </p:nvSpPr>
        <p:spPr>
          <a:xfrm>
            <a:off x="822960" y="5074920"/>
            <a:ext cx="6400800" cy="365760"/>
          </a:xfrm>
          <a:prstGeom prst="rect">
            <a:avLst/>
          </a:prstGeom>
          <a:noFill/>
        </p:spPr>
        <p:txBody>
          <a:bodyPr wrap="square">
            <a:spAutoFit/>
          </a:bodyPr>
          <a:lstStyle/>
          <a:p>
            <a:pPr algn="l"/>
            <a:r>
              <a:rPr sz="1300" b="0" i="0">
                <a:solidFill>
                  <a:srgbClr val="CCD6E0"/>
                </a:solidFill>
              </a:rPr>
              <a:t>ご相談・面談、お気軽にどうぞ。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
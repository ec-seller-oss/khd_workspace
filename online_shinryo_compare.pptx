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50800" cy="9144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AA2E26"/>
                </a:solidFill>
                <a:latin typeface="Hiragino Sans"/>
              </a:rPr>
              <a:t>ONLINE CONSULTATION ｜ 京橋クリニック（内科・初診からを想定）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65836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Hiragino Sans"/>
              </a:rPr>
              <a:t>オンライン診療 ── 3社比較と、月曜デモの手順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07008"/>
            <a:ext cx="1051560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17320"/>
          <a:ext cx="685800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2011680"/>
                <a:gridCol w="182880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54864" marR="36576" marT="18288" marB="18288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Hiragino Sans"/>
                        </a:rPr>
                        <a:t>CLINICS（メドレー）</a:t>
                      </a:r>
                    </a:p>
                  </a:txBody>
                  <a:tcPr anchor="ctr" marL="54864" marR="36576" marT="18288" marB="18288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Hiragino Sans"/>
                        </a:rPr>
                        <a:t>curon（MICIN）</a:t>
                      </a:r>
                    </a:p>
                  </a:txBody>
                  <a:tcPr anchor="ctr" marL="54864" marR="36576" marT="18288" marB="18288">
                    <a:solidFill>
                      <a:srgbClr val="8C24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Hiragino Sans"/>
                        </a:rPr>
                        <a:t>YaDoc</a:t>
                      </a:r>
                    </a:p>
                  </a:txBody>
                  <a:tcPr anchor="ctr" marL="54864" marR="36576" marT="18288" marB="18288">
                    <a:solidFill>
                      <a:srgbClr val="AA2E2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Hiragino Sans"/>
                        </a:rPr>
                        <a:t>iPad</a:t>
                      </a:r>
                    </a:p>
                  </a:txBody>
                  <a:tcPr anchor="ctr" marL="54864" marR="36576" marT="18288" marB="1828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Hiragino Sans"/>
                        </a:rPr>
                        <a:t>◎</a:t>
                      </a:r>
                    </a:p>
                  </a:txBody>
                  <a:tcPr anchor="ctr" marL="54864" marR="36576" marT="18288" marB="1828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8C241D"/>
                          </a:solidFill>
                          <a:latin typeface="Hiragino Sans"/>
                        </a:rPr>
                        <a:t>◎ Web版可</a:t>
                      </a:r>
                    </a:p>
                  </a:txBody>
                  <a:tcPr anchor="ctr" marL="54864" marR="36576" marT="18288" marB="18288">
                    <a:solidFill>
                      <a:srgbClr val="F4E4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Hiragino Sans"/>
                        </a:rPr>
                        <a:t>◎</a:t>
                      </a:r>
                    </a:p>
                  </a:txBody>
                  <a:tcPr anchor="ctr" marL="54864" marR="36576" marT="18288" marB="18288">
                    <a:solidFill>
                      <a:srgbClr val="F1ECE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Hiragino Sans"/>
                        </a:rPr>
                        <a:t>費用</a:t>
                      </a:r>
                    </a:p>
                  </a:txBody>
                  <a:tcPr anchor="ctr" marL="54864" marR="36576" marT="18288" marB="18288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Hiragino Sans"/>
                        </a:rPr>
                        <a:t>月1.5万＋決済3.45%</a:t>
                      </a:r>
                    </a:p>
                  </a:txBody>
                  <a:tcPr anchor="ctr" marL="54864" marR="36576" marT="18288" marB="18288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8C241D"/>
                          </a:solidFill>
                          <a:latin typeface="Hiragino Sans"/>
                        </a:rPr>
                        <a:t>初期0・月0／決済4%</a:t>
                      </a:r>
                    </a:p>
                  </a:txBody>
                  <a:tcPr anchor="ctr" marL="54864" marR="36576" marT="18288" marB="18288">
                    <a:solidFill>
                      <a:srgbClr val="F4E4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Hiragino Sans"/>
                        </a:rPr>
                        <a:t>月3.3万</a:t>
                      </a:r>
                    </a:p>
                  </a:txBody>
                  <a:tcPr anchor="ctr" marL="54864" marR="36576" marT="18288" marB="18288">
                    <a:solidFill>
                      <a:srgbClr val="F9F6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Hiragino Sans"/>
                        </a:rPr>
                        <a:t>Medicom</a:t>
                      </a:r>
                    </a:p>
                  </a:txBody>
                  <a:tcPr anchor="ctr" marL="54864" marR="36576" marT="18288" marB="1828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Hiragino Sans"/>
                        </a:rPr>
                        <a:t>別立てになりがち</a:t>
                      </a:r>
                    </a:p>
                  </a:txBody>
                  <a:tcPr anchor="ctr" marL="54864" marR="36576" marT="18288" marB="1828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8C241D"/>
                          </a:solidFill>
                          <a:latin typeface="Hiragino Sans"/>
                        </a:rPr>
                        <a:t>公式が連携を案内</a:t>
                      </a:r>
                    </a:p>
                  </a:txBody>
                  <a:tcPr anchor="ctr" marL="54864" marR="36576" marT="18288" marB="18288">
                    <a:solidFill>
                      <a:srgbClr val="F4E4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Hiragino Sans"/>
                        </a:rPr>
                        <a:t>公式連携(カルテにボタン)</a:t>
                      </a:r>
                    </a:p>
                  </a:txBody>
                  <a:tcPr anchor="ctr" marL="54864" marR="36576" marT="18288" marB="18288">
                    <a:solidFill>
                      <a:srgbClr val="F1ECE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Hiragino Sans"/>
                        </a:rPr>
                        <a:t>将来のAI拡張</a:t>
                      </a:r>
                    </a:p>
                  </a:txBody>
                  <a:tcPr anchor="ctr" marL="54864" marR="36576" marT="18288" marB="18288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Hiragino Sans"/>
                        </a:rPr>
                        <a:t>◎ 一気通貫</a:t>
                      </a:r>
                    </a:p>
                  </a:txBody>
                  <a:tcPr anchor="ctr" marL="54864" marR="36576" marT="18288" marB="18288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8C241D"/>
                          </a:solidFill>
                          <a:latin typeface="Hiragino Sans"/>
                        </a:rPr>
                        <a:t>○</a:t>
                      </a:r>
                    </a:p>
                  </a:txBody>
                  <a:tcPr anchor="ctr" marL="54864" marR="36576" marT="18288" marB="18288">
                    <a:solidFill>
                      <a:srgbClr val="F4E4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Hiragino Sans"/>
                        </a:rPr>
                        <a:t>△</a:t>
                      </a:r>
                    </a:p>
                  </a:txBody>
                  <a:tcPr anchor="ctr" marL="54864" marR="36576" marT="18288" marB="18288">
                    <a:solidFill>
                      <a:srgbClr val="F9F6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Hiragino Sans"/>
                        </a:rPr>
                        <a:t>補助金</a:t>
                      </a:r>
                    </a:p>
                  </a:txBody>
                  <a:tcPr anchor="ctr" marL="54864" marR="36576" marT="18288" marB="1828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Hiragino Sans"/>
                        </a:rPr>
                        <a:t>認定実績あり</a:t>
                      </a:r>
                    </a:p>
                  </a:txBody>
                  <a:tcPr anchor="ctr" marL="54864" marR="36576" marT="18288" marB="1828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8C241D"/>
                          </a:solidFill>
                          <a:latin typeface="Hiragino Sans"/>
                        </a:rPr>
                        <a:t>要確認</a:t>
                      </a:r>
                    </a:p>
                  </a:txBody>
                  <a:tcPr anchor="ctr" marL="54864" marR="36576" marT="18288" marB="18288">
                    <a:solidFill>
                      <a:srgbClr val="F4E4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Hiragino Sans"/>
                        </a:rPr>
                        <a:t>要確認</a:t>
                      </a:r>
                    </a:p>
                  </a:txBody>
                  <a:tcPr anchor="ctr" marL="54864" marR="36576" marT="18288" marB="18288">
                    <a:solidFill>
                      <a:srgbClr val="F1ECE1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635240" y="1417320"/>
            <a:ext cx="4069080" cy="155448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35240" y="1417320"/>
            <a:ext cx="406908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1517904"/>
            <a:ext cx="3703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AA2E26"/>
                </a:solidFill>
                <a:latin typeface="Hiragino Sans"/>
              </a:rPr>
              <a:t>「初診から」やる場合の前提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36408" y="1828800"/>
            <a:ext cx="3657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80" b="0">
                <a:solidFill>
                  <a:srgbClr val="1A1A1A"/>
                </a:solidFill>
                <a:latin typeface="Hiragino Sans"/>
              </a:rPr>
              <a:t>・2026年4月施行の改訂指針に準拠</a:t>
            </a:r>
          </a:p>
          <a:p>
            <a:pPr algn="l">
              <a:lnSpc>
                <a:spcPct val="118000"/>
              </a:lnSpc>
            </a:pPr>
            <a:r>
              <a:rPr sz="980" b="0">
                <a:solidFill>
                  <a:srgbClr val="1A1A1A"/>
                </a:solidFill>
                <a:latin typeface="Hiragino Sans"/>
              </a:rPr>
              <a:t>・原則かかりつけ医。初診も、既往/服薬/アレルギー等を把握でき医師が可と判断すれば可</a:t>
            </a:r>
          </a:p>
          <a:p>
            <a:pPr algn="l">
              <a:lnSpc>
                <a:spcPct val="118000"/>
              </a:lnSpc>
            </a:pPr>
            <a:r>
              <a:rPr sz="980" b="0">
                <a:solidFill>
                  <a:srgbClr val="1A1A1A"/>
                </a:solidFill>
                <a:latin typeface="Hiragino Sans"/>
              </a:rPr>
              <a:t>・初診は原則 顔写真付き本人確認（マイナ/免許等）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35240" y="3108960"/>
            <a:ext cx="406908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35240" y="3108960"/>
            <a:ext cx="406908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3200400"/>
            <a:ext cx="3703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AA2E26"/>
                </a:solidFill>
                <a:latin typeface="Hiragino Sans"/>
              </a:rPr>
              <a:t>先生への薦め方（正直な二択）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36408" y="3520440"/>
            <a:ext cx="36576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80" b="1">
                <a:solidFill>
                  <a:srgbClr val="1A1A1A"/>
                </a:solidFill>
                <a:latin typeface="Hiragino Sans"/>
              </a:rPr>
              <a:t>A. 将来AIまで一気通貫を取る → CLINICS</a:t>
            </a:r>
          </a:p>
          <a:p>
            <a:pPr algn="l">
              <a:lnSpc>
                <a:spcPct val="115000"/>
              </a:lnSpc>
            </a:pPr>
            <a:r>
              <a:rPr sz="980" b="1">
                <a:solidFill>
                  <a:srgbClr val="1A1A1A"/>
                </a:solidFill>
                <a:latin typeface="Hiragino Sans"/>
              </a:rPr>
              <a:t>   ただし電子カルテをMedicomから移す覚悟が要る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36408" y="4370832"/>
            <a:ext cx="3657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80" b="1">
                <a:solidFill>
                  <a:srgbClr val="8C241D"/>
                </a:solidFill>
                <a:latin typeface="Hiragino Sans"/>
              </a:rPr>
              <a:t>B. Medicomを生かし低リスクで即始める → curon</a:t>
            </a:r>
          </a:p>
          <a:p>
            <a:pPr algn="l">
              <a:lnSpc>
                <a:spcPct val="115000"/>
              </a:lnSpc>
            </a:pPr>
            <a:r>
              <a:rPr sz="980" b="1">
                <a:solidFill>
                  <a:srgbClr val="8C241D"/>
                </a:solidFill>
                <a:latin typeface="Hiragino Sans"/>
              </a:rPr>
              <a:t>   月0円・公式連携。まず試すのに最適</a:t>
            </a:r>
          </a:p>
          <a:p>
            <a:pPr algn="l">
              <a:lnSpc>
                <a:spcPct val="115000"/>
              </a:lnSpc>
            </a:pPr>
            <a:r>
              <a:rPr sz="980" b="1">
                <a:solidFill>
                  <a:srgbClr val="8C241D"/>
                </a:solidFill>
                <a:latin typeface="Hiragino Sans"/>
              </a:rPr>
              <a:t>   ※連携でもカルテ自動転記までは要確認(二重入力)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440680"/>
            <a:ext cx="11155680" cy="960120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440680"/>
            <a:ext cx="91440" cy="96012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5321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C241D"/>
                </a:solidFill>
                <a:latin typeface="Hiragino Sans"/>
              </a:rPr>
              <a:t>月曜デモ手順（curon を iPad で・初期0円で試せる）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852160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80" b="0">
                <a:solidFill>
                  <a:srgbClr val="1A1A1A"/>
                </a:solidFill>
                <a:latin typeface="Hiragino Sans"/>
              </a:rPr>
              <a:t>① 患者目線：予約 → Web問診 → ビデオ診療 → クレカ決済 の流れをiPadで実演　② 医師目線：予約一覧→ビデオ診察→処方/薬局配送（医師側iPad完結は要実機確認）　③ 締め：初診運用（本人確認・かかりつけ）の設計を一緒に詰める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54710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6E6E6E"/>
                </a:solidFill>
                <a:latin typeface="Hiragino Sans"/>
              </a:rPr>
              <a:t>テナントアシスト・ウイン株式会社 ｜ 菊池 研太　※数値・連携は商談前に各社へ要確認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
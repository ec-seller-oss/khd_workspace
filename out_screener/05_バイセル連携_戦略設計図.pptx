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058400" cy="457200"/>
          </a:xfrm>
          <a:prstGeom prst="rect">
            <a:avLst/>
          </a:prstGeom>
          <a:noFill/>
        </p:spPr>
        <p:txBody>
          <a:bodyPr wrap="square" anchor="t">
            <a:spAutoFit/>
          </a:bodyPr>
          <a:lstStyle/>
          <a:p>
            <a:pPr algn="l">
              <a:lnSpc>
                <a:spcPct val="110000"/>
              </a:lnSpc>
            </a:pPr>
            <a:r>
              <a:rPr sz="1400" b="0">
                <a:solidFill>
                  <a:srgbClr val="77706E"/>
                </a:solidFill>
                <a:latin typeface="Meiryo"/>
              </a:rPr>
              <a:t>戦略設計図（業務一覧スプシとセット）</a:t>
            </a:r>
          </a:p>
        </p:txBody>
      </p:sp>
      <p:sp>
        <p:nvSpPr>
          <p:cNvPr id="5" name="TextBox 4"/>
          <p:cNvSpPr txBox="1"/>
          <p:nvPr/>
        </p:nvSpPr>
        <p:spPr>
          <a:xfrm>
            <a:off x="822960" y="2468880"/>
            <a:ext cx="10789920" cy="1005840"/>
          </a:xfrm>
          <a:prstGeom prst="rect">
            <a:avLst/>
          </a:prstGeom>
          <a:noFill/>
        </p:spPr>
        <p:txBody>
          <a:bodyPr wrap="square" anchor="t">
            <a:spAutoFit/>
          </a:bodyPr>
          <a:lstStyle/>
          <a:p>
            <a:pPr algn="l">
              <a:lnSpc>
                <a:spcPct val="110000"/>
              </a:lnSpc>
            </a:pPr>
            <a:r>
              <a:rPr sz="3800" b="1">
                <a:solidFill>
                  <a:srgbClr val="AA2E26"/>
                </a:solidFill>
                <a:latin typeface="Meiryo"/>
              </a:rPr>
              <a:t>🏗 バイセル資産 × 自社営業 × ツクビト</a:t>
            </a:r>
          </a:p>
        </p:txBody>
      </p:sp>
      <p:sp>
        <p:nvSpPr>
          <p:cNvPr id="6" name="TextBox 5"/>
          <p:cNvSpPr txBox="1"/>
          <p:nvPr/>
        </p:nvSpPr>
        <p:spPr>
          <a:xfrm>
            <a:off x="868680" y="3520440"/>
            <a:ext cx="10789920" cy="640080"/>
          </a:xfrm>
          <a:prstGeom prst="rect">
            <a:avLst/>
          </a:prstGeom>
          <a:noFill/>
        </p:spPr>
        <p:txBody>
          <a:bodyPr wrap="square" anchor="t">
            <a:spAutoFit/>
          </a:bodyPr>
          <a:lstStyle/>
          <a:p>
            <a:pPr algn="l">
              <a:lnSpc>
                <a:spcPct val="110000"/>
              </a:lnSpc>
            </a:pPr>
            <a:r>
              <a:rPr sz="1900" b="0">
                <a:solidFill>
                  <a:srgbClr val="332A28"/>
                </a:solidFill>
                <a:latin typeface="Meiryo"/>
              </a:rPr>
              <a:t>過去案件を「現金」に変える 5フェーズの全体図</a:t>
            </a:r>
          </a:p>
        </p:txBody>
      </p:sp>
      <p:sp>
        <p:nvSpPr>
          <p:cNvPr id="7" name="TextBox 6"/>
          <p:cNvSpPr txBox="1"/>
          <p:nvPr/>
        </p:nvSpPr>
        <p:spPr>
          <a:xfrm>
            <a:off x="868680" y="5669280"/>
            <a:ext cx="10789920" cy="548640"/>
          </a:xfrm>
          <a:prstGeom prst="rect">
            <a:avLst/>
          </a:prstGeom>
          <a:noFill/>
        </p:spPr>
        <p:txBody>
          <a:bodyPr wrap="square" anchor="t">
            <a:spAutoFit/>
          </a:bodyPr>
          <a:lstStyle/>
          <a:p>
            <a:pPr algn="l">
              <a:lnSpc>
                <a:spcPct val="110000"/>
              </a:lnSpc>
            </a:pPr>
            <a:r>
              <a:rPr sz="1300" b="0">
                <a:solidFill>
                  <a:srgbClr val="77706E"/>
                </a:solidFill>
                <a:latin typeface="Meiryo"/>
              </a:rPr>
              <a:t>制作：テナントアシスト・ウイン 菊池研太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全体図 ― データを現金に変える流れ</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737360"/>
            <a:ext cx="2103120" cy="1051560"/>
          </a:xfrm>
          <a:prstGeom prst="rect">
            <a:avLst/>
          </a:prstGeom>
          <a:solidFill>
            <a:srgbClr val="ECE0DD"/>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755648"/>
            <a:ext cx="2103120" cy="1051560"/>
          </a:xfrm>
          <a:prstGeom prst="rect">
            <a:avLst/>
          </a:prstGeom>
          <a:noFill/>
        </p:spPr>
        <p:txBody>
          <a:bodyPr wrap="square" anchor="ctr">
            <a:spAutoFit/>
          </a:bodyPr>
          <a:lstStyle/>
          <a:p>
            <a:pPr algn="ctr">
              <a:lnSpc>
                <a:spcPct val="105000"/>
              </a:lnSpc>
            </a:pPr>
            <a:r>
              <a:rPr sz="1200" b="1">
                <a:solidFill>
                  <a:srgbClr val="332A28"/>
                </a:solidFill>
                <a:latin typeface="Meiryo"/>
              </a:rPr>
              <a:t>①データ資産</a:t>
            </a:r>
          </a:p>
          <a:p>
            <a:pPr algn="ctr">
              <a:lnSpc>
                <a:spcPct val="105000"/>
              </a:lnSpc>
            </a:pPr>
            <a:r>
              <a:rPr sz="1200" b="1">
                <a:solidFill>
                  <a:srgbClr val="332A28"/>
                </a:solidFill>
                <a:latin typeface="Meiryo"/>
              </a:rPr>
              <a:t>救出(6月末迄)</a:t>
            </a:r>
          </a:p>
          <a:p>
            <a:pPr algn="ctr">
              <a:lnSpc>
                <a:spcPct val="105000"/>
              </a:lnSpc>
            </a:pPr>
            <a:r>
              <a:rPr sz="1200" b="1">
                <a:solidFill>
                  <a:srgbClr val="332A28"/>
                </a:solidFill>
                <a:latin typeface="Meiryo"/>
              </a:rPr>
              <a:t>使う分だけPDF</a:t>
            </a:r>
          </a:p>
        </p:txBody>
      </p:sp>
      <p:sp>
        <p:nvSpPr>
          <p:cNvPr id="9" name="TextBox 8"/>
          <p:cNvSpPr txBox="1"/>
          <p:nvPr/>
        </p:nvSpPr>
        <p:spPr>
          <a:xfrm>
            <a:off x="251460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0" name="Rectangle 9"/>
          <p:cNvSpPr/>
          <p:nvPr/>
        </p:nvSpPr>
        <p:spPr>
          <a:xfrm>
            <a:off x="3017520" y="1737360"/>
            <a:ext cx="2103120" cy="105156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755648"/>
            <a:ext cx="2103120" cy="1051560"/>
          </a:xfrm>
          <a:prstGeom prst="rect">
            <a:avLst/>
          </a:prstGeom>
          <a:noFill/>
        </p:spPr>
        <p:txBody>
          <a:bodyPr wrap="square" anchor="ctr">
            <a:spAutoFit/>
          </a:bodyPr>
          <a:lstStyle/>
          <a:p>
            <a:pPr algn="ctr">
              <a:lnSpc>
                <a:spcPct val="105000"/>
              </a:lnSpc>
            </a:pPr>
            <a:r>
              <a:rPr sz="1200" b="1">
                <a:solidFill>
                  <a:srgbClr val="332A28"/>
                </a:solidFill>
                <a:latin typeface="Meiryo"/>
              </a:rPr>
              <a:t>②整理</a:t>
            </a:r>
          </a:p>
          <a:p>
            <a:pPr algn="ctr">
              <a:lnSpc>
                <a:spcPct val="105000"/>
              </a:lnSpc>
            </a:pPr>
            <a:r>
              <a:rPr sz="1200" b="1">
                <a:solidFill>
                  <a:srgbClr val="332A28"/>
                </a:solidFill>
                <a:latin typeface="Meiryo"/>
              </a:rPr>
              <a:t>再アプローチ37</a:t>
            </a:r>
          </a:p>
          <a:p>
            <a:pPr algn="ctr">
              <a:lnSpc>
                <a:spcPct val="105000"/>
              </a:lnSpc>
            </a:pPr>
            <a:r>
              <a:rPr sz="1200" b="1">
                <a:solidFill>
                  <a:srgbClr val="332A28"/>
                </a:solidFill>
                <a:latin typeface="Meiryo"/>
              </a:rPr>
              <a:t>ルーティング90</a:t>
            </a:r>
          </a:p>
        </p:txBody>
      </p:sp>
      <p:sp>
        <p:nvSpPr>
          <p:cNvPr id="12" name="TextBox 11"/>
          <p:cNvSpPr txBox="1"/>
          <p:nvPr/>
        </p:nvSpPr>
        <p:spPr>
          <a:xfrm>
            <a:off x="516636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3" name="Rectangle 12"/>
          <p:cNvSpPr/>
          <p:nvPr/>
        </p:nvSpPr>
        <p:spPr>
          <a:xfrm>
            <a:off x="5669280" y="1737360"/>
            <a:ext cx="2286000" cy="1051560"/>
          </a:xfrm>
          <a:prstGeom prst="rect">
            <a:avLst/>
          </a:prstGeom>
          <a:solidFill>
            <a:srgbClr val="F7E9E7"/>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1755648"/>
            <a:ext cx="2286000" cy="1051560"/>
          </a:xfrm>
          <a:prstGeom prst="rect">
            <a:avLst/>
          </a:prstGeom>
          <a:noFill/>
        </p:spPr>
        <p:txBody>
          <a:bodyPr wrap="square" anchor="ctr">
            <a:spAutoFit/>
          </a:bodyPr>
          <a:lstStyle/>
          <a:p>
            <a:pPr algn="ctr">
              <a:lnSpc>
                <a:spcPct val="105000"/>
              </a:lnSpc>
            </a:pPr>
            <a:r>
              <a:rPr sz="1200" b="1">
                <a:solidFill>
                  <a:srgbClr val="332A28"/>
                </a:solidFill>
                <a:latin typeface="Meiryo"/>
              </a:rPr>
              <a:t>③営業(本体)</a:t>
            </a:r>
          </a:p>
          <a:p>
            <a:pPr algn="ctr">
              <a:lnSpc>
                <a:spcPct val="105000"/>
              </a:lnSpc>
            </a:pPr>
            <a:r>
              <a:rPr sz="1200" b="1">
                <a:solidFill>
                  <a:srgbClr val="332A28"/>
                </a:solidFill>
                <a:latin typeface="Meiryo"/>
              </a:rPr>
              <a:t>毎朝荷電5件</a:t>
            </a:r>
          </a:p>
          <a:p>
            <a:pPr algn="ctr">
              <a:lnSpc>
                <a:spcPct val="105000"/>
              </a:lnSpc>
            </a:pPr>
            <a:r>
              <a:rPr sz="1200" b="1">
                <a:solidFill>
                  <a:srgbClr val="332A28"/>
                </a:solidFill>
                <a:latin typeface="Meiryo"/>
              </a:rPr>
              <a:t>業者接触1件</a:t>
            </a:r>
          </a:p>
        </p:txBody>
      </p:sp>
      <p:sp>
        <p:nvSpPr>
          <p:cNvPr id="15" name="TextBox 14"/>
          <p:cNvSpPr txBox="1"/>
          <p:nvPr/>
        </p:nvSpPr>
        <p:spPr>
          <a:xfrm>
            <a:off x="800100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6" name="Rectangle 15"/>
          <p:cNvSpPr/>
          <p:nvPr/>
        </p:nvSpPr>
        <p:spPr>
          <a:xfrm>
            <a:off x="8503920" y="1737360"/>
            <a:ext cx="1554480" cy="1051560"/>
          </a:xfrm>
          <a:prstGeom prst="rect">
            <a:avLst/>
          </a:prstGeom>
          <a:solidFill>
            <a:srgbClr val="FFFFFF"/>
          </a:solidFill>
          <a:ln w="15875">
            <a:solidFill>
              <a:srgbClr val="AA2E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1755648"/>
            <a:ext cx="1554480" cy="1051560"/>
          </a:xfrm>
          <a:prstGeom prst="rect">
            <a:avLst/>
          </a:prstGeom>
          <a:noFill/>
        </p:spPr>
        <p:txBody>
          <a:bodyPr wrap="square" anchor="ctr">
            <a:spAutoFit/>
          </a:bodyPr>
          <a:lstStyle/>
          <a:p>
            <a:pPr algn="ctr">
              <a:lnSpc>
                <a:spcPct val="105000"/>
              </a:lnSpc>
            </a:pPr>
            <a:r>
              <a:rPr sz="1200" b="1">
                <a:solidFill>
                  <a:srgbClr val="332A28"/>
                </a:solidFill>
                <a:latin typeface="Meiryo"/>
              </a:rPr>
              <a:t>④出口</a:t>
            </a:r>
          </a:p>
          <a:p>
            <a:pPr algn="ctr">
              <a:lnSpc>
                <a:spcPct val="105000"/>
              </a:lnSpc>
            </a:pPr>
            <a:r>
              <a:rPr sz="1200" b="1">
                <a:solidFill>
                  <a:srgbClr val="332A28"/>
                </a:solidFill>
                <a:latin typeface="Meiryo"/>
              </a:rPr>
              <a:t>自社2/3</a:t>
            </a:r>
          </a:p>
          <a:p>
            <a:pPr algn="ctr">
              <a:lnSpc>
                <a:spcPct val="105000"/>
              </a:lnSpc>
            </a:pPr>
            <a:r>
              <a:rPr sz="1200" b="1">
                <a:solidFill>
                  <a:srgbClr val="332A28"/>
                </a:solidFill>
                <a:latin typeface="Meiryo"/>
              </a:rPr>
              <a:t>よくばり1/3</a:t>
            </a:r>
          </a:p>
        </p:txBody>
      </p:sp>
      <p:sp>
        <p:nvSpPr>
          <p:cNvPr id="18" name="TextBox 17"/>
          <p:cNvSpPr txBox="1"/>
          <p:nvPr/>
        </p:nvSpPr>
        <p:spPr>
          <a:xfrm>
            <a:off x="10104120" y="2057400"/>
            <a:ext cx="457200" cy="365760"/>
          </a:xfrm>
          <a:prstGeom prst="rect">
            <a:avLst/>
          </a:prstGeom>
          <a:noFill/>
        </p:spPr>
        <p:txBody>
          <a:bodyPr wrap="square" anchor="t">
            <a:spAutoFit/>
          </a:bodyPr>
          <a:lstStyle/>
          <a:p>
            <a:pPr algn="ctr">
              <a:lnSpc>
                <a:spcPct val="110000"/>
              </a:lnSpc>
            </a:pPr>
            <a:r>
              <a:rPr sz="2200" b="1">
                <a:solidFill>
                  <a:srgbClr val="AA2E26"/>
                </a:solidFill>
                <a:latin typeface="Meiryo"/>
              </a:rPr>
              <a:t>→</a:t>
            </a:r>
          </a:p>
        </p:txBody>
      </p:sp>
      <p:sp>
        <p:nvSpPr>
          <p:cNvPr id="19" name="Rectangle 18"/>
          <p:cNvSpPr/>
          <p:nvPr/>
        </p:nvSpPr>
        <p:spPr>
          <a:xfrm>
            <a:off x="10607040" y="1737360"/>
            <a:ext cx="1280160" cy="105156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0" y="1755648"/>
            <a:ext cx="1280160" cy="1051560"/>
          </a:xfrm>
          <a:prstGeom prst="rect">
            <a:avLst/>
          </a:prstGeom>
          <a:noFill/>
        </p:spPr>
        <p:txBody>
          <a:bodyPr wrap="square" anchor="ctr">
            <a:spAutoFit/>
          </a:bodyPr>
          <a:lstStyle/>
          <a:p>
            <a:pPr algn="ctr">
              <a:lnSpc>
                <a:spcPct val="105000"/>
              </a:lnSpc>
            </a:pPr>
            <a:r>
              <a:rPr sz="1200" b="1">
                <a:solidFill>
                  <a:srgbClr val="332A28"/>
                </a:solidFill>
                <a:latin typeface="Meiryo"/>
              </a:rPr>
              <a:t>⑤現金</a:t>
            </a:r>
          </a:p>
          <a:p>
            <a:pPr algn="ctr">
              <a:lnSpc>
                <a:spcPct val="105000"/>
              </a:lnSpc>
            </a:pPr>
            <a:r>
              <a:rPr sz="1200" b="1">
                <a:solidFill>
                  <a:srgbClr val="332A28"/>
                </a:solidFill>
                <a:latin typeface="Meiryo"/>
              </a:rPr>
              <a:t>+実績</a:t>
            </a:r>
          </a:p>
        </p:txBody>
      </p:sp>
      <p:sp>
        <p:nvSpPr>
          <p:cNvPr id="21" name="TextBox 20"/>
          <p:cNvSpPr txBox="1"/>
          <p:nvPr/>
        </p:nvSpPr>
        <p:spPr>
          <a:xfrm>
            <a:off x="457200" y="3200400"/>
            <a:ext cx="11247120" cy="457200"/>
          </a:xfrm>
          <a:prstGeom prst="rect">
            <a:avLst/>
          </a:prstGeom>
          <a:noFill/>
        </p:spPr>
        <p:txBody>
          <a:bodyPr wrap="square" anchor="t">
            <a:spAutoFit/>
          </a:bodyPr>
          <a:lstStyle/>
          <a:p>
            <a:pPr algn="l">
              <a:lnSpc>
                <a:spcPct val="110000"/>
              </a:lnSpc>
            </a:pPr>
            <a:r>
              <a:rPr sz="1400" b="1">
                <a:solidFill>
                  <a:srgbClr val="1F7A1F"/>
                </a:solidFill>
                <a:latin typeface="Meiryo"/>
              </a:rPr>
              <a:t>▼ 支える仕組み（できてる）</a:t>
            </a:r>
          </a:p>
        </p:txBody>
      </p:sp>
      <p:sp>
        <p:nvSpPr>
          <p:cNvPr id="22" name="Rectangle 21"/>
          <p:cNvSpPr/>
          <p:nvPr/>
        </p:nvSpPr>
        <p:spPr>
          <a:xfrm>
            <a:off x="457200" y="3657600"/>
            <a:ext cx="3566160" cy="73152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75887"/>
            <a:ext cx="3566160" cy="731520"/>
          </a:xfrm>
          <a:prstGeom prst="rect">
            <a:avLst/>
          </a:prstGeom>
          <a:noFill/>
        </p:spPr>
        <p:txBody>
          <a:bodyPr wrap="square" anchor="ctr">
            <a:spAutoFit/>
          </a:bodyPr>
          <a:lstStyle/>
          <a:p>
            <a:pPr algn="ctr">
              <a:lnSpc>
                <a:spcPct val="105000"/>
              </a:lnSpc>
            </a:pPr>
            <a:r>
              <a:rPr sz="1100" b="1">
                <a:solidFill>
                  <a:srgbClr val="332A28"/>
                </a:solidFill>
                <a:latin typeface="Meiryo"/>
              </a:rPr>
              <a:t>AI査定エンジン(無人)</a:t>
            </a:r>
          </a:p>
          <a:p>
            <a:pPr algn="ctr">
              <a:lnSpc>
                <a:spcPct val="105000"/>
              </a:lnSpc>
            </a:pPr>
            <a:r>
              <a:rPr sz="1100" b="1">
                <a:solidFill>
                  <a:srgbClr val="332A28"/>
                </a:solidFill>
                <a:latin typeface="Meiryo"/>
              </a:rPr>
              <a:t>反応案件を即査定→買付</a:t>
            </a:r>
          </a:p>
        </p:txBody>
      </p:sp>
      <p:sp>
        <p:nvSpPr>
          <p:cNvPr id="24" name="Rectangle 23"/>
          <p:cNvSpPr/>
          <p:nvPr/>
        </p:nvSpPr>
        <p:spPr>
          <a:xfrm>
            <a:off x="4206240" y="3657600"/>
            <a:ext cx="3566160" cy="73152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3675887"/>
            <a:ext cx="3566160" cy="731520"/>
          </a:xfrm>
          <a:prstGeom prst="rect">
            <a:avLst/>
          </a:prstGeom>
          <a:noFill/>
        </p:spPr>
        <p:txBody>
          <a:bodyPr wrap="square" anchor="ctr">
            <a:spAutoFit/>
          </a:bodyPr>
          <a:lstStyle/>
          <a:p>
            <a:pPr algn="ctr">
              <a:lnSpc>
                <a:spcPct val="105000"/>
              </a:lnSpc>
            </a:pPr>
            <a:r>
              <a:rPr sz="1100" b="1">
                <a:solidFill>
                  <a:srgbClr val="332A28"/>
                </a:solidFill>
                <a:latin typeface="Meiryo"/>
              </a:rPr>
              <a:t>込山(師匠)との連携</a:t>
            </a:r>
          </a:p>
          <a:p>
            <a:pPr algn="ctr">
              <a:lnSpc>
                <a:spcPct val="105000"/>
              </a:lnSpc>
            </a:pPr>
            <a:r>
              <a:rPr sz="1100" b="1">
                <a:solidFill>
                  <a:srgbClr val="332A28"/>
                </a:solidFill>
                <a:latin typeface="Meiryo"/>
              </a:rPr>
              <a:t>松戸つよつよ×千葉+AI</a:t>
            </a:r>
          </a:p>
        </p:txBody>
      </p:sp>
      <p:sp>
        <p:nvSpPr>
          <p:cNvPr id="26" name="Rectangle 25"/>
          <p:cNvSpPr/>
          <p:nvPr/>
        </p:nvSpPr>
        <p:spPr>
          <a:xfrm>
            <a:off x="7955279" y="3657600"/>
            <a:ext cx="3749039" cy="731520"/>
          </a:xfrm>
          <a:prstGeom prst="rect">
            <a:avLst/>
          </a:prstGeom>
          <a:solidFill>
            <a:srgbClr val="E7F0E7"/>
          </a:solidFill>
          <a:ln w="15875">
            <a:solidFill>
              <a:srgbClr val="1F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3675887"/>
            <a:ext cx="3749039" cy="731520"/>
          </a:xfrm>
          <a:prstGeom prst="rect">
            <a:avLst/>
          </a:prstGeom>
          <a:noFill/>
        </p:spPr>
        <p:txBody>
          <a:bodyPr wrap="square" anchor="ctr">
            <a:spAutoFit/>
          </a:bodyPr>
          <a:lstStyle/>
          <a:p>
            <a:pPr algn="ctr">
              <a:lnSpc>
                <a:spcPct val="105000"/>
              </a:lnSpc>
            </a:pPr>
            <a:r>
              <a:rPr sz="1100" b="1">
                <a:solidFill>
                  <a:srgbClr val="332A28"/>
                </a:solidFill>
                <a:latin typeface="Meiryo"/>
              </a:rPr>
              <a:t>宅建士+KHD宅建業</a:t>
            </a:r>
          </a:p>
          <a:p>
            <a:pPr algn="ctr">
              <a:lnSpc>
                <a:spcPct val="105000"/>
              </a:lnSpc>
            </a:pPr>
            <a:r>
              <a:rPr sz="1100" b="1">
                <a:solidFill>
                  <a:srgbClr val="332A28"/>
                </a:solidFill>
                <a:latin typeface="Meiryo"/>
              </a:rPr>
              <a:t>込山6割=皆ハッピー構想</a:t>
            </a:r>
          </a:p>
        </p:txBody>
      </p:sp>
      <p:sp>
        <p:nvSpPr>
          <p:cNvPr id="28" name="TextBox 27"/>
          <p:cNvSpPr txBox="1"/>
          <p:nvPr/>
        </p:nvSpPr>
        <p:spPr>
          <a:xfrm>
            <a:off x="457200" y="4754880"/>
            <a:ext cx="11247120" cy="1188720"/>
          </a:xfrm>
          <a:prstGeom prst="rect">
            <a:avLst/>
          </a:prstGeom>
          <a:noFill/>
        </p:spPr>
        <p:txBody>
          <a:bodyPr wrap="square" anchor="t">
            <a:spAutoFit/>
          </a:bodyPr>
          <a:lstStyle/>
          <a:p>
            <a:pPr algn="l">
              <a:lnSpc>
                <a:spcPct val="130000"/>
              </a:lnSpc>
            </a:pPr>
            <a:r>
              <a:rPr sz="1400" b="0">
                <a:solidFill>
                  <a:srgbClr val="332A28"/>
                </a:solidFill>
                <a:latin typeface="Meiryo"/>
              </a:rPr>
              <a:t>■ 戦略の一言：救出は『全部』でなく『今日荷電する分だけ』。③毎日の営業が本体で、他は全部その支援。</a:t>
            </a:r>
          </a:p>
          <a:p>
            <a:pPr algn="l">
              <a:lnSpc>
                <a:spcPct val="130000"/>
              </a:lnSpc>
            </a:pPr>
            <a:r>
              <a:rPr sz="1400" b="0">
                <a:solidFill>
                  <a:srgbClr val="332A28"/>
                </a:solidFill>
                <a:latin typeface="Meiryo"/>
              </a:rPr>
              <a:t>■ 数字：現実シナリオ(週1件確保)で月次粗利499万 ＞ 必達ライン。ただし前提は楽観＝まず実績1件。</a:t>
            </a:r>
          </a:p>
        </p:txBody>
      </p:sp>
      <p:sp>
        <p:nvSpPr>
          <p:cNvPr id="29" name="TextBox 28"/>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業務一覧 ― 何を・いつまでに（詳細はスプシ）</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291486" cy="868680"/>
          </a:xfrm>
          <a:prstGeom prst="rect">
            <a:avLst/>
          </a:prstGeom>
          <a:noFill/>
        </p:spPr>
        <p:txBody>
          <a:bodyPr wrap="square" anchor="ctr">
            <a:spAutoFit/>
          </a:bodyPr>
          <a:lstStyle/>
          <a:p>
            <a:pPr algn="l">
              <a:lnSpc>
                <a:spcPct val="110000"/>
              </a:lnSpc>
            </a:pPr>
            <a:r>
              <a:rPr sz="1300" b="1">
                <a:solidFill>
                  <a:srgbClr val="AA2E26"/>
                </a:solidFill>
                <a:latin typeface="Meiryo"/>
              </a:rPr>
              <a:t>🔴 今週必須</a:t>
            </a:r>
          </a:p>
        </p:txBody>
      </p:sp>
      <p:sp>
        <p:nvSpPr>
          <p:cNvPr id="9" name="TextBox 8"/>
          <p:cNvSpPr txBox="1"/>
          <p:nvPr/>
        </p:nvSpPr>
        <p:spPr>
          <a:xfrm>
            <a:off x="2931566" y="1444752"/>
            <a:ext cx="8635593" cy="868680"/>
          </a:xfrm>
          <a:prstGeom prst="rect">
            <a:avLst/>
          </a:prstGeom>
          <a:noFill/>
        </p:spPr>
        <p:txBody>
          <a:bodyPr wrap="square" anchor="ctr">
            <a:spAutoFit/>
          </a:bodyPr>
          <a:lstStyle/>
          <a:p>
            <a:pPr algn="l">
              <a:lnSpc>
                <a:spcPct val="110000"/>
              </a:lnSpc>
            </a:pPr>
            <a:r>
              <a:rPr sz="1300" b="0">
                <a:solidFill>
                  <a:srgbClr val="332A28"/>
                </a:solidFill>
                <a:latin typeface="Meiryo"/>
              </a:rPr>
              <a:t>荷電前PDF救出(6月末締切)／毎朝荷電5件＋業者接触1件／ツクビト確認(帰属・競業)／込山と座組</a:t>
            </a:r>
          </a:p>
        </p:txBody>
      </p:sp>
      <p:sp>
        <p:nvSpPr>
          <p:cNvPr id="10" name="Rectangle 9"/>
          <p:cNvSpPr/>
          <p:nvPr/>
        </p:nvSpPr>
        <p:spPr>
          <a:xfrm>
            <a:off x="457200" y="2286000"/>
            <a:ext cx="11247120" cy="86868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313432"/>
            <a:ext cx="2291486" cy="868680"/>
          </a:xfrm>
          <a:prstGeom prst="rect">
            <a:avLst/>
          </a:prstGeom>
          <a:noFill/>
        </p:spPr>
        <p:txBody>
          <a:bodyPr wrap="square" anchor="ctr">
            <a:spAutoFit/>
          </a:bodyPr>
          <a:lstStyle/>
          <a:p>
            <a:pPr algn="l">
              <a:lnSpc>
                <a:spcPct val="110000"/>
              </a:lnSpc>
            </a:pPr>
            <a:r>
              <a:rPr sz="1300" b="1">
                <a:solidFill>
                  <a:srgbClr val="AA2E26"/>
                </a:solidFill>
                <a:latin typeface="Meiryo"/>
              </a:rPr>
              <a:t>🟡 今月</a:t>
            </a:r>
          </a:p>
        </p:txBody>
      </p:sp>
      <p:sp>
        <p:nvSpPr>
          <p:cNvPr id="12" name="TextBox 11"/>
          <p:cNvSpPr txBox="1"/>
          <p:nvPr/>
        </p:nvSpPr>
        <p:spPr>
          <a:xfrm>
            <a:off x="2931566" y="2313432"/>
            <a:ext cx="8635593" cy="868680"/>
          </a:xfrm>
          <a:prstGeom prst="rect">
            <a:avLst/>
          </a:prstGeom>
          <a:noFill/>
        </p:spPr>
        <p:txBody>
          <a:bodyPr wrap="square" anchor="ctr">
            <a:spAutoFit/>
          </a:bodyPr>
          <a:lstStyle/>
          <a:p>
            <a:pPr algn="l">
              <a:lnSpc>
                <a:spcPct val="110000"/>
              </a:lnSpc>
            </a:pPr>
            <a:r>
              <a:rPr sz="1300" b="0">
                <a:solidFill>
                  <a:srgbClr val="332A28"/>
                </a:solidFill>
                <a:latin typeface="Meiryo"/>
              </a:rPr>
              <a:t>シーズネタ追加救出／別ファイル分析(入手次第)／事業計画の予実</a:t>
            </a:r>
          </a:p>
        </p:txBody>
      </p:sp>
      <p:sp>
        <p:nvSpPr>
          <p:cNvPr id="13" name="Rectangle 12"/>
          <p:cNvSpPr/>
          <p:nvPr/>
        </p:nvSpPr>
        <p:spPr>
          <a:xfrm>
            <a:off x="457200" y="3154680"/>
            <a:ext cx="112471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182112"/>
            <a:ext cx="2291486" cy="868680"/>
          </a:xfrm>
          <a:prstGeom prst="rect">
            <a:avLst/>
          </a:prstGeom>
          <a:noFill/>
        </p:spPr>
        <p:txBody>
          <a:bodyPr wrap="square" anchor="ctr">
            <a:spAutoFit/>
          </a:bodyPr>
          <a:lstStyle/>
          <a:p>
            <a:pPr algn="l">
              <a:lnSpc>
                <a:spcPct val="110000"/>
              </a:lnSpc>
            </a:pPr>
            <a:r>
              <a:rPr sz="1300" b="1">
                <a:solidFill>
                  <a:srgbClr val="AA2E26"/>
                </a:solidFill>
                <a:latin typeface="Meiryo"/>
              </a:rPr>
              <a:t>🟢 実績1件後</a:t>
            </a:r>
          </a:p>
        </p:txBody>
      </p:sp>
      <p:sp>
        <p:nvSpPr>
          <p:cNvPr id="15" name="TextBox 14"/>
          <p:cNvSpPr txBox="1"/>
          <p:nvPr/>
        </p:nvSpPr>
        <p:spPr>
          <a:xfrm>
            <a:off x="2931566" y="3182112"/>
            <a:ext cx="8635593" cy="868680"/>
          </a:xfrm>
          <a:prstGeom prst="rect">
            <a:avLst/>
          </a:prstGeom>
          <a:noFill/>
        </p:spPr>
        <p:txBody>
          <a:bodyPr wrap="square" anchor="ctr">
            <a:spAutoFit/>
          </a:bodyPr>
          <a:lstStyle/>
          <a:p>
            <a:pPr algn="l">
              <a:lnSpc>
                <a:spcPct val="110000"/>
              </a:lnSpc>
            </a:pPr>
            <a:r>
              <a:rPr sz="1300" b="0">
                <a:solidFill>
                  <a:srgbClr val="332A28"/>
                </a:solidFill>
                <a:latin typeface="Meiryo"/>
              </a:rPr>
              <a:t>羽鳥ら都内業者ルート拡販／よくばり1/3運用／込山案件のKHD受託(6割)</a:t>
            </a:r>
          </a:p>
        </p:txBody>
      </p:sp>
      <p:sp>
        <p:nvSpPr>
          <p:cNvPr id="16" name="Rectangle 15"/>
          <p:cNvSpPr/>
          <p:nvPr/>
        </p:nvSpPr>
        <p:spPr>
          <a:xfrm>
            <a:off x="457200" y="4023360"/>
            <a:ext cx="11247120" cy="86868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050792"/>
            <a:ext cx="2291486" cy="868680"/>
          </a:xfrm>
          <a:prstGeom prst="rect">
            <a:avLst/>
          </a:prstGeom>
          <a:noFill/>
        </p:spPr>
        <p:txBody>
          <a:bodyPr wrap="square" anchor="ctr">
            <a:spAutoFit/>
          </a:bodyPr>
          <a:lstStyle/>
          <a:p>
            <a:pPr algn="l">
              <a:lnSpc>
                <a:spcPct val="110000"/>
              </a:lnSpc>
            </a:pPr>
            <a:r>
              <a:rPr sz="1300" b="1">
                <a:solidFill>
                  <a:srgbClr val="AA2E26"/>
                </a:solidFill>
                <a:latin typeface="Meiryo"/>
              </a:rPr>
              <a:t>❄️ 不要・完了</a:t>
            </a:r>
          </a:p>
        </p:txBody>
      </p:sp>
      <p:sp>
        <p:nvSpPr>
          <p:cNvPr id="18" name="TextBox 17"/>
          <p:cNvSpPr txBox="1"/>
          <p:nvPr/>
        </p:nvSpPr>
        <p:spPr>
          <a:xfrm>
            <a:off x="2931566" y="4050792"/>
            <a:ext cx="8635593" cy="868680"/>
          </a:xfrm>
          <a:prstGeom prst="rect">
            <a:avLst/>
          </a:prstGeom>
          <a:noFill/>
        </p:spPr>
        <p:txBody>
          <a:bodyPr wrap="square" anchor="ctr">
            <a:spAutoFit/>
          </a:bodyPr>
          <a:lstStyle/>
          <a:p>
            <a:pPr algn="l">
              <a:lnSpc>
                <a:spcPct val="110000"/>
              </a:lnSpc>
            </a:pPr>
            <a:r>
              <a:rPr sz="1300" b="0">
                <a:solidFill>
                  <a:srgbClr val="332A28"/>
                </a:solidFill>
                <a:latin typeface="Meiryo"/>
              </a:rPr>
              <a:t>過去全メール一括救出(不要と判断済)／APチーム救出(済)／在庫表53件(済)</a:t>
            </a:r>
          </a:p>
        </p:txBody>
      </p:sp>
      <p:sp>
        <p:nvSpPr>
          <p:cNvPr id="19" name="TextBox 18"/>
          <p:cNvSpPr txBox="1"/>
          <p:nvPr/>
        </p:nvSpPr>
        <p:spPr>
          <a:xfrm>
            <a:off x="457200" y="5303520"/>
            <a:ext cx="11247120" cy="731520"/>
          </a:xfrm>
          <a:prstGeom prst="rect">
            <a:avLst/>
          </a:prstGeom>
          <a:noFill/>
        </p:spPr>
        <p:txBody>
          <a:bodyPr wrap="square" anchor="t">
            <a:spAutoFit/>
          </a:bodyPr>
          <a:lstStyle/>
          <a:p>
            <a:pPr algn="l">
              <a:lnSpc>
                <a:spcPct val="110000"/>
              </a:lnSpc>
            </a:pPr>
            <a:r>
              <a:rPr sz="1400" b="1">
                <a:solidFill>
                  <a:srgbClr val="AA2E26"/>
                </a:solidFill>
                <a:latin typeface="Meiryo"/>
              </a:rPr>
              <a:t>■ 期限が効くのは①救出だけ（Gmail 6月末閉鎖・あと約20日）。他は『毎日の営業』に従属。</a:t>
            </a:r>
          </a:p>
        </p:txBody>
      </p:sp>
      <p:sp>
        <p:nvSpPr>
          <p:cNvPr id="20" name="TextBox 19"/>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毎日なにをやるか（1日の型）</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5:00-7:30</a:t>
            </a:r>
          </a:p>
        </p:txBody>
      </p:sp>
      <p:sp>
        <p:nvSpPr>
          <p:cNvPr id="9" name="TextBox 8"/>
          <p:cNvSpPr txBox="1"/>
          <p:nvPr/>
        </p:nvSpPr>
        <p:spPr>
          <a:xfrm>
            <a:off x="2481681" y="1444752"/>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調査士（別枠・死守）</a:t>
            </a:r>
          </a:p>
        </p:txBody>
      </p:sp>
      <p:sp>
        <p:nvSpPr>
          <p:cNvPr id="10" name="Rectangle 9"/>
          <p:cNvSpPr/>
          <p:nvPr/>
        </p:nvSpPr>
        <p:spPr>
          <a:xfrm>
            <a:off x="457200" y="2075688"/>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03120"/>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8:45-9:00</a:t>
            </a:r>
          </a:p>
        </p:txBody>
      </p:sp>
      <p:sp>
        <p:nvSpPr>
          <p:cNvPr id="12" name="TextBox 11"/>
          <p:cNvSpPr txBox="1"/>
          <p:nvPr/>
        </p:nvSpPr>
        <p:spPr>
          <a:xfrm>
            <a:off x="2481681" y="2103120"/>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今日荷電する5案件のメール詳細をPDF救出（①を15分だけ）</a:t>
            </a:r>
          </a:p>
        </p:txBody>
      </p:sp>
      <p:sp>
        <p:nvSpPr>
          <p:cNvPr id="13" name="Rectangle 12"/>
          <p:cNvSpPr/>
          <p:nvPr/>
        </p:nvSpPr>
        <p:spPr>
          <a:xfrm>
            <a:off x="457200" y="2734056"/>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761488"/>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9:00-12:00</a:t>
            </a:r>
          </a:p>
        </p:txBody>
      </p:sp>
      <p:sp>
        <p:nvSpPr>
          <p:cNvPr id="15" name="TextBox 14"/>
          <p:cNvSpPr txBox="1"/>
          <p:nvPr/>
        </p:nvSpPr>
        <p:spPr>
          <a:xfrm>
            <a:off x="2481681" y="2761488"/>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 荷電5件「今いくらなら？」＋業者接触1件（紹介依頼）</a:t>
            </a:r>
          </a:p>
        </p:txBody>
      </p:sp>
      <p:sp>
        <p:nvSpPr>
          <p:cNvPr id="16" name="Rectangle 15"/>
          <p:cNvSpPr/>
          <p:nvPr/>
        </p:nvSpPr>
        <p:spPr>
          <a:xfrm>
            <a:off x="457200" y="3392424"/>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19856"/>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13:00-17:00</a:t>
            </a:r>
          </a:p>
        </p:txBody>
      </p:sp>
      <p:sp>
        <p:nvSpPr>
          <p:cNvPr id="18" name="TextBox 17"/>
          <p:cNvSpPr txBox="1"/>
          <p:nvPr/>
        </p:nvSpPr>
        <p:spPr>
          <a:xfrm>
            <a:off x="2481681" y="3419856"/>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対面・内見 ／ 反応案件→AI査定→買付 or 込山・ツクビトへパス</a:t>
            </a:r>
          </a:p>
        </p:txBody>
      </p:sp>
      <p:sp>
        <p:nvSpPr>
          <p:cNvPr id="19" name="Rectangle 18"/>
          <p:cNvSpPr/>
          <p:nvPr/>
        </p:nvSpPr>
        <p:spPr>
          <a:xfrm>
            <a:off x="457200" y="4050791"/>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078224"/>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18:00-</a:t>
            </a:r>
          </a:p>
        </p:txBody>
      </p:sp>
      <p:sp>
        <p:nvSpPr>
          <p:cNvPr id="21" name="TextBox 20"/>
          <p:cNvSpPr txBox="1"/>
          <p:nvPr/>
        </p:nvSpPr>
        <p:spPr>
          <a:xfrm>
            <a:off x="2481681" y="4078224"/>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家族（死守）</a:t>
            </a:r>
          </a:p>
        </p:txBody>
      </p:sp>
      <p:sp>
        <p:nvSpPr>
          <p:cNvPr id="22" name="Rectangle 21"/>
          <p:cNvSpPr/>
          <p:nvPr/>
        </p:nvSpPr>
        <p:spPr>
          <a:xfrm>
            <a:off x="457200" y="4709159"/>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736592"/>
            <a:ext cx="1841601" cy="658368"/>
          </a:xfrm>
          <a:prstGeom prst="rect">
            <a:avLst/>
          </a:prstGeom>
          <a:noFill/>
        </p:spPr>
        <p:txBody>
          <a:bodyPr wrap="square" anchor="ctr">
            <a:spAutoFit/>
          </a:bodyPr>
          <a:lstStyle/>
          <a:p>
            <a:pPr algn="l">
              <a:lnSpc>
                <a:spcPct val="110000"/>
              </a:lnSpc>
            </a:pPr>
            <a:r>
              <a:rPr sz="1400" b="1">
                <a:solidFill>
                  <a:srgbClr val="AA2E26"/>
                </a:solidFill>
                <a:latin typeface="Meiryo"/>
              </a:rPr>
              <a:t>夜</a:t>
            </a:r>
          </a:p>
        </p:txBody>
      </p:sp>
      <p:sp>
        <p:nvSpPr>
          <p:cNvPr id="24" name="TextBox 23"/>
          <p:cNvSpPr txBox="1"/>
          <p:nvPr/>
        </p:nvSpPr>
        <p:spPr>
          <a:xfrm>
            <a:off x="2481681" y="4736592"/>
            <a:ext cx="9085478" cy="658368"/>
          </a:xfrm>
          <a:prstGeom prst="rect">
            <a:avLst/>
          </a:prstGeom>
          <a:noFill/>
        </p:spPr>
        <p:txBody>
          <a:bodyPr wrap="square" anchor="ctr">
            <a:spAutoFit/>
          </a:bodyPr>
          <a:lstStyle/>
          <a:p>
            <a:pPr algn="l">
              <a:lnSpc>
                <a:spcPct val="110000"/>
              </a:lnSpc>
            </a:pPr>
            <a:r>
              <a:rPr sz="1400" b="0">
                <a:solidFill>
                  <a:srgbClr val="332A28"/>
                </a:solidFill>
                <a:latin typeface="Meiryo"/>
              </a:rPr>
              <a:t>日報：荷電結果をシートに記入＋黙る力5問＋温度感1語</a:t>
            </a:r>
          </a:p>
        </p:txBody>
      </p:sp>
      <p:sp>
        <p:nvSpPr>
          <p:cNvPr id="25" name="TextBox 24"/>
          <p:cNvSpPr txBox="1"/>
          <p:nvPr/>
        </p:nvSpPr>
        <p:spPr>
          <a:xfrm>
            <a:off x="457200" y="5760720"/>
            <a:ext cx="11247120" cy="548640"/>
          </a:xfrm>
          <a:prstGeom prst="rect">
            <a:avLst/>
          </a:prstGeom>
          <a:noFill/>
        </p:spPr>
        <p:txBody>
          <a:bodyPr wrap="square" anchor="t">
            <a:spAutoFit/>
          </a:bodyPr>
          <a:lstStyle/>
          <a:p>
            <a:pPr algn="l">
              <a:lnSpc>
                <a:spcPct val="110000"/>
              </a:lnSpc>
            </a:pPr>
            <a:r>
              <a:rPr sz="1500" b="1">
                <a:solidFill>
                  <a:srgbClr val="1F7A1F"/>
                </a:solidFill>
                <a:latin typeface="Meiryo"/>
              </a:rPr>
              <a:t>KPI＝荷電5件/日＋業者接触1件/日 → 月4件確保（現実シナリオ）に乗る</a:t>
            </a:r>
          </a:p>
        </p:txBody>
      </p:sp>
      <p:sp>
        <p:nvSpPr>
          <p:cNvPr id="26" name="TextBox 2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789920" cy="1371600"/>
          </a:xfrm>
          <a:prstGeom prst="rect">
            <a:avLst/>
          </a:prstGeom>
          <a:noFill/>
        </p:spPr>
        <p:txBody>
          <a:bodyPr wrap="square" anchor="t">
            <a:spAutoFit/>
          </a:bodyPr>
          <a:lstStyle/>
          <a:p>
            <a:pPr algn="l">
              <a:lnSpc>
                <a:spcPct val="135000"/>
              </a:lnSpc>
            </a:pPr>
            <a:r>
              <a:rPr sz="2200" b="0">
                <a:solidFill>
                  <a:srgbClr val="332A28"/>
                </a:solidFill>
                <a:latin typeface="Meiryo"/>
              </a:rPr>
              <a:t>データは腐る、営業は実る。</a:t>
            </a:r>
          </a:p>
          <a:p>
            <a:pPr algn="l">
              <a:lnSpc>
                <a:spcPct val="135000"/>
              </a:lnSpc>
            </a:pPr>
            <a:r>
              <a:rPr sz="2200" b="0">
                <a:solidFill>
                  <a:srgbClr val="332A28"/>
                </a:solidFill>
                <a:latin typeface="Meiryo"/>
              </a:rPr>
              <a:t>救出は使う分だけ、毎日の荷電が本体。実績1件がすべての扉。</a:t>
            </a:r>
          </a:p>
        </p:txBody>
      </p:sp>
      <p:sp>
        <p:nvSpPr>
          <p:cNvPr id="5" name="TextBox 4"/>
          <p:cNvSpPr txBox="1"/>
          <p:nvPr/>
        </p:nvSpPr>
        <p:spPr>
          <a:xfrm>
            <a:off x="868680" y="5120640"/>
            <a:ext cx="10515600" cy="640080"/>
          </a:xfrm>
          <a:prstGeom prst="rect">
            <a:avLst/>
          </a:prstGeom>
          <a:noFill/>
        </p:spPr>
        <p:txBody>
          <a:bodyPr wrap="square" anchor="t">
            <a:spAutoFit/>
          </a:bodyPr>
          <a:lstStyle/>
          <a:p>
            <a:pPr algn="l">
              <a:lnSpc>
                <a:spcPct val="110000"/>
              </a:lnSpc>
            </a:pPr>
            <a:r>
              <a:rPr sz="1300" b="0">
                <a:solidFill>
                  <a:srgbClr val="77706E"/>
                </a:solidFill>
                <a:latin typeface="Meiryo"/>
              </a:rPr>
              <a:t>制作：テナントアシスト・ウイン 菊池研太 ／ 業務一覧スプシとセット運用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
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3172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160520"/>
            <a:ext cx="12191695" cy="36576"/>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14600"/>
            <a:ext cx="10515600" cy="914400"/>
          </a:xfrm>
          <a:prstGeom prst="rect">
            <a:avLst/>
          </a:prstGeom>
          <a:noFill/>
        </p:spPr>
        <p:txBody>
          <a:bodyPr wrap="square" anchor="t">
            <a:spAutoFit/>
          </a:bodyPr>
          <a:lstStyle/>
          <a:p>
            <a:pPr algn="l">
              <a:lnSpc>
                <a:spcPct val="110000"/>
              </a:lnSpc>
            </a:pPr>
            <a:r>
              <a:rPr sz="4600" b="1">
                <a:solidFill>
                  <a:srgbClr val="AA2E26"/>
                </a:solidFill>
                <a:latin typeface="Meiryo"/>
              </a:rPr>
              <a:t>融資ご相談資料</a:t>
            </a:r>
          </a:p>
        </p:txBody>
      </p:sp>
      <p:sp>
        <p:nvSpPr>
          <p:cNvPr id="7" name="TextBox 6"/>
          <p:cNvSpPr txBox="1"/>
          <p:nvPr/>
        </p:nvSpPr>
        <p:spPr>
          <a:xfrm>
            <a:off x="868680" y="3429000"/>
            <a:ext cx="10515600" cy="640080"/>
          </a:xfrm>
          <a:prstGeom prst="rect">
            <a:avLst/>
          </a:prstGeom>
          <a:noFill/>
        </p:spPr>
        <p:txBody>
          <a:bodyPr wrap="square" anchor="t">
            <a:spAutoFit/>
          </a:bodyPr>
          <a:lstStyle/>
          <a:p>
            <a:pPr algn="l">
              <a:lnSpc>
                <a:spcPct val="110000"/>
              </a:lnSpc>
            </a:pPr>
            <a:r>
              <a:rPr sz="2000" b="0">
                <a:solidFill>
                  <a:srgbClr val="332A28"/>
                </a:solidFill>
                <a:latin typeface="Meiryo"/>
              </a:rPr>
              <a:t>盛岡市高松2丁目 オーナーチェンジ収益物件（2物件一括取得）</a:t>
            </a:r>
          </a:p>
        </p:txBody>
      </p:sp>
      <p:sp>
        <p:nvSpPr>
          <p:cNvPr id="8" name="TextBox 7"/>
          <p:cNvSpPr txBox="1"/>
          <p:nvPr/>
        </p:nvSpPr>
        <p:spPr>
          <a:xfrm>
            <a:off x="868680" y="4343400"/>
            <a:ext cx="10515600" cy="457200"/>
          </a:xfrm>
          <a:prstGeom prst="rect">
            <a:avLst/>
          </a:prstGeom>
          <a:noFill/>
        </p:spPr>
        <p:txBody>
          <a:bodyPr wrap="square" anchor="t">
            <a:spAutoFit/>
          </a:bodyPr>
          <a:lstStyle/>
          <a:p>
            <a:pPr algn="l">
              <a:lnSpc>
                <a:spcPct val="110000"/>
              </a:lnSpc>
            </a:pPr>
            <a:r>
              <a:rPr sz="1800" b="1">
                <a:solidFill>
                  <a:srgbClr val="332A28"/>
                </a:solidFill>
                <a:latin typeface="Meiryo"/>
              </a:rPr>
              <a:t>株式会社 岩手銀行 御中</a:t>
            </a:r>
          </a:p>
        </p:txBody>
      </p:sp>
      <p:sp>
        <p:nvSpPr>
          <p:cNvPr id="9" name="TextBox 8"/>
          <p:cNvSpPr txBox="1"/>
          <p:nvPr/>
        </p:nvSpPr>
        <p:spPr>
          <a:xfrm>
            <a:off x="868680" y="557784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
        <p:nvSpPr>
          <p:cNvPr id="10" name="TextBox 9"/>
          <p:cNvSpPr txBox="1"/>
          <p:nvPr/>
        </p:nvSpPr>
        <p:spPr>
          <a:xfrm>
            <a:off x="868680" y="1280160"/>
            <a:ext cx="10058400" cy="457200"/>
          </a:xfrm>
          <a:prstGeom prst="rect">
            <a:avLst/>
          </a:prstGeom>
          <a:noFill/>
        </p:spPr>
        <p:txBody>
          <a:bodyPr wrap="square" anchor="t">
            <a:spAutoFit/>
          </a:bodyPr>
          <a:lstStyle/>
          <a:p>
            <a:pPr algn="l">
              <a:lnSpc>
                <a:spcPct val="110000"/>
              </a:lnSpc>
            </a:pPr>
            <a:r>
              <a:rPr sz="1200" b="0">
                <a:solidFill>
                  <a:srgbClr val="77706E"/>
                </a:solidFill>
                <a:latin typeface="Meiryo"/>
              </a:rPr>
              <a:t>CONFIDENTIAL ／ 融資ご相談資料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案件概要 ― 2物件一括（セット）取得</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11247120" cy="548640"/>
          </a:xfrm>
          <a:prstGeom prst="rect">
            <a:avLst/>
          </a:prstGeom>
          <a:noFill/>
        </p:spPr>
        <p:txBody>
          <a:bodyPr wrap="square" anchor="t">
            <a:spAutoFit/>
          </a:bodyPr>
          <a:lstStyle/>
          <a:p>
            <a:pPr algn="l">
              <a:lnSpc>
                <a:spcPct val="110000"/>
              </a:lnSpc>
            </a:pPr>
            <a:r>
              <a:rPr sz="1500" b="0">
                <a:solidFill>
                  <a:srgbClr val="332A28"/>
                </a:solidFill>
                <a:latin typeface="Meiryo"/>
              </a:rPr>
              <a:t>盛岡市高松2丁目の隣接2物件（収益アパート＋貸家3棟）を一括取得するオーナーチェンジ案件。取得総額 37,000千円。</a:t>
            </a:r>
          </a:p>
        </p:txBody>
      </p:sp>
      <p:sp>
        <p:nvSpPr>
          <p:cNvPr id="8" name="Rectangle 7"/>
          <p:cNvSpPr/>
          <p:nvPr/>
        </p:nvSpPr>
        <p:spPr>
          <a:xfrm>
            <a:off x="457200" y="210312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1284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取得総額</a:t>
            </a:r>
          </a:p>
        </p:txBody>
      </p:sp>
      <p:sp>
        <p:nvSpPr>
          <p:cNvPr id="10" name="TextBox 9"/>
          <p:cNvSpPr txBox="1"/>
          <p:nvPr/>
        </p:nvSpPr>
        <p:spPr>
          <a:xfrm>
            <a:off x="457200" y="2514600"/>
            <a:ext cx="2651760" cy="640080"/>
          </a:xfrm>
          <a:prstGeom prst="rect">
            <a:avLst/>
          </a:prstGeom>
          <a:noFill/>
        </p:spPr>
        <p:txBody>
          <a:bodyPr wrap="square" anchor="t">
            <a:spAutoFit/>
          </a:bodyPr>
          <a:lstStyle/>
          <a:p>
            <a:pPr algn="ctr">
              <a:lnSpc>
                <a:spcPct val="110000"/>
              </a:lnSpc>
            </a:pPr>
            <a:r>
              <a:rPr sz="2600" b="1">
                <a:solidFill>
                  <a:srgbClr val="AA2E26"/>
                </a:solidFill>
                <a:latin typeface="Meiryo"/>
              </a:rPr>
              <a:t>37,000千円</a:t>
            </a:r>
          </a:p>
        </p:txBody>
      </p:sp>
      <p:sp>
        <p:nvSpPr>
          <p:cNvPr id="11" name="TextBox 10"/>
          <p:cNvSpPr txBox="1"/>
          <p:nvPr/>
        </p:nvSpPr>
        <p:spPr>
          <a:xfrm>
            <a:off x="457200" y="312724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2物件セット</a:t>
            </a:r>
          </a:p>
        </p:txBody>
      </p:sp>
      <p:sp>
        <p:nvSpPr>
          <p:cNvPr id="12" name="Rectangle 11"/>
          <p:cNvSpPr/>
          <p:nvPr/>
        </p:nvSpPr>
        <p:spPr>
          <a:xfrm>
            <a:off x="3291840" y="210312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221284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4" name="TextBox 13"/>
          <p:cNvSpPr txBox="1"/>
          <p:nvPr/>
        </p:nvSpPr>
        <p:spPr>
          <a:xfrm>
            <a:off x="3291840" y="2514600"/>
            <a:ext cx="2651760" cy="640080"/>
          </a:xfrm>
          <a:prstGeom prst="rect">
            <a:avLst/>
          </a:prstGeom>
          <a:noFill/>
        </p:spPr>
        <p:txBody>
          <a:bodyPr wrap="square" anchor="t">
            <a:spAutoFit/>
          </a:bodyPr>
          <a:lstStyle/>
          <a:p>
            <a:pPr algn="ctr">
              <a:lnSpc>
                <a:spcPct val="110000"/>
              </a:lnSpc>
            </a:pPr>
            <a:r>
              <a:rPr sz="2600" b="1">
                <a:solidFill>
                  <a:srgbClr val="AA2E26"/>
                </a:solidFill>
                <a:latin typeface="Meiryo"/>
              </a:rPr>
              <a:t>4,827千円</a:t>
            </a:r>
          </a:p>
        </p:txBody>
      </p:sp>
      <p:sp>
        <p:nvSpPr>
          <p:cNvPr id="15" name="TextBox 14"/>
          <p:cNvSpPr txBox="1"/>
          <p:nvPr/>
        </p:nvSpPr>
        <p:spPr>
          <a:xfrm>
            <a:off x="3291840" y="312724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表面利回り 13.05%</a:t>
            </a:r>
          </a:p>
        </p:txBody>
      </p:sp>
      <p:sp>
        <p:nvSpPr>
          <p:cNvPr id="16" name="Rectangle 15"/>
          <p:cNvSpPr/>
          <p:nvPr/>
        </p:nvSpPr>
        <p:spPr>
          <a:xfrm>
            <a:off x="6126480" y="210312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221284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8" name="TextBox 17"/>
          <p:cNvSpPr txBox="1"/>
          <p:nvPr/>
        </p:nvSpPr>
        <p:spPr>
          <a:xfrm>
            <a:off x="6126480" y="2514600"/>
            <a:ext cx="2651760" cy="640080"/>
          </a:xfrm>
          <a:prstGeom prst="rect">
            <a:avLst/>
          </a:prstGeom>
          <a:noFill/>
        </p:spPr>
        <p:txBody>
          <a:bodyPr wrap="square" anchor="t">
            <a:spAutoFit/>
          </a:bodyPr>
          <a:lstStyle/>
          <a:p>
            <a:pPr algn="ctr">
              <a:lnSpc>
                <a:spcPct val="110000"/>
              </a:lnSpc>
            </a:pPr>
            <a:r>
              <a:rPr sz="2600" b="1">
                <a:solidFill>
                  <a:srgbClr val="1F7A1F"/>
                </a:solidFill>
                <a:latin typeface="Meiryo"/>
              </a:rPr>
              <a:t>11.09%</a:t>
            </a:r>
          </a:p>
        </p:txBody>
      </p:sp>
      <p:sp>
        <p:nvSpPr>
          <p:cNvPr id="19" name="TextBox 18"/>
          <p:cNvSpPr txBox="1"/>
          <p:nvPr/>
        </p:nvSpPr>
        <p:spPr>
          <a:xfrm>
            <a:off x="6126480" y="312724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経費15%控除</a:t>
            </a:r>
          </a:p>
        </p:txBody>
      </p:sp>
      <p:sp>
        <p:nvSpPr>
          <p:cNvPr id="20" name="Rectangle 19"/>
          <p:cNvSpPr/>
          <p:nvPr/>
        </p:nvSpPr>
        <p:spPr>
          <a:xfrm>
            <a:off x="8961120" y="21031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0" y="22128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22" name="TextBox 21"/>
          <p:cNvSpPr txBox="1"/>
          <p:nvPr/>
        </p:nvSpPr>
        <p:spPr>
          <a:xfrm>
            <a:off x="8961120" y="2514600"/>
            <a:ext cx="2743200" cy="640080"/>
          </a:xfrm>
          <a:prstGeom prst="rect">
            <a:avLst/>
          </a:prstGeom>
          <a:noFill/>
        </p:spPr>
        <p:txBody>
          <a:bodyPr wrap="square" anchor="t">
            <a:spAutoFit/>
          </a:bodyPr>
          <a:lstStyle/>
          <a:p>
            <a:pPr algn="ctr">
              <a:lnSpc>
                <a:spcPct val="110000"/>
              </a:lnSpc>
            </a:pPr>
            <a:r>
              <a:rPr sz="2600" b="1">
                <a:solidFill>
                  <a:srgbClr val="1F7A1F"/>
                </a:solidFill>
                <a:latin typeface="Meiryo"/>
              </a:rPr>
              <a:t>約90%</a:t>
            </a:r>
          </a:p>
        </p:txBody>
      </p:sp>
      <p:sp>
        <p:nvSpPr>
          <p:cNvPr id="23" name="TextBox 22"/>
          <p:cNvSpPr txBox="1"/>
          <p:nvPr/>
        </p:nvSpPr>
        <p:spPr>
          <a:xfrm>
            <a:off x="8961120" y="3127248"/>
            <a:ext cx="2743200" cy="320040"/>
          </a:xfrm>
          <a:prstGeom prst="rect">
            <a:avLst/>
          </a:prstGeom>
          <a:noFill/>
        </p:spPr>
        <p:txBody>
          <a:bodyPr wrap="square" anchor="t">
            <a:spAutoFit/>
          </a:bodyPr>
          <a:lstStyle/>
          <a:p>
            <a:pPr algn="ctr">
              <a:lnSpc>
                <a:spcPct val="110000"/>
              </a:lnSpc>
            </a:pPr>
            <a:r>
              <a:rPr sz="1000" b="0">
                <a:solidFill>
                  <a:srgbClr val="77706E"/>
                </a:solidFill>
                <a:latin typeface="Meiryo"/>
              </a:rPr>
              <a:t>担保が堅い</a:t>
            </a:r>
          </a:p>
        </p:txBody>
      </p:sp>
      <p:sp>
        <p:nvSpPr>
          <p:cNvPr id="24" name="Rectangle 23"/>
          <p:cNvSpPr/>
          <p:nvPr/>
        </p:nvSpPr>
        <p:spPr>
          <a:xfrm>
            <a:off x="457200" y="3794760"/>
            <a:ext cx="112471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831336"/>
            <a:ext cx="2066544" cy="475488"/>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6" name="TextBox 25"/>
          <p:cNvSpPr txBox="1"/>
          <p:nvPr/>
        </p:nvSpPr>
        <p:spPr>
          <a:xfrm>
            <a:off x="2706624" y="3831336"/>
            <a:ext cx="8860536" cy="475488"/>
          </a:xfrm>
          <a:prstGeom prst="rect">
            <a:avLst/>
          </a:prstGeom>
          <a:noFill/>
        </p:spPr>
        <p:txBody>
          <a:bodyPr wrap="square" anchor="ctr">
            <a:spAutoFit/>
          </a:bodyPr>
          <a:lstStyle/>
          <a:p>
            <a:pPr algn="l">
              <a:lnSpc>
                <a:spcPct val="110000"/>
              </a:lnSpc>
            </a:pPr>
            <a:r>
              <a:rPr sz="1300" b="0">
                <a:solidFill>
                  <a:srgbClr val="332A28"/>
                </a:solidFill>
                <a:latin typeface="Meiryo"/>
              </a:rPr>
              <a:t>岩手県盛岡市高松2丁目（34-5／34-30）</a:t>
            </a:r>
          </a:p>
        </p:txBody>
      </p:sp>
      <p:sp>
        <p:nvSpPr>
          <p:cNvPr id="27" name="Rectangle 26"/>
          <p:cNvSpPr/>
          <p:nvPr/>
        </p:nvSpPr>
        <p:spPr>
          <a:xfrm>
            <a:off x="457200" y="4270248"/>
            <a:ext cx="11247120" cy="47548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306824"/>
            <a:ext cx="2066544" cy="475488"/>
          </a:xfrm>
          <a:prstGeom prst="rect">
            <a:avLst/>
          </a:prstGeom>
          <a:noFill/>
        </p:spPr>
        <p:txBody>
          <a:bodyPr wrap="square" anchor="ctr">
            <a:spAutoFit/>
          </a:bodyPr>
          <a:lstStyle/>
          <a:p>
            <a:pPr algn="l">
              <a:lnSpc>
                <a:spcPct val="110000"/>
              </a:lnSpc>
            </a:pPr>
            <a:r>
              <a:rPr sz="1300" b="1">
                <a:solidFill>
                  <a:srgbClr val="AA2E26"/>
                </a:solidFill>
                <a:latin typeface="Meiryo"/>
              </a:rPr>
              <a:t>アクセス</a:t>
            </a:r>
          </a:p>
        </p:txBody>
      </p:sp>
      <p:sp>
        <p:nvSpPr>
          <p:cNvPr id="29" name="TextBox 28"/>
          <p:cNvSpPr txBox="1"/>
          <p:nvPr/>
        </p:nvSpPr>
        <p:spPr>
          <a:xfrm>
            <a:off x="2706624" y="4306824"/>
            <a:ext cx="8860536" cy="475488"/>
          </a:xfrm>
          <a:prstGeom prst="rect">
            <a:avLst/>
          </a:prstGeom>
          <a:noFill/>
        </p:spPr>
        <p:txBody>
          <a:bodyPr wrap="square" anchor="ctr">
            <a:spAutoFit/>
          </a:bodyPr>
          <a:lstStyle/>
          <a:p>
            <a:pPr algn="l">
              <a:lnSpc>
                <a:spcPct val="110000"/>
              </a:lnSpc>
            </a:pPr>
            <a:r>
              <a:rPr sz="1300" b="0">
                <a:solidFill>
                  <a:srgbClr val="332A28"/>
                </a:solidFill>
                <a:latin typeface="Meiryo"/>
              </a:rPr>
              <a:t>いわて銀河鉄道「青山」駅 徒歩22分 ／ 盛岡市街エリア</a:t>
            </a:r>
          </a:p>
        </p:txBody>
      </p:sp>
      <p:sp>
        <p:nvSpPr>
          <p:cNvPr id="30" name="Rectangle 29"/>
          <p:cNvSpPr/>
          <p:nvPr/>
        </p:nvSpPr>
        <p:spPr>
          <a:xfrm>
            <a:off x="457200" y="4745736"/>
            <a:ext cx="112471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782312"/>
            <a:ext cx="2066544" cy="475488"/>
          </a:xfrm>
          <a:prstGeom prst="rect">
            <a:avLst/>
          </a:prstGeom>
          <a:noFill/>
        </p:spPr>
        <p:txBody>
          <a:bodyPr wrap="square" anchor="ctr">
            <a:spAutoFit/>
          </a:bodyPr>
          <a:lstStyle/>
          <a:p>
            <a:pPr algn="l">
              <a:lnSpc>
                <a:spcPct val="110000"/>
              </a:lnSpc>
            </a:pPr>
            <a:r>
              <a:rPr sz="1300" b="1">
                <a:solidFill>
                  <a:srgbClr val="AA2E26"/>
                </a:solidFill>
                <a:latin typeface="Meiryo"/>
              </a:rPr>
              <a:t>用途地域</a:t>
            </a:r>
          </a:p>
        </p:txBody>
      </p:sp>
      <p:sp>
        <p:nvSpPr>
          <p:cNvPr id="32" name="TextBox 31"/>
          <p:cNvSpPr txBox="1"/>
          <p:nvPr/>
        </p:nvSpPr>
        <p:spPr>
          <a:xfrm>
            <a:off x="2706624" y="4782312"/>
            <a:ext cx="8860536" cy="475488"/>
          </a:xfrm>
          <a:prstGeom prst="rect">
            <a:avLst/>
          </a:prstGeom>
          <a:noFill/>
        </p:spPr>
        <p:txBody>
          <a:bodyPr wrap="square" anchor="ctr">
            <a:spAutoFit/>
          </a:bodyPr>
          <a:lstStyle/>
          <a:p>
            <a:pPr algn="l">
              <a:lnSpc>
                <a:spcPct val="110000"/>
              </a:lnSpc>
            </a:pPr>
            <a:r>
              <a:rPr sz="1300" b="0">
                <a:solidFill>
                  <a:srgbClr val="332A28"/>
                </a:solidFill>
                <a:latin typeface="Meiryo"/>
              </a:rPr>
              <a:t>市街化区域・第二種中高層住居専用地域（建ぺい60%／容積200%）</a:t>
            </a:r>
          </a:p>
        </p:txBody>
      </p:sp>
      <p:sp>
        <p:nvSpPr>
          <p:cNvPr id="33" name="Rectangle 32"/>
          <p:cNvSpPr/>
          <p:nvPr/>
        </p:nvSpPr>
        <p:spPr>
          <a:xfrm>
            <a:off x="457200" y="5221223"/>
            <a:ext cx="11247120" cy="47548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257799"/>
            <a:ext cx="2066544" cy="475488"/>
          </a:xfrm>
          <a:prstGeom prst="rect">
            <a:avLst/>
          </a:prstGeom>
          <a:noFill/>
        </p:spPr>
        <p:txBody>
          <a:bodyPr wrap="square" anchor="ctr">
            <a:spAutoFit/>
          </a:bodyPr>
          <a:lstStyle/>
          <a:p>
            <a:pPr algn="l">
              <a:lnSpc>
                <a:spcPct val="110000"/>
              </a:lnSpc>
            </a:pPr>
            <a:r>
              <a:rPr sz="1300" b="1">
                <a:solidFill>
                  <a:srgbClr val="AA2E26"/>
                </a:solidFill>
                <a:latin typeface="Meiryo"/>
              </a:rPr>
              <a:t>スキーム</a:t>
            </a:r>
          </a:p>
        </p:txBody>
      </p:sp>
      <p:sp>
        <p:nvSpPr>
          <p:cNvPr id="35" name="TextBox 34"/>
          <p:cNvSpPr txBox="1"/>
          <p:nvPr/>
        </p:nvSpPr>
        <p:spPr>
          <a:xfrm>
            <a:off x="2706624" y="5257799"/>
            <a:ext cx="8860536" cy="475488"/>
          </a:xfrm>
          <a:prstGeom prst="rect">
            <a:avLst/>
          </a:prstGeom>
          <a:noFill/>
        </p:spPr>
        <p:txBody>
          <a:bodyPr wrap="square" anchor="ctr">
            <a:spAutoFit/>
          </a:bodyPr>
          <a:lstStyle/>
          <a:p>
            <a:pPr algn="l">
              <a:lnSpc>
                <a:spcPct val="110000"/>
              </a:lnSpc>
            </a:pPr>
            <a:r>
              <a:rPr sz="1300" b="0">
                <a:solidFill>
                  <a:srgbClr val="332A28"/>
                </a:solidFill>
                <a:latin typeface="Meiryo"/>
              </a:rPr>
              <a:t>保有（インカム）／返済原資＝賃料収入</a:t>
            </a:r>
          </a:p>
        </p:txBody>
      </p:sp>
      <p:sp>
        <p:nvSpPr>
          <p:cNvPr id="36" name="TextBox 35"/>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物件1 ― アーバンキューブ（1K×8戸）</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600" b="1">
                <a:solidFill>
                  <a:srgbClr val="AA2E26"/>
                </a:solidFill>
                <a:latin typeface="Meiryo"/>
              </a:rPr>
              <a:t>25,000千円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600" b="1">
                <a:solidFill>
                  <a:srgbClr val="AA2E26"/>
                </a:solidFill>
                <a:latin typeface="Meiryo"/>
              </a:rPr>
              <a:t>3,528千円</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表面利回り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600" b="1">
                <a:solidFill>
                  <a:srgbClr val="1F7A1F"/>
                </a:solidFill>
                <a:latin typeface="Meiryo"/>
              </a:rPr>
              <a:t>14.11%</a:t>
            </a:r>
          </a:p>
        </p:txBody>
      </p:sp>
      <p:sp>
        <p:nvSpPr>
          <p:cNvPr id="16" name="Rectangle 15"/>
          <p:cNvSpPr/>
          <p:nvPr/>
        </p:nvSpPr>
        <p:spPr>
          <a:xfrm>
            <a:off x="9235440" y="1417320"/>
            <a:ext cx="246888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46888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468880" cy="640080"/>
          </a:xfrm>
          <a:prstGeom prst="rect">
            <a:avLst/>
          </a:prstGeom>
          <a:noFill/>
        </p:spPr>
        <p:txBody>
          <a:bodyPr wrap="square" anchor="t">
            <a:spAutoFit/>
          </a:bodyPr>
          <a:lstStyle/>
          <a:p>
            <a:pPr algn="ctr">
              <a:lnSpc>
                <a:spcPct val="110000"/>
              </a:lnSpc>
            </a:pPr>
            <a:r>
              <a:rPr sz="2600" b="1">
                <a:solidFill>
                  <a:srgbClr val="1F7A1F"/>
                </a:solidFill>
                <a:latin typeface="Meiryo"/>
              </a:rPr>
              <a:t>賃貸中</a:t>
            </a:r>
          </a:p>
        </p:txBody>
      </p:sp>
      <p:sp>
        <p:nvSpPr>
          <p:cNvPr id="19" name="TextBox 18"/>
          <p:cNvSpPr txBox="1"/>
          <p:nvPr/>
        </p:nvSpPr>
        <p:spPr>
          <a:xfrm>
            <a:off x="9235440" y="2441448"/>
            <a:ext cx="2468880" cy="320040"/>
          </a:xfrm>
          <a:prstGeom prst="rect">
            <a:avLst/>
          </a:prstGeom>
          <a:noFill/>
        </p:spPr>
        <p:txBody>
          <a:bodyPr wrap="square" anchor="t">
            <a:spAutoFit/>
          </a:bodyPr>
          <a:lstStyle/>
          <a:p>
            <a:pPr algn="ctr">
              <a:lnSpc>
                <a:spcPct val="110000"/>
              </a:lnSpc>
            </a:pPr>
            <a:r>
              <a:rPr sz="1000" b="0">
                <a:solidFill>
                  <a:srgbClr val="77706E"/>
                </a:solidFill>
                <a:latin typeface="Meiryo"/>
              </a:rPr>
              <a:t>入居 7/8（オーナーチェンジ）</a:t>
            </a:r>
          </a:p>
        </p:txBody>
      </p:sp>
      <p:sp>
        <p:nvSpPr>
          <p:cNvPr id="20" name="Rectangle 19"/>
          <p:cNvSpPr/>
          <p:nvPr/>
        </p:nvSpPr>
        <p:spPr>
          <a:xfrm>
            <a:off x="457200" y="3063240"/>
            <a:ext cx="6492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0998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2" name="TextBox 21"/>
          <p:cNvSpPr txBox="1"/>
          <p:nvPr/>
        </p:nvSpPr>
        <p:spPr>
          <a:xfrm>
            <a:off x="2275027" y="30998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盛岡市高松2丁目34-5</a:t>
            </a:r>
          </a:p>
        </p:txBody>
      </p:sp>
      <p:sp>
        <p:nvSpPr>
          <p:cNvPr id="23" name="Rectangle 22"/>
          <p:cNvSpPr/>
          <p:nvPr/>
        </p:nvSpPr>
        <p:spPr>
          <a:xfrm>
            <a:off x="457200" y="3520440"/>
            <a:ext cx="649224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5570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5" name="TextBox 24"/>
          <p:cNvSpPr txBox="1"/>
          <p:nvPr/>
        </p:nvSpPr>
        <p:spPr>
          <a:xfrm>
            <a:off x="2275027" y="35570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木造2階建　1997年3月（築29年）</a:t>
            </a:r>
          </a:p>
        </p:txBody>
      </p:sp>
      <p:sp>
        <p:nvSpPr>
          <p:cNvPr id="26" name="Rectangle 25"/>
          <p:cNvSpPr/>
          <p:nvPr/>
        </p:nvSpPr>
        <p:spPr>
          <a:xfrm>
            <a:off x="457200" y="3977639"/>
            <a:ext cx="6492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14215"/>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8" name="TextBox 27"/>
          <p:cNvSpPr txBox="1"/>
          <p:nvPr/>
        </p:nvSpPr>
        <p:spPr>
          <a:xfrm>
            <a:off x="2275027" y="4014215"/>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335.66㎡（公簿）+私道持分47.10㎡</a:t>
            </a:r>
          </a:p>
        </p:txBody>
      </p:sp>
      <p:sp>
        <p:nvSpPr>
          <p:cNvPr id="29" name="Rectangle 28"/>
          <p:cNvSpPr/>
          <p:nvPr/>
        </p:nvSpPr>
        <p:spPr>
          <a:xfrm>
            <a:off x="457200" y="4434840"/>
            <a:ext cx="649224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44714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1" name="TextBox 30"/>
          <p:cNvSpPr txBox="1"/>
          <p:nvPr/>
        </p:nvSpPr>
        <p:spPr>
          <a:xfrm>
            <a:off x="2275027" y="44714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238.48㎡</a:t>
            </a:r>
          </a:p>
        </p:txBody>
      </p:sp>
      <p:sp>
        <p:nvSpPr>
          <p:cNvPr id="32" name="Rectangle 31"/>
          <p:cNvSpPr/>
          <p:nvPr/>
        </p:nvSpPr>
        <p:spPr>
          <a:xfrm>
            <a:off x="457200" y="4892040"/>
            <a:ext cx="6492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9286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4" name="TextBox 33"/>
          <p:cNvSpPr txBox="1"/>
          <p:nvPr/>
        </p:nvSpPr>
        <p:spPr>
          <a:xfrm>
            <a:off x="2275027" y="49286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294千円</a:t>
            </a:r>
          </a:p>
        </p:txBody>
      </p:sp>
      <p:sp>
        <p:nvSpPr>
          <p:cNvPr id="35" name="Rectangle 34"/>
          <p:cNvSpPr/>
          <p:nvPr/>
        </p:nvSpPr>
        <p:spPr>
          <a:xfrm>
            <a:off x="457200" y="5349240"/>
            <a:ext cx="649224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53858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7" name="TextBox 36"/>
          <p:cNvSpPr txBox="1"/>
          <p:nvPr/>
        </p:nvSpPr>
        <p:spPr>
          <a:xfrm>
            <a:off x="2275027" y="53858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2023年 外壁改修済／西側位置指定道路 持分100%</a:t>
            </a:r>
          </a:p>
        </p:txBody>
      </p:sp>
      <p:sp>
        <p:nvSpPr>
          <p:cNvPr id="38" name="Rectangle 37"/>
          <p:cNvSpPr/>
          <p:nvPr/>
        </p:nvSpPr>
        <p:spPr>
          <a:xfrm>
            <a:off x="7269480" y="3017520"/>
            <a:ext cx="4434840" cy="2697480"/>
          </a:xfrm>
          <a:prstGeom prst="rect">
            <a:avLst/>
          </a:prstGeom>
          <a:solidFill>
            <a:srgbClr val="FFFFFF"/>
          </a:solidFill>
          <a:ln>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urban_06.jpg"/>
          <p:cNvPicPr>
            <a:picLocks noChangeAspect="1"/>
          </p:cNvPicPr>
          <p:nvPr/>
        </p:nvPicPr>
        <p:blipFill>
          <a:blip r:embed="rId2"/>
          <a:stretch>
            <a:fillRect/>
          </a:stretch>
        </p:blipFill>
        <p:spPr>
          <a:xfrm>
            <a:off x="7360920" y="3108960"/>
            <a:ext cx="4251960" cy="3188970"/>
          </a:xfrm>
          <a:prstGeom prst="rect">
            <a:avLst/>
          </a:prstGeom>
        </p:spPr>
      </p:pic>
      <p:sp>
        <p:nvSpPr>
          <p:cNvPr id="40" name="TextBox 39"/>
          <p:cNvSpPr txBox="1"/>
          <p:nvPr/>
        </p:nvSpPr>
        <p:spPr>
          <a:xfrm>
            <a:off x="7269480" y="5760720"/>
            <a:ext cx="4434840" cy="274320"/>
          </a:xfrm>
          <a:prstGeom prst="rect">
            <a:avLst/>
          </a:prstGeom>
          <a:noFill/>
        </p:spPr>
        <p:txBody>
          <a:bodyPr wrap="square" anchor="t">
            <a:spAutoFit/>
          </a:bodyPr>
          <a:lstStyle/>
          <a:p>
            <a:pPr algn="ctr">
              <a:lnSpc>
                <a:spcPct val="110000"/>
              </a:lnSpc>
            </a:pPr>
            <a:r>
              <a:rPr sz="1000" b="0">
                <a:solidFill>
                  <a:srgbClr val="77706E"/>
                </a:solidFill>
                <a:latin typeface="Meiryo"/>
              </a:rPr>
              <a:t>現況外観</a:t>
            </a:r>
          </a:p>
        </p:txBody>
      </p:sp>
      <p:sp>
        <p:nvSpPr>
          <p:cNvPr id="41" name="TextBox 4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物件2 ― 花みずき貸家3棟（3K）</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600" b="1">
                <a:solidFill>
                  <a:srgbClr val="AA2E26"/>
                </a:solidFill>
                <a:latin typeface="Meiryo"/>
              </a:rPr>
              <a:t>12,000千円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600" b="1">
                <a:solidFill>
                  <a:srgbClr val="AA2E26"/>
                </a:solidFill>
                <a:latin typeface="Meiryo"/>
              </a:rPr>
              <a:t>1,300千円</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表面利回り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600" b="1">
                <a:solidFill>
                  <a:srgbClr val="1F7A1F"/>
                </a:solidFill>
                <a:latin typeface="Meiryo"/>
              </a:rPr>
              <a:t>10.83%</a:t>
            </a:r>
          </a:p>
        </p:txBody>
      </p:sp>
      <p:sp>
        <p:nvSpPr>
          <p:cNvPr id="16" name="Rectangle 15"/>
          <p:cNvSpPr/>
          <p:nvPr/>
        </p:nvSpPr>
        <p:spPr>
          <a:xfrm>
            <a:off x="9235440" y="1417320"/>
            <a:ext cx="246888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46888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468880" cy="640080"/>
          </a:xfrm>
          <a:prstGeom prst="rect">
            <a:avLst/>
          </a:prstGeom>
          <a:noFill/>
        </p:spPr>
        <p:txBody>
          <a:bodyPr wrap="square" anchor="t">
            <a:spAutoFit/>
          </a:bodyPr>
          <a:lstStyle/>
          <a:p>
            <a:pPr algn="ctr">
              <a:lnSpc>
                <a:spcPct val="110000"/>
              </a:lnSpc>
            </a:pPr>
            <a:r>
              <a:rPr sz="2600" b="1">
                <a:solidFill>
                  <a:srgbClr val="1F7A1F"/>
                </a:solidFill>
                <a:latin typeface="Meiryo"/>
              </a:rPr>
              <a:t>賃貸中</a:t>
            </a:r>
          </a:p>
        </p:txBody>
      </p:sp>
      <p:sp>
        <p:nvSpPr>
          <p:cNvPr id="19" name="TextBox 18"/>
          <p:cNvSpPr txBox="1"/>
          <p:nvPr/>
        </p:nvSpPr>
        <p:spPr>
          <a:xfrm>
            <a:off x="9235440" y="2441448"/>
            <a:ext cx="2468880" cy="320040"/>
          </a:xfrm>
          <a:prstGeom prst="rect">
            <a:avLst/>
          </a:prstGeom>
          <a:noFill/>
        </p:spPr>
        <p:txBody>
          <a:bodyPr wrap="square" anchor="t">
            <a:spAutoFit/>
          </a:bodyPr>
          <a:lstStyle/>
          <a:p>
            <a:pPr algn="ctr">
              <a:lnSpc>
                <a:spcPct val="110000"/>
              </a:lnSpc>
            </a:pPr>
            <a:r>
              <a:rPr sz="1000" b="0">
                <a:solidFill>
                  <a:srgbClr val="77706E"/>
                </a:solidFill>
                <a:latin typeface="Meiryo"/>
              </a:rPr>
              <a:t>賃貸中（3棟）</a:t>
            </a:r>
          </a:p>
        </p:txBody>
      </p:sp>
      <p:sp>
        <p:nvSpPr>
          <p:cNvPr id="20" name="Rectangle 19"/>
          <p:cNvSpPr/>
          <p:nvPr/>
        </p:nvSpPr>
        <p:spPr>
          <a:xfrm>
            <a:off x="457200" y="3063240"/>
            <a:ext cx="6492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0998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2" name="TextBox 21"/>
          <p:cNvSpPr txBox="1"/>
          <p:nvPr/>
        </p:nvSpPr>
        <p:spPr>
          <a:xfrm>
            <a:off x="2275027" y="30998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盛岡市高松2丁目34-30</a:t>
            </a:r>
          </a:p>
        </p:txBody>
      </p:sp>
      <p:sp>
        <p:nvSpPr>
          <p:cNvPr id="23" name="Rectangle 22"/>
          <p:cNvSpPr/>
          <p:nvPr/>
        </p:nvSpPr>
        <p:spPr>
          <a:xfrm>
            <a:off x="457200" y="3520440"/>
            <a:ext cx="649224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5570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5" name="TextBox 24"/>
          <p:cNvSpPr txBox="1"/>
          <p:nvPr/>
        </p:nvSpPr>
        <p:spPr>
          <a:xfrm>
            <a:off x="2275027" y="35570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木造2階建　1968年7月（築58年）</a:t>
            </a:r>
          </a:p>
        </p:txBody>
      </p:sp>
      <p:sp>
        <p:nvSpPr>
          <p:cNvPr id="26" name="Rectangle 25"/>
          <p:cNvSpPr/>
          <p:nvPr/>
        </p:nvSpPr>
        <p:spPr>
          <a:xfrm>
            <a:off x="457200" y="3977639"/>
            <a:ext cx="6492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14215"/>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8" name="TextBox 27"/>
          <p:cNvSpPr txBox="1"/>
          <p:nvPr/>
        </p:nvSpPr>
        <p:spPr>
          <a:xfrm>
            <a:off x="2275027" y="4014215"/>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358.16㎡（公簿）</a:t>
            </a:r>
          </a:p>
        </p:txBody>
      </p:sp>
      <p:sp>
        <p:nvSpPr>
          <p:cNvPr id="29" name="Rectangle 28"/>
          <p:cNvSpPr/>
          <p:nvPr/>
        </p:nvSpPr>
        <p:spPr>
          <a:xfrm>
            <a:off x="457200" y="4434840"/>
            <a:ext cx="649224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44714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1" name="TextBox 30"/>
          <p:cNvSpPr txBox="1"/>
          <p:nvPr/>
        </p:nvSpPr>
        <p:spPr>
          <a:xfrm>
            <a:off x="2275027" y="44714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163.92㎡</a:t>
            </a:r>
          </a:p>
        </p:txBody>
      </p:sp>
      <p:sp>
        <p:nvSpPr>
          <p:cNvPr id="32" name="Rectangle 31"/>
          <p:cNvSpPr/>
          <p:nvPr/>
        </p:nvSpPr>
        <p:spPr>
          <a:xfrm>
            <a:off x="457200" y="4892040"/>
            <a:ext cx="6492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9286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4" name="TextBox 33"/>
          <p:cNvSpPr txBox="1"/>
          <p:nvPr/>
        </p:nvSpPr>
        <p:spPr>
          <a:xfrm>
            <a:off x="2275027" y="49286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108千円</a:t>
            </a:r>
          </a:p>
        </p:txBody>
      </p:sp>
      <p:sp>
        <p:nvSpPr>
          <p:cNvPr id="35" name="Rectangle 34"/>
          <p:cNvSpPr/>
          <p:nvPr/>
        </p:nvSpPr>
        <p:spPr>
          <a:xfrm>
            <a:off x="457200" y="5349240"/>
            <a:ext cx="649224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5385816"/>
            <a:ext cx="1634947"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7" name="TextBox 36"/>
          <p:cNvSpPr txBox="1"/>
          <p:nvPr/>
        </p:nvSpPr>
        <p:spPr>
          <a:xfrm>
            <a:off x="2275027" y="5385816"/>
            <a:ext cx="4537252" cy="457200"/>
          </a:xfrm>
          <a:prstGeom prst="rect">
            <a:avLst/>
          </a:prstGeom>
          <a:noFill/>
        </p:spPr>
        <p:txBody>
          <a:bodyPr wrap="square" anchor="ctr">
            <a:spAutoFit/>
          </a:bodyPr>
          <a:lstStyle/>
          <a:p>
            <a:pPr algn="l">
              <a:lnSpc>
                <a:spcPct val="110000"/>
              </a:lnSpc>
            </a:pPr>
            <a:r>
              <a:rPr sz="1300" b="0">
                <a:solidFill>
                  <a:srgbClr val="332A28"/>
                </a:solidFill>
                <a:latin typeface="Meiryo"/>
              </a:rPr>
              <a:t>アーバンキューブと同時取得が条件（セット）</a:t>
            </a:r>
          </a:p>
        </p:txBody>
      </p:sp>
      <p:sp>
        <p:nvSpPr>
          <p:cNvPr id="38" name="Rectangle 37"/>
          <p:cNvSpPr/>
          <p:nvPr/>
        </p:nvSpPr>
        <p:spPr>
          <a:xfrm>
            <a:off x="7269480" y="3017520"/>
            <a:ext cx="4434840" cy="2697480"/>
          </a:xfrm>
          <a:prstGeom prst="rect">
            <a:avLst/>
          </a:prstGeom>
          <a:solidFill>
            <a:srgbClr val="FFFFFF"/>
          </a:solidFill>
          <a:ln>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hana_06.jpg"/>
          <p:cNvPicPr>
            <a:picLocks noChangeAspect="1"/>
          </p:cNvPicPr>
          <p:nvPr/>
        </p:nvPicPr>
        <p:blipFill>
          <a:blip r:embed="rId2"/>
          <a:stretch>
            <a:fillRect/>
          </a:stretch>
        </p:blipFill>
        <p:spPr>
          <a:xfrm>
            <a:off x="7360920" y="3108960"/>
            <a:ext cx="4251960" cy="2664119"/>
          </a:xfrm>
          <a:prstGeom prst="rect">
            <a:avLst/>
          </a:prstGeom>
        </p:spPr>
      </p:pic>
      <p:sp>
        <p:nvSpPr>
          <p:cNvPr id="40" name="TextBox 39"/>
          <p:cNvSpPr txBox="1"/>
          <p:nvPr/>
        </p:nvSpPr>
        <p:spPr>
          <a:xfrm>
            <a:off x="7269480" y="5760720"/>
            <a:ext cx="4434840" cy="274320"/>
          </a:xfrm>
          <a:prstGeom prst="rect">
            <a:avLst/>
          </a:prstGeom>
          <a:noFill/>
        </p:spPr>
        <p:txBody>
          <a:bodyPr wrap="square" anchor="t">
            <a:spAutoFit/>
          </a:bodyPr>
          <a:lstStyle/>
          <a:p>
            <a:pPr algn="ctr">
              <a:lnSpc>
                <a:spcPct val="110000"/>
              </a:lnSpc>
            </a:pPr>
            <a:r>
              <a:rPr sz="1000" b="0">
                <a:solidFill>
                  <a:srgbClr val="77706E"/>
                </a:solidFill>
                <a:latin typeface="Meiryo"/>
              </a:rPr>
              <a:t>現況外観</a:t>
            </a:r>
          </a:p>
        </p:txBody>
      </p:sp>
      <p:sp>
        <p:nvSpPr>
          <p:cNvPr id="41" name="TextBox 4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立地・賃貸市場</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17320"/>
            <a:ext cx="11247120" cy="2743200"/>
          </a:xfrm>
          <a:prstGeom prst="rect">
            <a:avLst/>
          </a:prstGeom>
          <a:noFill/>
        </p:spPr>
        <p:txBody>
          <a:bodyPr wrap="square" anchor="t">
            <a:spAutoFit/>
          </a:bodyPr>
          <a:lstStyle/>
          <a:p>
            <a:pPr algn="l">
              <a:lnSpc>
                <a:spcPct val="125000"/>
              </a:lnSpc>
            </a:pPr>
            <a:r>
              <a:rPr sz="1500" b="0">
                <a:solidFill>
                  <a:srgbClr val="332A28"/>
                </a:solidFill>
                <a:latin typeface="Meiryo"/>
              </a:rPr>
              <a:t>■ 立地</a:t>
            </a:r>
          </a:p>
          <a:p>
            <a:pPr algn="l">
              <a:lnSpc>
                <a:spcPct val="125000"/>
              </a:lnSpc>
            </a:pPr>
            <a:r>
              <a:rPr sz="1500" b="0">
                <a:solidFill>
                  <a:srgbClr val="332A28"/>
                </a:solidFill>
                <a:latin typeface="Meiryo"/>
              </a:rPr>
              <a:t>・いわて銀河鉄道「青山」駅 徒歩22分 ／ 盛岡市街エリア</a:t>
            </a:r>
          </a:p>
          <a:p>
            <a:pPr algn="l">
              <a:lnSpc>
                <a:spcPct val="125000"/>
              </a:lnSpc>
            </a:pPr>
            <a:r>
              <a:rPr sz="1500" b="0">
                <a:solidFill>
                  <a:srgbClr val="332A28"/>
                </a:solidFill>
                <a:latin typeface="Meiryo"/>
              </a:rPr>
              <a:t>・盛岡市街エリア。生活利便と賃貸需要が一定して見込めるエリア。</a:t>
            </a:r>
          </a:p>
          <a:p>
            <a:pPr algn="l">
              <a:lnSpc>
                <a:spcPct val="125000"/>
              </a:lnSpc>
            </a:pPr>
            <a:r>
              <a:rPr sz="1500" b="0">
                <a:solidFill>
                  <a:srgbClr val="332A28"/>
                </a:solidFill>
                <a:latin typeface="Meiryo"/>
              </a:rPr>
              <a:t/>
            </a:r>
          </a:p>
          <a:p>
            <a:pPr algn="l">
              <a:lnSpc>
                <a:spcPct val="125000"/>
              </a:lnSpc>
            </a:pPr>
            <a:r>
              <a:rPr sz="1500" b="0">
                <a:solidFill>
                  <a:srgbClr val="332A28"/>
                </a:solidFill>
                <a:latin typeface="Meiryo"/>
              </a:rPr>
              <a:t>■ 賃貸ポジショニング</a:t>
            </a:r>
          </a:p>
          <a:p>
            <a:pPr algn="l">
              <a:lnSpc>
                <a:spcPct val="125000"/>
              </a:lnSpc>
            </a:pPr>
            <a:r>
              <a:rPr sz="1500" b="0">
                <a:solidFill>
                  <a:srgbClr val="332A28"/>
                </a:solidFill>
                <a:latin typeface="Meiryo"/>
              </a:rPr>
              <a:t>・アーバンキューブ＝単身（1K）需要、入居7/8と稼働良好。2023年外壁改修済で競争力維持。</a:t>
            </a:r>
          </a:p>
          <a:p>
            <a:pPr algn="l">
              <a:lnSpc>
                <a:spcPct val="125000"/>
              </a:lnSpc>
            </a:pPr>
            <a:r>
              <a:rPr sz="1500" b="0">
                <a:solidFill>
                  <a:srgbClr val="332A28"/>
                </a:solidFill>
                <a:latin typeface="Meiryo"/>
              </a:rPr>
              <a:t>・花みずき＝戸建賃貸（3K）。ファミリー・法人需要。</a:t>
            </a:r>
          </a:p>
          <a:p>
            <a:pPr algn="l">
              <a:lnSpc>
                <a:spcPct val="125000"/>
              </a:lnSpc>
            </a:pPr>
            <a:r>
              <a:rPr sz="1500" b="0">
                <a:solidFill>
                  <a:srgbClr val="332A28"/>
                </a:solidFill>
                <a:latin typeface="Meiryo"/>
              </a:rPr>
              <a:t/>
            </a:r>
          </a:p>
          <a:p>
            <a:pPr algn="l">
              <a:lnSpc>
                <a:spcPct val="125000"/>
              </a:lnSpc>
            </a:pPr>
            <a:r>
              <a:rPr sz="1500" b="0">
                <a:solidFill>
                  <a:srgbClr val="332A28"/>
                </a:solidFill>
                <a:latin typeface="Meiryo"/>
              </a:rPr>
              <a:t>■ 担保・出口</a:t>
            </a:r>
          </a:p>
          <a:p>
            <a:pPr algn="l">
              <a:lnSpc>
                <a:spcPct val="125000"/>
              </a:lnSpc>
            </a:pPr>
            <a:r>
              <a:rPr sz="1500" b="0">
                <a:solidFill>
                  <a:srgbClr val="332A28"/>
                </a:solidFill>
                <a:latin typeface="Meiryo"/>
              </a:rPr>
              <a:t>・土地値が取得価格をほぼカバー（土地値割合 約90%）＝元本毀損リスクが小さく担保堅い。</a:t>
            </a:r>
          </a:p>
          <a:p>
            <a:pPr algn="l">
              <a:lnSpc>
                <a:spcPct val="125000"/>
              </a:lnSpc>
            </a:pPr>
            <a:r>
              <a:rPr sz="1500" b="0">
                <a:solidFill>
                  <a:srgbClr val="332A28"/>
                </a:solidFill>
                <a:latin typeface="Meiryo"/>
              </a:rPr>
              <a:t>・返済はインカム（賃料）で回収。長期保有を前提とした安定収益型。</a:t>
            </a:r>
          </a:p>
        </p:txBody>
      </p:sp>
      <p:sp>
        <p:nvSpPr>
          <p:cNvPr id="8" name="TextBox 7"/>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路線価・担保評価</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固定資産税路線価</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600" b="1">
                <a:solidFill>
                  <a:srgbClr val="332A28"/>
                </a:solidFill>
                <a:latin typeface="Meiryo"/>
              </a:rPr>
              <a:t>約44,700円/㎡</a:t>
            </a:r>
          </a:p>
        </p:txBody>
      </p:sp>
      <p:sp>
        <p:nvSpPr>
          <p:cNvPr id="10" name="TextBox 9"/>
          <p:cNvSpPr txBox="1"/>
          <p:nvPr/>
        </p:nvSpPr>
        <p:spPr>
          <a:xfrm>
            <a:off x="457200" y="2441448"/>
            <a:ext cx="2743200" cy="320040"/>
          </a:xfrm>
          <a:prstGeom prst="rect">
            <a:avLst/>
          </a:prstGeom>
          <a:noFill/>
        </p:spPr>
        <p:txBody>
          <a:bodyPr wrap="square" anchor="t">
            <a:spAutoFit/>
          </a:bodyPr>
          <a:lstStyle/>
          <a:p>
            <a:pPr algn="ctr">
              <a:lnSpc>
                <a:spcPct val="110000"/>
              </a:lnSpc>
            </a:pPr>
            <a:r>
              <a:rPr sz="1000" b="0">
                <a:solidFill>
                  <a:srgbClr val="77706E"/>
                </a:solidFill>
                <a:latin typeface="Meiryo"/>
              </a:rPr>
              <a:t>推定</a:t>
            </a:r>
          </a:p>
        </p:txBody>
      </p:sp>
      <p:sp>
        <p:nvSpPr>
          <p:cNvPr id="11" name="Rectangle 10"/>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相続税路線価</a:t>
            </a:r>
          </a:p>
        </p:txBody>
      </p:sp>
      <p:sp>
        <p:nvSpPr>
          <p:cNvPr id="13" name="TextBox 12"/>
          <p:cNvSpPr txBox="1"/>
          <p:nvPr/>
        </p:nvSpPr>
        <p:spPr>
          <a:xfrm>
            <a:off x="3383280" y="1828800"/>
            <a:ext cx="2743200" cy="640080"/>
          </a:xfrm>
          <a:prstGeom prst="rect">
            <a:avLst/>
          </a:prstGeom>
          <a:noFill/>
        </p:spPr>
        <p:txBody>
          <a:bodyPr wrap="square" anchor="t">
            <a:spAutoFit/>
          </a:bodyPr>
          <a:lstStyle/>
          <a:p>
            <a:pPr algn="ctr">
              <a:lnSpc>
                <a:spcPct val="110000"/>
              </a:lnSpc>
            </a:pPr>
            <a:r>
              <a:rPr sz="2600" b="1">
                <a:solidFill>
                  <a:srgbClr val="AA2E26"/>
                </a:solidFill>
                <a:latin typeface="Meiryo"/>
              </a:rPr>
              <a:t>約51,000円/㎡</a:t>
            </a:r>
          </a:p>
        </p:txBody>
      </p:sp>
      <p:sp>
        <p:nvSpPr>
          <p:cNvPr id="14" name="TextBox 13"/>
          <p:cNvSpPr txBox="1"/>
          <p:nvPr/>
        </p:nvSpPr>
        <p:spPr>
          <a:xfrm>
            <a:off x="3383280" y="2441448"/>
            <a:ext cx="2743200" cy="320040"/>
          </a:xfrm>
          <a:prstGeom prst="rect">
            <a:avLst/>
          </a:prstGeom>
          <a:noFill/>
        </p:spPr>
        <p:txBody>
          <a:bodyPr wrap="square" anchor="t">
            <a:spAutoFit/>
          </a:bodyPr>
          <a:lstStyle/>
          <a:p>
            <a:pPr algn="ctr">
              <a:lnSpc>
                <a:spcPct val="110000"/>
              </a:lnSpc>
            </a:pPr>
            <a:r>
              <a:rPr sz="1000" b="0">
                <a:solidFill>
                  <a:srgbClr val="77706E"/>
                </a:solidFill>
                <a:latin typeface="Meiryo"/>
              </a:rPr>
              <a:t>推定・実値確認中</a:t>
            </a:r>
          </a:p>
        </p:txBody>
      </p:sp>
      <p:sp>
        <p:nvSpPr>
          <p:cNvPr id="15" name="Rectangle 14"/>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実勢（中央値）</a:t>
            </a:r>
          </a:p>
        </p:txBody>
      </p:sp>
      <p:sp>
        <p:nvSpPr>
          <p:cNvPr id="17" name="TextBox 16"/>
          <p:cNvSpPr txBox="1"/>
          <p:nvPr/>
        </p:nvSpPr>
        <p:spPr>
          <a:xfrm>
            <a:off x="6309360" y="1828800"/>
            <a:ext cx="2743200" cy="640080"/>
          </a:xfrm>
          <a:prstGeom prst="rect">
            <a:avLst/>
          </a:prstGeom>
          <a:noFill/>
        </p:spPr>
        <p:txBody>
          <a:bodyPr wrap="square" anchor="t">
            <a:spAutoFit/>
          </a:bodyPr>
          <a:lstStyle/>
          <a:p>
            <a:pPr algn="ctr">
              <a:lnSpc>
                <a:spcPct val="110000"/>
              </a:lnSpc>
            </a:pPr>
            <a:r>
              <a:rPr sz="2600" b="1">
                <a:solidFill>
                  <a:srgbClr val="332A28"/>
                </a:solidFill>
                <a:latin typeface="Meiryo"/>
              </a:rPr>
              <a:t>約67,000円/㎡</a:t>
            </a:r>
          </a:p>
        </p:txBody>
      </p:sp>
      <p:sp>
        <p:nvSpPr>
          <p:cNvPr id="18" name="TextBox 17"/>
          <p:cNvSpPr txBox="1"/>
          <p:nvPr/>
        </p:nvSpPr>
        <p:spPr>
          <a:xfrm>
            <a:off x="6309360" y="2441448"/>
            <a:ext cx="2743200" cy="320040"/>
          </a:xfrm>
          <a:prstGeom prst="rect">
            <a:avLst/>
          </a:prstGeom>
          <a:noFill/>
        </p:spPr>
        <p:txBody>
          <a:bodyPr wrap="square" anchor="t">
            <a:spAutoFit/>
          </a:bodyPr>
          <a:lstStyle/>
          <a:p>
            <a:pPr algn="ctr">
              <a:lnSpc>
                <a:spcPct val="110000"/>
              </a:lnSpc>
            </a:pPr>
            <a:r>
              <a:rPr sz="1000" b="0">
                <a:solidFill>
                  <a:srgbClr val="77706E"/>
                </a:solidFill>
                <a:latin typeface="Meiryo"/>
              </a:rPr>
              <a:t>reinfolib周辺取引</a:t>
            </a:r>
          </a:p>
        </p:txBody>
      </p:sp>
      <p:sp>
        <p:nvSpPr>
          <p:cNvPr id="19" name="Rectangle 18"/>
          <p:cNvSpPr/>
          <p:nvPr/>
        </p:nvSpPr>
        <p:spPr>
          <a:xfrm>
            <a:off x="9235440" y="1417320"/>
            <a:ext cx="246888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1527048"/>
            <a:ext cx="246888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21" name="TextBox 20"/>
          <p:cNvSpPr txBox="1"/>
          <p:nvPr/>
        </p:nvSpPr>
        <p:spPr>
          <a:xfrm>
            <a:off x="9235440" y="1828800"/>
            <a:ext cx="2468880" cy="640080"/>
          </a:xfrm>
          <a:prstGeom prst="rect">
            <a:avLst/>
          </a:prstGeom>
          <a:noFill/>
        </p:spPr>
        <p:txBody>
          <a:bodyPr wrap="square" anchor="t">
            <a:spAutoFit/>
          </a:bodyPr>
          <a:lstStyle/>
          <a:p>
            <a:pPr algn="ctr">
              <a:lnSpc>
                <a:spcPct val="110000"/>
              </a:lnSpc>
            </a:pPr>
            <a:r>
              <a:rPr sz="2600" b="1">
                <a:solidFill>
                  <a:srgbClr val="1F7A1F"/>
                </a:solidFill>
                <a:latin typeface="Meiryo"/>
              </a:rPr>
              <a:t>約90%</a:t>
            </a:r>
          </a:p>
        </p:txBody>
      </p:sp>
      <p:sp>
        <p:nvSpPr>
          <p:cNvPr id="22" name="TextBox 21"/>
          <p:cNvSpPr txBox="1"/>
          <p:nvPr/>
        </p:nvSpPr>
        <p:spPr>
          <a:xfrm>
            <a:off x="9235440" y="2441448"/>
            <a:ext cx="2468880" cy="320040"/>
          </a:xfrm>
          <a:prstGeom prst="rect">
            <a:avLst/>
          </a:prstGeom>
          <a:noFill/>
        </p:spPr>
        <p:txBody>
          <a:bodyPr wrap="square" anchor="t">
            <a:spAutoFit/>
          </a:bodyPr>
          <a:lstStyle/>
          <a:p>
            <a:pPr algn="ctr">
              <a:lnSpc>
                <a:spcPct val="110000"/>
              </a:lnSpc>
            </a:pPr>
            <a:r>
              <a:rPr sz="1000" b="0">
                <a:solidFill>
                  <a:srgbClr val="77706E"/>
                </a:solidFill>
                <a:latin typeface="Meiryo"/>
              </a:rPr>
              <a:t>担保が堅い</a:t>
            </a:r>
          </a:p>
        </p:txBody>
      </p:sp>
      <p:sp>
        <p:nvSpPr>
          <p:cNvPr id="23" name="TextBox 22"/>
          <p:cNvSpPr txBox="1"/>
          <p:nvPr/>
        </p:nvSpPr>
        <p:spPr>
          <a:xfrm>
            <a:off x="457200" y="3063240"/>
            <a:ext cx="11247120" cy="3017520"/>
          </a:xfrm>
          <a:prstGeom prst="rect">
            <a:avLst/>
          </a:prstGeom>
          <a:noFill/>
        </p:spPr>
        <p:txBody>
          <a:bodyPr wrap="square" anchor="t">
            <a:spAutoFit/>
          </a:bodyPr>
          <a:lstStyle/>
          <a:p>
            <a:pPr algn="l">
              <a:lnSpc>
                <a:spcPct val="125000"/>
              </a:lnSpc>
            </a:pPr>
            <a:r>
              <a:rPr sz="1400" b="0">
                <a:solidFill>
                  <a:srgbClr val="332A28"/>
                </a:solidFill>
                <a:latin typeface="Meiryo"/>
              </a:rPr>
              <a:t>■ 担保評価（玉川式）</a:t>
            </a:r>
          </a:p>
          <a:p>
            <a:pPr algn="l">
              <a:lnSpc>
                <a:spcPct val="125000"/>
              </a:lnSpc>
            </a:pPr>
            <a:r>
              <a:rPr sz="1400" b="0">
                <a:solidFill>
                  <a:srgbClr val="332A28"/>
                </a:solidFill>
                <a:latin typeface="Meiryo"/>
              </a:rPr>
              <a:t>・土地値割合 ＝ 路線価 × 土地面積(693.82㎡) ÷ 取得価格。0.4以上で安全圏のところ本件は約0.9。</a:t>
            </a:r>
          </a:p>
          <a:p>
            <a:pPr algn="l">
              <a:lnSpc>
                <a:spcPct val="125000"/>
              </a:lnSpc>
            </a:pPr>
            <a:r>
              <a:rPr sz="1400" b="0">
                <a:solidFill>
                  <a:srgbClr val="332A28"/>
                </a:solidFill>
                <a:latin typeface="Meiryo"/>
              </a:rPr>
              <a:t>・花みずきは土地値が取得価格を上回り、建物ゼロ評価でも担保割れしない水準。</a:t>
            </a:r>
          </a:p>
          <a:p>
            <a:pPr algn="l">
              <a:lnSpc>
                <a:spcPct val="125000"/>
              </a:lnSpc>
            </a:pPr>
            <a:r>
              <a:rPr sz="1400" b="0">
                <a:solidFill>
                  <a:srgbClr val="332A28"/>
                </a:solidFill>
                <a:latin typeface="Meiryo"/>
              </a:rPr>
              <a:t/>
            </a:r>
          </a:p>
          <a:p>
            <a:pPr algn="l">
              <a:lnSpc>
                <a:spcPct val="125000"/>
              </a:lnSpc>
            </a:pPr>
            <a:r>
              <a:rPr sz="1400" b="0">
                <a:solidFill>
                  <a:srgbClr val="332A28"/>
                </a:solidFill>
                <a:latin typeface="Meiryo"/>
              </a:rPr>
              <a:t>■ 路線価→公示→実勢の換算（B&amp;S式・参考）</a:t>
            </a:r>
          </a:p>
          <a:p>
            <a:pPr algn="l">
              <a:lnSpc>
                <a:spcPct val="125000"/>
              </a:lnSpc>
            </a:pPr>
            <a:r>
              <a:rPr sz="1400" b="0">
                <a:solidFill>
                  <a:srgbClr val="332A28"/>
                </a:solidFill>
                <a:latin typeface="Meiryo"/>
              </a:rPr>
              <a:t>・公示価格相当 ＝ 路線価 ÷ 0.8 → 約約63,800円/㎡／地方実勢 ＝ 公示相当 × 1.0〜1.1 → 約67,000円/㎡</a:t>
            </a:r>
          </a:p>
          <a:p>
            <a:pPr algn="l">
              <a:lnSpc>
                <a:spcPct val="125000"/>
              </a:lnSpc>
            </a:pPr>
            <a:r>
              <a:rPr sz="1400" b="0">
                <a:solidFill>
                  <a:srgbClr val="332A28"/>
                </a:solidFill>
                <a:latin typeface="Meiryo"/>
              </a:rPr>
              <a:t>・上記はreinfolib（国交省 不動産情報ライブラリ）の周辺取引価格中央値からの推定。</a:t>
            </a:r>
          </a:p>
          <a:p>
            <a:pPr algn="l">
              <a:lnSpc>
                <a:spcPct val="125000"/>
              </a:lnSpc>
            </a:pPr>
            <a:r>
              <a:rPr sz="1400" b="0">
                <a:solidFill>
                  <a:srgbClr val="332A28"/>
                </a:solidFill>
                <a:latin typeface="Meiryo"/>
              </a:rPr>
              <a:t>・固定/相続税路線価は国税庁路線価図にて実値を確認のうえ最終資料に反映いたします。</a:t>
            </a:r>
          </a:p>
        </p:txBody>
      </p:sp>
      <p:sp>
        <p:nvSpPr>
          <p:cNvPr id="24" name="TextBox 23"/>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収支・収益性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06</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9" name="TextBox 8"/>
          <p:cNvSpPr txBox="1"/>
          <p:nvPr/>
        </p:nvSpPr>
        <p:spPr>
          <a:xfrm>
            <a:off x="457200" y="1874520"/>
            <a:ext cx="2743200" cy="640080"/>
          </a:xfrm>
          <a:prstGeom prst="rect">
            <a:avLst/>
          </a:prstGeom>
          <a:noFill/>
        </p:spPr>
        <p:txBody>
          <a:bodyPr wrap="square" anchor="t">
            <a:spAutoFit/>
          </a:bodyPr>
          <a:lstStyle/>
          <a:p>
            <a:pPr algn="ctr">
              <a:lnSpc>
                <a:spcPct val="110000"/>
              </a:lnSpc>
            </a:pPr>
            <a:r>
              <a:rPr sz="2600" b="1">
                <a:solidFill>
                  <a:srgbClr val="AA2E26"/>
                </a:solidFill>
                <a:latin typeface="Meiryo"/>
              </a:rPr>
              <a:t>4,827千円</a:t>
            </a:r>
          </a:p>
        </p:txBody>
      </p:sp>
      <p:sp>
        <p:nvSpPr>
          <p:cNvPr id="10" name="Rectangle 9"/>
          <p:cNvSpPr/>
          <p:nvPr/>
        </p:nvSpPr>
        <p:spPr>
          <a:xfrm>
            <a:off x="338328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表面利回り</a:t>
            </a:r>
          </a:p>
        </p:txBody>
      </p:sp>
      <p:sp>
        <p:nvSpPr>
          <p:cNvPr id="12" name="TextBox 11"/>
          <p:cNvSpPr txBox="1"/>
          <p:nvPr/>
        </p:nvSpPr>
        <p:spPr>
          <a:xfrm>
            <a:off x="3383280" y="1874520"/>
            <a:ext cx="2743200" cy="640080"/>
          </a:xfrm>
          <a:prstGeom prst="rect">
            <a:avLst/>
          </a:prstGeom>
          <a:noFill/>
        </p:spPr>
        <p:txBody>
          <a:bodyPr wrap="square" anchor="t">
            <a:spAutoFit/>
          </a:bodyPr>
          <a:lstStyle/>
          <a:p>
            <a:pPr algn="ctr">
              <a:lnSpc>
                <a:spcPct val="110000"/>
              </a:lnSpc>
            </a:pPr>
            <a:r>
              <a:rPr sz="2600" b="1">
                <a:solidFill>
                  <a:srgbClr val="1F7A1F"/>
                </a:solidFill>
                <a:latin typeface="Meiryo"/>
              </a:rPr>
              <a:t>13.05%</a:t>
            </a:r>
          </a:p>
        </p:txBody>
      </p:sp>
      <p:sp>
        <p:nvSpPr>
          <p:cNvPr id="13" name="Rectangle 12"/>
          <p:cNvSpPr/>
          <p:nvPr/>
        </p:nvSpPr>
        <p:spPr>
          <a:xfrm>
            <a:off x="630936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5" name="TextBox 14"/>
          <p:cNvSpPr txBox="1"/>
          <p:nvPr/>
        </p:nvSpPr>
        <p:spPr>
          <a:xfrm>
            <a:off x="6309360" y="1874520"/>
            <a:ext cx="2743200" cy="640080"/>
          </a:xfrm>
          <a:prstGeom prst="rect">
            <a:avLst/>
          </a:prstGeom>
          <a:noFill/>
        </p:spPr>
        <p:txBody>
          <a:bodyPr wrap="square" anchor="t">
            <a:spAutoFit/>
          </a:bodyPr>
          <a:lstStyle/>
          <a:p>
            <a:pPr algn="ctr">
              <a:lnSpc>
                <a:spcPct val="110000"/>
              </a:lnSpc>
            </a:pPr>
            <a:r>
              <a:rPr sz="2600" b="1">
                <a:solidFill>
                  <a:srgbClr val="1F7A1F"/>
                </a:solidFill>
                <a:latin typeface="Meiryo"/>
              </a:rPr>
              <a:t>11.09%</a:t>
            </a:r>
          </a:p>
        </p:txBody>
      </p:sp>
      <p:sp>
        <p:nvSpPr>
          <p:cNvPr id="16" name="TextBox 15"/>
          <p:cNvSpPr txBox="1"/>
          <p:nvPr/>
        </p:nvSpPr>
        <p:spPr>
          <a:xfrm>
            <a:off x="6309360" y="2487168"/>
            <a:ext cx="2743200" cy="320040"/>
          </a:xfrm>
          <a:prstGeom prst="rect">
            <a:avLst/>
          </a:prstGeom>
          <a:noFill/>
        </p:spPr>
        <p:txBody>
          <a:bodyPr wrap="square" anchor="t">
            <a:spAutoFit/>
          </a:bodyPr>
          <a:lstStyle/>
          <a:p>
            <a:pPr algn="ctr">
              <a:lnSpc>
                <a:spcPct val="110000"/>
              </a:lnSpc>
            </a:pPr>
            <a:r>
              <a:rPr sz="1000" b="0">
                <a:solidFill>
                  <a:srgbClr val="77706E"/>
                </a:solidFill>
                <a:latin typeface="Meiryo"/>
              </a:rPr>
              <a:t>経費15%控除</a:t>
            </a:r>
          </a:p>
        </p:txBody>
      </p:sp>
      <p:sp>
        <p:nvSpPr>
          <p:cNvPr id="17" name="Rectangle 16"/>
          <p:cNvSpPr/>
          <p:nvPr/>
        </p:nvSpPr>
        <p:spPr>
          <a:xfrm>
            <a:off x="9235440" y="1463040"/>
            <a:ext cx="246888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572768"/>
            <a:ext cx="2468880" cy="365760"/>
          </a:xfrm>
          <a:prstGeom prst="rect">
            <a:avLst/>
          </a:prstGeom>
          <a:noFill/>
        </p:spPr>
        <p:txBody>
          <a:bodyPr wrap="square" anchor="t">
            <a:spAutoFit/>
          </a:bodyPr>
          <a:lstStyle/>
          <a:p>
            <a:pPr algn="ctr">
              <a:lnSpc>
                <a:spcPct val="110000"/>
              </a:lnSpc>
            </a:pPr>
            <a:r>
              <a:rPr sz="1200" b="0">
                <a:solidFill>
                  <a:srgbClr val="77706E"/>
                </a:solidFill>
                <a:latin typeface="Meiryo"/>
              </a:rPr>
              <a:t>税引前CF</a:t>
            </a:r>
          </a:p>
        </p:txBody>
      </p:sp>
      <p:sp>
        <p:nvSpPr>
          <p:cNvPr id="19" name="TextBox 18"/>
          <p:cNvSpPr txBox="1"/>
          <p:nvPr/>
        </p:nvSpPr>
        <p:spPr>
          <a:xfrm>
            <a:off x="9235440" y="1874520"/>
            <a:ext cx="2468880" cy="640080"/>
          </a:xfrm>
          <a:prstGeom prst="rect">
            <a:avLst/>
          </a:prstGeom>
          <a:noFill/>
        </p:spPr>
        <p:txBody>
          <a:bodyPr wrap="square" anchor="t">
            <a:spAutoFit/>
          </a:bodyPr>
          <a:lstStyle/>
          <a:p>
            <a:pPr algn="ctr">
              <a:lnSpc>
                <a:spcPct val="110000"/>
              </a:lnSpc>
            </a:pPr>
            <a:r>
              <a:rPr sz="2600" b="1">
                <a:solidFill>
                  <a:srgbClr val="1F7A1F"/>
                </a:solidFill>
                <a:latin typeface="Meiryo"/>
              </a:rPr>
              <a:t>1,037千円</a:t>
            </a:r>
          </a:p>
        </p:txBody>
      </p:sp>
      <p:sp>
        <p:nvSpPr>
          <p:cNvPr id="20" name="TextBox 19"/>
          <p:cNvSpPr txBox="1"/>
          <p:nvPr/>
        </p:nvSpPr>
        <p:spPr>
          <a:xfrm>
            <a:off x="9235440" y="2487168"/>
            <a:ext cx="2468880" cy="320040"/>
          </a:xfrm>
          <a:prstGeom prst="rect">
            <a:avLst/>
          </a:prstGeom>
          <a:noFill/>
        </p:spPr>
        <p:txBody>
          <a:bodyPr wrap="square" anchor="t">
            <a:spAutoFit/>
          </a:bodyPr>
          <a:lstStyle/>
          <a:p>
            <a:pPr algn="ctr">
              <a:lnSpc>
                <a:spcPct val="110000"/>
              </a:lnSpc>
            </a:pPr>
            <a:r>
              <a:rPr sz="1000" b="0">
                <a:solidFill>
                  <a:srgbClr val="77706E"/>
                </a:solidFill>
                <a:latin typeface="Meiryo"/>
              </a:rPr>
              <a:t>CF率 2.80%</a:t>
            </a:r>
          </a:p>
        </p:txBody>
      </p:sp>
      <p:sp>
        <p:nvSpPr>
          <p:cNvPr id="21" name="Rectangle 20"/>
          <p:cNvSpPr/>
          <p:nvPr/>
        </p:nvSpPr>
        <p:spPr>
          <a:xfrm>
            <a:off x="457200" y="315468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191256"/>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取得総額</a:t>
            </a:r>
          </a:p>
        </p:txBody>
      </p:sp>
      <p:sp>
        <p:nvSpPr>
          <p:cNvPr id="23" name="TextBox 22"/>
          <p:cNvSpPr txBox="1"/>
          <p:nvPr/>
        </p:nvSpPr>
        <p:spPr>
          <a:xfrm>
            <a:off x="3831335" y="3191256"/>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37,000千円（アーバン25,000＋花みずき12,000）</a:t>
            </a:r>
          </a:p>
        </p:txBody>
      </p:sp>
      <p:sp>
        <p:nvSpPr>
          <p:cNvPr id="24" name="Rectangle 23"/>
          <p:cNvSpPr/>
          <p:nvPr/>
        </p:nvSpPr>
        <p:spPr>
          <a:xfrm>
            <a:off x="457200" y="361188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48456"/>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年間賃料（満室時）</a:t>
            </a:r>
          </a:p>
        </p:txBody>
      </p:sp>
      <p:sp>
        <p:nvSpPr>
          <p:cNvPr id="26" name="TextBox 25"/>
          <p:cNvSpPr txBox="1"/>
          <p:nvPr/>
        </p:nvSpPr>
        <p:spPr>
          <a:xfrm>
            <a:off x="3831335" y="3648456"/>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4,827千円（アーバン3,528＋花みずき1,300）</a:t>
            </a:r>
          </a:p>
        </p:txBody>
      </p:sp>
      <p:sp>
        <p:nvSpPr>
          <p:cNvPr id="27" name="Rectangle 26"/>
          <p:cNvSpPr/>
          <p:nvPr/>
        </p:nvSpPr>
        <p:spPr>
          <a:xfrm>
            <a:off x="457200" y="406908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105656"/>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想定運営経費</a:t>
            </a:r>
          </a:p>
        </p:txBody>
      </p:sp>
      <p:sp>
        <p:nvSpPr>
          <p:cNvPr id="29" name="TextBox 28"/>
          <p:cNvSpPr txBox="1"/>
          <p:nvPr/>
        </p:nvSpPr>
        <p:spPr>
          <a:xfrm>
            <a:off x="3831335" y="4105656"/>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賃料の約15%（管理・修繕・空室等）</a:t>
            </a:r>
          </a:p>
        </p:txBody>
      </p:sp>
      <p:sp>
        <p:nvSpPr>
          <p:cNvPr id="30" name="Rectangle 29"/>
          <p:cNvSpPr/>
          <p:nvPr/>
        </p:nvSpPr>
        <p:spPr>
          <a:xfrm>
            <a:off x="457200" y="452628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562856"/>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融資条件（試算）</a:t>
            </a:r>
          </a:p>
        </p:txBody>
      </p:sp>
      <p:sp>
        <p:nvSpPr>
          <p:cNvPr id="32" name="TextBox 31"/>
          <p:cNvSpPr txBox="1"/>
          <p:nvPr/>
        </p:nvSpPr>
        <p:spPr>
          <a:xfrm>
            <a:off x="3831335" y="4562856"/>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金利3.0%・期間15年と仮定 → 年返済 約3,066千円</a:t>
            </a:r>
          </a:p>
        </p:txBody>
      </p:sp>
      <p:sp>
        <p:nvSpPr>
          <p:cNvPr id="33" name="Rectangle 32"/>
          <p:cNvSpPr/>
          <p:nvPr/>
        </p:nvSpPr>
        <p:spPr>
          <a:xfrm>
            <a:off x="457200" y="498348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020056"/>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税引前CF（試算）</a:t>
            </a:r>
          </a:p>
        </p:txBody>
      </p:sp>
      <p:sp>
        <p:nvSpPr>
          <p:cNvPr id="35" name="TextBox 34"/>
          <p:cNvSpPr txBox="1"/>
          <p:nvPr/>
        </p:nvSpPr>
        <p:spPr>
          <a:xfrm>
            <a:off x="3831335" y="5020056"/>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約1,037千円／年（CF率2.8%）</a:t>
            </a:r>
          </a:p>
        </p:txBody>
      </p:sp>
      <p:sp>
        <p:nvSpPr>
          <p:cNvPr id="36" name="TextBox 35"/>
          <p:cNvSpPr txBox="1"/>
          <p:nvPr/>
        </p:nvSpPr>
        <p:spPr>
          <a:xfrm>
            <a:off x="457200" y="5943600"/>
            <a:ext cx="11247120" cy="365760"/>
          </a:xfrm>
          <a:prstGeom prst="rect">
            <a:avLst/>
          </a:prstGeom>
          <a:noFill/>
        </p:spPr>
        <p:txBody>
          <a:bodyPr wrap="square" anchor="t">
            <a:spAutoFit/>
          </a:bodyPr>
          <a:lstStyle/>
          <a:p>
            <a:pPr algn="l">
              <a:lnSpc>
                <a:spcPct val="110000"/>
              </a:lnSpc>
            </a:pPr>
            <a:r>
              <a:rPr sz="1100" b="0">
                <a:solidFill>
                  <a:srgbClr val="77706E"/>
                </a:solidFill>
                <a:latin typeface="Meiryo"/>
              </a:rPr>
              <a:t>※ レントロール精査・融資条件確定により最終CFを更新します。</a:t>
            </a:r>
          </a:p>
        </p:txBody>
      </p:sp>
      <p:sp>
        <p:nvSpPr>
          <p:cNvPr id="37" name="TextBox 3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相場・収益性の位置づけ</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07</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11247120" cy="457200"/>
          </a:xfrm>
          <a:prstGeom prst="rect">
            <a:avLst/>
          </a:prstGeom>
          <a:noFill/>
        </p:spPr>
        <p:txBody>
          <a:bodyPr wrap="square" anchor="t">
            <a:spAutoFit/>
          </a:bodyPr>
          <a:lstStyle/>
          <a:p>
            <a:pPr algn="l">
              <a:lnSpc>
                <a:spcPct val="110000"/>
              </a:lnSpc>
            </a:pPr>
            <a:r>
              <a:rPr sz="1500" b="0">
                <a:solidFill>
                  <a:srgbClr val="332A28"/>
                </a:solidFill>
                <a:latin typeface="Meiryo"/>
              </a:rPr>
              <a:t>本件の利回りを地域・タイプ別の相場水準と比較。本件は上位水準にあります。</a:t>
            </a:r>
          </a:p>
        </p:txBody>
      </p:sp>
      <p:sp>
        <p:nvSpPr>
          <p:cNvPr id="8" name="Rectangle 7"/>
          <p:cNvSpPr/>
          <p:nvPr/>
        </p:nvSpPr>
        <p:spPr>
          <a:xfrm>
            <a:off x="457200" y="2103120"/>
            <a:ext cx="11247120" cy="45720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57984"/>
            <a:ext cx="4114800" cy="365760"/>
          </a:xfrm>
          <a:prstGeom prst="rect">
            <a:avLst/>
          </a:prstGeom>
          <a:noFill/>
        </p:spPr>
        <p:txBody>
          <a:bodyPr wrap="square" anchor="ctr">
            <a:spAutoFit/>
          </a:bodyPr>
          <a:lstStyle/>
          <a:p>
            <a:pPr algn="l">
              <a:lnSpc>
                <a:spcPct val="110000"/>
              </a:lnSpc>
            </a:pPr>
            <a:r>
              <a:rPr sz="1300" b="1">
                <a:solidFill>
                  <a:srgbClr val="FFFFFF"/>
                </a:solidFill>
                <a:latin typeface="Meiryo"/>
              </a:rPr>
              <a:t>区分</a:t>
            </a:r>
          </a:p>
        </p:txBody>
      </p:sp>
      <p:sp>
        <p:nvSpPr>
          <p:cNvPr id="10" name="TextBox 9"/>
          <p:cNvSpPr txBox="1"/>
          <p:nvPr/>
        </p:nvSpPr>
        <p:spPr>
          <a:xfrm>
            <a:off x="5029200" y="2157984"/>
            <a:ext cx="2286000" cy="365760"/>
          </a:xfrm>
          <a:prstGeom prst="rect">
            <a:avLst/>
          </a:prstGeom>
          <a:noFill/>
        </p:spPr>
        <p:txBody>
          <a:bodyPr wrap="square" anchor="ctr">
            <a:spAutoFit/>
          </a:bodyPr>
          <a:lstStyle/>
          <a:p>
            <a:pPr algn="l">
              <a:lnSpc>
                <a:spcPct val="110000"/>
              </a:lnSpc>
            </a:pPr>
            <a:r>
              <a:rPr sz="1300" b="1">
                <a:solidFill>
                  <a:srgbClr val="FFFFFF"/>
                </a:solidFill>
                <a:latin typeface="Meiryo"/>
              </a:rPr>
              <a:t>表面利回り</a:t>
            </a:r>
          </a:p>
        </p:txBody>
      </p:sp>
      <p:sp>
        <p:nvSpPr>
          <p:cNvPr id="11" name="TextBox 10"/>
          <p:cNvSpPr txBox="1"/>
          <p:nvPr/>
        </p:nvSpPr>
        <p:spPr>
          <a:xfrm>
            <a:off x="7589520" y="2157984"/>
            <a:ext cx="3931920" cy="365760"/>
          </a:xfrm>
          <a:prstGeom prst="rect">
            <a:avLst/>
          </a:prstGeom>
          <a:noFill/>
        </p:spPr>
        <p:txBody>
          <a:bodyPr wrap="square" anchor="ctr">
            <a:spAutoFit/>
          </a:bodyPr>
          <a:lstStyle/>
          <a:p>
            <a:pPr algn="l">
              <a:lnSpc>
                <a:spcPct val="110000"/>
              </a:lnSpc>
            </a:pPr>
            <a:r>
              <a:rPr sz="1300" b="1">
                <a:solidFill>
                  <a:srgbClr val="FFFFFF"/>
                </a:solidFill>
                <a:latin typeface="Meiryo"/>
              </a:rPr>
              <a:t>コメント</a:t>
            </a:r>
          </a:p>
        </p:txBody>
      </p:sp>
      <p:sp>
        <p:nvSpPr>
          <p:cNvPr id="12" name="Rectangle 11"/>
          <p:cNvSpPr/>
          <p:nvPr/>
        </p:nvSpPr>
        <p:spPr>
          <a:xfrm>
            <a:off x="457200" y="2560320"/>
            <a:ext cx="11247120" cy="566928"/>
          </a:xfrm>
          <a:prstGeom prst="rect">
            <a:avLst/>
          </a:prstGeom>
          <a:solidFill>
            <a:srgbClr val="ECE0DD"/>
          </a:solidFill>
          <a:ln>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633472"/>
            <a:ext cx="4297680" cy="457200"/>
          </a:xfrm>
          <a:prstGeom prst="rect">
            <a:avLst/>
          </a:prstGeom>
          <a:noFill/>
        </p:spPr>
        <p:txBody>
          <a:bodyPr wrap="square" anchor="ctr">
            <a:spAutoFit/>
          </a:bodyPr>
          <a:lstStyle/>
          <a:p>
            <a:pPr algn="l">
              <a:lnSpc>
                <a:spcPct val="110000"/>
              </a:lnSpc>
            </a:pPr>
            <a:r>
              <a:rPr sz="1300" b="1">
                <a:solidFill>
                  <a:srgbClr val="332A28"/>
                </a:solidFill>
                <a:latin typeface="Meiryo"/>
              </a:rPr>
              <a:t>本件（合算）</a:t>
            </a:r>
          </a:p>
        </p:txBody>
      </p:sp>
      <p:sp>
        <p:nvSpPr>
          <p:cNvPr id="14" name="TextBox 13"/>
          <p:cNvSpPr txBox="1"/>
          <p:nvPr/>
        </p:nvSpPr>
        <p:spPr>
          <a:xfrm>
            <a:off x="5029200" y="2633472"/>
            <a:ext cx="2286000" cy="457200"/>
          </a:xfrm>
          <a:prstGeom prst="rect">
            <a:avLst/>
          </a:prstGeom>
          <a:noFill/>
        </p:spPr>
        <p:txBody>
          <a:bodyPr wrap="square" anchor="ctr">
            <a:spAutoFit/>
          </a:bodyPr>
          <a:lstStyle/>
          <a:p>
            <a:pPr algn="l">
              <a:lnSpc>
                <a:spcPct val="110000"/>
              </a:lnSpc>
            </a:pPr>
            <a:r>
              <a:rPr sz="1500" b="1">
                <a:solidFill>
                  <a:srgbClr val="AA2E26"/>
                </a:solidFill>
                <a:latin typeface="Meiryo"/>
              </a:rPr>
              <a:t>13.05%</a:t>
            </a:r>
          </a:p>
        </p:txBody>
      </p:sp>
      <p:sp>
        <p:nvSpPr>
          <p:cNvPr id="15" name="TextBox 14"/>
          <p:cNvSpPr txBox="1"/>
          <p:nvPr/>
        </p:nvSpPr>
        <p:spPr>
          <a:xfrm>
            <a:off x="7589520" y="2633472"/>
            <a:ext cx="3931920" cy="457200"/>
          </a:xfrm>
          <a:prstGeom prst="rect">
            <a:avLst/>
          </a:prstGeom>
          <a:noFill/>
        </p:spPr>
        <p:txBody>
          <a:bodyPr wrap="square" anchor="ctr">
            <a:spAutoFit/>
          </a:bodyPr>
          <a:lstStyle/>
          <a:p>
            <a:pPr algn="l">
              <a:lnSpc>
                <a:spcPct val="110000"/>
              </a:lnSpc>
            </a:pPr>
            <a:r>
              <a:rPr sz="1100" b="0">
                <a:solidFill>
                  <a:srgbClr val="77706E"/>
                </a:solidFill>
                <a:latin typeface="Meiryo"/>
              </a:rPr>
              <a:t>土地値割合 約90%／オーナーチェンジ</a:t>
            </a:r>
          </a:p>
        </p:txBody>
      </p:sp>
      <p:sp>
        <p:nvSpPr>
          <p:cNvPr id="16" name="Rectangle 15"/>
          <p:cNvSpPr/>
          <p:nvPr/>
        </p:nvSpPr>
        <p:spPr>
          <a:xfrm>
            <a:off x="457200" y="3127248"/>
            <a:ext cx="11247120" cy="566928"/>
          </a:xfrm>
          <a:prstGeom prst="rect">
            <a:avLst/>
          </a:prstGeom>
          <a:solidFill>
            <a:srgbClr val="FFFFFF"/>
          </a:solidFill>
          <a:ln>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00400"/>
            <a:ext cx="4297680" cy="457200"/>
          </a:xfrm>
          <a:prstGeom prst="rect">
            <a:avLst/>
          </a:prstGeom>
          <a:noFill/>
        </p:spPr>
        <p:txBody>
          <a:bodyPr wrap="square" anchor="ctr">
            <a:spAutoFit/>
          </a:bodyPr>
          <a:lstStyle/>
          <a:p>
            <a:pPr algn="l">
              <a:lnSpc>
                <a:spcPct val="110000"/>
              </a:lnSpc>
            </a:pPr>
            <a:r>
              <a:rPr sz="1300" b="0">
                <a:solidFill>
                  <a:srgbClr val="332A28"/>
                </a:solidFill>
                <a:latin typeface="Meiryo"/>
              </a:rPr>
              <a:t>地方・築古1棟の一般水準</a:t>
            </a:r>
          </a:p>
        </p:txBody>
      </p:sp>
      <p:sp>
        <p:nvSpPr>
          <p:cNvPr id="18" name="TextBox 17"/>
          <p:cNvSpPr txBox="1"/>
          <p:nvPr/>
        </p:nvSpPr>
        <p:spPr>
          <a:xfrm>
            <a:off x="5029200" y="3200400"/>
            <a:ext cx="2286000" cy="457200"/>
          </a:xfrm>
          <a:prstGeom prst="rect">
            <a:avLst/>
          </a:prstGeom>
          <a:noFill/>
        </p:spPr>
        <p:txBody>
          <a:bodyPr wrap="square" anchor="ctr">
            <a:spAutoFit/>
          </a:bodyPr>
          <a:lstStyle/>
          <a:p>
            <a:pPr algn="l">
              <a:lnSpc>
                <a:spcPct val="110000"/>
              </a:lnSpc>
            </a:pPr>
            <a:r>
              <a:rPr sz="1500" b="1">
                <a:solidFill>
                  <a:srgbClr val="77706E"/>
                </a:solidFill>
                <a:latin typeface="Meiryo"/>
              </a:rPr>
              <a:t>8〜12%目安</a:t>
            </a:r>
          </a:p>
        </p:txBody>
      </p:sp>
      <p:sp>
        <p:nvSpPr>
          <p:cNvPr id="19" name="TextBox 18"/>
          <p:cNvSpPr txBox="1"/>
          <p:nvPr/>
        </p:nvSpPr>
        <p:spPr>
          <a:xfrm>
            <a:off x="7589520" y="3200400"/>
            <a:ext cx="3931920" cy="457200"/>
          </a:xfrm>
          <a:prstGeom prst="rect">
            <a:avLst/>
          </a:prstGeom>
          <a:noFill/>
        </p:spPr>
        <p:txBody>
          <a:bodyPr wrap="square" anchor="ctr">
            <a:spAutoFit/>
          </a:bodyPr>
          <a:lstStyle/>
          <a:p>
            <a:pPr algn="l">
              <a:lnSpc>
                <a:spcPct val="110000"/>
              </a:lnSpc>
            </a:pPr>
            <a:r>
              <a:rPr sz="1100" b="0">
                <a:solidFill>
                  <a:srgbClr val="77706E"/>
                </a:solidFill>
                <a:latin typeface="Meiryo"/>
              </a:rPr>
              <a:t>本件は上位水準</a:t>
            </a:r>
          </a:p>
        </p:txBody>
      </p:sp>
      <p:sp>
        <p:nvSpPr>
          <p:cNvPr id="20" name="Rectangle 19"/>
          <p:cNvSpPr/>
          <p:nvPr/>
        </p:nvSpPr>
        <p:spPr>
          <a:xfrm>
            <a:off x="457200" y="3694176"/>
            <a:ext cx="11247120" cy="566928"/>
          </a:xfrm>
          <a:prstGeom prst="rect">
            <a:avLst/>
          </a:prstGeom>
          <a:solidFill>
            <a:srgbClr val="FFFFFF"/>
          </a:solidFill>
          <a:ln>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767328"/>
            <a:ext cx="4297680" cy="457200"/>
          </a:xfrm>
          <a:prstGeom prst="rect">
            <a:avLst/>
          </a:prstGeom>
          <a:noFill/>
        </p:spPr>
        <p:txBody>
          <a:bodyPr wrap="square" anchor="ctr">
            <a:spAutoFit/>
          </a:bodyPr>
          <a:lstStyle/>
          <a:p>
            <a:pPr algn="l">
              <a:lnSpc>
                <a:spcPct val="110000"/>
              </a:lnSpc>
            </a:pPr>
            <a:r>
              <a:rPr sz="1300" b="0">
                <a:solidFill>
                  <a:srgbClr val="332A28"/>
                </a:solidFill>
                <a:latin typeface="Meiryo"/>
              </a:rPr>
              <a:t>都市部・築浅</a:t>
            </a:r>
          </a:p>
        </p:txBody>
      </p:sp>
      <p:sp>
        <p:nvSpPr>
          <p:cNvPr id="22" name="TextBox 21"/>
          <p:cNvSpPr txBox="1"/>
          <p:nvPr/>
        </p:nvSpPr>
        <p:spPr>
          <a:xfrm>
            <a:off x="5029200" y="3767328"/>
            <a:ext cx="2286000" cy="457200"/>
          </a:xfrm>
          <a:prstGeom prst="rect">
            <a:avLst/>
          </a:prstGeom>
          <a:noFill/>
        </p:spPr>
        <p:txBody>
          <a:bodyPr wrap="square" anchor="ctr">
            <a:spAutoFit/>
          </a:bodyPr>
          <a:lstStyle/>
          <a:p>
            <a:pPr algn="l">
              <a:lnSpc>
                <a:spcPct val="110000"/>
              </a:lnSpc>
            </a:pPr>
            <a:r>
              <a:rPr sz="1500" b="1">
                <a:solidFill>
                  <a:srgbClr val="77706E"/>
                </a:solidFill>
                <a:latin typeface="Meiryo"/>
              </a:rPr>
              <a:t>4〜6%目安</a:t>
            </a:r>
          </a:p>
        </p:txBody>
      </p:sp>
      <p:sp>
        <p:nvSpPr>
          <p:cNvPr id="23" name="TextBox 22"/>
          <p:cNvSpPr txBox="1"/>
          <p:nvPr/>
        </p:nvSpPr>
        <p:spPr>
          <a:xfrm>
            <a:off x="7589520" y="3767328"/>
            <a:ext cx="3931920" cy="457200"/>
          </a:xfrm>
          <a:prstGeom prst="rect">
            <a:avLst/>
          </a:prstGeom>
          <a:noFill/>
        </p:spPr>
        <p:txBody>
          <a:bodyPr wrap="square" anchor="ctr">
            <a:spAutoFit/>
          </a:bodyPr>
          <a:lstStyle/>
          <a:p>
            <a:pPr algn="l">
              <a:lnSpc>
                <a:spcPct val="110000"/>
              </a:lnSpc>
            </a:pPr>
            <a:r>
              <a:rPr sz="1100" b="0">
                <a:solidFill>
                  <a:srgbClr val="77706E"/>
                </a:solidFill>
                <a:latin typeface="Meiryo"/>
              </a:rPr>
              <a:t>利回りは低いが流動性高</a:t>
            </a:r>
          </a:p>
        </p:txBody>
      </p:sp>
      <p:sp>
        <p:nvSpPr>
          <p:cNvPr id="24" name="TextBox 23"/>
          <p:cNvSpPr txBox="1"/>
          <p:nvPr/>
        </p:nvSpPr>
        <p:spPr>
          <a:xfrm>
            <a:off x="457200" y="4489704"/>
            <a:ext cx="11247120" cy="731520"/>
          </a:xfrm>
          <a:prstGeom prst="rect">
            <a:avLst/>
          </a:prstGeom>
          <a:noFill/>
        </p:spPr>
        <p:txBody>
          <a:bodyPr wrap="square" anchor="t">
            <a:spAutoFit/>
          </a:bodyPr>
          <a:lstStyle/>
          <a:p>
            <a:pPr algn="l">
              <a:lnSpc>
                <a:spcPct val="125000"/>
              </a:lnSpc>
            </a:pPr>
            <a:r>
              <a:rPr sz="1300" b="0">
                <a:solidFill>
                  <a:srgbClr val="332A28"/>
                </a:solidFill>
                <a:latin typeface="Meiryo"/>
              </a:rPr>
              <a:t>■ 本件は「土地値以下で取得＝担保堅い」かつ「高利回り」を両立。地方築古ゆえの出口リスクはインカム回収主体の戦略と土地値の厚さで吸収する設計。</a:t>
            </a:r>
          </a:p>
        </p:txBody>
      </p:sp>
      <p:sp>
        <p:nvSpPr>
          <p:cNvPr id="25" name="TextBox 24"/>
          <p:cNvSpPr txBox="1"/>
          <p:nvPr/>
        </p:nvSpPr>
        <p:spPr>
          <a:xfrm>
            <a:off x="457200" y="6126480"/>
            <a:ext cx="11247120" cy="320040"/>
          </a:xfrm>
          <a:prstGeom prst="rect">
            <a:avLst/>
          </a:prstGeom>
          <a:noFill/>
        </p:spPr>
        <p:txBody>
          <a:bodyPr wrap="square" anchor="t">
            <a:spAutoFit/>
          </a:bodyPr>
          <a:lstStyle/>
          <a:p>
            <a:pPr algn="l">
              <a:lnSpc>
                <a:spcPct val="110000"/>
              </a:lnSpc>
            </a:pPr>
            <a:r>
              <a:rPr sz="1000" b="0">
                <a:solidFill>
                  <a:srgbClr val="77706E"/>
                </a:solidFill>
                <a:latin typeface="Meiryo"/>
              </a:rPr>
              <a:t>※ 利回り水準は一般的な目安。周辺相場はreinfolib取引価格より参照。</a:t>
            </a:r>
          </a:p>
        </p:txBody>
      </p:sp>
      <p:sp>
        <p:nvSpPr>
          <p:cNvPr id="26" name="TextBox 25"/>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投資ハイライト と 留意点</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08</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17320"/>
            <a:ext cx="5486400" cy="457200"/>
          </a:xfrm>
          <a:prstGeom prst="rect">
            <a:avLst/>
          </a:prstGeom>
          <a:noFill/>
        </p:spPr>
        <p:txBody>
          <a:bodyPr wrap="square" anchor="t">
            <a:spAutoFit/>
          </a:bodyPr>
          <a:lstStyle/>
          <a:p>
            <a:pPr algn="l">
              <a:lnSpc>
                <a:spcPct val="110000"/>
              </a:lnSpc>
            </a:pPr>
            <a:r>
              <a:rPr sz="1800" b="1">
                <a:solidFill>
                  <a:srgbClr val="1F7A1F"/>
                </a:solidFill>
                <a:latin typeface="Meiryo"/>
              </a:rPr>
              <a:t>◎ ハイライト</a:t>
            </a:r>
          </a:p>
        </p:txBody>
      </p:sp>
      <p:sp>
        <p:nvSpPr>
          <p:cNvPr id="8" name="TextBox 7"/>
          <p:cNvSpPr txBox="1"/>
          <p:nvPr/>
        </p:nvSpPr>
        <p:spPr>
          <a:xfrm>
            <a:off x="457200" y="1920240"/>
            <a:ext cx="5486400" cy="4114800"/>
          </a:xfrm>
          <a:prstGeom prst="rect">
            <a:avLst/>
          </a:prstGeom>
          <a:noFill/>
        </p:spPr>
        <p:txBody>
          <a:bodyPr wrap="square" anchor="t">
            <a:spAutoFit/>
          </a:bodyPr>
          <a:lstStyle/>
          <a:p>
            <a:pPr algn="l">
              <a:lnSpc>
                <a:spcPct val="135000"/>
              </a:lnSpc>
            </a:pPr>
            <a:r>
              <a:rPr sz="1400" b="0">
                <a:solidFill>
                  <a:srgbClr val="332A28"/>
                </a:solidFill>
                <a:latin typeface="Meiryo"/>
              </a:rPr>
              <a:t>・土地値以下で取得＝担保が堅い（土地値割合 約90%）</a:t>
            </a:r>
          </a:p>
          <a:p>
            <a:pPr algn="l">
              <a:lnSpc>
                <a:spcPct val="135000"/>
              </a:lnSpc>
            </a:pPr>
            <a:r>
              <a:rPr sz="1400" b="0">
                <a:solidFill>
                  <a:srgbClr val="332A28"/>
                </a:solidFill>
                <a:latin typeface="Meiryo"/>
              </a:rPr>
              <a:t>・合算表面利回り 13%・実質11%の高収益</a:t>
            </a:r>
          </a:p>
          <a:p>
            <a:pPr algn="l">
              <a:lnSpc>
                <a:spcPct val="135000"/>
              </a:lnSpc>
            </a:pPr>
            <a:r>
              <a:rPr sz="1400" b="0">
                <a:solidFill>
                  <a:srgbClr val="332A28"/>
                </a:solidFill>
                <a:latin typeface="Meiryo"/>
              </a:rPr>
              <a:t>・オーナーチェンジで即収益化（入居実績あり）</a:t>
            </a:r>
          </a:p>
          <a:p>
            <a:pPr algn="l">
              <a:lnSpc>
                <a:spcPct val="135000"/>
              </a:lnSpc>
            </a:pPr>
            <a:r>
              <a:rPr sz="1400" b="0">
                <a:solidFill>
                  <a:srgbClr val="332A28"/>
                </a:solidFill>
                <a:latin typeface="Meiryo"/>
              </a:rPr>
              <a:t>・隣接2物件の一括取得でスケールメリット</a:t>
            </a:r>
          </a:p>
          <a:p>
            <a:pPr algn="l">
              <a:lnSpc>
                <a:spcPct val="135000"/>
              </a:lnSpc>
            </a:pPr>
            <a:r>
              <a:rPr sz="1400" b="0">
                <a:solidFill>
                  <a:srgbClr val="332A28"/>
                </a:solidFill>
                <a:latin typeface="Meiryo"/>
              </a:rPr>
              <a:t>・返済はインカムで回収、長期安定型</a:t>
            </a:r>
          </a:p>
        </p:txBody>
      </p:sp>
      <p:sp>
        <p:nvSpPr>
          <p:cNvPr id="9" name="TextBox 8"/>
          <p:cNvSpPr txBox="1"/>
          <p:nvPr/>
        </p:nvSpPr>
        <p:spPr>
          <a:xfrm>
            <a:off x="6217920" y="1417320"/>
            <a:ext cx="5486400" cy="457200"/>
          </a:xfrm>
          <a:prstGeom prst="rect">
            <a:avLst/>
          </a:prstGeom>
          <a:noFill/>
        </p:spPr>
        <p:txBody>
          <a:bodyPr wrap="square" anchor="t">
            <a:spAutoFit/>
          </a:bodyPr>
          <a:lstStyle/>
          <a:p>
            <a:pPr algn="l">
              <a:lnSpc>
                <a:spcPct val="110000"/>
              </a:lnSpc>
            </a:pPr>
            <a:r>
              <a:rPr sz="1800" b="1">
                <a:solidFill>
                  <a:srgbClr val="AA2E26"/>
                </a:solidFill>
                <a:latin typeface="Meiryo"/>
              </a:rPr>
              <a:t>△ 留意点（対応方針）</a:t>
            </a:r>
          </a:p>
        </p:txBody>
      </p:sp>
      <p:sp>
        <p:nvSpPr>
          <p:cNvPr id="10" name="TextBox 9"/>
          <p:cNvSpPr txBox="1"/>
          <p:nvPr/>
        </p:nvSpPr>
        <p:spPr>
          <a:xfrm>
            <a:off x="6217920" y="1920240"/>
            <a:ext cx="5486400" cy="4114800"/>
          </a:xfrm>
          <a:prstGeom prst="rect">
            <a:avLst/>
          </a:prstGeom>
          <a:noFill/>
        </p:spPr>
        <p:txBody>
          <a:bodyPr wrap="square" anchor="t">
            <a:spAutoFit/>
          </a:bodyPr>
          <a:lstStyle/>
          <a:p>
            <a:pPr algn="l">
              <a:lnSpc>
                <a:spcPct val="135000"/>
              </a:lnSpc>
            </a:pPr>
            <a:r>
              <a:rPr sz="1400" b="0">
                <a:solidFill>
                  <a:srgbClr val="332A28"/>
                </a:solidFill>
                <a:latin typeface="Meiryo"/>
              </a:rPr>
              <a:t>・築古（花みずき築58年）→ 修繕計画・長期保有前提で評価</a:t>
            </a:r>
          </a:p>
          <a:p>
            <a:pPr algn="l">
              <a:lnSpc>
                <a:spcPct val="135000"/>
              </a:lnSpc>
            </a:pPr>
            <a:r>
              <a:rPr sz="1400" b="0">
                <a:solidFill>
                  <a:srgbClr val="332A28"/>
                </a:solidFill>
                <a:latin typeface="Meiryo"/>
              </a:rPr>
              <a:t>・駅徒歩22分・地方立地 → インカム回収主体（出口に依存しない）</a:t>
            </a:r>
          </a:p>
          <a:p>
            <a:pPr algn="l">
              <a:lnSpc>
                <a:spcPct val="135000"/>
              </a:lnSpc>
            </a:pPr>
            <a:r>
              <a:rPr sz="1400" b="0">
                <a:solidFill>
                  <a:srgbClr val="332A28"/>
                </a:solidFill>
                <a:latin typeface="Meiryo"/>
              </a:rPr>
              <a:t>・私道（位置指定）→ 通行掘削承諾・持分を確認</a:t>
            </a:r>
          </a:p>
          <a:p>
            <a:pPr algn="l">
              <a:lnSpc>
                <a:spcPct val="135000"/>
              </a:lnSpc>
            </a:pPr>
            <a:r>
              <a:rPr sz="1400" b="0">
                <a:solidFill>
                  <a:srgbClr val="332A28"/>
                </a:solidFill>
                <a:latin typeface="Meiryo"/>
              </a:rPr>
              <a:t>・レントロール精査で実賃料・稼働を確定</a:t>
            </a:r>
          </a:p>
          <a:p>
            <a:pPr algn="l">
              <a:lnSpc>
                <a:spcPct val="135000"/>
              </a:lnSpc>
            </a:pPr>
            <a:r>
              <a:rPr sz="1400" b="0">
                <a:solidFill>
                  <a:srgbClr val="332A28"/>
                </a:solidFill>
                <a:latin typeface="Meiryo"/>
              </a:rPr>
              <a:t>→ いずれも担保（土地値）の厚さが下支え</a:t>
            </a:r>
          </a:p>
        </p:txBody>
      </p:sp>
      <p:sp>
        <p:nvSpPr>
          <p:cNvPr id="11" name="TextBox 1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融資のご相談</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09</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融資希望額</a:t>
            </a:r>
          </a:p>
        </p:txBody>
      </p:sp>
      <p:sp>
        <p:nvSpPr>
          <p:cNvPr id="9" name="TextBox 8"/>
          <p:cNvSpPr txBox="1"/>
          <p:nvPr/>
        </p:nvSpPr>
        <p:spPr>
          <a:xfrm>
            <a:off x="457200" y="1874520"/>
            <a:ext cx="3657600" cy="640080"/>
          </a:xfrm>
          <a:prstGeom prst="rect">
            <a:avLst/>
          </a:prstGeom>
          <a:noFill/>
        </p:spPr>
        <p:txBody>
          <a:bodyPr wrap="square" anchor="t">
            <a:spAutoFit/>
          </a:bodyPr>
          <a:lstStyle/>
          <a:p>
            <a:pPr algn="ctr">
              <a:lnSpc>
                <a:spcPct val="110000"/>
              </a:lnSpc>
            </a:pPr>
            <a:r>
              <a:rPr sz="2600" b="1">
                <a:solidFill>
                  <a:srgbClr val="AA2E26"/>
                </a:solidFill>
                <a:latin typeface="Meiryo"/>
              </a:rPr>
              <a:t>37,000千円</a:t>
            </a:r>
          </a:p>
        </p:txBody>
      </p:sp>
      <p:sp>
        <p:nvSpPr>
          <p:cNvPr id="10" name="TextBox 9"/>
          <p:cNvSpPr txBox="1"/>
          <p:nvPr/>
        </p:nvSpPr>
        <p:spPr>
          <a:xfrm>
            <a:off x="457200" y="2487168"/>
            <a:ext cx="3657600" cy="320040"/>
          </a:xfrm>
          <a:prstGeom prst="rect">
            <a:avLst/>
          </a:prstGeom>
          <a:noFill/>
        </p:spPr>
        <p:txBody>
          <a:bodyPr wrap="square" anchor="t">
            <a:spAutoFit/>
          </a:bodyPr>
          <a:lstStyle/>
          <a:p>
            <a:pPr algn="ctr">
              <a:lnSpc>
                <a:spcPct val="110000"/>
              </a:lnSpc>
            </a:pPr>
            <a:r>
              <a:rPr sz="1000" b="0">
                <a:solidFill>
                  <a:srgbClr val="77706E"/>
                </a:solidFill>
                <a:latin typeface="Meiryo"/>
              </a:rPr>
              <a:t>取得総額</a:t>
            </a:r>
          </a:p>
        </p:txBody>
      </p:sp>
      <p:sp>
        <p:nvSpPr>
          <p:cNvPr id="11" name="Rectangle 10"/>
          <p:cNvSpPr/>
          <p:nvPr/>
        </p:nvSpPr>
        <p:spPr>
          <a:xfrm>
            <a:off x="429768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返済原資</a:t>
            </a:r>
          </a:p>
        </p:txBody>
      </p:sp>
      <p:sp>
        <p:nvSpPr>
          <p:cNvPr id="13" name="TextBox 12"/>
          <p:cNvSpPr txBox="1"/>
          <p:nvPr/>
        </p:nvSpPr>
        <p:spPr>
          <a:xfrm>
            <a:off x="4297680" y="1874520"/>
            <a:ext cx="3657600" cy="640080"/>
          </a:xfrm>
          <a:prstGeom prst="rect">
            <a:avLst/>
          </a:prstGeom>
          <a:noFill/>
        </p:spPr>
        <p:txBody>
          <a:bodyPr wrap="square" anchor="t">
            <a:spAutoFit/>
          </a:bodyPr>
          <a:lstStyle/>
          <a:p>
            <a:pPr algn="ctr">
              <a:lnSpc>
                <a:spcPct val="110000"/>
              </a:lnSpc>
            </a:pPr>
            <a:r>
              <a:rPr sz="2600" b="1">
                <a:solidFill>
                  <a:srgbClr val="332A28"/>
                </a:solidFill>
                <a:latin typeface="Meiryo"/>
              </a:rPr>
              <a:t>賃料収入</a:t>
            </a:r>
          </a:p>
        </p:txBody>
      </p:sp>
      <p:sp>
        <p:nvSpPr>
          <p:cNvPr id="14" name="TextBox 13"/>
          <p:cNvSpPr txBox="1"/>
          <p:nvPr/>
        </p:nvSpPr>
        <p:spPr>
          <a:xfrm>
            <a:off x="4297680" y="2487168"/>
            <a:ext cx="3657600" cy="320040"/>
          </a:xfrm>
          <a:prstGeom prst="rect">
            <a:avLst/>
          </a:prstGeom>
          <a:noFill/>
        </p:spPr>
        <p:txBody>
          <a:bodyPr wrap="square" anchor="t">
            <a:spAutoFit/>
          </a:bodyPr>
          <a:lstStyle/>
          <a:p>
            <a:pPr algn="ctr">
              <a:lnSpc>
                <a:spcPct val="110000"/>
              </a:lnSpc>
            </a:pPr>
            <a:r>
              <a:rPr sz="1000" b="0">
                <a:solidFill>
                  <a:srgbClr val="77706E"/>
                </a:solidFill>
                <a:latin typeface="Meiryo"/>
              </a:rPr>
              <a:t>インカム</a:t>
            </a:r>
          </a:p>
        </p:txBody>
      </p:sp>
      <p:sp>
        <p:nvSpPr>
          <p:cNvPr id="15" name="Rectangle 14"/>
          <p:cNvSpPr/>
          <p:nvPr/>
        </p:nvSpPr>
        <p:spPr>
          <a:xfrm>
            <a:off x="813816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想定CF率</a:t>
            </a:r>
          </a:p>
        </p:txBody>
      </p:sp>
      <p:sp>
        <p:nvSpPr>
          <p:cNvPr id="17" name="TextBox 16"/>
          <p:cNvSpPr txBox="1"/>
          <p:nvPr/>
        </p:nvSpPr>
        <p:spPr>
          <a:xfrm>
            <a:off x="8138160" y="1874520"/>
            <a:ext cx="3566160" cy="640080"/>
          </a:xfrm>
          <a:prstGeom prst="rect">
            <a:avLst/>
          </a:prstGeom>
          <a:noFill/>
        </p:spPr>
        <p:txBody>
          <a:bodyPr wrap="square" anchor="t">
            <a:spAutoFit/>
          </a:bodyPr>
          <a:lstStyle/>
          <a:p>
            <a:pPr algn="ctr">
              <a:lnSpc>
                <a:spcPct val="110000"/>
              </a:lnSpc>
            </a:pPr>
            <a:r>
              <a:rPr sz="2600" b="1">
                <a:solidFill>
                  <a:srgbClr val="1F7A1F"/>
                </a:solidFill>
                <a:latin typeface="Meiryo"/>
              </a:rPr>
              <a:t>2.80%</a:t>
            </a:r>
          </a:p>
        </p:txBody>
      </p:sp>
      <p:sp>
        <p:nvSpPr>
          <p:cNvPr id="18" name="TextBox 17"/>
          <p:cNvSpPr txBox="1"/>
          <p:nvPr/>
        </p:nvSpPr>
        <p:spPr>
          <a:xfrm>
            <a:off x="8138160" y="2487168"/>
            <a:ext cx="3566160" cy="320040"/>
          </a:xfrm>
          <a:prstGeom prst="rect">
            <a:avLst/>
          </a:prstGeom>
          <a:noFill/>
        </p:spPr>
        <p:txBody>
          <a:bodyPr wrap="square" anchor="t">
            <a:spAutoFit/>
          </a:bodyPr>
          <a:lstStyle/>
          <a:p>
            <a:pPr algn="ctr">
              <a:lnSpc>
                <a:spcPct val="110000"/>
              </a:lnSpc>
            </a:pPr>
            <a:r>
              <a:rPr sz="1000" b="0">
                <a:solidFill>
                  <a:srgbClr val="77706E"/>
                </a:solidFill>
                <a:latin typeface="Meiryo"/>
              </a:rPr>
              <a:t>税引前CF/価格</a:t>
            </a:r>
          </a:p>
        </p:txBody>
      </p:sp>
      <p:sp>
        <p:nvSpPr>
          <p:cNvPr id="19" name="TextBox 18"/>
          <p:cNvSpPr txBox="1"/>
          <p:nvPr/>
        </p:nvSpPr>
        <p:spPr>
          <a:xfrm>
            <a:off x="457200" y="3154680"/>
            <a:ext cx="11247120" cy="2743200"/>
          </a:xfrm>
          <a:prstGeom prst="rect">
            <a:avLst/>
          </a:prstGeom>
          <a:noFill/>
        </p:spPr>
        <p:txBody>
          <a:bodyPr wrap="square" anchor="t">
            <a:spAutoFit/>
          </a:bodyPr>
          <a:lstStyle/>
          <a:p>
            <a:pPr algn="l">
              <a:lnSpc>
                <a:spcPct val="130000"/>
              </a:lnSpc>
            </a:pPr>
            <a:r>
              <a:rPr sz="1500" b="0">
                <a:solidFill>
                  <a:srgbClr val="332A28"/>
                </a:solidFill>
                <a:latin typeface="Meiryo"/>
              </a:rPr>
              <a:t>■ ご相談事項</a:t>
            </a:r>
          </a:p>
          <a:p>
            <a:pPr algn="l">
              <a:lnSpc>
                <a:spcPct val="130000"/>
              </a:lnSpc>
            </a:pPr>
            <a:r>
              <a:rPr sz="1500" b="0">
                <a:solidFill>
                  <a:srgbClr val="332A28"/>
                </a:solidFill>
                <a:latin typeface="Meiryo"/>
              </a:rPr>
              <a:t>・融資可否・融資可能額／対象費目</a:t>
            </a:r>
          </a:p>
          <a:p>
            <a:pPr algn="l">
              <a:lnSpc>
                <a:spcPct val="130000"/>
              </a:lnSpc>
            </a:pPr>
            <a:r>
              <a:rPr sz="1500" b="0">
                <a:solidFill>
                  <a:srgbClr val="332A28"/>
                </a:solidFill>
                <a:latin typeface="Meiryo"/>
              </a:rPr>
              <a:t>・金利・期間・自己資金割合のご条件</a:t>
            </a:r>
          </a:p>
          <a:p>
            <a:pPr algn="l">
              <a:lnSpc>
                <a:spcPct val="130000"/>
              </a:lnSpc>
            </a:pPr>
            <a:r>
              <a:rPr sz="1500" b="0">
                <a:solidFill>
                  <a:srgbClr val="332A28"/>
                </a:solidFill>
                <a:latin typeface="Meiryo"/>
              </a:rPr>
              <a:t>・抵当権設定・必要書類のご確認</a:t>
            </a:r>
          </a:p>
          <a:p>
            <a:pPr algn="l">
              <a:lnSpc>
                <a:spcPct val="130000"/>
              </a:lnSpc>
            </a:pPr>
            <a:r>
              <a:rPr sz="1500" b="0">
                <a:solidFill>
                  <a:srgbClr val="332A28"/>
                </a:solidFill>
                <a:latin typeface="Meiryo"/>
              </a:rPr>
              <a:t/>
            </a:r>
          </a:p>
          <a:p>
            <a:pPr algn="l">
              <a:lnSpc>
                <a:spcPct val="130000"/>
              </a:lnSpc>
            </a:pPr>
            <a:r>
              <a:rPr sz="1500" b="0">
                <a:solidFill>
                  <a:srgbClr val="332A28"/>
                </a:solidFill>
                <a:latin typeface="Meiryo"/>
              </a:rPr>
              <a:t>■ 想定スケジュール</a:t>
            </a:r>
          </a:p>
          <a:p>
            <a:pPr algn="l">
              <a:lnSpc>
                <a:spcPct val="130000"/>
              </a:lnSpc>
            </a:pPr>
            <a:r>
              <a:rPr sz="1500" b="0">
                <a:solidFill>
                  <a:srgbClr val="332A28"/>
                </a:solidFill>
                <a:latin typeface="Meiryo"/>
              </a:rPr>
              <a:t>・買付提出済 → 融資審査 → 売買契約・決済 → オーナーチェンジ承継</a:t>
            </a:r>
          </a:p>
          <a:p>
            <a:pPr algn="l">
              <a:lnSpc>
                <a:spcPct val="130000"/>
              </a:lnSpc>
            </a:pPr>
            <a:r>
              <a:rPr sz="1500" b="0">
                <a:solidFill>
                  <a:srgbClr val="332A28"/>
                </a:solidFill>
                <a:latin typeface="Meiryo"/>
              </a:rPr>
              <a:t>・レントロール・確定書類は順次ご提出いたします。</a:t>
            </a:r>
          </a:p>
        </p:txBody>
      </p:sp>
      <p:sp>
        <p:nvSpPr>
          <p:cNvPr id="20" name="TextBox 19"/>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想定スケジュール</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10</a:t>
            </a:r>
          </a:p>
        </p:txBody>
      </p:sp>
      <p:sp>
        <p:nvSpPr>
          <p:cNvPr id="6" name="Rectangle 5"/>
          <p:cNvSpPr/>
          <p:nvPr/>
        </p:nvSpPr>
        <p:spPr>
          <a:xfrm>
            <a:off x="457200" y="1207008"/>
            <a:ext cx="11247120" cy="18288"/>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11247120" cy="457200"/>
          </a:xfrm>
          <a:prstGeom prst="rect">
            <a:avLst/>
          </a:prstGeom>
          <a:noFill/>
        </p:spPr>
        <p:txBody>
          <a:bodyPr wrap="square" anchor="t">
            <a:spAutoFit/>
          </a:bodyPr>
          <a:lstStyle/>
          <a:p>
            <a:pPr algn="l">
              <a:lnSpc>
                <a:spcPct val="110000"/>
              </a:lnSpc>
            </a:pPr>
            <a:r>
              <a:rPr sz="1500" b="0">
                <a:solidFill>
                  <a:srgbClr val="332A28"/>
                </a:solidFill>
                <a:latin typeface="Meiryo"/>
              </a:rPr>
              <a:t>買付提出済。融資審査を経て、決済後ただちに賃料収受を開始します。</a:t>
            </a:r>
          </a:p>
        </p:txBody>
      </p:sp>
      <p:sp>
        <p:nvSpPr>
          <p:cNvPr id="8" name="Oval 7"/>
          <p:cNvSpPr/>
          <p:nvPr/>
        </p:nvSpPr>
        <p:spPr>
          <a:xfrm>
            <a:off x="640080" y="2331720"/>
            <a:ext cx="310896" cy="310896"/>
          </a:xfrm>
          <a:prstGeom prst="ellipse">
            <a:avLst/>
          </a:prstGeom>
          <a:solidFill>
            <a:srgbClr val="1F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42616"/>
            <a:ext cx="36576" cy="502920"/>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286000"/>
            <a:ext cx="7772400" cy="457200"/>
          </a:xfrm>
          <a:prstGeom prst="rect">
            <a:avLst/>
          </a:prstGeom>
          <a:noFill/>
        </p:spPr>
        <p:txBody>
          <a:bodyPr wrap="square" anchor="ctr">
            <a:spAutoFit/>
          </a:bodyPr>
          <a:lstStyle/>
          <a:p>
            <a:pPr algn="l">
              <a:lnSpc>
                <a:spcPct val="110000"/>
              </a:lnSpc>
            </a:pPr>
            <a:r>
              <a:rPr sz="1600" b="0">
                <a:solidFill>
                  <a:srgbClr val="332A28"/>
                </a:solidFill>
                <a:latin typeface="Meiryo"/>
              </a:rPr>
              <a:t>買付提出済</a:t>
            </a:r>
          </a:p>
        </p:txBody>
      </p:sp>
      <p:sp>
        <p:nvSpPr>
          <p:cNvPr id="11" name="TextBox 10"/>
          <p:cNvSpPr txBox="1"/>
          <p:nvPr/>
        </p:nvSpPr>
        <p:spPr>
          <a:xfrm>
            <a:off x="9144000" y="2286000"/>
            <a:ext cx="2560320" cy="457200"/>
          </a:xfrm>
          <a:prstGeom prst="rect">
            <a:avLst/>
          </a:prstGeom>
          <a:noFill/>
        </p:spPr>
        <p:txBody>
          <a:bodyPr wrap="square" anchor="ctr">
            <a:spAutoFit/>
          </a:bodyPr>
          <a:lstStyle/>
          <a:p>
            <a:pPr algn="l">
              <a:lnSpc>
                <a:spcPct val="110000"/>
              </a:lnSpc>
            </a:pPr>
            <a:r>
              <a:rPr sz="1300" b="1">
                <a:solidFill>
                  <a:srgbClr val="1F7A1F"/>
                </a:solidFill>
                <a:latin typeface="Meiryo"/>
              </a:rPr>
              <a:t>完了</a:t>
            </a:r>
          </a:p>
        </p:txBody>
      </p:sp>
      <p:sp>
        <p:nvSpPr>
          <p:cNvPr id="12" name="Oval 11"/>
          <p:cNvSpPr/>
          <p:nvPr/>
        </p:nvSpPr>
        <p:spPr>
          <a:xfrm>
            <a:off x="640080" y="3172968"/>
            <a:ext cx="310896" cy="310896"/>
          </a:xfrm>
          <a:prstGeom prst="ellipse">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483864"/>
            <a:ext cx="36576" cy="502920"/>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127248"/>
            <a:ext cx="7772400" cy="457200"/>
          </a:xfrm>
          <a:prstGeom prst="rect">
            <a:avLst/>
          </a:prstGeom>
          <a:noFill/>
        </p:spPr>
        <p:txBody>
          <a:bodyPr wrap="square" anchor="ctr">
            <a:spAutoFit/>
          </a:bodyPr>
          <a:lstStyle/>
          <a:p>
            <a:pPr algn="l">
              <a:lnSpc>
                <a:spcPct val="110000"/>
              </a:lnSpc>
            </a:pPr>
            <a:r>
              <a:rPr sz="1600" b="1">
                <a:solidFill>
                  <a:srgbClr val="332A28"/>
                </a:solidFill>
                <a:latin typeface="Meiryo"/>
              </a:rPr>
              <a:t>融資審査（御行）</a:t>
            </a:r>
          </a:p>
        </p:txBody>
      </p:sp>
      <p:sp>
        <p:nvSpPr>
          <p:cNvPr id="15" name="TextBox 14"/>
          <p:cNvSpPr txBox="1"/>
          <p:nvPr/>
        </p:nvSpPr>
        <p:spPr>
          <a:xfrm>
            <a:off x="9144000" y="3127248"/>
            <a:ext cx="2560320" cy="457200"/>
          </a:xfrm>
          <a:prstGeom prst="rect">
            <a:avLst/>
          </a:prstGeom>
          <a:noFill/>
        </p:spPr>
        <p:txBody>
          <a:bodyPr wrap="square" anchor="ctr">
            <a:spAutoFit/>
          </a:bodyPr>
          <a:lstStyle/>
          <a:p>
            <a:pPr algn="l">
              <a:lnSpc>
                <a:spcPct val="110000"/>
              </a:lnSpc>
            </a:pPr>
            <a:r>
              <a:rPr sz="1300" b="1">
                <a:solidFill>
                  <a:srgbClr val="AA2E26"/>
                </a:solidFill>
                <a:latin typeface="Meiryo"/>
              </a:rPr>
              <a:t>進行中</a:t>
            </a:r>
          </a:p>
        </p:txBody>
      </p:sp>
      <p:sp>
        <p:nvSpPr>
          <p:cNvPr id="16" name="Oval 15"/>
          <p:cNvSpPr/>
          <p:nvPr/>
        </p:nvSpPr>
        <p:spPr>
          <a:xfrm>
            <a:off x="640080" y="4014215"/>
            <a:ext cx="310896" cy="310896"/>
          </a:xfrm>
          <a:prstGeom prst="ellipse">
            <a:avLst/>
          </a:prstGeom>
          <a:solidFill>
            <a:srgbClr val="CCC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325112"/>
            <a:ext cx="36576" cy="502920"/>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968496"/>
            <a:ext cx="7772400" cy="457200"/>
          </a:xfrm>
          <a:prstGeom prst="rect">
            <a:avLst/>
          </a:prstGeom>
          <a:noFill/>
        </p:spPr>
        <p:txBody>
          <a:bodyPr wrap="square" anchor="ctr">
            <a:spAutoFit/>
          </a:bodyPr>
          <a:lstStyle/>
          <a:p>
            <a:pPr algn="l">
              <a:lnSpc>
                <a:spcPct val="110000"/>
              </a:lnSpc>
            </a:pPr>
            <a:r>
              <a:rPr sz="1600" b="0">
                <a:solidFill>
                  <a:srgbClr val="332A28"/>
                </a:solidFill>
                <a:latin typeface="Meiryo"/>
              </a:rPr>
              <a:t>売買契約</a:t>
            </a:r>
          </a:p>
        </p:txBody>
      </p:sp>
      <p:sp>
        <p:nvSpPr>
          <p:cNvPr id="19" name="TextBox 18"/>
          <p:cNvSpPr txBox="1"/>
          <p:nvPr/>
        </p:nvSpPr>
        <p:spPr>
          <a:xfrm>
            <a:off x="9144000" y="3968496"/>
            <a:ext cx="2560320" cy="457200"/>
          </a:xfrm>
          <a:prstGeom prst="rect">
            <a:avLst/>
          </a:prstGeom>
          <a:noFill/>
        </p:spPr>
        <p:txBody>
          <a:bodyPr wrap="square" anchor="ctr">
            <a:spAutoFit/>
          </a:bodyPr>
          <a:lstStyle/>
          <a:p>
            <a:pPr algn="l">
              <a:lnSpc>
                <a:spcPct val="110000"/>
              </a:lnSpc>
            </a:pPr>
            <a:r>
              <a:rPr sz="1300" b="1">
                <a:solidFill>
                  <a:srgbClr val="77706E"/>
                </a:solidFill>
                <a:latin typeface="Meiryo"/>
              </a:rPr>
              <a:t>融資内諾後</a:t>
            </a:r>
          </a:p>
        </p:txBody>
      </p:sp>
      <p:sp>
        <p:nvSpPr>
          <p:cNvPr id="20" name="Oval 19"/>
          <p:cNvSpPr/>
          <p:nvPr/>
        </p:nvSpPr>
        <p:spPr>
          <a:xfrm>
            <a:off x="640080" y="4855464"/>
            <a:ext cx="310896" cy="310896"/>
          </a:xfrm>
          <a:prstGeom prst="ellipse">
            <a:avLst/>
          </a:prstGeom>
          <a:solidFill>
            <a:srgbClr val="CCC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166359"/>
            <a:ext cx="36576" cy="502920"/>
          </a:xfrm>
          <a:prstGeom prst="rect">
            <a:avLst/>
          </a:prstGeom>
          <a:solidFill>
            <a:srgbClr val="DD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809744"/>
            <a:ext cx="7772400" cy="457200"/>
          </a:xfrm>
          <a:prstGeom prst="rect">
            <a:avLst/>
          </a:prstGeom>
          <a:noFill/>
        </p:spPr>
        <p:txBody>
          <a:bodyPr wrap="square" anchor="ctr">
            <a:spAutoFit/>
          </a:bodyPr>
          <a:lstStyle/>
          <a:p>
            <a:pPr algn="l">
              <a:lnSpc>
                <a:spcPct val="110000"/>
              </a:lnSpc>
            </a:pPr>
            <a:r>
              <a:rPr sz="1600" b="0">
                <a:solidFill>
                  <a:srgbClr val="332A28"/>
                </a:solidFill>
                <a:latin typeface="Meiryo"/>
              </a:rPr>
              <a:t>決済・所有権移転</a:t>
            </a:r>
          </a:p>
        </p:txBody>
      </p:sp>
      <p:sp>
        <p:nvSpPr>
          <p:cNvPr id="23" name="TextBox 22"/>
          <p:cNvSpPr txBox="1"/>
          <p:nvPr/>
        </p:nvSpPr>
        <p:spPr>
          <a:xfrm>
            <a:off x="9144000" y="4809744"/>
            <a:ext cx="2560320" cy="457200"/>
          </a:xfrm>
          <a:prstGeom prst="rect">
            <a:avLst/>
          </a:prstGeom>
          <a:noFill/>
        </p:spPr>
        <p:txBody>
          <a:bodyPr wrap="square" anchor="ctr">
            <a:spAutoFit/>
          </a:bodyPr>
          <a:lstStyle/>
          <a:p>
            <a:pPr algn="l">
              <a:lnSpc>
                <a:spcPct val="110000"/>
              </a:lnSpc>
            </a:pPr>
            <a:r>
              <a:rPr sz="1300" b="1">
                <a:solidFill>
                  <a:srgbClr val="77706E"/>
                </a:solidFill>
                <a:latin typeface="Meiryo"/>
              </a:rPr>
              <a:t>契約後</a:t>
            </a:r>
          </a:p>
        </p:txBody>
      </p:sp>
      <p:sp>
        <p:nvSpPr>
          <p:cNvPr id="24" name="Oval 23"/>
          <p:cNvSpPr/>
          <p:nvPr/>
        </p:nvSpPr>
        <p:spPr>
          <a:xfrm>
            <a:off x="640080" y="5696712"/>
            <a:ext cx="310896" cy="310896"/>
          </a:xfrm>
          <a:prstGeom prst="ellipse">
            <a:avLst/>
          </a:prstGeom>
          <a:solidFill>
            <a:srgbClr val="CCC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650992"/>
            <a:ext cx="7772400" cy="457200"/>
          </a:xfrm>
          <a:prstGeom prst="rect">
            <a:avLst/>
          </a:prstGeom>
          <a:noFill/>
        </p:spPr>
        <p:txBody>
          <a:bodyPr wrap="square" anchor="ctr">
            <a:spAutoFit/>
          </a:bodyPr>
          <a:lstStyle/>
          <a:p>
            <a:pPr algn="l">
              <a:lnSpc>
                <a:spcPct val="110000"/>
              </a:lnSpc>
            </a:pPr>
            <a:r>
              <a:rPr sz="1600" b="0">
                <a:solidFill>
                  <a:srgbClr val="332A28"/>
                </a:solidFill>
                <a:latin typeface="Meiryo"/>
              </a:rPr>
              <a:t>オーナーチェンジ承継・賃料収受</a:t>
            </a:r>
          </a:p>
        </p:txBody>
      </p:sp>
      <p:sp>
        <p:nvSpPr>
          <p:cNvPr id="26" name="TextBox 25"/>
          <p:cNvSpPr txBox="1"/>
          <p:nvPr/>
        </p:nvSpPr>
        <p:spPr>
          <a:xfrm>
            <a:off x="9144000" y="5650992"/>
            <a:ext cx="2560320" cy="457200"/>
          </a:xfrm>
          <a:prstGeom prst="rect">
            <a:avLst/>
          </a:prstGeom>
          <a:noFill/>
        </p:spPr>
        <p:txBody>
          <a:bodyPr wrap="square" anchor="ctr">
            <a:spAutoFit/>
          </a:bodyPr>
          <a:lstStyle/>
          <a:p>
            <a:pPr algn="l">
              <a:lnSpc>
                <a:spcPct val="110000"/>
              </a:lnSpc>
            </a:pPr>
            <a:r>
              <a:rPr sz="1300" b="1">
                <a:solidFill>
                  <a:srgbClr val="77706E"/>
                </a:solidFill>
                <a:latin typeface="Meiryo"/>
              </a:rPr>
              <a:t>決済後ただちに</a:t>
            </a:r>
          </a:p>
        </p:txBody>
      </p:sp>
      <p:sp>
        <p:nvSpPr>
          <p:cNvPr id="27" name="TextBox 2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0515600" cy="1280160"/>
          </a:xfrm>
          <a:prstGeom prst="rect">
            <a:avLst/>
          </a:prstGeom>
          <a:noFill/>
        </p:spPr>
        <p:txBody>
          <a:bodyPr wrap="square" anchor="t">
            <a:spAutoFit/>
          </a:bodyPr>
          <a:lstStyle/>
          <a:p>
            <a:pPr algn="l">
              <a:lnSpc>
                <a:spcPct val="130000"/>
              </a:lnSpc>
            </a:pPr>
            <a:r>
              <a:rPr sz="2000" b="0">
                <a:solidFill>
                  <a:srgbClr val="332A28"/>
                </a:solidFill>
                <a:latin typeface="Meiryo"/>
              </a:rPr>
              <a:t>土地値に裏打ちされた高収益の収益物件です。</a:t>
            </a:r>
          </a:p>
          <a:p>
            <a:pPr algn="l">
              <a:lnSpc>
                <a:spcPct val="130000"/>
              </a:lnSpc>
            </a:pPr>
            <a:r>
              <a:rPr sz="2000" b="0">
                <a:solidFill>
                  <a:srgbClr val="332A28"/>
                </a:solidFill>
                <a:latin typeface="Meiryo"/>
              </a:rPr>
              <a:t>御行の良きパートナーとして、ご支援を賜りますようお願い申し上げます。</a:t>
            </a:r>
          </a:p>
        </p:txBody>
      </p:sp>
      <p:sp>
        <p:nvSpPr>
          <p:cNvPr id="6" name="TextBox 5"/>
          <p:cNvSpPr txBox="1"/>
          <p:nvPr/>
        </p:nvSpPr>
        <p:spPr>
          <a:xfrm>
            <a:off x="868680" y="493776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
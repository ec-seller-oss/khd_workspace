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12191695" cy="9144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88720"/>
            <a:ext cx="10058400" cy="457200"/>
          </a:xfrm>
          <a:prstGeom prst="rect">
            <a:avLst/>
          </a:prstGeom>
          <a:noFill/>
        </p:spPr>
        <p:txBody>
          <a:bodyPr wrap="square" anchor="t">
            <a:spAutoFit/>
          </a:bodyPr>
          <a:lstStyle/>
          <a:p>
            <a:pPr algn="l">
              <a:lnSpc>
                <a:spcPct val="110000"/>
              </a:lnSpc>
            </a:pPr>
            <a:r>
              <a:rPr sz="1400" b="0">
                <a:solidFill>
                  <a:srgbClr val="77706E"/>
                </a:solidFill>
                <a:latin typeface="Meiryo"/>
              </a:rPr>
              <a:t>操作マニュアル ＆ 全体設計</a:t>
            </a:r>
          </a:p>
        </p:txBody>
      </p:sp>
      <p:sp>
        <p:nvSpPr>
          <p:cNvPr id="5" name="TextBox 4"/>
          <p:cNvSpPr txBox="1"/>
          <p:nvPr/>
        </p:nvSpPr>
        <p:spPr>
          <a:xfrm>
            <a:off x="822960" y="2468880"/>
            <a:ext cx="10515600" cy="1005840"/>
          </a:xfrm>
          <a:prstGeom prst="rect">
            <a:avLst/>
          </a:prstGeom>
          <a:noFill/>
        </p:spPr>
        <p:txBody>
          <a:bodyPr wrap="square" anchor="t">
            <a:spAutoFit/>
          </a:bodyPr>
          <a:lstStyle/>
          <a:p>
            <a:pPr algn="l">
              <a:lnSpc>
                <a:spcPct val="110000"/>
              </a:lnSpc>
            </a:pPr>
            <a:r>
              <a:rPr sz="4400" b="1">
                <a:solidFill>
                  <a:srgbClr val="AA2E26"/>
                </a:solidFill>
                <a:latin typeface="Meiryo"/>
              </a:rPr>
              <a:t>🔍 KHD AI査定エンジン</a:t>
            </a:r>
          </a:p>
        </p:txBody>
      </p:sp>
      <p:sp>
        <p:nvSpPr>
          <p:cNvPr id="6" name="TextBox 5"/>
          <p:cNvSpPr txBox="1"/>
          <p:nvPr/>
        </p:nvSpPr>
        <p:spPr>
          <a:xfrm>
            <a:off x="868680" y="3520440"/>
            <a:ext cx="10515600" cy="640080"/>
          </a:xfrm>
          <a:prstGeom prst="rect">
            <a:avLst/>
          </a:prstGeom>
          <a:noFill/>
        </p:spPr>
        <p:txBody>
          <a:bodyPr wrap="square" anchor="t">
            <a:spAutoFit/>
          </a:bodyPr>
          <a:lstStyle/>
          <a:p>
            <a:pPr algn="l">
              <a:lnSpc>
                <a:spcPct val="110000"/>
              </a:lnSpc>
            </a:pPr>
            <a:r>
              <a:rPr sz="1900" b="0">
                <a:solidFill>
                  <a:srgbClr val="332A28"/>
                </a:solidFill>
                <a:latin typeface="Meiryo"/>
              </a:rPr>
              <a:t>物件を入れる → 自動で査定 → 良物件は銀行資料まで全自動</a:t>
            </a:r>
          </a:p>
        </p:txBody>
      </p:sp>
      <p:sp>
        <p:nvSpPr>
          <p:cNvPr id="7" name="TextBox 6"/>
          <p:cNvSpPr txBox="1"/>
          <p:nvPr/>
        </p:nvSpPr>
        <p:spPr>
          <a:xfrm>
            <a:off x="868680" y="5669280"/>
            <a:ext cx="10515600" cy="548640"/>
          </a:xfrm>
          <a:prstGeom prst="rect">
            <a:avLst/>
          </a:prstGeom>
          <a:noFill/>
        </p:spPr>
        <p:txBody>
          <a:bodyPr wrap="square" anchor="t">
            <a:spAutoFit/>
          </a:bodyPr>
          <a:lstStyle/>
          <a:p>
            <a:pPr algn="l">
              <a:lnSpc>
                <a:spcPct val="110000"/>
              </a:lnSpc>
            </a:pPr>
            <a:r>
              <a:rPr sz="1300" b="0">
                <a:solidFill>
                  <a:srgbClr val="77706E"/>
                </a:solidFill>
                <a:latin typeface="Meiryo"/>
              </a:rPr>
              <a:t>菊池ホールディングス（KHD）／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全体像 ― 物件が来てから銀行資料まで</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01</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828800"/>
            <a:ext cx="2011680" cy="914400"/>
          </a:xfrm>
          <a:prstGeom prst="rect">
            <a:avLst/>
          </a:prstGeom>
          <a:solidFill>
            <a:srgbClr val="ECE0DD"/>
          </a:solidFill>
          <a:ln w="15875">
            <a:solidFill>
              <a:srgbClr val="AA2E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847088"/>
            <a:ext cx="2011680" cy="914400"/>
          </a:xfrm>
          <a:prstGeom prst="rect">
            <a:avLst/>
          </a:prstGeom>
          <a:noFill/>
        </p:spPr>
        <p:txBody>
          <a:bodyPr wrap="square" anchor="ctr">
            <a:spAutoFit/>
          </a:bodyPr>
          <a:lstStyle/>
          <a:p>
            <a:pPr algn="ctr">
              <a:lnSpc>
                <a:spcPct val="105000"/>
              </a:lnSpc>
            </a:pPr>
            <a:r>
              <a:rPr sz="1200" b="1">
                <a:solidFill>
                  <a:srgbClr val="332A28"/>
                </a:solidFill>
                <a:latin typeface="Meiryo"/>
              </a:rPr>
              <a:t>①入口</a:t>
            </a:r>
          </a:p>
          <a:p>
            <a:pPr algn="ctr">
              <a:lnSpc>
                <a:spcPct val="105000"/>
              </a:lnSpc>
            </a:pPr>
            <a:r>
              <a:rPr sz="1200" b="1">
                <a:solidFill>
                  <a:srgbClr val="332A28"/>
                </a:solidFill>
                <a:latin typeface="Meiryo"/>
              </a:rPr>
              <a:t>PDF/住所/URL</a:t>
            </a:r>
          </a:p>
          <a:p>
            <a:pPr algn="ctr">
              <a:lnSpc>
                <a:spcPct val="105000"/>
              </a:lnSpc>
            </a:pPr>
            <a:r>
              <a:rPr sz="1200" b="1">
                <a:solidFill>
                  <a:srgbClr val="332A28"/>
                </a:solidFill>
                <a:latin typeface="Meiryo"/>
              </a:rPr>
              <a:t>/メール/Drive</a:t>
            </a:r>
          </a:p>
        </p:txBody>
      </p:sp>
      <p:sp>
        <p:nvSpPr>
          <p:cNvPr id="9" name="TextBox 8"/>
          <p:cNvSpPr txBox="1"/>
          <p:nvPr/>
        </p:nvSpPr>
        <p:spPr>
          <a:xfrm>
            <a:off x="2514600" y="2103120"/>
            <a:ext cx="457200" cy="365760"/>
          </a:xfrm>
          <a:prstGeom prst="rect">
            <a:avLst/>
          </a:prstGeom>
          <a:noFill/>
        </p:spPr>
        <p:txBody>
          <a:bodyPr wrap="square" anchor="t">
            <a:spAutoFit/>
          </a:bodyPr>
          <a:lstStyle/>
          <a:p>
            <a:pPr algn="ctr">
              <a:lnSpc>
                <a:spcPct val="110000"/>
              </a:lnSpc>
            </a:pPr>
            <a:r>
              <a:rPr sz="2200" b="1">
                <a:solidFill>
                  <a:srgbClr val="AA2E26"/>
                </a:solidFill>
                <a:latin typeface="Meiryo"/>
              </a:rPr>
              <a:t>→</a:t>
            </a:r>
          </a:p>
        </p:txBody>
      </p:sp>
      <p:sp>
        <p:nvSpPr>
          <p:cNvPr id="10" name="Rectangle 9"/>
          <p:cNvSpPr/>
          <p:nvPr/>
        </p:nvSpPr>
        <p:spPr>
          <a:xfrm>
            <a:off x="3017520" y="1828800"/>
            <a:ext cx="1828800" cy="914400"/>
          </a:xfrm>
          <a:prstGeom prst="rect">
            <a:avLst/>
          </a:prstGeom>
          <a:solidFill>
            <a:srgbClr val="FFFFFF"/>
          </a:solidFill>
          <a:ln w="15875">
            <a:solidFill>
              <a:srgbClr val="AA2E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17520" y="1847088"/>
            <a:ext cx="1828800" cy="914400"/>
          </a:xfrm>
          <a:prstGeom prst="rect">
            <a:avLst/>
          </a:prstGeom>
          <a:noFill/>
        </p:spPr>
        <p:txBody>
          <a:bodyPr wrap="square" anchor="ctr">
            <a:spAutoFit/>
          </a:bodyPr>
          <a:lstStyle/>
          <a:p>
            <a:pPr algn="ctr">
              <a:lnSpc>
                <a:spcPct val="105000"/>
              </a:lnSpc>
            </a:pPr>
            <a:r>
              <a:rPr sz="1200" b="1">
                <a:solidFill>
                  <a:srgbClr val="332A28"/>
                </a:solidFill>
                <a:latin typeface="Meiryo"/>
              </a:rPr>
              <a:t>②査定</a:t>
            </a:r>
          </a:p>
          <a:p>
            <a:pPr algn="ctr">
              <a:lnSpc>
                <a:spcPct val="105000"/>
              </a:lnSpc>
            </a:pPr>
            <a:r>
              <a:rPr sz="1200" b="1">
                <a:solidFill>
                  <a:srgbClr val="332A28"/>
                </a:solidFill>
                <a:latin typeface="Meiryo"/>
              </a:rPr>
              <a:t>路線価自動</a:t>
            </a:r>
          </a:p>
          <a:p>
            <a:pPr algn="ctr">
              <a:lnSpc>
                <a:spcPct val="105000"/>
              </a:lnSpc>
            </a:pPr>
            <a:r>
              <a:rPr sz="1200" b="1">
                <a:solidFill>
                  <a:srgbClr val="332A28"/>
                </a:solidFill>
                <a:latin typeface="Meiryo"/>
              </a:rPr>
              <a:t>玉川式KPI</a:t>
            </a:r>
          </a:p>
        </p:txBody>
      </p:sp>
      <p:sp>
        <p:nvSpPr>
          <p:cNvPr id="12" name="TextBox 11"/>
          <p:cNvSpPr txBox="1"/>
          <p:nvPr/>
        </p:nvSpPr>
        <p:spPr>
          <a:xfrm>
            <a:off x="4892040" y="2103120"/>
            <a:ext cx="457200" cy="365760"/>
          </a:xfrm>
          <a:prstGeom prst="rect">
            <a:avLst/>
          </a:prstGeom>
          <a:noFill/>
        </p:spPr>
        <p:txBody>
          <a:bodyPr wrap="square" anchor="t">
            <a:spAutoFit/>
          </a:bodyPr>
          <a:lstStyle/>
          <a:p>
            <a:pPr algn="ctr">
              <a:lnSpc>
                <a:spcPct val="110000"/>
              </a:lnSpc>
            </a:pPr>
            <a:r>
              <a:rPr sz="2200" b="1">
                <a:solidFill>
                  <a:srgbClr val="AA2E26"/>
                </a:solidFill>
                <a:latin typeface="Meiryo"/>
              </a:rPr>
              <a:t>→</a:t>
            </a:r>
          </a:p>
        </p:txBody>
      </p:sp>
      <p:sp>
        <p:nvSpPr>
          <p:cNvPr id="13" name="Rectangle 12"/>
          <p:cNvSpPr/>
          <p:nvPr/>
        </p:nvSpPr>
        <p:spPr>
          <a:xfrm>
            <a:off x="5394960" y="1828800"/>
            <a:ext cx="1828800" cy="914400"/>
          </a:xfrm>
          <a:prstGeom prst="rect">
            <a:avLst/>
          </a:prstGeom>
          <a:solidFill>
            <a:srgbClr val="FFFFFF"/>
          </a:solidFill>
          <a:ln w="15875">
            <a:solidFill>
              <a:srgbClr val="AA2E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94960" y="1847088"/>
            <a:ext cx="1828800" cy="914400"/>
          </a:xfrm>
          <a:prstGeom prst="rect">
            <a:avLst/>
          </a:prstGeom>
          <a:noFill/>
        </p:spPr>
        <p:txBody>
          <a:bodyPr wrap="square" anchor="ctr">
            <a:spAutoFit/>
          </a:bodyPr>
          <a:lstStyle/>
          <a:p>
            <a:pPr algn="ctr">
              <a:lnSpc>
                <a:spcPct val="105000"/>
              </a:lnSpc>
            </a:pPr>
            <a:r>
              <a:rPr sz="1200" b="1">
                <a:solidFill>
                  <a:srgbClr val="332A28"/>
                </a:solidFill>
                <a:latin typeface="Meiryo"/>
              </a:rPr>
              <a:t>③判定</a:t>
            </a:r>
          </a:p>
          <a:p>
            <a:pPr algn="ctr">
              <a:lnSpc>
                <a:spcPct val="105000"/>
              </a:lnSpc>
            </a:pPr>
            <a:r>
              <a:rPr sz="1200" b="1">
                <a:solidFill>
                  <a:srgbClr val="332A28"/>
                </a:solidFill>
                <a:latin typeface="Meiryo"/>
              </a:rPr>
              <a:t>🟢🟡🔴</a:t>
            </a:r>
          </a:p>
        </p:txBody>
      </p:sp>
      <p:sp>
        <p:nvSpPr>
          <p:cNvPr id="15" name="TextBox 14"/>
          <p:cNvSpPr txBox="1"/>
          <p:nvPr/>
        </p:nvSpPr>
        <p:spPr>
          <a:xfrm>
            <a:off x="7269480" y="2103120"/>
            <a:ext cx="457200" cy="365760"/>
          </a:xfrm>
          <a:prstGeom prst="rect">
            <a:avLst/>
          </a:prstGeom>
          <a:noFill/>
        </p:spPr>
        <p:txBody>
          <a:bodyPr wrap="square" anchor="t">
            <a:spAutoFit/>
          </a:bodyPr>
          <a:lstStyle/>
          <a:p>
            <a:pPr algn="ctr">
              <a:lnSpc>
                <a:spcPct val="110000"/>
              </a:lnSpc>
            </a:pPr>
            <a:r>
              <a:rPr sz="2200" b="1">
                <a:solidFill>
                  <a:srgbClr val="AA2E26"/>
                </a:solidFill>
                <a:latin typeface="Meiryo"/>
              </a:rPr>
              <a:t>→</a:t>
            </a:r>
          </a:p>
        </p:txBody>
      </p:sp>
      <p:sp>
        <p:nvSpPr>
          <p:cNvPr id="16" name="Rectangle 15"/>
          <p:cNvSpPr/>
          <p:nvPr/>
        </p:nvSpPr>
        <p:spPr>
          <a:xfrm>
            <a:off x="7772400" y="1828800"/>
            <a:ext cx="1920240" cy="914400"/>
          </a:xfrm>
          <a:prstGeom prst="rect">
            <a:avLst/>
          </a:prstGeom>
          <a:solidFill>
            <a:srgbClr val="FFFFFF"/>
          </a:solidFill>
          <a:ln w="15875">
            <a:solidFill>
              <a:srgbClr val="AA2E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1847088"/>
            <a:ext cx="1920240" cy="914400"/>
          </a:xfrm>
          <a:prstGeom prst="rect">
            <a:avLst/>
          </a:prstGeom>
          <a:noFill/>
        </p:spPr>
        <p:txBody>
          <a:bodyPr wrap="square" anchor="ctr">
            <a:spAutoFit/>
          </a:bodyPr>
          <a:lstStyle/>
          <a:p>
            <a:pPr algn="ctr">
              <a:lnSpc>
                <a:spcPct val="105000"/>
              </a:lnSpc>
            </a:pPr>
            <a:r>
              <a:rPr sz="1200" b="1">
                <a:solidFill>
                  <a:srgbClr val="332A28"/>
                </a:solidFill>
                <a:latin typeface="Meiryo"/>
              </a:rPr>
              <a:t>④蓄積</a:t>
            </a:r>
          </a:p>
          <a:p>
            <a:pPr algn="ctr">
              <a:lnSpc>
                <a:spcPct val="105000"/>
              </a:lnSpc>
            </a:pPr>
            <a:r>
              <a:rPr sz="1200" b="1">
                <a:solidFill>
                  <a:srgbClr val="332A28"/>
                </a:solidFill>
                <a:latin typeface="Meiryo"/>
              </a:rPr>
              <a:t>物DB＋</a:t>
            </a:r>
          </a:p>
          <a:p>
            <a:pPr algn="ctr">
              <a:lnSpc>
                <a:spcPct val="105000"/>
              </a:lnSpc>
            </a:pPr>
            <a:r>
              <a:rPr sz="1200" b="1">
                <a:solidFill>
                  <a:srgbClr val="332A28"/>
                </a:solidFill>
                <a:latin typeface="Meiryo"/>
              </a:rPr>
              <a:t>自動査定DB</a:t>
            </a:r>
          </a:p>
        </p:txBody>
      </p:sp>
      <p:sp>
        <p:nvSpPr>
          <p:cNvPr id="18" name="TextBox 17"/>
          <p:cNvSpPr txBox="1"/>
          <p:nvPr/>
        </p:nvSpPr>
        <p:spPr>
          <a:xfrm>
            <a:off x="9738360" y="2103120"/>
            <a:ext cx="457200" cy="365760"/>
          </a:xfrm>
          <a:prstGeom prst="rect">
            <a:avLst/>
          </a:prstGeom>
          <a:noFill/>
        </p:spPr>
        <p:txBody>
          <a:bodyPr wrap="square" anchor="t">
            <a:spAutoFit/>
          </a:bodyPr>
          <a:lstStyle/>
          <a:p>
            <a:pPr algn="ctr">
              <a:lnSpc>
                <a:spcPct val="110000"/>
              </a:lnSpc>
            </a:pPr>
            <a:r>
              <a:rPr sz="2200" b="1">
                <a:solidFill>
                  <a:srgbClr val="AA2E26"/>
                </a:solidFill>
                <a:latin typeface="Meiryo"/>
              </a:rPr>
              <a:t>→</a:t>
            </a:r>
          </a:p>
        </p:txBody>
      </p:sp>
      <p:sp>
        <p:nvSpPr>
          <p:cNvPr id="19" name="Rectangle 18"/>
          <p:cNvSpPr/>
          <p:nvPr/>
        </p:nvSpPr>
        <p:spPr>
          <a:xfrm>
            <a:off x="10241280" y="1828800"/>
            <a:ext cx="1554480" cy="914400"/>
          </a:xfrm>
          <a:prstGeom prst="rect">
            <a:avLst/>
          </a:prstGeom>
          <a:solidFill>
            <a:srgbClr val="E7F0E7"/>
          </a:solidFill>
          <a:ln w="15875">
            <a:solidFill>
              <a:srgbClr val="1F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0" y="1847088"/>
            <a:ext cx="1554480" cy="914400"/>
          </a:xfrm>
          <a:prstGeom prst="rect">
            <a:avLst/>
          </a:prstGeom>
          <a:noFill/>
        </p:spPr>
        <p:txBody>
          <a:bodyPr wrap="square" anchor="ctr">
            <a:spAutoFit/>
          </a:bodyPr>
          <a:lstStyle/>
          <a:p>
            <a:pPr algn="ctr">
              <a:lnSpc>
                <a:spcPct val="105000"/>
              </a:lnSpc>
            </a:pPr>
            <a:r>
              <a:rPr sz="1200" b="1">
                <a:solidFill>
                  <a:srgbClr val="332A28"/>
                </a:solidFill>
                <a:latin typeface="Meiryo"/>
              </a:rPr>
              <a:t>⑤通知</a:t>
            </a:r>
          </a:p>
          <a:p>
            <a:pPr algn="ctr">
              <a:lnSpc>
                <a:spcPct val="105000"/>
              </a:lnSpc>
            </a:pPr>
            <a:r>
              <a:rPr sz="1200" b="1">
                <a:solidFill>
                  <a:srgbClr val="332A28"/>
                </a:solidFill>
                <a:latin typeface="Meiryo"/>
              </a:rPr>
              <a:t>Notion/</a:t>
            </a:r>
          </a:p>
          <a:p>
            <a:pPr algn="ctr">
              <a:lnSpc>
                <a:spcPct val="105000"/>
              </a:lnSpc>
            </a:pPr>
            <a:r>
              <a:rPr sz="1200" b="1">
                <a:solidFill>
                  <a:srgbClr val="332A28"/>
                </a:solidFill>
                <a:latin typeface="Meiryo"/>
              </a:rPr>
              <a:t>Googleタスク</a:t>
            </a:r>
          </a:p>
        </p:txBody>
      </p:sp>
      <p:sp>
        <p:nvSpPr>
          <p:cNvPr id="21" name="TextBox 20"/>
          <p:cNvSpPr txBox="1"/>
          <p:nvPr/>
        </p:nvSpPr>
        <p:spPr>
          <a:xfrm>
            <a:off x="3017520" y="2971800"/>
            <a:ext cx="8229600" cy="365760"/>
          </a:xfrm>
          <a:prstGeom prst="rect">
            <a:avLst/>
          </a:prstGeom>
          <a:noFill/>
        </p:spPr>
        <p:txBody>
          <a:bodyPr wrap="square" anchor="t">
            <a:spAutoFit/>
          </a:bodyPr>
          <a:lstStyle/>
          <a:p>
            <a:pPr algn="l">
              <a:lnSpc>
                <a:spcPct val="110000"/>
              </a:lnSpc>
            </a:pPr>
            <a:r>
              <a:rPr sz="1300" b="1">
                <a:solidFill>
                  <a:srgbClr val="1F7A1F"/>
                </a:solidFill>
                <a:latin typeface="Meiryo"/>
              </a:rPr>
              <a:t>▼ 判定が🟢買いの時だけ自動で続行</a:t>
            </a:r>
          </a:p>
        </p:txBody>
      </p:sp>
      <p:sp>
        <p:nvSpPr>
          <p:cNvPr id="22" name="Rectangle 21"/>
          <p:cNvSpPr/>
          <p:nvPr/>
        </p:nvSpPr>
        <p:spPr>
          <a:xfrm>
            <a:off x="5394960" y="3429000"/>
            <a:ext cx="2377440" cy="822960"/>
          </a:xfrm>
          <a:prstGeom prst="rect">
            <a:avLst/>
          </a:prstGeom>
          <a:solidFill>
            <a:srgbClr val="E7F0E7"/>
          </a:solidFill>
          <a:ln w="15875">
            <a:solidFill>
              <a:srgbClr val="1F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94960" y="3447288"/>
            <a:ext cx="2377440" cy="822960"/>
          </a:xfrm>
          <a:prstGeom prst="rect">
            <a:avLst/>
          </a:prstGeom>
          <a:noFill/>
        </p:spPr>
        <p:txBody>
          <a:bodyPr wrap="square" anchor="ctr">
            <a:spAutoFit/>
          </a:bodyPr>
          <a:lstStyle/>
          <a:p>
            <a:pPr algn="ctr">
              <a:lnSpc>
                <a:spcPct val="105000"/>
              </a:lnSpc>
            </a:pPr>
            <a:r>
              <a:rPr sz="1200" b="1">
                <a:solidFill>
                  <a:srgbClr val="332A28"/>
                </a:solidFill>
                <a:latin typeface="Meiryo"/>
              </a:rPr>
              <a:t>⑥融資資料デッキ</a:t>
            </a:r>
          </a:p>
          <a:p>
            <a:pPr algn="ctr">
              <a:lnSpc>
                <a:spcPct val="105000"/>
              </a:lnSpc>
            </a:pPr>
            <a:r>
              <a:rPr sz="1200" b="1">
                <a:solidFill>
                  <a:srgbClr val="332A28"/>
                </a:solidFill>
                <a:latin typeface="Meiryo"/>
              </a:rPr>
              <a:t>自動生成(pptx)</a:t>
            </a:r>
          </a:p>
        </p:txBody>
      </p:sp>
      <p:sp>
        <p:nvSpPr>
          <p:cNvPr id="24" name="TextBox 23"/>
          <p:cNvSpPr txBox="1"/>
          <p:nvPr/>
        </p:nvSpPr>
        <p:spPr>
          <a:xfrm>
            <a:off x="7818120" y="3657600"/>
            <a:ext cx="457200" cy="365760"/>
          </a:xfrm>
          <a:prstGeom prst="rect">
            <a:avLst/>
          </a:prstGeom>
          <a:noFill/>
        </p:spPr>
        <p:txBody>
          <a:bodyPr wrap="square" anchor="t">
            <a:spAutoFit/>
          </a:bodyPr>
          <a:lstStyle/>
          <a:p>
            <a:pPr algn="ctr">
              <a:lnSpc>
                <a:spcPct val="110000"/>
              </a:lnSpc>
            </a:pPr>
            <a:r>
              <a:rPr sz="2200" b="1">
                <a:solidFill>
                  <a:srgbClr val="AA2E26"/>
                </a:solidFill>
                <a:latin typeface="Meiryo"/>
              </a:rPr>
              <a:t>→</a:t>
            </a:r>
          </a:p>
        </p:txBody>
      </p:sp>
      <p:sp>
        <p:nvSpPr>
          <p:cNvPr id="25" name="Rectangle 24"/>
          <p:cNvSpPr/>
          <p:nvPr/>
        </p:nvSpPr>
        <p:spPr>
          <a:xfrm>
            <a:off x="8321040" y="3429000"/>
            <a:ext cx="2926080" cy="822960"/>
          </a:xfrm>
          <a:prstGeom prst="rect">
            <a:avLst/>
          </a:prstGeom>
          <a:solidFill>
            <a:srgbClr val="F7E9E7"/>
          </a:solidFill>
          <a:ln w="15875">
            <a:solidFill>
              <a:srgbClr val="AA2E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0" y="3447288"/>
            <a:ext cx="2926080" cy="822960"/>
          </a:xfrm>
          <a:prstGeom prst="rect">
            <a:avLst/>
          </a:prstGeom>
          <a:noFill/>
        </p:spPr>
        <p:txBody>
          <a:bodyPr wrap="square" anchor="ctr">
            <a:spAutoFit/>
          </a:bodyPr>
          <a:lstStyle/>
          <a:p>
            <a:pPr algn="ctr">
              <a:lnSpc>
                <a:spcPct val="105000"/>
              </a:lnSpc>
            </a:pPr>
            <a:r>
              <a:rPr sz="1200" b="1">
                <a:solidFill>
                  <a:srgbClr val="332A28"/>
                </a:solidFill>
                <a:latin typeface="Meiryo"/>
              </a:rPr>
              <a:t>⑦銀行へ</a:t>
            </a:r>
          </a:p>
          <a:p>
            <a:pPr algn="ctr">
              <a:lnSpc>
                <a:spcPct val="105000"/>
              </a:lnSpc>
            </a:pPr>
            <a:r>
              <a:rPr sz="1200" b="1">
                <a:solidFill>
                  <a:srgbClr val="332A28"/>
                </a:solidFill>
                <a:latin typeface="Meiryo"/>
              </a:rPr>
              <a:t>（速攻駆け込み）</a:t>
            </a:r>
          </a:p>
        </p:txBody>
      </p:sp>
      <p:sp>
        <p:nvSpPr>
          <p:cNvPr id="27" name="TextBox 26"/>
          <p:cNvSpPr txBox="1"/>
          <p:nvPr/>
        </p:nvSpPr>
        <p:spPr>
          <a:xfrm>
            <a:off x="457200" y="4754880"/>
            <a:ext cx="11247120" cy="1463040"/>
          </a:xfrm>
          <a:prstGeom prst="rect">
            <a:avLst/>
          </a:prstGeom>
          <a:noFill/>
        </p:spPr>
        <p:txBody>
          <a:bodyPr wrap="square" anchor="t">
            <a:spAutoFit/>
          </a:bodyPr>
          <a:lstStyle/>
          <a:p>
            <a:pPr algn="l">
              <a:lnSpc>
                <a:spcPct val="130000"/>
              </a:lnSpc>
            </a:pPr>
            <a:r>
              <a:rPr sz="1400" b="0">
                <a:solidFill>
                  <a:srgbClr val="332A28"/>
                </a:solidFill>
                <a:latin typeface="Meiryo"/>
              </a:rPr>
              <a:t>■ 一言で：物件情報を渡せば、路線価まで自動で引いて「買い/見送り」を判定。</a:t>
            </a:r>
          </a:p>
          <a:p>
            <a:pPr algn="l">
              <a:lnSpc>
                <a:spcPct val="130000"/>
              </a:lnSpc>
            </a:pPr>
            <a:r>
              <a:rPr sz="1400" b="0">
                <a:solidFill>
                  <a:srgbClr val="332A28"/>
                </a:solidFill>
                <a:latin typeface="Meiryo"/>
              </a:rPr>
              <a:t>　 『買い🟢』なら、銀行に出せる融資資料デッキまで勝手に作ってスマホに通知。</a:t>
            </a:r>
          </a:p>
          <a:p>
            <a:pPr algn="l">
              <a:lnSpc>
                <a:spcPct val="130000"/>
              </a:lnSpc>
            </a:pPr>
            <a:r>
              <a:rPr sz="1400" b="0">
                <a:solidFill>
                  <a:srgbClr val="332A28"/>
                </a:solidFill>
                <a:latin typeface="Meiryo"/>
              </a:rPr>
              <a:t>■ 渡し方は4つ（次ページ）。良し悪しの基準は玉川式（土地値・利回り・CF）。</a:t>
            </a:r>
          </a:p>
        </p:txBody>
      </p:sp>
      <p:sp>
        <p:nvSpPr>
          <p:cNvPr id="28" name="TextBox 27"/>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入口4つ ― どこで・誰が・何を</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02</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11247120"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444752"/>
            <a:ext cx="2516428" cy="960120"/>
          </a:xfrm>
          <a:prstGeom prst="rect">
            <a:avLst/>
          </a:prstGeom>
          <a:noFill/>
        </p:spPr>
        <p:txBody>
          <a:bodyPr wrap="square" anchor="ctr">
            <a:spAutoFit/>
          </a:bodyPr>
          <a:lstStyle/>
          <a:p>
            <a:pPr algn="l">
              <a:lnSpc>
                <a:spcPct val="110000"/>
              </a:lnSpc>
            </a:pPr>
            <a:r>
              <a:rPr sz="1400" b="1">
                <a:solidFill>
                  <a:srgbClr val="AA2E26"/>
                </a:solidFill>
                <a:latin typeface="Meiryo"/>
              </a:rPr>
              <a:t>📄 マイソクPDF</a:t>
            </a:r>
          </a:p>
        </p:txBody>
      </p:sp>
      <p:sp>
        <p:nvSpPr>
          <p:cNvPr id="9" name="TextBox 8"/>
          <p:cNvSpPr txBox="1"/>
          <p:nvPr/>
        </p:nvSpPr>
        <p:spPr>
          <a:xfrm>
            <a:off x="3156508" y="1444752"/>
            <a:ext cx="8410651" cy="960120"/>
          </a:xfrm>
          <a:prstGeom prst="rect">
            <a:avLst/>
          </a:prstGeom>
          <a:noFill/>
        </p:spPr>
        <p:txBody>
          <a:bodyPr wrap="square" anchor="ctr">
            <a:spAutoFit/>
          </a:bodyPr>
          <a:lstStyle/>
          <a:p>
            <a:pPr algn="l">
              <a:lnSpc>
                <a:spcPct val="110000"/>
              </a:lnSpc>
            </a:pPr>
            <a:r>
              <a:rPr sz="1400" b="0">
                <a:solidFill>
                  <a:srgbClr val="332A28"/>
                </a:solidFill>
                <a:latin typeface="Meiryo"/>
              </a:rPr>
              <a:t>菊池がDrive『_査定受け箱』にPDFを入れる → 毎朝7時 自動査定</a:t>
            </a:r>
          </a:p>
        </p:txBody>
      </p:sp>
      <p:sp>
        <p:nvSpPr>
          <p:cNvPr id="10" name="Rectangle 9"/>
          <p:cNvSpPr/>
          <p:nvPr/>
        </p:nvSpPr>
        <p:spPr>
          <a:xfrm>
            <a:off x="457200" y="2377440"/>
            <a:ext cx="11247120" cy="96012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04872"/>
            <a:ext cx="2516428" cy="960120"/>
          </a:xfrm>
          <a:prstGeom prst="rect">
            <a:avLst/>
          </a:prstGeom>
          <a:noFill/>
        </p:spPr>
        <p:txBody>
          <a:bodyPr wrap="square" anchor="ctr">
            <a:spAutoFit/>
          </a:bodyPr>
          <a:lstStyle/>
          <a:p>
            <a:pPr algn="l">
              <a:lnSpc>
                <a:spcPct val="110000"/>
              </a:lnSpc>
            </a:pPr>
            <a:r>
              <a:rPr sz="1400" b="1">
                <a:solidFill>
                  <a:srgbClr val="AA2E26"/>
                </a:solidFill>
                <a:latin typeface="Meiryo"/>
              </a:rPr>
              <a:t>🏠 住所だけ</a:t>
            </a:r>
          </a:p>
        </p:txBody>
      </p:sp>
      <p:sp>
        <p:nvSpPr>
          <p:cNvPr id="12" name="TextBox 11"/>
          <p:cNvSpPr txBox="1"/>
          <p:nvPr/>
        </p:nvSpPr>
        <p:spPr>
          <a:xfrm>
            <a:off x="3156508" y="2404872"/>
            <a:ext cx="8410651" cy="960120"/>
          </a:xfrm>
          <a:prstGeom prst="rect">
            <a:avLst/>
          </a:prstGeom>
          <a:noFill/>
        </p:spPr>
        <p:txBody>
          <a:bodyPr wrap="square" anchor="ctr">
            <a:spAutoFit/>
          </a:bodyPr>
          <a:lstStyle/>
          <a:p>
            <a:pPr algn="l">
              <a:lnSpc>
                <a:spcPct val="110000"/>
              </a:lnSpc>
            </a:pPr>
            <a:r>
              <a:rPr sz="1400" b="0">
                <a:solidFill>
                  <a:srgbClr val="332A28"/>
                </a:solidFill>
                <a:latin typeface="Meiryo"/>
              </a:rPr>
              <a:t>菊池が「○○市○○ 2500万 査定して」と言う → その場で査定</a:t>
            </a:r>
          </a:p>
        </p:txBody>
      </p:sp>
      <p:sp>
        <p:nvSpPr>
          <p:cNvPr id="13" name="Rectangle 12"/>
          <p:cNvSpPr/>
          <p:nvPr/>
        </p:nvSpPr>
        <p:spPr>
          <a:xfrm>
            <a:off x="457200" y="3337560"/>
            <a:ext cx="11247120"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364992"/>
            <a:ext cx="2516428" cy="960120"/>
          </a:xfrm>
          <a:prstGeom prst="rect">
            <a:avLst/>
          </a:prstGeom>
          <a:noFill/>
        </p:spPr>
        <p:txBody>
          <a:bodyPr wrap="square" anchor="ctr">
            <a:spAutoFit/>
          </a:bodyPr>
          <a:lstStyle/>
          <a:p>
            <a:pPr algn="l">
              <a:lnSpc>
                <a:spcPct val="110000"/>
              </a:lnSpc>
            </a:pPr>
            <a:r>
              <a:rPr sz="1400" b="1">
                <a:solidFill>
                  <a:srgbClr val="AA2E26"/>
                </a:solidFill>
                <a:latin typeface="Meiryo"/>
              </a:rPr>
              <a:t>🔗 ポータルURL</a:t>
            </a:r>
          </a:p>
        </p:txBody>
      </p:sp>
      <p:sp>
        <p:nvSpPr>
          <p:cNvPr id="15" name="TextBox 14"/>
          <p:cNvSpPr txBox="1"/>
          <p:nvPr/>
        </p:nvSpPr>
        <p:spPr>
          <a:xfrm>
            <a:off x="3156508" y="3364992"/>
            <a:ext cx="8410651" cy="960120"/>
          </a:xfrm>
          <a:prstGeom prst="rect">
            <a:avLst/>
          </a:prstGeom>
          <a:noFill/>
        </p:spPr>
        <p:txBody>
          <a:bodyPr wrap="square" anchor="ctr">
            <a:spAutoFit/>
          </a:bodyPr>
          <a:lstStyle/>
          <a:p>
            <a:pPr algn="l">
              <a:lnSpc>
                <a:spcPct val="110000"/>
              </a:lnSpc>
            </a:pPr>
            <a:r>
              <a:rPr sz="1400" b="0">
                <a:solidFill>
                  <a:srgbClr val="332A28"/>
                </a:solidFill>
                <a:latin typeface="Meiryo"/>
              </a:rPr>
              <a:t>健美家/楽待のURLを貼る → 詳細を自動取得して本査定</a:t>
            </a:r>
          </a:p>
        </p:txBody>
      </p:sp>
      <p:sp>
        <p:nvSpPr>
          <p:cNvPr id="16" name="Rectangle 15"/>
          <p:cNvSpPr/>
          <p:nvPr/>
        </p:nvSpPr>
        <p:spPr>
          <a:xfrm>
            <a:off x="457200" y="4297680"/>
            <a:ext cx="11247120" cy="96012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4325112"/>
            <a:ext cx="2516428" cy="960120"/>
          </a:xfrm>
          <a:prstGeom prst="rect">
            <a:avLst/>
          </a:prstGeom>
          <a:noFill/>
        </p:spPr>
        <p:txBody>
          <a:bodyPr wrap="square" anchor="ctr">
            <a:spAutoFit/>
          </a:bodyPr>
          <a:lstStyle/>
          <a:p>
            <a:pPr algn="l">
              <a:lnSpc>
                <a:spcPct val="110000"/>
              </a:lnSpc>
            </a:pPr>
            <a:r>
              <a:rPr sz="1400" b="1">
                <a:solidFill>
                  <a:srgbClr val="AA2E26"/>
                </a:solidFill>
                <a:latin typeface="Meiryo"/>
              </a:rPr>
              <a:t>📧 業者メール</a:t>
            </a:r>
          </a:p>
        </p:txBody>
      </p:sp>
      <p:sp>
        <p:nvSpPr>
          <p:cNvPr id="18" name="TextBox 17"/>
          <p:cNvSpPr txBox="1"/>
          <p:nvPr/>
        </p:nvSpPr>
        <p:spPr>
          <a:xfrm>
            <a:off x="3156508" y="4325112"/>
            <a:ext cx="8410651" cy="960120"/>
          </a:xfrm>
          <a:prstGeom prst="rect">
            <a:avLst/>
          </a:prstGeom>
          <a:noFill/>
        </p:spPr>
        <p:txBody>
          <a:bodyPr wrap="square" anchor="ctr">
            <a:spAutoFit/>
          </a:bodyPr>
          <a:lstStyle/>
          <a:p>
            <a:pPr algn="l">
              <a:lnSpc>
                <a:spcPct val="110000"/>
              </a:lnSpc>
            </a:pPr>
            <a:r>
              <a:rPr sz="1400" b="0">
                <a:solidFill>
                  <a:srgbClr val="332A28"/>
                </a:solidFill>
                <a:latin typeface="Meiryo"/>
              </a:rPr>
              <a:t>GASが業者メールを自動収集→URL抽出 → 毎朝 自動査定（手入力ゼロ）</a:t>
            </a:r>
          </a:p>
        </p:txBody>
      </p:sp>
      <p:sp>
        <p:nvSpPr>
          <p:cNvPr id="19" name="TextBox 18"/>
          <p:cNvSpPr txBox="1"/>
          <p:nvPr/>
        </p:nvSpPr>
        <p:spPr>
          <a:xfrm>
            <a:off x="457200" y="5669280"/>
            <a:ext cx="11247120" cy="640080"/>
          </a:xfrm>
          <a:prstGeom prst="rect">
            <a:avLst/>
          </a:prstGeom>
          <a:noFill/>
        </p:spPr>
        <p:txBody>
          <a:bodyPr wrap="square" anchor="t">
            <a:spAutoFit/>
          </a:bodyPr>
          <a:lstStyle/>
          <a:p>
            <a:pPr algn="l">
              <a:lnSpc>
                <a:spcPct val="110000"/>
              </a:lnSpc>
            </a:pPr>
            <a:r>
              <a:rPr sz="1400" b="1">
                <a:solidFill>
                  <a:srgbClr val="AA2E26"/>
                </a:solidFill>
                <a:latin typeface="Meiryo"/>
              </a:rPr>
              <a:t>★ ③メール経路をONにすると、業者から来る物件は『何もしなくても』自動査定されます。</a:t>
            </a:r>
          </a:p>
        </p:txBody>
      </p:sp>
      <p:sp>
        <p:nvSpPr>
          <p:cNvPr id="20" name="TextBox 19"/>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査定の中身 ＝ 玉川式KPI（🟢の定義）</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03</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71600"/>
            <a:ext cx="11247120" cy="457200"/>
          </a:xfrm>
          <a:prstGeom prst="rect">
            <a:avLst/>
          </a:prstGeom>
          <a:noFill/>
        </p:spPr>
        <p:txBody>
          <a:bodyPr wrap="square" anchor="t">
            <a:spAutoFit/>
          </a:bodyPr>
          <a:lstStyle/>
          <a:p>
            <a:pPr algn="l">
              <a:lnSpc>
                <a:spcPct val="110000"/>
              </a:lnSpc>
            </a:pPr>
            <a:r>
              <a:rPr sz="1400" b="0">
                <a:solidFill>
                  <a:srgbClr val="332A28"/>
                </a:solidFill>
                <a:latin typeface="Meiryo"/>
              </a:rPr>
              <a:t>路線価はreinfolib（国交省）から自動取得。下の基準を全部クリアで🟢買い。</a:t>
            </a:r>
          </a:p>
        </p:txBody>
      </p:sp>
      <p:sp>
        <p:nvSpPr>
          <p:cNvPr id="8" name="TextBox 7"/>
          <p:cNvSpPr txBox="1"/>
          <p:nvPr/>
        </p:nvSpPr>
        <p:spPr>
          <a:xfrm>
            <a:off x="457200" y="2011680"/>
            <a:ext cx="5486400" cy="411480"/>
          </a:xfrm>
          <a:prstGeom prst="rect">
            <a:avLst/>
          </a:prstGeom>
          <a:noFill/>
        </p:spPr>
        <p:txBody>
          <a:bodyPr wrap="square" anchor="t">
            <a:spAutoFit/>
          </a:bodyPr>
          <a:lstStyle/>
          <a:p>
            <a:pPr algn="l">
              <a:lnSpc>
                <a:spcPct val="110000"/>
              </a:lnSpc>
            </a:pPr>
            <a:r>
              <a:rPr sz="1500" b="1">
                <a:solidFill>
                  <a:srgbClr val="AA2E26"/>
                </a:solidFill>
                <a:latin typeface="Meiryo"/>
              </a:rPr>
              <a:t>◆ 収益物件（保有）</a:t>
            </a:r>
          </a:p>
        </p:txBody>
      </p:sp>
      <p:sp>
        <p:nvSpPr>
          <p:cNvPr id="9" name="Rectangle 8"/>
          <p:cNvSpPr/>
          <p:nvPr/>
        </p:nvSpPr>
        <p:spPr>
          <a:xfrm>
            <a:off x="457200" y="2468880"/>
            <a:ext cx="548640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496312"/>
            <a:ext cx="2834640" cy="548640"/>
          </a:xfrm>
          <a:prstGeom prst="rect">
            <a:avLst/>
          </a:prstGeom>
          <a:noFill/>
        </p:spPr>
        <p:txBody>
          <a:bodyPr wrap="square" anchor="ctr">
            <a:spAutoFit/>
          </a:bodyPr>
          <a:lstStyle/>
          <a:p>
            <a:pPr algn="l">
              <a:lnSpc>
                <a:spcPct val="110000"/>
              </a:lnSpc>
            </a:pPr>
            <a:r>
              <a:rPr sz="1300" b="1">
                <a:solidFill>
                  <a:srgbClr val="AA2E26"/>
                </a:solidFill>
                <a:latin typeface="Meiryo"/>
              </a:rPr>
              <a:t>実質利回り</a:t>
            </a:r>
          </a:p>
        </p:txBody>
      </p:sp>
      <p:sp>
        <p:nvSpPr>
          <p:cNvPr id="11" name="TextBox 10"/>
          <p:cNvSpPr txBox="1"/>
          <p:nvPr/>
        </p:nvSpPr>
        <p:spPr>
          <a:xfrm>
            <a:off x="3474720" y="2496312"/>
            <a:ext cx="2331720" cy="548640"/>
          </a:xfrm>
          <a:prstGeom prst="rect">
            <a:avLst/>
          </a:prstGeom>
          <a:noFill/>
        </p:spPr>
        <p:txBody>
          <a:bodyPr wrap="square" anchor="ctr">
            <a:spAutoFit/>
          </a:bodyPr>
          <a:lstStyle/>
          <a:p>
            <a:pPr algn="l">
              <a:lnSpc>
                <a:spcPct val="110000"/>
              </a:lnSpc>
            </a:pPr>
            <a:r>
              <a:rPr sz="1300" b="0">
                <a:solidFill>
                  <a:srgbClr val="332A28"/>
                </a:solidFill>
                <a:latin typeface="Meiryo"/>
              </a:rPr>
              <a:t>8%以上 で🟢</a:t>
            </a:r>
          </a:p>
        </p:txBody>
      </p:sp>
      <p:sp>
        <p:nvSpPr>
          <p:cNvPr id="12" name="Rectangle 11"/>
          <p:cNvSpPr/>
          <p:nvPr/>
        </p:nvSpPr>
        <p:spPr>
          <a:xfrm>
            <a:off x="457200" y="3017520"/>
            <a:ext cx="5486400" cy="54864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3044952"/>
            <a:ext cx="2834640" cy="548640"/>
          </a:xfrm>
          <a:prstGeom prst="rect">
            <a:avLst/>
          </a:prstGeom>
          <a:noFill/>
        </p:spPr>
        <p:txBody>
          <a:bodyPr wrap="square" anchor="ctr">
            <a:spAutoFit/>
          </a:bodyPr>
          <a:lstStyle/>
          <a:p>
            <a:pPr algn="l">
              <a:lnSpc>
                <a:spcPct val="110000"/>
              </a:lnSpc>
            </a:pPr>
            <a:r>
              <a:rPr sz="1300" b="1">
                <a:solidFill>
                  <a:srgbClr val="AA2E26"/>
                </a:solidFill>
                <a:latin typeface="Meiryo"/>
              </a:rPr>
              <a:t>CF率</a:t>
            </a:r>
          </a:p>
        </p:txBody>
      </p:sp>
      <p:sp>
        <p:nvSpPr>
          <p:cNvPr id="14" name="TextBox 13"/>
          <p:cNvSpPr txBox="1"/>
          <p:nvPr/>
        </p:nvSpPr>
        <p:spPr>
          <a:xfrm>
            <a:off x="3474720" y="3044952"/>
            <a:ext cx="2331720" cy="548640"/>
          </a:xfrm>
          <a:prstGeom prst="rect">
            <a:avLst/>
          </a:prstGeom>
          <a:noFill/>
        </p:spPr>
        <p:txBody>
          <a:bodyPr wrap="square" anchor="ctr">
            <a:spAutoFit/>
          </a:bodyPr>
          <a:lstStyle/>
          <a:p>
            <a:pPr algn="l">
              <a:lnSpc>
                <a:spcPct val="110000"/>
              </a:lnSpc>
            </a:pPr>
            <a:r>
              <a:rPr sz="1300" b="0">
                <a:solidFill>
                  <a:srgbClr val="332A28"/>
                </a:solidFill>
                <a:latin typeface="Meiryo"/>
              </a:rPr>
              <a:t>1.5%以上 で🟢</a:t>
            </a:r>
          </a:p>
        </p:txBody>
      </p:sp>
      <p:sp>
        <p:nvSpPr>
          <p:cNvPr id="15" name="Rectangle 14"/>
          <p:cNvSpPr/>
          <p:nvPr/>
        </p:nvSpPr>
        <p:spPr>
          <a:xfrm>
            <a:off x="457200" y="3566160"/>
            <a:ext cx="548640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3593592"/>
            <a:ext cx="2834640" cy="548640"/>
          </a:xfrm>
          <a:prstGeom prst="rect">
            <a:avLst/>
          </a:prstGeom>
          <a:noFill/>
        </p:spPr>
        <p:txBody>
          <a:bodyPr wrap="square" anchor="ctr">
            <a:spAutoFit/>
          </a:bodyPr>
          <a:lstStyle/>
          <a:p>
            <a:pPr algn="l">
              <a:lnSpc>
                <a:spcPct val="110000"/>
              </a:lnSpc>
            </a:pPr>
            <a:r>
              <a:rPr sz="1300" b="1">
                <a:solidFill>
                  <a:srgbClr val="AA2E26"/>
                </a:solidFill>
                <a:latin typeface="Meiryo"/>
              </a:rPr>
              <a:t>CCR</a:t>
            </a:r>
          </a:p>
        </p:txBody>
      </p:sp>
      <p:sp>
        <p:nvSpPr>
          <p:cNvPr id="17" name="TextBox 16"/>
          <p:cNvSpPr txBox="1"/>
          <p:nvPr/>
        </p:nvSpPr>
        <p:spPr>
          <a:xfrm>
            <a:off x="3474720" y="3593592"/>
            <a:ext cx="2331720" cy="548640"/>
          </a:xfrm>
          <a:prstGeom prst="rect">
            <a:avLst/>
          </a:prstGeom>
          <a:noFill/>
        </p:spPr>
        <p:txBody>
          <a:bodyPr wrap="square" anchor="ctr">
            <a:spAutoFit/>
          </a:bodyPr>
          <a:lstStyle/>
          <a:p>
            <a:pPr algn="l">
              <a:lnSpc>
                <a:spcPct val="110000"/>
              </a:lnSpc>
            </a:pPr>
            <a:r>
              <a:rPr sz="1300" b="0">
                <a:solidFill>
                  <a:srgbClr val="332A28"/>
                </a:solidFill>
                <a:latin typeface="Meiryo"/>
              </a:rPr>
              <a:t>15%以上 で🟢</a:t>
            </a:r>
          </a:p>
        </p:txBody>
      </p:sp>
      <p:sp>
        <p:nvSpPr>
          <p:cNvPr id="18" name="Rectangle 17"/>
          <p:cNvSpPr/>
          <p:nvPr/>
        </p:nvSpPr>
        <p:spPr>
          <a:xfrm>
            <a:off x="457200" y="4114800"/>
            <a:ext cx="5486400" cy="54864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142232"/>
            <a:ext cx="2834640" cy="548640"/>
          </a:xfrm>
          <a:prstGeom prst="rect">
            <a:avLst/>
          </a:prstGeom>
          <a:noFill/>
        </p:spPr>
        <p:txBody>
          <a:bodyPr wrap="square" anchor="ctr">
            <a:spAutoFit/>
          </a:bodyPr>
          <a:lstStyle/>
          <a:p>
            <a:pPr algn="l">
              <a:lnSpc>
                <a:spcPct val="110000"/>
              </a:lnSpc>
            </a:pPr>
            <a:r>
              <a:rPr sz="1300" b="1">
                <a:solidFill>
                  <a:srgbClr val="AA2E26"/>
                </a:solidFill>
                <a:latin typeface="Meiryo"/>
              </a:rPr>
              <a:t>土地値割合(担保)</a:t>
            </a:r>
          </a:p>
        </p:txBody>
      </p:sp>
      <p:sp>
        <p:nvSpPr>
          <p:cNvPr id="20" name="TextBox 19"/>
          <p:cNvSpPr txBox="1"/>
          <p:nvPr/>
        </p:nvSpPr>
        <p:spPr>
          <a:xfrm>
            <a:off x="3474720" y="4142232"/>
            <a:ext cx="2331720" cy="548640"/>
          </a:xfrm>
          <a:prstGeom prst="rect">
            <a:avLst/>
          </a:prstGeom>
          <a:noFill/>
        </p:spPr>
        <p:txBody>
          <a:bodyPr wrap="square" anchor="ctr">
            <a:spAutoFit/>
          </a:bodyPr>
          <a:lstStyle/>
          <a:p>
            <a:pPr algn="l">
              <a:lnSpc>
                <a:spcPct val="110000"/>
              </a:lnSpc>
            </a:pPr>
            <a:r>
              <a:rPr sz="1300" b="0">
                <a:solidFill>
                  <a:srgbClr val="332A28"/>
                </a:solidFill>
                <a:latin typeface="Meiryo"/>
              </a:rPr>
              <a:t>0.4以上 で🟢</a:t>
            </a:r>
          </a:p>
        </p:txBody>
      </p:sp>
      <p:sp>
        <p:nvSpPr>
          <p:cNvPr id="21" name="TextBox 20"/>
          <p:cNvSpPr txBox="1"/>
          <p:nvPr/>
        </p:nvSpPr>
        <p:spPr>
          <a:xfrm>
            <a:off x="6217920" y="2011680"/>
            <a:ext cx="5486400" cy="411480"/>
          </a:xfrm>
          <a:prstGeom prst="rect">
            <a:avLst/>
          </a:prstGeom>
          <a:noFill/>
        </p:spPr>
        <p:txBody>
          <a:bodyPr wrap="square" anchor="t">
            <a:spAutoFit/>
          </a:bodyPr>
          <a:lstStyle/>
          <a:p>
            <a:pPr algn="l">
              <a:lnSpc>
                <a:spcPct val="110000"/>
              </a:lnSpc>
            </a:pPr>
            <a:r>
              <a:rPr sz="1500" b="1">
                <a:solidFill>
                  <a:srgbClr val="AA2E26"/>
                </a:solidFill>
                <a:latin typeface="Meiryo"/>
              </a:rPr>
              <a:t>◆ 再販（売却）</a:t>
            </a:r>
          </a:p>
        </p:txBody>
      </p:sp>
      <p:sp>
        <p:nvSpPr>
          <p:cNvPr id="22" name="Rectangle 21"/>
          <p:cNvSpPr/>
          <p:nvPr/>
        </p:nvSpPr>
        <p:spPr>
          <a:xfrm>
            <a:off x="6217920" y="2468880"/>
            <a:ext cx="548640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496312"/>
            <a:ext cx="2834640" cy="548640"/>
          </a:xfrm>
          <a:prstGeom prst="rect">
            <a:avLst/>
          </a:prstGeom>
          <a:noFill/>
        </p:spPr>
        <p:txBody>
          <a:bodyPr wrap="square" anchor="ctr">
            <a:spAutoFit/>
          </a:bodyPr>
          <a:lstStyle/>
          <a:p>
            <a:pPr algn="l">
              <a:lnSpc>
                <a:spcPct val="110000"/>
              </a:lnSpc>
            </a:pPr>
            <a:r>
              <a:rPr sz="1300" b="1">
                <a:solidFill>
                  <a:srgbClr val="AA2E26"/>
                </a:solidFill>
                <a:latin typeface="Meiryo"/>
              </a:rPr>
              <a:t>粗利率</a:t>
            </a:r>
          </a:p>
        </p:txBody>
      </p:sp>
      <p:sp>
        <p:nvSpPr>
          <p:cNvPr id="24" name="TextBox 23"/>
          <p:cNvSpPr txBox="1"/>
          <p:nvPr/>
        </p:nvSpPr>
        <p:spPr>
          <a:xfrm>
            <a:off x="9235440" y="2496312"/>
            <a:ext cx="2331720" cy="548640"/>
          </a:xfrm>
          <a:prstGeom prst="rect">
            <a:avLst/>
          </a:prstGeom>
          <a:noFill/>
        </p:spPr>
        <p:txBody>
          <a:bodyPr wrap="square" anchor="ctr">
            <a:spAutoFit/>
          </a:bodyPr>
          <a:lstStyle/>
          <a:p>
            <a:pPr algn="l">
              <a:lnSpc>
                <a:spcPct val="110000"/>
              </a:lnSpc>
            </a:pPr>
            <a:r>
              <a:rPr sz="1300" b="0">
                <a:solidFill>
                  <a:srgbClr val="332A28"/>
                </a:solidFill>
                <a:latin typeface="Meiryo"/>
              </a:rPr>
              <a:t>20%以上 で🟢</a:t>
            </a:r>
          </a:p>
        </p:txBody>
      </p:sp>
      <p:sp>
        <p:nvSpPr>
          <p:cNvPr id="25" name="Rectangle 24"/>
          <p:cNvSpPr/>
          <p:nvPr/>
        </p:nvSpPr>
        <p:spPr>
          <a:xfrm>
            <a:off x="6217920" y="3017520"/>
            <a:ext cx="5486400" cy="54864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7648" y="3044952"/>
            <a:ext cx="2834640" cy="548640"/>
          </a:xfrm>
          <a:prstGeom prst="rect">
            <a:avLst/>
          </a:prstGeom>
          <a:noFill/>
        </p:spPr>
        <p:txBody>
          <a:bodyPr wrap="square" anchor="ctr">
            <a:spAutoFit/>
          </a:bodyPr>
          <a:lstStyle/>
          <a:p>
            <a:pPr algn="l">
              <a:lnSpc>
                <a:spcPct val="110000"/>
              </a:lnSpc>
            </a:pPr>
            <a:r>
              <a:rPr sz="1300" b="1">
                <a:solidFill>
                  <a:srgbClr val="AA2E26"/>
                </a:solidFill>
                <a:latin typeface="Meiryo"/>
              </a:rPr>
              <a:t>土地値割合(担保)</a:t>
            </a:r>
          </a:p>
        </p:txBody>
      </p:sp>
      <p:sp>
        <p:nvSpPr>
          <p:cNvPr id="27" name="TextBox 26"/>
          <p:cNvSpPr txBox="1"/>
          <p:nvPr/>
        </p:nvSpPr>
        <p:spPr>
          <a:xfrm>
            <a:off x="9235440" y="3044952"/>
            <a:ext cx="2331720" cy="548640"/>
          </a:xfrm>
          <a:prstGeom prst="rect">
            <a:avLst/>
          </a:prstGeom>
          <a:noFill/>
        </p:spPr>
        <p:txBody>
          <a:bodyPr wrap="square" anchor="ctr">
            <a:spAutoFit/>
          </a:bodyPr>
          <a:lstStyle/>
          <a:p>
            <a:pPr algn="l">
              <a:lnSpc>
                <a:spcPct val="110000"/>
              </a:lnSpc>
            </a:pPr>
            <a:r>
              <a:rPr sz="1300" b="0">
                <a:solidFill>
                  <a:srgbClr val="332A28"/>
                </a:solidFill>
                <a:latin typeface="Meiryo"/>
              </a:rPr>
              <a:t>0.4以上 で🟢</a:t>
            </a:r>
          </a:p>
        </p:txBody>
      </p:sp>
      <p:sp>
        <p:nvSpPr>
          <p:cNvPr id="28" name="Rectangle 27"/>
          <p:cNvSpPr/>
          <p:nvPr/>
        </p:nvSpPr>
        <p:spPr>
          <a:xfrm>
            <a:off x="6217920" y="3566160"/>
            <a:ext cx="548640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8" y="3593592"/>
            <a:ext cx="2834640" cy="548640"/>
          </a:xfrm>
          <a:prstGeom prst="rect">
            <a:avLst/>
          </a:prstGeom>
          <a:noFill/>
        </p:spPr>
        <p:txBody>
          <a:bodyPr wrap="square" anchor="ctr">
            <a:spAutoFit/>
          </a:bodyPr>
          <a:lstStyle/>
          <a:p>
            <a:pPr algn="l">
              <a:lnSpc>
                <a:spcPct val="110000"/>
              </a:lnSpc>
            </a:pPr>
            <a:r>
              <a:rPr sz="1300" b="1">
                <a:solidFill>
                  <a:srgbClr val="AA2E26"/>
                </a:solidFill>
                <a:latin typeface="Meiryo"/>
              </a:rPr>
              <a:t>（参考）件名査定</a:t>
            </a:r>
          </a:p>
        </p:txBody>
      </p:sp>
      <p:sp>
        <p:nvSpPr>
          <p:cNvPr id="30" name="TextBox 29"/>
          <p:cNvSpPr txBox="1"/>
          <p:nvPr/>
        </p:nvSpPr>
        <p:spPr>
          <a:xfrm>
            <a:off x="9235440" y="3593592"/>
            <a:ext cx="2331720" cy="548640"/>
          </a:xfrm>
          <a:prstGeom prst="rect">
            <a:avLst/>
          </a:prstGeom>
          <a:noFill/>
        </p:spPr>
        <p:txBody>
          <a:bodyPr wrap="square" anchor="ctr">
            <a:spAutoFit/>
          </a:bodyPr>
          <a:lstStyle/>
          <a:p>
            <a:pPr algn="l">
              <a:lnSpc>
                <a:spcPct val="110000"/>
              </a:lnSpc>
            </a:pPr>
            <a:r>
              <a:rPr sz="1300" b="0">
                <a:solidFill>
                  <a:srgbClr val="332A28"/>
                </a:solidFill>
                <a:latin typeface="Meiryo"/>
              </a:rPr>
              <a:t>利回り7%↑=🟢</a:t>
            </a:r>
          </a:p>
        </p:txBody>
      </p:sp>
      <p:sp>
        <p:nvSpPr>
          <p:cNvPr id="31" name="TextBox 30"/>
          <p:cNvSpPr txBox="1"/>
          <p:nvPr/>
        </p:nvSpPr>
        <p:spPr>
          <a:xfrm>
            <a:off x="457200" y="5212080"/>
            <a:ext cx="11247120" cy="914400"/>
          </a:xfrm>
          <a:prstGeom prst="rect">
            <a:avLst/>
          </a:prstGeom>
          <a:noFill/>
        </p:spPr>
        <p:txBody>
          <a:bodyPr wrap="square" anchor="t">
            <a:spAutoFit/>
          </a:bodyPr>
          <a:lstStyle/>
          <a:p>
            <a:pPr algn="l">
              <a:lnSpc>
                <a:spcPct val="130000"/>
              </a:lnSpc>
            </a:pPr>
            <a:r>
              <a:rPr sz="1400" b="0">
                <a:solidFill>
                  <a:srgbClr val="332A28"/>
                </a:solidFill>
                <a:latin typeface="Meiryo"/>
              </a:rPr>
              <a:t>■ 総合判定：🔴が1つでも→見送り／🟡や欠損が残る→要検討／全部🟢→『買い』。</a:t>
            </a:r>
          </a:p>
          <a:p>
            <a:pPr algn="l">
              <a:lnSpc>
                <a:spcPct val="130000"/>
              </a:lnSpc>
            </a:pPr>
            <a:r>
              <a:rPr sz="1400" b="0">
                <a:solidFill>
                  <a:srgbClr val="332A28"/>
                </a:solidFill>
                <a:latin typeface="Meiryo"/>
              </a:rPr>
              <a:t>■ 『買い🟢』になった時だけ、融資資料デッキ生成＋物DB蓄積まで自動で進む。</a:t>
            </a:r>
          </a:p>
        </p:txBody>
      </p:sp>
      <p:sp>
        <p:nvSpPr>
          <p:cNvPr id="32" name="TextBox 31"/>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【実物】査定結果はこう出る（自動生成）</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04</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25880"/>
            <a:ext cx="11247120" cy="457200"/>
          </a:xfrm>
          <a:prstGeom prst="rect">
            <a:avLst/>
          </a:prstGeom>
          <a:noFill/>
        </p:spPr>
        <p:txBody>
          <a:bodyPr wrap="square" anchor="t">
            <a:spAutoFit/>
          </a:bodyPr>
          <a:lstStyle/>
          <a:p>
            <a:pPr algn="l">
              <a:lnSpc>
                <a:spcPct val="110000"/>
              </a:lnSpc>
            </a:pPr>
            <a:r>
              <a:rPr sz="1400" b="0">
                <a:solidFill>
                  <a:srgbClr val="332A28"/>
                </a:solidFill>
                <a:latin typeface="Meiryo"/>
              </a:rPr>
              <a:t>物件を渡すと、この判定シートが自動で出来る。総合判定🟢/数値は全部自動計算。</a:t>
            </a:r>
          </a:p>
        </p:txBody>
      </p:sp>
      <p:sp>
        <p:nvSpPr>
          <p:cNvPr id="8" name="Rectangle 7"/>
          <p:cNvSpPr/>
          <p:nvPr/>
        </p:nvSpPr>
        <p:spPr>
          <a:xfrm>
            <a:off x="1217391" y="1783080"/>
            <a:ext cx="5794816" cy="4297679"/>
          </a:xfrm>
          <a:prstGeom prst="rect">
            <a:avLst/>
          </a:prstGeom>
          <a:solidFill>
            <a:srgbClr val="FFFFFF"/>
          </a:solidFill>
          <a:ln w="15875">
            <a:solidFill>
              <a:srgbClr val="777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判定_277_高松_盛岡(合算)_2026-06-02.xlsx.png"/>
          <p:cNvPicPr>
            <a:picLocks noChangeAspect="1"/>
          </p:cNvPicPr>
          <p:nvPr/>
        </p:nvPicPr>
        <p:blipFill>
          <a:blip r:embed="rId2"/>
          <a:stretch>
            <a:fillRect/>
          </a:stretch>
        </p:blipFill>
        <p:spPr>
          <a:xfrm>
            <a:off x="1263111" y="1828800"/>
            <a:ext cx="5703376" cy="4206240"/>
          </a:xfrm>
          <a:prstGeom prst="rect">
            <a:avLst/>
          </a:prstGeom>
        </p:spPr>
      </p:pic>
      <p:sp>
        <p:nvSpPr>
          <p:cNvPr id="10" name="TextBox 9"/>
          <p:cNvSpPr txBox="1"/>
          <p:nvPr/>
        </p:nvSpPr>
        <p:spPr>
          <a:xfrm>
            <a:off x="640080" y="6126479"/>
            <a:ext cx="6949440" cy="365760"/>
          </a:xfrm>
          <a:prstGeom prst="rect">
            <a:avLst/>
          </a:prstGeom>
          <a:noFill/>
        </p:spPr>
        <p:txBody>
          <a:bodyPr wrap="square" anchor="t">
            <a:spAutoFit/>
          </a:bodyPr>
          <a:lstStyle/>
          <a:p>
            <a:pPr algn="ctr">
              <a:lnSpc>
                <a:spcPct val="110000"/>
              </a:lnSpc>
            </a:pPr>
            <a:r>
              <a:rPr sz="1200" b="0">
                <a:solidFill>
                  <a:srgbClr val="77706E"/>
                </a:solidFill>
                <a:latin typeface="Meiryo"/>
              </a:rPr>
              <a:t>▲ 実例：盛岡市高松2丁目（収益）／🟢買い・土地値90.5%・実質利回り11.1%</a:t>
            </a:r>
          </a:p>
        </p:txBody>
      </p:sp>
      <p:sp>
        <p:nvSpPr>
          <p:cNvPr id="11" name="TextBox 10"/>
          <p:cNvSpPr txBox="1"/>
          <p:nvPr/>
        </p:nvSpPr>
        <p:spPr>
          <a:xfrm>
            <a:off x="7955279" y="2011680"/>
            <a:ext cx="3749039" cy="411480"/>
          </a:xfrm>
          <a:prstGeom prst="rect">
            <a:avLst/>
          </a:prstGeom>
          <a:noFill/>
        </p:spPr>
        <p:txBody>
          <a:bodyPr wrap="square" anchor="t">
            <a:spAutoFit/>
          </a:bodyPr>
          <a:lstStyle/>
          <a:p>
            <a:pPr algn="l">
              <a:lnSpc>
                <a:spcPct val="110000"/>
              </a:lnSpc>
            </a:pPr>
            <a:r>
              <a:rPr sz="1500" b="1">
                <a:solidFill>
                  <a:srgbClr val="AA2E26"/>
                </a:solidFill>
                <a:latin typeface="Meiryo"/>
              </a:rPr>
              <a:t>◆ ここが自動で埋まる</a:t>
            </a:r>
          </a:p>
        </p:txBody>
      </p:sp>
      <p:sp>
        <p:nvSpPr>
          <p:cNvPr id="12" name="TextBox 11"/>
          <p:cNvSpPr txBox="1"/>
          <p:nvPr/>
        </p:nvSpPr>
        <p:spPr>
          <a:xfrm>
            <a:off x="7955279" y="2514600"/>
            <a:ext cx="3749039" cy="3291840"/>
          </a:xfrm>
          <a:prstGeom prst="rect">
            <a:avLst/>
          </a:prstGeom>
          <a:noFill/>
        </p:spPr>
        <p:txBody>
          <a:bodyPr wrap="square" anchor="t">
            <a:spAutoFit/>
          </a:bodyPr>
          <a:lstStyle/>
          <a:p>
            <a:pPr algn="l">
              <a:lnSpc>
                <a:spcPct val="135000"/>
              </a:lnSpc>
            </a:pPr>
            <a:r>
              <a:rPr sz="1300" b="0">
                <a:solidFill>
                  <a:srgbClr val="332A28"/>
                </a:solidFill>
                <a:latin typeface="Meiryo"/>
              </a:rPr>
              <a:t>・総合判定（🟢🟡🔴）</a:t>
            </a:r>
          </a:p>
          <a:p>
            <a:pPr algn="l">
              <a:lnSpc>
                <a:spcPct val="135000"/>
              </a:lnSpc>
            </a:pPr>
            <a:r>
              <a:rPr sz="1300" b="0">
                <a:solidFill>
                  <a:srgbClr val="332A28"/>
                </a:solidFill>
                <a:latin typeface="Meiryo"/>
              </a:rPr>
              <a:t>・価格／土地面積</a:t>
            </a:r>
          </a:p>
          <a:p>
            <a:pPr algn="l">
              <a:lnSpc>
                <a:spcPct val="135000"/>
              </a:lnSpc>
            </a:pPr>
            <a:r>
              <a:rPr sz="1300" b="0">
                <a:solidFill>
                  <a:srgbClr val="332A28"/>
                </a:solidFill>
                <a:latin typeface="Meiryo"/>
              </a:rPr>
              <a:t>・土地値割合（路線価から自動）</a:t>
            </a:r>
          </a:p>
          <a:p>
            <a:pPr algn="l">
              <a:lnSpc>
                <a:spcPct val="135000"/>
              </a:lnSpc>
            </a:pPr>
            <a:r>
              <a:rPr sz="1300" b="0">
                <a:solidFill>
                  <a:srgbClr val="332A28"/>
                </a:solidFill>
                <a:latin typeface="Meiryo"/>
              </a:rPr>
              <a:t>・モード（収益/再販を自動判別）</a:t>
            </a:r>
          </a:p>
          <a:p>
            <a:pPr algn="l">
              <a:lnSpc>
                <a:spcPct val="135000"/>
              </a:lnSpc>
            </a:pPr>
            <a:r>
              <a:rPr sz="1300" b="0">
                <a:solidFill>
                  <a:srgbClr val="332A28"/>
                </a:solidFill>
                <a:latin typeface="Meiryo"/>
              </a:rPr>
              <a:t>・表面/実質利回り</a:t>
            </a:r>
          </a:p>
          <a:p>
            <a:pPr algn="l">
              <a:lnSpc>
                <a:spcPct val="135000"/>
              </a:lnSpc>
            </a:pPr>
            <a:r>
              <a:rPr sz="1300" b="0">
                <a:solidFill>
                  <a:srgbClr val="332A28"/>
                </a:solidFill>
                <a:latin typeface="Meiryo"/>
              </a:rPr>
              <a:t>・CF率・CCR・粗利率</a:t>
            </a:r>
          </a:p>
          <a:p>
            <a:pPr algn="l">
              <a:lnSpc>
                <a:spcPct val="135000"/>
              </a:lnSpc>
            </a:pPr>
            <a:r>
              <a:rPr sz="1300" b="0">
                <a:solidFill>
                  <a:srgbClr val="332A28"/>
                </a:solidFill>
                <a:latin typeface="Meiryo"/>
              </a:rPr>
              <a:t/>
            </a:r>
          </a:p>
          <a:p>
            <a:pPr algn="l">
              <a:lnSpc>
                <a:spcPct val="135000"/>
              </a:lnSpc>
            </a:pPr>
            <a:r>
              <a:rPr sz="1300" b="0">
                <a:solidFill>
                  <a:srgbClr val="332A28"/>
                </a:solidFill>
                <a:latin typeface="Meiryo"/>
              </a:rPr>
              <a:t>→ 手入力ゼロ。路線価は</a:t>
            </a:r>
          </a:p>
          <a:p>
            <a:pPr algn="l">
              <a:lnSpc>
                <a:spcPct val="135000"/>
              </a:lnSpc>
            </a:pPr>
            <a:r>
              <a:rPr sz="1300" b="0">
                <a:solidFill>
                  <a:srgbClr val="332A28"/>
                </a:solidFill>
                <a:latin typeface="Meiryo"/>
              </a:rPr>
              <a:t>　 reinfolib(国交省)から自動取得。</a:t>
            </a:r>
          </a:p>
        </p:txBody>
      </p:sp>
      <p:sp>
        <p:nvSpPr>
          <p:cNvPr id="13" name="TextBox 12"/>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結果はどこで見る？（スマホOK）</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05</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664207"/>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一覧で見る</a:t>
            </a:r>
          </a:p>
        </p:txBody>
      </p:sp>
      <p:sp>
        <p:nvSpPr>
          <p:cNvPr id="9" name="TextBox 8"/>
          <p:cNvSpPr txBox="1"/>
          <p:nvPr/>
        </p:nvSpPr>
        <p:spPr>
          <a:xfrm>
            <a:off x="457200" y="1965960"/>
            <a:ext cx="3566160" cy="640080"/>
          </a:xfrm>
          <a:prstGeom prst="rect">
            <a:avLst/>
          </a:prstGeom>
          <a:noFill/>
        </p:spPr>
        <p:txBody>
          <a:bodyPr wrap="square" anchor="t">
            <a:spAutoFit/>
          </a:bodyPr>
          <a:lstStyle/>
          <a:p>
            <a:pPr algn="ctr">
              <a:lnSpc>
                <a:spcPct val="110000"/>
              </a:lnSpc>
            </a:pPr>
            <a:r>
              <a:rPr sz="2400" b="1">
                <a:solidFill>
                  <a:srgbClr val="AA2E26"/>
                </a:solidFill>
                <a:latin typeface="Meiryo"/>
              </a:rPr>
              <a:t>Notion</a:t>
            </a:r>
          </a:p>
        </p:txBody>
      </p:sp>
      <p:sp>
        <p:nvSpPr>
          <p:cNvPr id="10" name="TextBox 9"/>
          <p:cNvSpPr txBox="1"/>
          <p:nvPr/>
        </p:nvSpPr>
        <p:spPr>
          <a:xfrm>
            <a:off x="457200" y="2578608"/>
            <a:ext cx="3566160" cy="320040"/>
          </a:xfrm>
          <a:prstGeom prst="rect">
            <a:avLst/>
          </a:prstGeom>
          <a:noFill/>
        </p:spPr>
        <p:txBody>
          <a:bodyPr wrap="square" anchor="t">
            <a:spAutoFit/>
          </a:bodyPr>
          <a:lstStyle/>
          <a:p>
            <a:pPr algn="ctr">
              <a:lnSpc>
                <a:spcPct val="110000"/>
              </a:lnSpc>
            </a:pPr>
            <a:r>
              <a:rPr sz="1000" b="0">
                <a:solidFill>
                  <a:srgbClr val="77706E"/>
                </a:solidFill>
                <a:latin typeface="Meiryo"/>
              </a:rPr>
              <a:t>🤖自動査定結果DB</a:t>
            </a:r>
          </a:p>
        </p:txBody>
      </p:sp>
      <p:sp>
        <p:nvSpPr>
          <p:cNvPr id="11" name="Rectangle 10"/>
          <p:cNvSpPr/>
          <p:nvPr/>
        </p:nvSpPr>
        <p:spPr>
          <a:xfrm>
            <a:off x="4206240" y="155448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1664207"/>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🟢が届く</a:t>
            </a:r>
          </a:p>
        </p:txBody>
      </p:sp>
      <p:sp>
        <p:nvSpPr>
          <p:cNvPr id="13" name="TextBox 12"/>
          <p:cNvSpPr txBox="1"/>
          <p:nvPr/>
        </p:nvSpPr>
        <p:spPr>
          <a:xfrm>
            <a:off x="4206240" y="1965960"/>
            <a:ext cx="3566160" cy="640080"/>
          </a:xfrm>
          <a:prstGeom prst="rect">
            <a:avLst/>
          </a:prstGeom>
          <a:noFill/>
        </p:spPr>
        <p:txBody>
          <a:bodyPr wrap="square" anchor="t">
            <a:spAutoFit/>
          </a:bodyPr>
          <a:lstStyle/>
          <a:p>
            <a:pPr algn="ctr">
              <a:lnSpc>
                <a:spcPct val="110000"/>
              </a:lnSpc>
            </a:pPr>
            <a:r>
              <a:rPr sz="2400" b="1">
                <a:solidFill>
                  <a:srgbClr val="1F7A1F"/>
                </a:solidFill>
                <a:latin typeface="Meiryo"/>
              </a:rPr>
              <a:t>Googleタスク</a:t>
            </a:r>
          </a:p>
        </p:txBody>
      </p:sp>
      <p:sp>
        <p:nvSpPr>
          <p:cNvPr id="14" name="TextBox 13"/>
          <p:cNvSpPr txBox="1"/>
          <p:nvPr/>
        </p:nvSpPr>
        <p:spPr>
          <a:xfrm>
            <a:off x="4206240" y="2578608"/>
            <a:ext cx="3566160" cy="320040"/>
          </a:xfrm>
          <a:prstGeom prst="rect">
            <a:avLst/>
          </a:prstGeom>
          <a:noFill/>
        </p:spPr>
        <p:txBody>
          <a:bodyPr wrap="square" anchor="t">
            <a:spAutoFit/>
          </a:bodyPr>
          <a:lstStyle/>
          <a:p>
            <a:pPr algn="ctr">
              <a:lnSpc>
                <a:spcPct val="110000"/>
              </a:lnSpc>
            </a:pPr>
            <a:r>
              <a:rPr sz="1000" b="0">
                <a:solidFill>
                  <a:srgbClr val="77706E"/>
                </a:solidFill>
                <a:latin typeface="Meiryo"/>
              </a:rPr>
              <a:t>買い候補がプッシュ</a:t>
            </a:r>
          </a:p>
        </p:txBody>
      </p:sp>
      <p:sp>
        <p:nvSpPr>
          <p:cNvPr id="15" name="Rectangle 14"/>
          <p:cNvSpPr/>
          <p:nvPr/>
        </p:nvSpPr>
        <p:spPr>
          <a:xfrm>
            <a:off x="7955279" y="1554480"/>
            <a:ext cx="3749039"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79" y="1664207"/>
            <a:ext cx="3749039" cy="365760"/>
          </a:xfrm>
          <a:prstGeom prst="rect">
            <a:avLst/>
          </a:prstGeom>
          <a:noFill/>
        </p:spPr>
        <p:txBody>
          <a:bodyPr wrap="square" anchor="t">
            <a:spAutoFit/>
          </a:bodyPr>
          <a:lstStyle/>
          <a:p>
            <a:pPr algn="ctr">
              <a:lnSpc>
                <a:spcPct val="110000"/>
              </a:lnSpc>
            </a:pPr>
            <a:r>
              <a:rPr sz="1200" b="0">
                <a:solidFill>
                  <a:srgbClr val="77706E"/>
                </a:solidFill>
                <a:latin typeface="Meiryo"/>
              </a:rPr>
              <a:t>デッキを取る</a:t>
            </a:r>
          </a:p>
        </p:txBody>
      </p:sp>
      <p:sp>
        <p:nvSpPr>
          <p:cNvPr id="17" name="TextBox 16"/>
          <p:cNvSpPr txBox="1"/>
          <p:nvPr/>
        </p:nvSpPr>
        <p:spPr>
          <a:xfrm>
            <a:off x="7955279" y="1965960"/>
            <a:ext cx="3749039" cy="640080"/>
          </a:xfrm>
          <a:prstGeom prst="rect">
            <a:avLst/>
          </a:prstGeom>
          <a:noFill/>
        </p:spPr>
        <p:txBody>
          <a:bodyPr wrap="square" anchor="t">
            <a:spAutoFit/>
          </a:bodyPr>
          <a:lstStyle/>
          <a:p>
            <a:pPr algn="ctr">
              <a:lnSpc>
                <a:spcPct val="110000"/>
              </a:lnSpc>
            </a:pPr>
            <a:r>
              <a:rPr sz="2400" b="1">
                <a:solidFill>
                  <a:srgbClr val="2B579A"/>
                </a:solidFill>
                <a:latin typeface="Meiryo"/>
              </a:rPr>
              <a:t>Drive</a:t>
            </a:r>
          </a:p>
        </p:txBody>
      </p:sp>
      <p:sp>
        <p:nvSpPr>
          <p:cNvPr id="18" name="TextBox 17"/>
          <p:cNvSpPr txBox="1"/>
          <p:nvPr/>
        </p:nvSpPr>
        <p:spPr>
          <a:xfrm>
            <a:off x="7955279" y="2578608"/>
            <a:ext cx="3749039" cy="320040"/>
          </a:xfrm>
          <a:prstGeom prst="rect">
            <a:avLst/>
          </a:prstGeom>
          <a:noFill/>
        </p:spPr>
        <p:txBody>
          <a:bodyPr wrap="square" anchor="t">
            <a:spAutoFit/>
          </a:bodyPr>
          <a:lstStyle/>
          <a:p>
            <a:pPr algn="ctr">
              <a:lnSpc>
                <a:spcPct val="110000"/>
              </a:lnSpc>
            </a:pPr>
            <a:r>
              <a:rPr sz="1000" b="0">
                <a:solidFill>
                  <a:srgbClr val="77706E"/>
                </a:solidFill>
                <a:latin typeface="Meiryo"/>
              </a:rPr>
              <a:t>_査定結果デッキ/</a:t>
            </a:r>
          </a:p>
        </p:txBody>
      </p:sp>
      <p:sp>
        <p:nvSpPr>
          <p:cNvPr id="19" name="Rectangle 18"/>
          <p:cNvSpPr/>
          <p:nvPr/>
        </p:nvSpPr>
        <p:spPr>
          <a:xfrm>
            <a:off x="457200" y="3291840"/>
            <a:ext cx="1124712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319272"/>
            <a:ext cx="3416198" cy="566928"/>
          </a:xfrm>
          <a:prstGeom prst="rect">
            <a:avLst/>
          </a:prstGeom>
          <a:noFill/>
        </p:spPr>
        <p:txBody>
          <a:bodyPr wrap="square" anchor="ctr">
            <a:spAutoFit/>
          </a:bodyPr>
          <a:lstStyle/>
          <a:p>
            <a:pPr algn="l">
              <a:lnSpc>
                <a:spcPct val="110000"/>
              </a:lnSpc>
            </a:pPr>
            <a:r>
              <a:rPr sz="1300" b="1">
                <a:solidFill>
                  <a:srgbClr val="AA2E26"/>
                </a:solidFill>
                <a:latin typeface="Meiryo"/>
              </a:rPr>
              <a:t>Notion 🤖自動査定結果DB</a:t>
            </a:r>
          </a:p>
        </p:txBody>
      </p:sp>
      <p:sp>
        <p:nvSpPr>
          <p:cNvPr id="21" name="TextBox 20"/>
          <p:cNvSpPr txBox="1"/>
          <p:nvPr/>
        </p:nvSpPr>
        <p:spPr>
          <a:xfrm>
            <a:off x="4056278" y="3319272"/>
            <a:ext cx="7510881" cy="566928"/>
          </a:xfrm>
          <a:prstGeom prst="rect">
            <a:avLst/>
          </a:prstGeom>
          <a:noFill/>
        </p:spPr>
        <p:txBody>
          <a:bodyPr wrap="square" anchor="ctr">
            <a:spAutoFit/>
          </a:bodyPr>
          <a:lstStyle/>
          <a:p>
            <a:pPr algn="l">
              <a:lnSpc>
                <a:spcPct val="110000"/>
              </a:lnSpc>
            </a:pPr>
            <a:r>
              <a:rPr sz="1300" b="0">
                <a:solidFill>
                  <a:srgbClr val="332A28"/>
                </a:solidFill>
                <a:latin typeface="Meiryo"/>
              </a:rPr>
              <a:t>全件（物件/判定/利回り/土地値/価格/入口）。判定で🟢フィルタ</a:t>
            </a:r>
          </a:p>
        </p:txBody>
      </p:sp>
      <p:sp>
        <p:nvSpPr>
          <p:cNvPr id="22" name="Rectangle 21"/>
          <p:cNvSpPr/>
          <p:nvPr/>
        </p:nvSpPr>
        <p:spPr>
          <a:xfrm>
            <a:off x="457200" y="3858768"/>
            <a:ext cx="11247120" cy="56692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886200"/>
            <a:ext cx="3416198" cy="566928"/>
          </a:xfrm>
          <a:prstGeom prst="rect">
            <a:avLst/>
          </a:prstGeom>
          <a:noFill/>
        </p:spPr>
        <p:txBody>
          <a:bodyPr wrap="square" anchor="ctr">
            <a:spAutoFit/>
          </a:bodyPr>
          <a:lstStyle/>
          <a:p>
            <a:pPr algn="l">
              <a:lnSpc>
                <a:spcPct val="110000"/>
              </a:lnSpc>
            </a:pPr>
            <a:r>
              <a:rPr sz="1300" b="1">
                <a:solidFill>
                  <a:srgbClr val="AA2E26"/>
                </a:solidFill>
                <a:latin typeface="Meiryo"/>
              </a:rPr>
              <a:t>Googleタスク</a:t>
            </a:r>
          </a:p>
        </p:txBody>
      </p:sp>
      <p:sp>
        <p:nvSpPr>
          <p:cNvPr id="24" name="TextBox 23"/>
          <p:cNvSpPr txBox="1"/>
          <p:nvPr/>
        </p:nvSpPr>
        <p:spPr>
          <a:xfrm>
            <a:off x="4056278" y="3886200"/>
            <a:ext cx="7510881" cy="566928"/>
          </a:xfrm>
          <a:prstGeom prst="rect">
            <a:avLst/>
          </a:prstGeom>
          <a:noFill/>
        </p:spPr>
        <p:txBody>
          <a:bodyPr wrap="square" anchor="ctr">
            <a:spAutoFit/>
          </a:bodyPr>
          <a:lstStyle/>
          <a:p>
            <a:pPr algn="l">
              <a:lnSpc>
                <a:spcPct val="110000"/>
              </a:lnSpc>
            </a:pPr>
            <a:r>
              <a:rPr sz="1300" b="0">
                <a:solidFill>
                  <a:srgbClr val="332A28"/>
                </a:solidFill>
                <a:latin typeface="Meiryo"/>
              </a:rPr>
              <a:t>🟢買い候補がスマホのタスクに自動で立つ（毎朝）</a:t>
            </a:r>
          </a:p>
        </p:txBody>
      </p:sp>
      <p:sp>
        <p:nvSpPr>
          <p:cNvPr id="25" name="Rectangle 24"/>
          <p:cNvSpPr/>
          <p:nvPr/>
        </p:nvSpPr>
        <p:spPr>
          <a:xfrm>
            <a:off x="457200" y="4425696"/>
            <a:ext cx="1124712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453128"/>
            <a:ext cx="3416198" cy="566928"/>
          </a:xfrm>
          <a:prstGeom prst="rect">
            <a:avLst/>
          </a:prstGeom>
          <a:noFill/>
        </p:spPr>
        <p:txBody>
          <a:bodyPr wrap="square" anchor="ctr">
            <a:spAutoFit/>
          </a:bodyPr>
          <a:lstStyle/>
          <a:p>
            <a:pPr algn="l">
              <a:lnSpc>
                <a:spcPct val="110000"/>
              </a:lnSpc>
            </a:pPr>
            <a:r>
              <a:rPr sz="1300" b="1">
                <a:solidFill>
                  <a:srgbClr val="AA2E26"/>
                </a:solidFill>
                <a:latin typeface="Meiryo"/>
              </a:rPr>
              <a:t>Drive『_査定結果デッキ』</a:t>
            </a:r>
          </a:p>
        </p:txBody>
      </p:sp>
      <p:sp>
        <p:nvSpPr>
          <p:cNvPr id="27" name="TextBox 26"/>
          <p:cNvSpPr txBox="1"/>
          <p:nvPr/>
        </p:nvSpPr>
        <p:spPr>
          <a:xfrm>
            <a:off x="4056278" y="4453128"/>
            <a:ext cx="7510881" cy="566928"/>
          </a:xfrm>
          <a:prstGeom prst="rect">
            <a:avLst/>
          </a:prstGeom>
          <a:noFill/>
        </p:spPr>
        <p:txBody>
          <a:bodyPr wrap="square" anchor="ctr">
            <a:spAutoFit/>
          </a:bodyPr>
          <a:lstStyle/>
          <a:p>
            <a:pPr algn="l">
              <a:lnSpc>
                <a:spcPct val="110000"/>
              </a:lnSpc>
            </a:pPr>
            <a:r>
              <a:rPr sz="1300" b="0">
                <a:solidFill>
                  <a:srgbClr val="332A28"/>
                </a:solidFill>
                <a:latin typeface="Meiryo"/>
              </a:rPr>
              <a:t>🟢物件の融資資料pptxが自動で入る → 銀行へ</a:t>
            </a:r>
          </a:p>
        </p:txBody>
      </p:sp>
      <p:sp>
        <p:nvSpPr>
          <p:cNvPr id="28" name="Rectangle 27"/>
          <p:cNvSpPr/>
          <p:nvPr/>
        </p:nvSpPr>
        <p:spPr>
          <a:xfrm>
            <a:off x="457200" y="4992624"/>
            <a:ext cx="11247120" cy="56692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5020056"/>
            <a:ext cx="3416198" cy="566928"/>
          </a:xfrm>
          <a:prstGeom prst="rect">
            <a:avLst/>
          </a:prstGeom>
          <a:noFill/>
        </p:spPr>
        <p:txBody>
          <a:bodyPr wrap="square" anchor="ctr">
            <a:spAutoFit/>
          </a:bodyPr>
          <a:lstStyle/>
          <a:p>
            <a:pPr algn="l">
              <a:lnSpc>
                <a:spcPct val="110000"/>
              </a:lnSpc>
            </a:pPr>
            <a:r>
              <a:rPr sz="1300" b="1">
                <a:solidFill>
                  <a:srgbClr val="AA2E26"/>
                </a:solidFill>
                <a:latin typeface="Meiryo"/>
              </a:rPr>
              <a:t>物DB「物」タブ</a:t>
            </a:r>
          </a:p>
        </p:txBody>
      </p:sp>
      <p:sp>
        <p:nvSpPr>
          <p:cNvPr id="30" name="TextBox 29"/>
          <p:cNvSpPr txBox="1"/>
          <p:nvPr/>
        </p:nvSpPr>
        <p:spPr>
          <a:xfrm>
            <a:off x="4056278" y="5020056"/>
            <a:ext cx="7510881" cy="566928"/>
          </a:xfrm>
          <a:prstGeom prst="rect">
            <a:avLst/>
          </a:prstGeom>
          <a:noFill/>
        </p:spPr>
        <p:txBody>
          <a:bodyPr wrap="square" anchor="ctr">
            <a:spAutoFit/>
          </a:bodyPr>
          <a:lstStyle/>
          <a:p>
            <a:pPr algn="l">
              <a:lnSpc>
                <a:spcPct val="110000"/>
              </a:lnSpc>
            </a:pPr>
            <a:r>
              <a:rPr sz="1300" b="0">
                <a:solidFill>
                  <a:srgbClr val="332A28"/>
                </a:solidFill>
                <a:latin typeface="Meiryo"/>
              </a:rPr>
              <a:t>🟢はSSoT台帳にも自動蓄積</a:t>
            </a:r>
          </a:p>
        </p:txBody>
      </p:sp>
      <p:sp>
        <p:nvSpPr>
          <p:cNvPr id="31" name="TextBox 30"/>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【実物】🟢なら銀行資料まで自動生成</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06</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25880"/>
            <a:ext cx="11247120" cy="457200"/>
          </a:xfrm>
          <a:prstGeom prst="rect">
            <a:avLst/>
          </a:prstGeom>
          <a:noFill/>
        </p:spPr>
        <p:txBody>
          <a:bodyPr wrap="square" anchor="t">
            <a:spAutoFit/>
          </a:bodyPr>
          <a:lstStyle/>
          <a:p>
            <a:pPr algn="l">
              <a:lnSpc>
                <a:spcPct val="110000"/>
              </a:lnSpc>
            </a:pPr>
            <a:r>
              <a:rPr sz="1400" b="0">
                <a:solidFill>
                  <a:srgbClr val="332A28"/>
                </a:solidFill>
                <a:latin typeface="Meiryo"/>
              </a:rPr>
              <a:t>判定が🟢買いの時だけ、銀行へ出せる融資資料デッキ(pptx)が勝手に出来る。</a:t>
            </a:r>
          </a:p>
        </p:txBody>
      </p:sp>
      <p:sp>
        <p:nvSpPr>
          <p:cNvPr id="8" name="Rectangle 7"/>
          <p:cNvSpPr/>
          <p:nvPr/>
        </p:nvSpPr>
        <p:spPr>
          <a:xfrm>
            <a:off x="594359" y="1924720"/>
            <a:ext cx="7040879" cy="4014398"/>
          </a:xfrm>
          <a:prstGeom prst="rect">
            <a:avLst/>
          </a:prstGeom>
          <a:solidFill>
            <a:srgbClr val="FFFFFF"/>
          </a:solidFill>
          <a:ln w="15875">
            <a:solidFill>
              <a:srgbClr val="777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77_融資資料デッキ.pptx.png"/>
          <p:cNvPicPr>
            <a:picLocks noChangeAspect="1"/>
          </p:cNvPicPr>
          <p:nvPr/>
        </p:nvPicPr>
        <p:blipFill>
          <a:blip r:embed="rId2"/>
          <a:stretch>
            <a:fillRect/>
          </a:stretch>
        </p:blipFill>
        <p:spPr>
          <a:xfrm>
            <a:off x="640080" y="1970440"/>
            <a:ext cx="6949440" cy="3922958"/>
          </a:xfrm>
          <a:prstGeom prst="rect">
            <a:avLst/>
          </a:prstGeom>
        </p:spPr>
      </p:pic>
      <p:sp>
        <p:nvSpPr>
          <p:cNvPr id="10" name="TextBox 9"/>
          <p:cNvSpPr txBox="1"/>
          <p:nvPr/>
        </p:nvSpPr>
        <p:spPr>
          <a:xfrm>
            <a:off x="640080" y="5984839"/>
            <a:ext cx="6949440" cy="365760"/>
          </a:xfrm>
          <a:prstGeom prst="rect">
            <a:avLst/>
          </a:prstGeom>
          <a:noFill/>
        </p:spPr>
        <p:txBody>
          <a:bodyPr wrap="square" anchor="t">
            <a:spAutoFit/>
          </a:bodyPr>
          <a:lstStyle/>
          <a:p>
            <a:pPr algn="ctr">
              <a:lnSpc>
                <a:spcPct val="110000"/>
              </a:lnSpc>
            </a:pPr>
            <a:r>
              <a:rPr sz="1200" b="0">
                <a:solidFill>
                  <a:srgbClr val="77706E"/>
                </a:solidFill>
                <a:latin typeface="Meiryo"/>
              </a:rPr>
              <a:t>▲ 実物：岩手銀行 御中／盛岡市高松2丁目 融資ご相談資料（全自動生成）</a:t>
            </a:r>
          </a:p>
        </p:txBody>
      </p:sp>
      <p:sp>
        <p:nvSpPr>
          <p:cNvPr id="11" name="TextBox 10"/>
          <p:cNvSpPr txBox="1"/>
          <p:nvPr/>
        </p:nvSpPr>
        <p:spPr>
          <a:xfrm>
            <a:off x="7955279" y="2011680"/>
            <a:ext cx="3749039" cy="411480"/>
          </a:xfrm>
          <a:prstGeom prst="rect">
            <a:avLst/>
          </a:prstGeom>
          <a:noFill/>
        </p:spPr>
        <p:txBody>
          <a:bodyPr wrap="square" anchor="t">
            <a:spAutoFit/>
          </a:bodyPr>
          <a:lstStyle/>
          <a:p>
            <a:pPr algn="l">
              <a:lnSpc>
                <a:spcPct val="110000"/>
              </a:lnSpc>
            </a:pPr>
            <a:r>
              <a:rPr sz="1500" b="1">
                <a:solidFill>
                  <a:srgbClr val="AA2E26"/>
                </a:solidFill>
                <a:latin typeface="Meiryo"/>
              </a:rPr>
              <a:t>◆ デッキの中身（自動）</a:t>
            </a:r>
          </a:p>
        </p:txBody>
      </p:sp>
      <p:sp>
        <p:nvSpPr>
          <p:cNvPr id="12" name="TextBox 11"/>
          <p:cNvSpPr txBox="1"/>
          <p:nvPr/>
        </p:nvSpPr>
        <p:spPr>
          <a:xfrm>
            <a:off x="7955279" y="2514600"/>
            <a:ext cx="3749039" cy="3291840"/>
          </a:xfrm>
          <a:prstGeom prst="rect">
            <a:avLst/>
          </a:prstGeom>
          <a:noFill/>
        </p:spPr>
        <p:txBody>
          <a:bodyPr wrap="square" anchor="t">
            <a:spAutoFit/>
          </a:bodyPr>
          <a:lstStyle/>
          <a:p>
            <a:pPr algn="l">
              <a:lnSpc>
                <a:spcPct val="135000"/>
              </a:lnSpc>
            </a:pPr>
            <a:r>
              <a:rPr sz="1300" b="0">
                <a:solidFill>
                  <a:srgbClr val="332A28"/>
                </a:solidFill>
                <a:latin typeface="Meiryo"/>
              </a:rPr>
              <a:t>・表紙（宛先銀行を自動差込）</a:t>
            </a:r>
          </a:p>
          <a:p>
            <a:pPr algn="l">
              <a:lnSpc>
                <a:spcPct val="135000"/>
              </a:lnSpc>
            </a:pPr>
            <a:r>
              <a:rPr sz="1300" b="0">
                <a:solidFill>
                  <a:srgbClr val="332A28"/>
                </a:solidFill>
                <a:latin typeface="Meiryo"/>
              </a:rPr>
              <a:t>・物件概要／所在地図</a:t>
            </a:r>
          </a:p>
          <a:p>
            <a:pPr algn="l">
              <a:lnSpc>
                <a:spcPct val="135000"/>
              </a:lnSpc>
            </a:pPr>
            <a:r>
              <a:rPr sz="1300" b="0">
                <a:solidFill>
                  <a:srgbClr val="332A28"/>
                </a:solidFill>
                <a:latin typeface="Meiryo"/>
              </a:rPr>
              <a:t>・収支・KPIサマリ</a:t>
            </a:r>
          </a:p>
          <a:p>
            <a:pPr algn="l">
              <a:lnSpc>
                <a:spcPct val="135000"/>
              </a:lnSpc>
            </a:pPr>
            <a:r>
              <a:rPr sz="1300" b="0">
                <a:solidFill>
                  <a:srgbClr val="332A28"/>
                </a:solidFill>
                <a:latin typeface="Meiryo"/>
              </a:rPr>
              <a:t>・土地値/積算（融資根拠）</a:t>
            </a:r>
          </a:p>
          <a:p>
            <a:pPr algn="l">
              <a:lnSpc>
                <a:spcPct val="135000"/>
              </a:lnSpc>
            </a:pPr>
            <a:r>
              <a:rPr sz="1300" b="0">
                <a:solidFill>
                  <a:srgbClr val="332A28"/>
                </a:solidFill>
                <a:latin typeface="Meiryo"/>
              </a:rPr>
              <a:t>・出口戦略</a:t>
            </a:r>
          </a:p>
          <a:p>
            <a:pPr algn="l">
              <a:lnSpc>
                <a:spcPct val="135000"/>
              </a:lnSpc>
            </a:pPr>
            <a:r>
              <a:rPr sz="1300" b="0">
                <a:solidFill>
                  <a:srgbClr val="332A28"/>
                </a:solidFill>
                <a:latin typeface="Meiryo"/>
              </a:rPr>
              <a:t/>
            </a:r>
          </a:p>
          <a:p>
            <a:pPr algn="l">
              <a:lnSpc>
                <a:spcPct val="135000"/>
              </a:lnSpc>
            </a:pPr>
            <a:r>
              <a:rPr sz="1300" b="0">
                <a:solidFill>
                  <a:srgbClr val="332A28"/>
                </a:solidFill>
                <a:latin typeface="Meiryo"/>
              </a:rPr>
              <a:t>→ Drive『_査定結果デッキ』に</a:t>
            </a:r>
          </a:p>
          <a:p>
            <a:pPr algn="l">
              <a:lnSpc>
                <a:spcPct val="135000"/>
              </a:lnSpc>
            </a:pPr>
            <a:r>
              <a:rPr sz="1300" b="0">
                <a:solidFill>
                  <a:srgbClr val="332A28"/>
                </a:solidFill>
                <a:latin typeface="Meiryo"/>
              </a:rPr>
              <a:t>　 自動で格納。あとは持参するだけ。</a:t>
            </a:r>
          </a:p>
        </p:txBody>
      </p:sp>
      <p:sp>
        <p:nvSpPr>
          <p:cNvPr id="13" name="TextBox 12"/>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完全無人の仕組み（裏側）</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07</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737360"/>
            <a:ext cx="2377440" cy="1005840"/>
          </a:xfrm>
          <a:prstGeom prst="rect">
            <a:avLst/>
          </a:prstGeom>
          <a:solidFill>
            <a:srgbClr val="ECE0DD"/>
          </a:solidFill>
          <a:ln w="15875">
            <a:solidFill>
              <a:srgbClr val="AA2E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755648"/>
            <a:ext cx="2377440" cy="1005840"/>
          </a:xfrm>
          <a:prstGeom prst="rect">
            <a:avLst/>
          </a:prstGeom>
          <a:noFill/>
        </p:spPr>
        <p:txBody>
          <a:bodyPr wrap="square" anchor="ctr">
            <a:spAutoFit/>
          </a:bodyPr>
          <a:lstStyle/>
          <a:p>
            <a:pPr algn="ctr">
              <a:lnSpc>
                <a:spcPct val="105000"/>
              </a:lnSpc>
            </a:pPr>
            <a:r>
              <a:rPr sz="1200" b="1">
                <a:solidFill>
                  <a:srgbClr val="332A28"/>
                </a:solidFill>
                <a:latin typeface="Meiryo"/>
              </a:rPr>
              <a:t>GAS（Google側）</a:t>
            </a:r>
          </a:p>
          <a:p>
            <a:pPr algn="ctr">
              <a:lnSpc>
                <a:spcPct val="105000"/>
              </a:lnSpc>
            </a:pPr>
            <a:r>
              <a:rPr sz="1200" b="1">
                <a:solidFill>
                  <a:srgbClr val="332A28"/>
                </a:solidFill>
                <a:latin typeface="Meiryo"/>
              </a:rPr>
              <a:t>業者メール収集</a:t>
            </a:r>
          </a:p>
          <a:p>
            <a:pPr algn="ctr">
              <a:lnSpc>
                <a:spcPct val="105000"/>
              </a:lnSpc>
            </a:pPr>
            <a:r>
              <a:rPr sz="1200" b="1">
                <a:solidFill>
                  <a:srgbClr val="332A28"/>
                </a:solidFill>
                <a:latin typeface="Meiryo"/>
              </a:rPr>
              <a:t>10分ごと・無人</a:t>
            </a:r>
          </a:p>
        </p:txBody>
      </p:sp>
      <p:sp>
        <p:nvSpPr>
          <p:cNvPr id="9" name="TextBox 8"/>
          <p:cNvSpPr txBox="1"/>
          <p:nvPr/>
        </p:nvSpPr>
        <p:spPr>
          <a:xfrm>
            <a:off x="2880360" y="2057400"/>
            <a:ext cx="457200" cy="365760"/>
          </a:xfrm>
          <a:prstGeom prst="rect">
            <a:avLst/>
          </a:prstGeom>
          <a:noFill/>
        </p:spPr>
        <p:txBody>
          <a:bodyPr wrap="square" anchor="t">
            <a:spAutoFit/>
          </a:bodyPr>
          <a:lstStyle/>
          <a:p>
            <a:pPr algn="ctr">
              <a:lnSpc>
                <a:spcPct val="110000"/>
              </a:lnSpc>
            </a:pPr>
            <a:r>
              <a:rPr sz="2200" b="1">
                <a:solidFill>
                  <a:srgbClr val="AA2E26"/>
                </a:solidFill>
                <a:latin typeface="Meiryo"/>
              </a:rPr>
              <a:t>→</a:t>
            </a:r>
          </a:p>
        </p:txBody>
      </p:sp>
      <p:sp>
        <p:nvSpPr>
          <p:cNvPr id="10" name="Rectangle 9"/>
          <p:cNvSpPr/>
          <p:nvPr/>
        </p:nvSpPr>
        <p:spPr>
          <a:xfrm>
            <a:off x="3383280" y="1737360"/>
            <a:ext cx="2194560" cy="1005840"/>
          </a:xfrm>
          <a:prstGeom prst="rect">
            <a:avLst/>
          </a:prstGeom>
          <a:solidFill>
            <a:srgbClr val="FFFFFF"/>
          </a:solidFill>
          <a:ln w="15875">
            <a:solidFill>
              <a:srgbClr val="AA2E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755648"/>
            <a:ext cx="2194560" cy="1005840"/>
          </a:xfrm>
          <a:prstGeom prst="rect">
            <a:avLst/>
          </a:prstGeom>
          <a:noFill/>
        </p:spPr>
        <p:txBody>
          <a:bodyPr wrap="square" anchor="ctr">
            <a:spAutoFit/>
          </a:bodyPr>
          <a:lstStyle/>
          <a:p>
            <a:pPr algn="ctr">
              <a:lnSpc>
                <a:spcPct val="105000"/>
              </a:lnSpc>
            </a:pPr>
            <a:r>
              <a:rPr sz="1200" b="1">
                <a:solidFill>
                  <a:srgbClr val="332A28"/>
                </a:solidFill>
                <a:latin typeface="Meiryo"/>
              </a:rPr>
              <a:t>スプシ</a:t>
            </a:r>
          </a:p>
          <a:p>
            <a:pPr algn="ctr">
              <a:lnSpc>
                <a:spcPct val="105000"/>
              </a:lnSpc>
            </a:pPr>
            <a:r>
              <a:rPr sz="1200" b="1">
                <a:solidFill>
                  <a:srgbClr val="332A28"/>
                </a:solidFill>
                <a:latin typeface="Meiryo"/>
              </a:rPr>
              <a:t>物件URLが</a:t>
            </a:r>
          </a:p>
          <a:p>
            <a:pPr algn="ctr">
              <a:lnSpc>
                <a:spcPct val="105000"/>
              </a:lnSpc>
            </a:pPr>
            <a:r>
              <a:rPr sz="1200" b="1">
                <a:solidFill>
                  <a:srgbClr val="332A28"/>
                </a:solidFill>
                <a:latin typeface="Meiryo"/>
              </a:rPr>
              <a:t>溜まる</a:t>
            </a:r>
          </a:p>
        </p:txBody>
      </p:sp>
      <p:sp>
        <p:nvSpPr>
          <p:cNvPr id="12" name="TextBox 11"/>
          <p:cNvSpPr txBox="1"/>
          <p:nvPr/>
        </p:nvSpPr>
        <p:spPr>
          <a:xfrm>
            <a:off x="5623560" y="2057400"/>
            <a:ext cx="457200" cy="365760"/>
          </a:xfrm>
          <a:prstGeom prst="rect">
            <a:avLst/>
          </a:prstGeom>
          <a:noFill/>
        </p:spPr>
        <p:txBody>
          <a:bodyPr wrap="square" anchor="t">
            <a:spAutoFit/>
          </a:bodyPr>
          <a:lstStyle/>
          <a:p>
            <a:pPr algn="ctr">
              <a:lnSpc>
                <a:spcPct val="110000"/>
              </a:lnSpc>
            </a:pPr>
            <a:r>
              <a:rPr sz="2200" b="1">
                <a:solidFill>
                  <a:srgbClr val="AA2E26"/>
                </a:solidFill>
                <a:latin typeface="Meiryo"/>
              </a:rPr>
              <a:t>→</a:t>
            </a:r>
          </a:p>
        </p:txBody>
      </p:sp>
      <p:sp>
        <p:nvSpPr>
          <p:cNvPr id="13" name="Rectangle 12"/>
          <p:cNvSpPr/>
          <p:nvPr/>
        </p:nvSpPr>
        <p:spPr>
          <a:xfrm>
            <a:off x="6126480" y="1737360"/>
            <a:ext cx="2560320" cy="1005840"/>
          </a:xfrm>
          <a:prstGeom prst="rect">
            <a:avLst/>
          </a:prstGeom>
          <a:solidFill>
            <a:srgbClr val="FFFFFF"/>
          </a:solidFill>
          <a:ln w="15875">
            <a:solidFill>
              <a:srgbClr val="AA2E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1755648"/>
            <a:ext cx="2560320" cy="1005840"/>
          </a:xfrm>
          <a:prstGeom prst="rect">
            <a:avLst/>
          </a:prstGeom>
          <a:noFill/>
        </p:spPr>
        <p:txBody>
          <a:bodyPr wrap="square" anchor="ctr">
            <a:spAutoFit/>
          </a:bodyPr>
          <a:lstStyle/>
          <a:p>
            <a:pPr algn="ctr">
              <a:lnSpc>
                <a:spcPct val="105000"/>
              </a:lnSpc>
            </a:pPr>
            <a:r>
              <a:rPr sz="1200" b="1">
                <a:solidFill>
                  <a:srgbClr val="332A28"/>
                </a:solidFill>
                <a:latin typeface="Meiryo"/>
              </a:rPr>
              <a:t>launchd（Mac）</a:t>
            </a:r>
          </a:p>
          <a:p>
            <a:pPr algn="ctr">
              <a:lnSpc>
                <a:spcPct val="105000"/>
              </a:lnSpc>
            </a:pPr>
            <a:r>
              <a:rPr sz="1200" b="1">
                <a:solidFill>
                  <a:srgbClr val="332A28"/>
                </a:solidFill>
                <a:latin typeface="Meiryo"/>
              </a:rPr>
              <a:t>毎朝7時に起動</a:t>
            </a:r>
          </a:p>
          <a:p>
            <a:pPr algn="ctr">
              <a:lnSpc>
                <a:spcPct val="105000"/>
              </a:lnSpc>
            </a:pPr>
            <a:r>
              <a:rPr sz="1200" b="1">
                <a:solidFill>
                  <a:srgbClr val="332A28"/>
                </a:solidFill>
                <a:latin typeface="Meiryo"/>
              </a:rPr>
              <a:t>auto_pipeline</a:t>
            </a:r>
          </a:p>
        </p:txBody>
      </p:sp>
      <p:sp>
        <p:nvSpPr>
          <p:cNvPr id="15" name="TextBox 14"/>
          <p:cNvSpPr txBox="1"/>
          <p:nvPr/>
        </p:nvSpPr>
        <p:spPr>
          <a:xfrm>
            <a:off x="8732520" y="2057400"/>
            <a:ext cx="457200" cy="365760"/>
          </a:xfrm>
          <a:prstGeom prst="rect">
            <a:avLst/>
          </a:prstGeom>
          <a:noFill/>
        </p:spPr>
        <p:txBody>
          <a:bodyPr wrap="square" anchor="t">
            <a:spAutoFit/>
          </a:bodyPr>
          <a:lstStyle/>
          <a:p>
            <a:pPr algn="ctr">
              <a:lnSpc>
                <a:spcPct val="110000"/>
              </a:lnSpc>
            </a:pPr>
            <a:r>
              <a:rPr sz="2200" b="1">
                <a:solidFill>
                  <a:srgbClr val="AA2E26"/>
                </a:solidFill>
                <a:latin typeface="Meiryo"/>
              </a:rPr>
              <a:t>→</a:t>
            </a:r>
          </a:p>
        </p:txBody>
      </p:sp>
      <p:sp>
        <p:nvSpPr>
          <p:cNvPr id="16" name="Rectangle 15"/>
          <p:cNvSpPr/>
          <p:nvPr/>
        </p:nvSpPr>
        <p:spPr>
          <a:xfrm>
            <a:off x="9235440" y="1737360"/>
            <a:ext cx="2468880" cy="1005840"/>
          </a:xfrm>
          <a:prstGeom prst="rect">
            <a:avLst/>
          </a:prstGeom>
          <a:solidFill>
            <a:srgbClr val="E7F0E7"/>
          </a:solidFill>
          <a:ln w="15875">
            <a:solidFill>
              <a:srgbClr val="1F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1755648"/>
            <a:ext cx="2468880" cy="1005840"/>
          </a:xfrm>
          <a:prstGeom prst="rect">
            <a:avLst/>
          </a:prstGeom>
          <a:noFill/>
        </p:spPr>
        <p:txBody>
          <a:bodyPr wrap="square" anchor="ctr">
            <a:spAutoFit/>
          </a:bodyPr>
          <a:lstStyle/>
          <a:p>
            <a:pPr algn="ctr">
              <a:lnSpc>
                <a:spcPct val="105000"/>
              </a:lnSpc>
            </a:pPr>
            <a:r>
              <a:rPr sz="1200" b="1">
                <a:solidFill>
                  <a:srgbClr val="332A28"/>
                </a:solidFill>
                <a:latin typeface="Meiryo"/>
              </a:rPr>
              <a:t>査定→DB→</a:t>
            </a:r>
          </a:p>
          <a:p>
            <a:pPr algn="ctr">
              <a:lnSpc>
                <a:spcPct val="105000"/>
              </a:lnSpc>
            </a:pPr>
            <a:r>
              <a:rPr sz="1200" b="1">
                <a:solidFill>
                  <a:srgbClr val="332A28"/>
                </a:solidFill>
                <a:latin typeface="Meiryo"/>
              </a:rPr>
              <a:t>デッキ→通知</a:t>
            </a:r>
          </a:p>
          <a:p>
            <a:pPr algn="ctr">
              <a:lnSpc>
                <a:spcPct val="105000"/>
              </a:lnSpc>
            </a:pPr>
            <a:r>
              <a:rPr sz="1200" b="1">
                <a:solidFill>
                  <a:srgbClr val="332A28"/>
                </a:solidFill>
                <a:latin typeface="Meiryo"/>
              </a:rPr>
              <a:t>（無人）</a:t>
            </a:r>
          </a:p>
        </p:txBody>
      </p:sp>
      <p:sp>
        <p:nvSpPr>
          <p:cNvPr id="18" name="TextBox 17"/>
          <p:cNvSpPr txBox="1"/>
          <p:nvPr/>
        </p:nvSpPr>
        <p:spPr>
          <a:xfrm>
            <a:off x="457200" y="3108960"/>
            <a:ext cx="11247120" cy="914400"/>
          </a:xfrm>
          <a:prstGeom prst="rect">
            <a:avLst/>
          </a:prstGeom>
          <a:noFill/>
        </p:spPr>
        <p:txBody>
          <a:bodyPr wrap="square" anchor="t">
            <a:spAutoFit/>
          </a:bodyPr>
          <a:lstStyle/>
          <a:p>
            <a:pPr algn="l">
              <a:lnSpc>
                <a:spcPct val="130000"/>
              </a:lnSpc>
            </a:pPr>
            <a:r>
              <a:rPr sz="1400" b="0">
                <a:solidFill>
                  <a:srgbClr val="332A28"/>
                </a:solidFill>
                <a:latin typeface="Meiryo"/>
              </a:rPr>
              <a:t>■ メール経路＝GAS（Googleの中で勝手に動く）＋ Mac毎朝7時のlaunchd。</a:t>
            </a:r>
          </a:p>
          <a:p>
            <a:pPr algn="l">
              <a:lnSpc>
                <a:spcPct val="130000"/>
              </a:lnSpc>
            </a:pPr>
            <a:r>
              <a:rPr sz="1400" b="0">
                <a:solidFill>
                  <a:srgbClr val="332A28"/>
                </a:solidFill>
                <a:latin typeface="Meiryo"/>
              </a:rPr>
              <a:t>■ Drive経路＝受け箱にPDFを入れれば、同じlaunchdが拾って査定。</a:t>
            </a:r>
          </a:p>
        </p:txBody>
      </p:sp>
      <p:sp>
        <p:nvSpPr>
          <p:cNvPr id="19" name="TextBox 18"/>
          <p:cNvSpPr txBox="1"/>
          <p:nvPr/>
        </p:nvSpPr>
        <p:spPr>
          <a:xfrm>
            <a:off x="457200" y="4206240"/>
            <a:ext cx="11247120" cy="411480"/>
          </a:xfrm>
          <a:prstGeom prst="rect">
            <a:avLst/>
          </a:prstGeom>
          <a:noFill/>
        </p:spPr>
        <p:txBody>
          <a:bodyPr wrap="square" anchor="t">
            <a:spAutoFit/>
          </a:bodyPr>
          <a:lstStyle/>
          <a:p>
            <a:pPr algn="l">
              <a:lnSpc>
                <a:spcPct val="110000"/>
              </a:lnSpc>
            </a:pPr>
            <a:r>
              <a:rPr sz="1500" b="1">
                <a:solidFill>
                  <a:srgbClr val="AA2E26"/>
                </a:solidFill>
                <a:latin typeface="Meiryo"/>
              </a:rPr>
              <a:t>■ ワンタイム設定（1回だけ）</a:t>
            </a:r>
          </a:p>
        </p:txBody>
      </p:sp>
      <p:sp>
        <p:nvSpPr>
          <p:cNvPr id="20" name="Rectangle 19"/>
          <p:cNvSpPr/>
          <p:nvPr/>
        </p:nvSpPr>
        <p:spPr>
          <a:xfrm>
            <a:off x="457200" y="4663440"/>
            <a:ext cx="1124712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690872"/>
            <a:ext cx="3416198" cy="502920"/>
          </a:xfrm>
          <a:prstGeom prst="rect">
            <a:avLst/>
          </a:prstGeom>
          <a:noFill/>
        </p:spPr>
        <p:txBody>
          <a:bodyPr wrap="square" anchor="ctr">
            <a:spAutoFit/>
          </a:bodyPr>
          <a:lstStyle/>
          <a:p>
            <a:pPr algn="l">
              <a:lnSpc>
                <a:spcPct val="110000"/>
              </a:lnSpc>
            </a:pPr>
            <a:r>
              <a:rPr sz="1300" b="1">
                <a:solidFill>
                  <a:srgbClr val="AA2E26"/>
                </a:solidFill>
                <a:latin typeface="Meiryo"/>
              </a:rPr>
              <a:t>① launchctl load</a:t>
            </a:r>
          </a:p>
        </p:txBody>
      </p:sp>
      <p:sp>
        <p:nvSpPr>
          <p:cNvPr id="22" name="TextBox 21"/>
          <p:cNvSpPr txBox="1"/>
          <p:nvPr/>
        </p:nvSpPr>
        <p:spPr>
          <a:xfrm>
            <a:off x="4056278" y="4690872"/>
            <a:ext cx="7510881" cy="502920"/>
          </a:xfrm>
          <a:prstGeom prst="rect">
            <a:avLst/>
          </a:prstGeom>
          <a:noFill/>
        </p:spPr>
        <p:txBody>
          <a:bodyPr wrap="square" anchor="ctr">
            <a:spAutoFit/>
          </a:bodyPr>
          <a:lstStyle/>
          <a:p>
            <a:pPr algn="l">
              <a:lnSpc>
                <a:spcPct val="110000"/>
              </a:lnSpc>
            </a:pPr>
            <a:r>
              <a:rPr sz="1300" b="0">
                <a:solidFill>
                  <a:srgbClr val="332A28"/>
                </a:solidFill>
                <a:latin typeface="Meiryo"/>
              </a:rPr>
              <a:t>毎朝7時の自動起動（✅済）</a:t>
            </a:r>
          </a:p>
        </p:txBody>
      </p:sp>
      <p:sp>
        <p:nvSpPr>
          <p:cNvPr id="23" name="Rectangle 22"/>
          <p:cNvSpPr/>
          <p:nvPr/>
        </p:nvSpPr>
        <p:spPr>
          <a:xfrm>
            <a:off x="457200" y="5166359"/>
            <a:ext cx="11247120" cy="50292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5193792"/>
            <a:ext cx="3416198" cy="502920"/>
          </a:xfrm>
          <a:prstGeom prst="rect">
            <a:avLst/>
          </a:prstGeom>
          <a:noFill/>
        </p:spPr>
        <p:txBody>
          <a:bodyPr wrap="square" anchor="ctr">
            <a:spAutoFit/>
          </a:bodyPr>
          <a:lstStyle/>
          <a:p>
            <a:pPr algn="l">
              <a:lnSpc>
                <a:spcPct val="110000"/>
              </a:lnSpc>
            </a:pPr>
            <a:r>
              <a:rPr sz="1300" b="1">
                <a:solidFill>
                  <a:srgbClr val="AA2E26"/>
                </a:solidFill>
                <a:latin typeface="Meiryo"/>
              </a:rPr>
              <a:t>② Tasks API有効化＋認証</a:t>
            </a:r>
          </a:p>
        </p:txBody>
      </p:sp>
      <p:sp>
        <p:nvSpPr>
          <p:cNvPr id="25" name="TextBox 24"/>
          <p:cNvSpPr txBox="1"/>
          <p:nvPr/>
        </p:nvSpPr>
        <p:spPr>
          <a:xfrm>
            <a:off x="4056278" y="5193792"/>
            <a:ext cx="7510881" cy="502920"/>
          </a:xfrm>
          <a:prstGeom prst="rect">
            <a:avLst/>
          </a:prstGeom>
          <a:noFill/>
        </p:spPr>
        <p:txBody>
          <a:bodyPr wrap="square" anchor="ctr">
            <a:spAutoFit/>
          </a:bodyPr>
          <a:lstStyle/>
          <a:p>
            <a:pPr algn="l">
              <a:lnSpc>
                <a:spcPct val="110000"/>
              </a:lnSpc>
            </a:pPr>
            <a:r>
              <a:rPr sz="1300" b="0">
                <a:solidFill>
                  <a:srgbClr val="332A28"/>
                </a:solidFill>
                <a:latin typeface="Meiryo"/>
              </a:rPr>
              <a:t>🟢をGoogleタスク通知（要：GCPで有効化）</a:t>
            </a:r>
          </a:p>
        </p:txBody>
      </p:sp>
      <p:sp>
        <p:nvSpPr>
          <p:cNvPr id="26" name="Rectangle 25"/>
          <p:cNvSpPr/>
          <p:nvPr/>
        </p:nvSpPr>
        <p:spPr>
          <a:xfrm>
            <a:off x="457200" y="5669279"/>
            <a:ext cx="1124712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5696712"/>
            <a:ext cx="3416198" cy="502920"/>
          </a:xfrm>
          <a:prstGeom prst="rect">
            <a:avLst/>
          </a:prstGeom>
          <a:noFill/>
        </p:spPr>
        <p:txBody>
          <a:bodyPr wrap="square" anchor="ctr">
            <a:spAutoFit/>
          </a:bodyPr>
          <a:lstStyle/>
          <a:p>
            <a:pPr algn="l">
              <a:lnSpc>
                <a:spcPct val="110000"/>
              </a:lnSpc>
            </a:pPr>
            <a:r>
              <a:rPr sz="1300" b="1">
                <a:solidFill>
                  <a:srgbClr val="AA2E26"/>
                </a:solidFill>
                <a:latin typeface="Meiryo"/>
              </a:rPr>
              <a:t>③ GAS貼付＋トリガー</a:t>
            </a:r>
          </a:p>
        </p:txBody>
      </p:sp>
      <p:sp>
        <p:nvSpPr>
          <p:cNvPr id="28" name="TextBox 27"/>
          <p:cNvSpPr txBox="1"/>
          <p:nvPr/>
        </p:nvSpPr>
        <p:spPr>
          <a:xfrm>
            <a:off x="4056278" y="5696712"/>
            <a:ext cx="7510881" cy="502920"/>
          </a:xfrm>
          <a:prstGeom prst="rect">
            <a:avLst/>
          </a:prstGeom>
          <a:noFill/>
        </p:spPr>
        <p:txBody>
          <a:bodyPr wrap="square" anchor="ctr">
            <a:spAutoFit/>
          </a:bodyPr>
          <a:lstStyle/>
          <a:p>
            <a:pPr algn="l">
              <a:lnSpc>
                <a:spcPct val="110000"/>
              </a:lnSpc>
            </a:pPr>
            <a:r>
              <a:rPr sz="1300" b="0">
                <a:solidFill>
                  <a:srgbClr val="332A28"/>
                </a:solidFill>
                <a:latin typeface="Meiryo"/>
              </a:rPr>
              <a:t>業者メールを自動収集（要：script.google.comで貼付）</a:t>
            </a:r>
          </a:p>
        </p:txBody>
      </p:sp>
      <p:sp>
        <p:nvSpPr>
          <p:cNvPr id="29" name="TextBox 28"/>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日々の使い方（菊池の動き）</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08</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463040"/>
            <a:ext cx="11247120" cy="411480"/>
          </a:xfrm>
          <a:prstGeom prst="rect">
            <a:avLst/>
          </a:prstGeom>
          <a:noFill/>
        </p:spPr>
        <p:txBody>
          <a:bodyPr wrap="square" anchor="t">
            <a:spAutoFit/>
          </a:bodyPr>
          <a:lstStyle/>
          <a:p>
            <a:pPr algn="l">
              <a:lnSpc>
                <a:spcPct val="110000"/>
              </a:lnSpc>
            </a:pPr>
            <a:r>
              <a:rPr sz="1500" b="1">
                <a:solidFill>
                  <a:srgbClr val="AA2E26"/>
                </a:solidFill>
                <a:latin typeface="Meiryo"/>
              </a:rPr>
              <a:t>◆ 毎朝（30秒）</a:t>
            </a:r>
          </a:p>
        </p:txBody>
      </p:sp>
      <p:sp>
        <p:nvSpPr>
          <p:cNvPr id="8" name="TextBox 7"/>
          <p:cNvSpPr txBox="1"/>
          <p:nvPr/>
        </p:nvSpPr>
        <p:spPr>
          <a:xfrm>
            <a:off x="640080" y="1920240"/>
            <a:ext cx="10972800" cy="822960"/>
          </a:xfrm>
          <a:prstGeom prst="rect">
            <a:avLst/>
          </a:prstGeom>
          <a:noFill/>
        </p:spPr>
        <p:txBody>
          <a:bodyPr wrap="square" anchor="t">
            <a:spAutoFit/>
          </a:bodyPr>
          <a:lstStyle/>
          <a:p>
            <a:pPr algn="l">
              <a:lnSpc>
                <a:spcPct val="130000"/>
              </a:lnSpc>
            </a:pPr>
            <a:r>
              <a:rPr sz="1400" b="0">
                <a:solidFill>
                  <a:srgbClr val="332A28"/>
                </a:solidFill>
                <a:latin typeface="Meiryo"/>
              </a:rPr>
              <a:t>スマホでNotion『🤖自動査定結果DB』を開く → 判定🟢を見る → 気になる物件のデッキ(Drive)を確認。</a:t>
            </a:r>
          </a:p>
          <a:p>
            <a:pPr algn="l">
              <a:lnSpc>
                <a:spcPct val="130000"/>
              </a:lnSpc>
            </a:pPr>
            <a:r>
              <a:rPr sz="1400" b="0">
                <a:solidFill>
                  <a:srgbClr val="332A28"/>
                </a:solidFill>
                <a:latin typeface="Meiryo"/>
              </a:rPr>
              <a:t>Googleタスクに🟢通知が来ていれば、そこからジャンプ。</a:t>
            </a:r>
          </a:p>
        </p:txBody>
      </p:sp>
      <p:sp>
        <p:nvSpPr>
          <p:cNvPr id="9" name="TextBox 8"/>
          <p:cNvSpPr txBox="1"/>
          <p:nvPr/>
        </p:nvSpPr>
        <p:spPr>
          <a:xfrm>
            <a:off x="457200" y="2926080"/>
            <a:ext cx="11247120" cy="411480"/>
          </a:xfrm>
          <a:prstGeom prst="rect">
            <a:avLst/>
          </a:prstGeom>
          <a:noFill/>
        </p:spPr>
        <p:txBody>
          <a:bodyPr wrap="square" anchor="t">
            <a:spAutoFit/>
          </a:bodyPr>
          <a:lstStyle/>
          <a:p>
            <a:pPr algn="l">
              <a:lnSpc>
                <a:spcPct val="110000"/>
              </a:lnSpc>
            </a:pPr>
            <a:r>
              <a:rPr sz="1500" b="1">
                <a:solidFill>
                  <a:srgbClr val="AA2E26"/>
                </a:solidFill>
                <a:latin typeface="Meiryo"/>
              </a:rPr>
              <a:t>◆ 物件が手に来たら</a:t>
            </a:r>
          </a:p>
        </p:txBody>
      </p:sp>
      <p:sp>
        <p:nvSpPr>
          <p:cNvPr id="10" name="TextBox 9"/>
          <p:cNvSpPr txBox="1"/>
          <p:nvPr/>
        </p:nvSpPr>
        <p:spPr>
          <a:xfrm>
            <a:off x="640080" y="3383280"/>
            <a:ext cx="10972800" cy="822960"/>
          </a:xfrm>
          <a:prstGeom prst="rect">
            <a:avLst/>
          </a:prstGeom>
          <a:noFill/>
        </p:spPr>
        <p:txBody>
          <a:bodyPr wrap="square" anchor="t">
            <a:spAutoFit/>
          </a:bodyPr>
          <a:lstStyle/>
          <a:p>
            <a:pPr algn="l">
              <a:lnSpc>
                <a:spcPct val="130000"/>
              </a:lnSpc>
            </a:pPr>
            <a:r>
              <a:rPr sz="1400" b="0">
                <a:solidFill>
                  <a:srgbClr val="332A28"/>
                </a:solidFill>
                <a:latin typeface="Meiryo"/>
              </a:rPr>
              <a:t>・PDF → Drive『_査定受け箱』へ入れる（or 私に渡す）</a:t>
            </a:r>
          </a:p>
          <a:p>
            <a:pPr algn="l">
              <a:lnSpc>
                <a:spcPct val="130000"/>
              </a:lnSpc>
            </a:pPr>
            <a:r>
              <a:rPr sz="1400" b="0">
                <a:solidFill>
                  <a:srgbClr val="332A28"/>
                </a:solidFill>
                <a:latin typeface="Meiryo"/>
              </a:rPr>
              <a:t>・URL/住所 → 私に「査定して」と言う（その場で判定＋デッキ）</a:t>
            </a:r>
          </a:p>
        </p:txBody>
      </p:sp>
      <p:sp>
        <p:nvSpPr>
          <p:cNvPr id="11" name="TextBox 10"/>
          <p:cNvSpPr txBox="1"/>
          <p:nvPr/>
        </p:nvSpPr>
        <p:spPr>
          <a:xfrm>
            <a:off x="457200" y="4434840"/>
            <a:ext cx="11247120" cy="411480"/>
          </a:xfrm>
          <a:prstGeom prst="rect">
            <a:avLst/>
          </a:prstGeom>
          <a:noFill/>
        </p:spPr>
        <p:txBody>
          <a:bodyPr wrap="square" anchor="t">
            <a:spAutoFit/>
          </a:bodyPr>
          <a:lstStyle/>
          <a:p>
            <a:pPr algn="l">
              <a:lnSpc>
                <a:spcPct val="110000"/>
              </a:lnSpc>
            </a:pPr>
            <a:r>
              <a:rPr sz="1500" b="1">
                <a:solidFill>
                  <a:srgbClr val="1F7A1F"/>
                </a:solidFill>
                <a:latin typeface="Meiryo"/>
              </a:rPr>
              <a:t>◆ 良い物件だった時</a:t>
            </a:r>
          </a:p>
        </p:txBody>
      </p:sp>
      <p:sp>
        <p:nvSpPr>
          <p:cNvPr id="12" name="TextBox 11"/>
          <p:cNvSpPr txBox="1"/>
          <p:nvPr/>
        </p:nvSpPr>
        <p:spPr>
          <a:xfrm>
            <a:off x="640080" y="4892040"/>
            <a:ext cx="10972800" cy="914400"/>
          </a:xfrm>
          <a:prstGeom prst="rect">
            <a:avLst/>
          </a:prstGeom>
          <a:noFill/>
        </p:spPr>
        <p:txBody>
          <a:bodyPr wrap="square" anchor="t">
            <a:spAutoFit/>
          </a:bodyPr>
          <a:lstStyle/>
          <a:p>
            <a:pPr algn="l">
              <a:lnSpc>
                <a:spcPct val="130000"/>
              </a:lnSpc>
            </a:pPr>
            <a:r>
              <a:rPr sz="1400" b="0">
                <a:solidFill>
                  <a:srgbClr val="332A28"/>
                </a:solidFill>
                <a:latin typeface="Meiryo"/>
              </a:rPr>
              <a:t>🟢なら融資資料デッキが自動で出来ている → レントロール等を添えて銀行へ持参。</a:t>
            </a:r>
          </a:p>
          <a:p>
            <a:pPr algn="l">
              <a:lnSpc>
                <a:spcPct val="130000"/>
              </a:lnSpc>
            </a:pPr>
            <a:r>
              <a:rPr sz="1400" b="0">
                <a:solidFill>
                  <a:srgbClr val="332A28"/>
                </a:solidFill>
                <a:latin typeface="Meiryo"/>
              </a:rPr>
              <a:t>『最後まで全自動』＝判定で終わらず、銀行に出せる資料まで勝手に進む。</a:t>
            </a:r>
          </a:p>
        </p:txBody>
      </p:sp>
      <p:sp>
        <p:nvSpPr>
          <p:cNvPr id="13" name="TextBox 12"/>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73152"/>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468880"/>
            <a:ext cx="10515600" cy="1188720"/>
          </a:xfrm>
          <a:prstGeom prst="rect">
            <a:avLst/>
          </a:prstGeom>
          <a:noFill/>
        </p:spPr>
        <p:txBody>
          <a:bodyPr wrap="square" anchor="t">
            <a:spAutoFit/>
          </a:bodyPr>
          <a:lstStyle/>
          <a:p>
            <a:pPr algn="l">
              <a:lnSpc>
                <a:spcPct val="130000"/>
              </a:lnSpc>
            </a:pPr>
            <a:r>
              <a:rPr sz="2200" b="0">
                <a:solidFill>
                  <a:srgbClr val="332A28"/>
                </a:solidFill>
                <a:latin typeface="Meiryo"/>
              </a:rPr>
              <a:t>物件を渡すだけ。良い物件は、銀行資料まで勝手に出来る。</a:t>
            </a:r>
          </a:p>
          <a:p>
            <a:pPr algn="l">
              <a:lnSpc>
                <a:spcPct val="130000"/>
              </a:lnSpc>
            </a:pPr>
            <a:r>
              <a:rPr sz="2200" b="0">
                <a:solidFill>
                  <a:srgbClr val="332A28"/>
                </a:solidFill>
                <a:latin typeface="Meiryo"/>
              </a:rPr>
              <a:t>あとは『出す』だけ。</a:t>
            </a:r>
          </a:p>
        </p:txBody>
      </p:sp>
      <p:sp>
        <p:nvSpPr>
          <p:cNvPr id="5" name="TextBox 4"/>
          <p:cNvSpPr txBox="1"/>
          <p:nvPr/>
        </p:nvSpPr>
        <p:spPr>
          <a:xfrm>
            <a:off x="868680" y="4937760"/>
            <a:ext cx="10515600" cy="640080"/>
          </a:xfrm>
          <a:prstGeom prst="rect">
            <a:avLst/>
          </a:prstGeom>
          <a:noFill/>
        </p:spPr>
        <p:txBody>
          <a:bodyPr wrap="square" anchor="t">
            <a:spAutoFit/>
          </a:bodyPr>
          <a:lstStyle/>
          <a:p>
            <a:pPr algn="l">
              <a:lnSpc>
                <a:spcPct val="110000"/>
              </a:lnSpc>
            </a:pPr>
            <a:r>
              <a:rPr sz="1400" b="0">
                <a:solidFill>
                  <a:srgbClr val="77706E"/>
                </a:solidFill>
                <a:latin typeface="Meiryo"/>
              </a:rPr>
              <a:t>KHD AI査定エンジン ／ バイセル構想をTTP→自社で完成・無人化</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
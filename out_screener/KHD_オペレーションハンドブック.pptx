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058400" cy="457200"/>
          </a:xfrm>
          <a:prstGeom prst="rect">
            <a:avLst/>
          </a:prstGeom>
          <a:noFill/>
        </p:spPr>
        <p:txBody>
          <a:bodyPr wrap="square" anchor="t">
            <a:spAutoFit/>
          </a:bodyPr>
          <a:lstStyle/>
          <a:p>
            <a:pPr algn="l">
              <a:lnSpc>
                <a:spcPct val="110000"/>
              </a:lnSpc>
            </a:pPr>
            <a:r>
              <a:rPr sz="1400" b="0">
                <a:solidFill>
                  <a:srgbClr val="77706E"/>
                </a:solidFill>
                <a:latin typeface="Meiryo"/>
              </a:rPr>
              <a:t>全社オペレーション・ハンドブック</a:t>
            </a:r>
          </a:p>
        </p:txBody>
      </p:sp>
      <p:sp>
        <p:nvSpPr>
          <p:cNvPr id="5" name="TextBox 4"/>
          <p:cNvSpPr txBox="1"/>
          <p:nvPr/>
        </p:nvSpPr>
        <p:spPr>
          <a:xfrm>
            <a:off x="822960" y="2468880"/>
            <a:ext cx="10789920" cy="1005840"/>
          </a:xfrm>
          <a:prstGeom prst="rect">
            <a:avLst/>
          </a:prstGeom>
          <a:noFill/>
        </p:spPr>
        <p:txBody>
          <a:bodyPr wrap="square" anchor="t">
            <a:spAutoFit/>
          </a:bodyPr>
          <a:lstStyle/>
          <a:p>
            <a:pPr algn="l">
              <a:lnSpc>
                <a:spcPct val="110000"/>
              </a:lnSpc>
            </a:pPr>
            <a:r>
              <a:rPr sz="4400" b="1">
                <a:solidFill>
                  <a:srgbClr val="AA2E26"/>
                </a:solidFill>
                <a:latin typeface="Meiryo"/>
              </a:rPr>
              <a:t>🏢 KHD の動かし方</a:t>
            </a:r>
          </a:p>
        </p:txBody>
      </p:sp>
      <p:sp>
        <p:nvSpPr>
          <p:cNvPr id="6" name="TextBox 5"/>
          <p:cNvSpPr txBox="1"/>
          <p:nvPr/>
        </p:nvSpPr>
        <p:spPr>
          <a:xfrm>
            <a:off x="868680" y="3520440"/>
            <a:ext cx="10789920" cy="640080"/>
          </a:xfrm>
          <a:prstGeom prst="rect">
            <a:avLst/>
          </a:prstGeom>
          <a:noFill/>
        </p:spPr>
        <p:txBody>
          <a:bodyPr wrap="square" anchor="t">
            <a:spAutoFit/>
          </a:bodyPr>
          <a:lstStyle/>
          <a:p>
            <a:pPr algn="l">
              <a:lnSpc>
                <a:spcPct val="110000"/>
              </a:lnSpc>
            </a:pPr>
            <a:r>
              <a:rPr sz="1900" b="0">
                <a:solidFill>
                  <a:srgbClr val="332A28"/>
                </a:solidFill>
                <a:latin typeface="Meiryo"/>
              </a:rPr>
              <a:t>はじめての人のための 全社ルーティン・ルール・ツール</a:t>
            </a:r>
          </a:p>
        </p:txBody>
      </p:sp>
      <p:sp>
        <p:nvSpPr>
          <p:cNvPr id="7" name="TextBox 6"/>
          <p:cNvSpPr txBox="1"/>
          <p:nvPr/>
        </p:nvSpPr>
        <p:spPr>
          <a:xfrm>
            <a:off x="868680" y="5669280"/>
            <a:ext cx="10789920" cy="548640"/>
          </a:xfrm>
          <a:prstGeom prst="rect">
            <a:avLst/>
          </a:prstGeom>
          <a:noFill/>
        </p:spPr>
        <p:txBody>
          <a:bodyPr wrap="square" anchor="t">
            <a:spAutoFit/>
          </a:bodyPr>
          <a:lstStyle/>
          <a:p>
            <a:pPr algn="l">
              <a:lnSpc>
                <a:spcPct val="110000"/>
              </a:lnSpc>
            </a:pPr>
            <a:r>
              <a:rPr sz="1300" b="0">
                <a:solidFill>
                  <a:srgbClr val="77706E"/>
                </a:solidFill>
                <a:latin typeface="Meiryo"/>
              </a:rPr>
              <a:t>菊池ホールディングス（KHD）／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このハンドブックの使い方</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00</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11247120" cy="1280160"/>
          </a:xfrm>
          <a:prstGeom prst="rect">
            <a:avLst/>
          </a:prstGeom>
          <a:noFill/>
        </p:spPr>
        <p:txBody>
          <a:bodyPr wrap="square" anchor="t">
            <a:spAutoFit/>
          </a:bodyPr>
          <a:lstStyle/>
          <a:p>
            <a:pPr algn="l">
              <a:lnSpc>
                <a:spcPct val="130000"/>
              </a:lnSpc>
            </a:pPr>
            <a:r>
              <a:rPr sz="1500" b="0">
                <a:solidFill>
                  <a:srgbClr val="332A28"/>
                </a:solidFill>
                <a:latin typeface="Meiryo"/>
              </a:rPr>
              <a:t>■ これは KHD（菊池ホールディングス）の“動かし方”を1冊にまとめた地図です。</a:t>
            </a:r>
          </a:p>
          <a:p>
            <a:pPr algn="l">
              <a:lnSpc>
                <a:spcPct val="130000"/>
              </a:lnSpc>
            </a:pPr>
            <a:r>
              <a:rPr sz="1500" b="0">
                <a:solidFill>
                  <a:srgbClr val="332A28"/>
                </a:solidFill>
                <a:latin typeface="Meiryo"/>
              </a:rPr>
              <a:t>　 新しく関わる人のオンボード／毎朝・週次・月次の報告会／家族会議で、全員が同じ前提で話すために使います。</a:t>
            </a:r>
          </a:p>
        </p:txBody>
      </p:sp>
      <p:sp>
        <p:nvSpPr>
          <p:cNvPr id="8" name="TextBox 7"/>
          <p:cNvSpPr txBox="1"/>
          <p:nvPr/>
        </p:nvSpPr>
        <p:spPr>
          <a:xfrm>
            <a:off x="457200" y="2834640"/>
            <a:ext cx="11247120" cy="411480"/>
          </a:xfrm>
          <a:prstGeom prst="rect">
            <a:avLst/>
          </a:prstGeom>
          <a:noFill/>
        </p:spPr>
        <p:txBody>
          <a:bodyPr wrap="square" anchor="t">
            <a:spAutoFit/>
          </a:bodyPr>
          <a:lstStyle/>
          <a:p>
            <a:pPr algn="l">
              <a:lnSpc>
                <a:spcPct val="110000"/>
              </a:lnSpc>
            </a:pPr>
            <a:r>
              <a:rPr sz="1500" b="1">
                <a:solidFill>
                  <a:srgbClr val="AA2E26"/>
                </a:solidFill>
                <a:latin typeface="Meiryo"/>
              </a:rPr>
              <a:t>■ 困ったときの開き方</a:t>
            </a:r>
          </a:p>
        </p:txBody>
      </p:sp>
      <p:sp>
        <p:nvSpPr>
          <p:cNvPr id="9" name="Rectangle 8"/>
          <p:cNvSpPr/>
          <p:nvPr/>
        </p:nvSpPr>
        <p:spPr>
          <a:xfrm>
            <a:off x="457200" y="3291840"/>
            <a:ext cx="1124712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319272"/>
            <a:ext cx="3191256" cy="640080"/>
          </a:xfrm>
          <a:prstGeom prst="rect">
            <a:avLst/>
          </a:prstGeom>
          <a:noFill/>
        </p:spPr>
        <p:txBody>
          <a:bodyPr wrap="square" anchor="ctr">
            <a:spAutoFit/>
          </a:bodyPr>
          <a:lstStyle/>
          <a:p>
            <a:pPr algn="l">
              <a:lnSpc>
                <a:spcPct val="110000"/>
              </a:lnSpc>
            </a:pPr>
            <a:r>
              <a:rPr sz="1400" b="1">
                <a:solidFill>
                  <a:srgbClr val="AA2E26"/>
                </a:solidFill>
                <a:latin typeface="Meiryo"/>
              </a:rPr>
              <a:t>どこに何がある？</a:t>
            </a:r>
          </a:p>
        </p:txBody>
      </p:sp>
      <p:sp>
        <p:nvSpPr>
          <p:cNvPr id="11" name="TextBox 10"/>
          <p:cNvSpPr txBox="1"/>
          <p:nvPr/>
        </p:nvSpPr>
        <p:spPr>
          <a:xfrm>
            <a:off x="3831335" y="3319272"/>
            <a:ext cx="7735823" cy="640080"/>
          </a:xfrm>
          <a:prstGeom prst="rect">
            <a:avLst/>
          </a:prstGeom>
          <a:noFill/>
        </p:spPr>
        <p:txBody>
          <a:bodyPr wrap="square" anchor="ctr">
            <a:spAutoFit/>
          </a:bodyPr>
          <a:lstStyle/>
          <a:p>
            <a:pPr algn="l">
              <a:lnSpc>
                <a:spcPct val="110000"/>
              </a:lnSpc>
            </a:pPr>
            <a:r>
              <a:rPr sz="1400" b="0">
                <a:solidFill>
                  <a:srgbClr val="332A28"/>
                </a:solidFill>
                <a:latin typeface="Meiryo"/>
              </a:rPr>
              <a:t>→ 第3章「情報の地図」・第4章「ツール一覧」</a:t>
            </a:r>
          </a:p>
        </p:txBody>
      </p:sp>
      <p:sp>
        <p:nvSpPr>
          <p:cNvPr id="12" name="Rectangle 11"/>
          <p:cNvSpPr/>
          <p:nvPr/>
        </p:nvSpPr>
        <p:spPr>
          <a:xfrm>
            <a:off x="457200" y="3931920"/>
            <a:ext cx="11247120" cy="64008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959352"/>
            <a:ext cx="3191256" cy="640080"/>
          </a:xfrm>
          <a:prstGeom prst="rect">
            <a:avLst/>
          </a:prstGeom>
          <a:noFill/>
        </p:spPr>
        <p:txBody>
          <a:bodyPr wrap="square" anchor="ctr">
            <a:spAutoFit/>
          </a:bodyPr>
          <a:lstStyle/>
          <a:p>
            <a:pPr algn="l">
              <a:lnSpc>
                <a:spcPct val="110000"/>
              </a:lnSpc>
            </a:pPr>
            <a:r>
              <a:rPr sz="1400" b="1">
                <a:solidFill>
                  <a:srgbClr val="AA2E26"/>
                </a:solidFill>
                <a:latin typeface="Meiryo"/>
              </a:rPr>
              <a:t>日々どう動く？</a:t>
            </a:r>
          </a:p>
        </p:txBody>
      </p:sp>
      <p:sp>
        <p:nvSpPr>
          <p:cNvPr id="14" name="TextBox 13"/>
          <p:cNvSpPr txBox="1"/>
          <p:nvPr/>
        </p:nvSpPr>
        <p:spPr>
          <a:xfrm>
            <a:off x="3831335" y="3959352"/>
            <a:ext cx="7735823" cy="640080"/>
          </a:xfrm>
          <a:prstGeom prst="rect">
            <a:avLst/>
          </a:prstGeom>
          <a:noFill/>
        </p:spPr>
        <p:txBody>
          <a:bodyPr wrap="square" anchor="ctr">
            <a:spAutoFit/>
          </a:bodyPr>
          <a:lstStyle/>
          <a:p>
            <a:pPr algn="l">
              <a:lnSpc>
                <a:spcPct val="110000"/>
              </a:lnSpc>
            </a:pPr>
            <a:r>
              <a:rPr sz="1400" b="0">
                <a:solidFill>
                  <a:srgbClr val="332A28"/>
                </a:solidFill>
                <a:latin typeface="Meiryo"/>
              </a:rPr>
              <a:t>→ 第6章「ルーティン」（朝・週・月・家族会議）</a:t>
            </a:r>
          </a:p>
        </p:txBody>
      </p:sp>
      <p:sp>
        <p:nvSpPr>
          <p:cNvPr id="15" name="Rectangle 14"/>
          <p:cNvSpPr/>
          <p:nvPr/>
        </p:nvSpPr>
        <p:spPr>
          <a:xfrm>
            <a:off x="457200" y="4572000"/>
            <a:ext cx="1124712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599432"/>
            <a:ext cx="3191256" cy="640080"/>
          </a:xfrm>
          <a:prstGeom prst="rect">
            <a:avLst/>
          </a:prstGeom>
          <a:noFill/>
        </p:spPr>
        <p:txBody>
          <a:bodyPr wrap="square" anchor="ctr">
            <a:spAutoFit/>
          </a:bodyPr>
          <a:lstStyle/>
          <a:p>
            <a:pPr algn="l">
              <a:lnSpc>
                <a:spcPct val="110000"/>
              </a:lnSpc>
            </a:pPr>
            <a:r>
              <a:rPr sz="1400" b="1">
                <a:solidFill>
                  <a:srgbClr val="AA2E26"/>
                </a:solidFill>
                <a:latin typeface="Meiryo"/>
              </a:rPr>
              <a:t>判断に迷ったら？</a:t>
            </a:r>
          </a:p>
        </p:txBody>
      </p:sp>
      <p:sp>
        <p:nvSpPr>
          <p:cNvPr id="17" name="TextBox 16"/>
          <p:cNvSpPr txBox="1"/>
          <p:nvPr/>
        </p:nvSpPr>
        <p:spPr>
          <a:xfrm>
            <a:off x="3831335" y="4599432"/>
            <a:ext cx="7735823" cy="640080"/>
          </a:xfrm>
          <a:prstGeom prst="rect">
            <a:avLst/>
          </a:prstGeom>
          <a:noFill/>
        </p:spPr>
        <p:txBody>
          <a:bodyPr wrap="square" anchor="ctr">
            <a:spAutoFit/>
          </a:bodyPr>
          <a:lstStyle/>
          <a:p>
            <a:pPr algn="l">
              <a:lnSpc>
                <a:spcPct val="110000"/>
              </a:lnSpc>
            </a:pPr>
            <a:r>
              <a:rPr sz="1400" b="0">
                <a:solidFill>
                  <a:srgbClr val="332A28"/>
                </a:solidFill>
                <a:latin typeface="Meiryo"/>
              </a:rPr>
              <a:t>→ 第7章「全社ルール」＋ 中核信条</a:t>
            </a:r>
          </a:p>
        </p:txBody>
      </p:sp>
      <p:sp>
        <p:nvSpPr>
          <p:cNvPr id="18" name="TextBox 17"/>
          <p:cNvSpPr txBox="1"/>
          <p:nvPr/>
        </p:nvSpPr>
        <p:spPr>
          <a:xfrm>
            <a:off x="457200" y="5760720"/>
            <a:ext cx="11247120" cy="548640"/>
          </a:xfrm>
          <a:prstGeom prst="rect">
            <a:avLst/>
          </a:prstGeom>
          <a:noFill/>
        </p:spPr>
        <p:txBody>
          <a:bodyPr wrap="square" anchor="t">
            <a:spAutoFit/>
          </a:bodyPr>
          <a:lstStyle/>
          <a:p>
            <a:pPr algn="l">
              <a:lnSpc>
                <a:spcPct val="110000"/>
              </a:lnSpc>
            </a:pPr>
            <a:r>
              <a:rPr sz="1400" b="1">
                <a:solidFill>
                  <a:srgbClr val="AA2E26"/>
                </a:solidFill>
                <a:latin typeface="Meiryo"/>
              </a:rPr>
              <a:t>★ 最重要マインド：売り込まない。相手目線でGIVEし信頼を築き、その“信頼の対価”として収益を得る。</a:t>
            </a:r>
          </a:p>
        </p:txBody>
      </p:sp>
      <p:sp>
        <p:nvSpPr>
          <p:cNvPr id="19" name="TextBox 18"/>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KHDとは</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90472"/>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代表</a:t>
            </a:r>
          </a:p>
        </p:txBody>
      </p:sp>
      <p:sp>
        <p:nvSpPr>
          <p:cNvPr id="9" name="TextBox 8"/>
          <p:cNvSpPr txBox="1"/>
          <p:nvPr/>
        </p:nvSpPr>
        <p:spPr>
          <a:xfrm>
            <a:off x="3381451" y="1490472"/>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菊池 研太（kikuchi-hd.net）</a:t>
            </a:r>
          </a:p>
        </p:txBody>
      </p:sp>
      <p:sp>
        <p:nvSpPr>
          <p:cNvPr id="10" name="Rectangle 9"/>
          <p:cNvSpPr/>
          <p:nvPr/>
        </p:nvSpPr>
        <p:spPr>
          <a:xfrm>
            <a:off x="457200" y="2121408"/>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48840"/>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本業</a:t>
            </a:r>
          </a:p>
        </p:txBody>
      </p:sp>
      <p:sp>
        <p:nvSpPr>
          <p:cNvPr id="12" name="TextBox 11"/>
          <p:cNvSpPr txBox="1"/>
          <p:nvPr/>
        </p:nvSpPr>
        <p:spPr>
          <a:xfrm>
            <a:off x="3381451" y="2148840"/>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KHDの事業群が唯一の収入源（安定給与ゼロ前提で資金繰り最優先）</a:t>
            </a:r>
          </a:p>
        </p:txBody>
      </p:sp>
      <p:sp>
        <p:nvSpPr>
          <p:cNvPr id="13" name="Rectangle 12"/>
          <p:cNvSpPr/>
          <p:nvPr/>
        </p:nvSpPr>
        <p:spPr>
          <a:xfrm>
            <a:off x="457200" y="2779776"/>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07208"/>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事業① 不動産</a:t>
            </a:r>
          </a:p>
        </p:txBody>
      </p:sp>
      <p:sp>
        <p:nvSpPr>
          <p:cNvPr id="15" name="TextBox 14"/>
          <p:cNvSpPr txBox="1"/>
          <p:nvPr/>
        </p:nvSpPr>
        <p:spPr>
          <a:xfrm>
            <a:off x="3381451" y="2807208"/>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物件調達＝1人デベロッパー（仕入→加工→売却の再販／一部は賃貸保有）</a:t>
            </a:r>
          </a:p>
        </p:txBody>
      </p:sp>
      <p:sp>
        <p:nvSpPr>
          <p:cNvPr id="16" name="Rectangle 15"/>
          <p:cNvSpPr/>
          <p:nvPr/>
        </p:nvSpPr>
        <p:spPr>
          <a:xfrm>
            <a:off x="457200" y="3438144"/>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65575"/>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事業② 医療コンサル</a:t>
            </a:r>
          </a:p>
        </p:txBody>
      </p:sp>
      <p:sp>
        <p:nvSpPr>
          <p:cNvPr id="18" name="TextBox 17"/>
          <p:cNvSpPr txBox="1"/>
          <p:nvPr/>
        </p:nvSpPr>
        <p:spPr>
          <a:xfrm>
            <a:off x="3381451" y="3465575"/>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クリニック承継・診療圏調査（テナントアシスト）</a:t>
            </a:r>
          </a:p>
        </p:txBody>
      </p:sp>
      <p:sp>
        <p:nvSpPr>
          <p:cNvPr id="19" name="Rectangle 18"/>
          <p:cNvSpPr/>
          <p:nvPr/>
        </p:nvSpPr>
        <p:spPr>
          <a:xfrm>
            <a:off x="457200" y="4096511"/>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123944"/>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事業③ EC</a:t>
            </a:r>
          </a:p>
        </p:txBody>
      </p:sp>
      <p:sp>
        <p:nvSpPr>
          <p:cNvPr id="21" name="TextBox 20"/>
          <p:cNvSpPr txBox="1"/>
          <p:nvPr/>
        </p:nvSpPr>
        <p:spPr>
          <a:xfrm>
            <a:off x="3381451" y="4123944"/>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韓国輸出（クーパン等）</a:t>
            </a:r>
          </a:p>
        </p:txBody>
      </p:sp>
      <p:sp>
        <p:nvSpPr>
          <p:cNvPr id="22" name="Rectangle 21"/>
          <p:cNvSpPr/>
          <p:nvPr/>
        </p:nvSpPr>
        <p:spPr>
          <a:xfrm>
            <a:off x="457200" y="4754879"/>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782312"/>
            <a:ext cx="2741371" cy="658368"/>
          </a:xfrm>
          <a:prstGeom prst="rect">
            <a:avLst/>
          </a:prstGeom>
          <a:noFill/>
        </p:spPr>
        <p:txBody>
          <a:bodyPr wrap="square" anchor="ctr">
            <a:spAutoFit/>
          </a:bodyPr>
          <a:lstStyle/>
          <a:p>
            <a:pPr algn="l">
              <a:lnSpc>
                <a:spcPct val="110000"/>
              </a:lnSpc>
            </a:pPr>
            <a:r>
              <a:rPr sz="1400" b="1">
                <a:solidFill>
                  <a:srgbClr val="AA2E26"/>
                </a:solidFill>
                <a:latin typeface="Meiryo"/>
              </a:rPr>
              <a:t>事業④ 調査士</a:t>
            </a:r>
          </a:p>
        </p:txBody>
      </p:sp>
      <p:sp>
        <p:nvSpPr>
          <p:cNvPr id="24" name="TextBox 23"/>
          <p:cNvSpPr txBox="1"/>
          <p:nvPr/>
        </p:nvSpPr>
        <p:spPr>
          <a:xfrm>
            <a:off x="3381451" y="4782312"/>
            <a:ext cx="8185708" cy="658368"/>
          </a:xfrm>
          <a:prstGeom prst="rect">
            <a:avLst/>
          </a:prstGeom>
          <a:noFill/>
        </p:spPr>
        <p:txBody>
          <a:bodyPr wrap="square" anchor="ctr">
            <a:spAutoFit/>
          </a:bodyPr>
          <a:lstStyle/>
          <a:p>
            <a:pPr algn="l">
              <a:lnSpc>
                <a:spcPct val="110000"/>
              </a:lnSpc>
            </a:pPr>
            <a:r>
              <a:rPr sz="1400" b="0">
                <a:solidFill>
                  <a:srgbClr val="332A28"/>
                </a:solidFill>
                <a:latin typeface="Meiryo"/>
              </a:rPr>
              <a:t>土地家屋調査士 2027合格目標 → コンサル単価UP</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組織 ― 6本部＋秘書室</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00 ファミリー</a:t>
            </a:r>
          </a:p>
        </p:txBody>
      </p:sp>
      <p:sp>
        <p:nvSpPr>
          <p:cNvPr id="9" name="TextBox 8"/>
          <p:cNvSpPr txBox="1"/>
          <p:nvPr/>
        </p:nvSpPr>
        <p:spPr>
          <a:xfrm>
            <a:off x="3381451" y="1444752"/>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麻梨奈 ｜ プライベート・家族（稼ぐ“目的”そのもの・死守）</a:t>
            </a:r>
          </a:p>
        </p:txBody>
      </p:sp>
      <p:sp>
        <p:nvSpPr>
          <p:cNvPr id="10" name="Rectangle 9"/>
          <p:cNvSpPr/>
          <p:nvPr/>
        </p:nvSpPr>
        <p:spPr>
          <a:xfrm>
            <a:off x="457200" y="1984248"/>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1679"/>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01 経営管理</a:t>
            </a:r>
          </a:p>
        </p:txBody>
      </p:sp>
      <p:sp>
        <p:nvSpPr>
          <p:cNvPr id="12" name="TextBox 11"/>
          <p:cNvSpPr txBox="1"/>
          <p:nvPr/>
        </p:nvSpPr>
        <p:spPr>
          <a:xfrm>
            <a:off x="3381451" y="2011679"/>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菊池 ｜ 資金繰り可視化・低利益事業の損切り判断</a:t>
            </a:r>
          </a:p>
        </p:txBody>
      </p:sp>
      <p:sp>
        <p:nvSpPr>
          <p:cNvPr id="13" name="Rectangle 12"/>
          <p:cNvSpPr/>
          <p:nvPr/>
        </p:nvSpPr>
        <p:spPr>
          <a:xfrm>
            <a:off x="457200" y="2551176"/>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78608"/>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02 資金調達</a:t>
            </a:r>
          </a:p>
        </p:txBody>
      </p:sp>
      <p:sp>
        <p:nvSpPr>
          <p:cNvPr id="15" name="TextBox 14"/>
          <p:cNvSpPr txBox="1"/>
          <p:nvPr/>
        </p:nvSpPr>
        <p:spPr>
          <a:xfrm>
            <a:off x="3381451" y="2578608"/>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橋本 ｜ 融資枠の最大化（AI本部長＝ユマネコ脳）</a:t>
            </a:r>
          </a:p>
        </p:txBody>
      </p:sp>
      <p:sp>
        <p:nvSpPr>
          <p:cNvPr id="16" name="Rectangle 15"/>
          <p:cNvSpPr/>
          <p:nvPr/>
        </p:nvSpPr>
        <p:spPr>
          <a:xfrm>
            <a:off x="457200" y="3118104"/>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45536"/>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03 事業運営</a:t>
            </a:r>
          </a:p>
        </p:txBody>
      </p:sp>
      <p:sp>
        <p:nvSpPr>
          <p:cNvPr id="18" name="TextBox 17"/>
          <p:cNvSpPr txBox="1"/>
          <p:nvPr/>
        </p:nvSpPr>
        <p:spPr>
          <a:xfrm>
            <a:off x="3381451" y="3145536"/>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江藤 ｜ EC・各事業の選択と集中</a:t>
            </a:r>
          </a:p>
        </p:txBody>
      </p:sp>
      <p:sp>
        <p:nvSpPr>
          <p:cNvPr id="19" name="Rectangle 18"/>
          <p:cNvSpPr/>
          <p:nvPr/>
        </p:nvSpPr>
        <p:spPr>
          <a:xfrm>
            <a:off x="457200" y="3685032"/>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12464"/>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04 コンサル/調査士</a:t>
            </a:r>
          </a:p>
        </p:txBody>
      </p:sp>
      <p:sp>
        <p:nvSpPr>
          <p:cNvPr id="21" name="TextBox 20"/>
          <p:cNvSpPr txBox="1"/>
          <p:nvPr/>
        </p:nvSpPr>
        <p:spPr>
          <a:xfrm>
            <a:off x="3381451" y="3712464"/>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福井 ｜ 医療テナント・承継（AI本部長＝李牧）</a:t>
            </a:r>
          </a:p>
        </p:txBody>
      </p:sp>
      <p:sp>
        <p:nvSpPr>
          <p:cNvPr id="22" name="Rectangle 21"/>
          <p:cNvSpPr/>
          <p:nvPr/>
        </p:nvSpPr>
        <p:spPr>
          <a:xfrm>
            <a:off x="457200" y="4251960"/>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79392"/>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05 物件調達</a:t>
            </a:r>
          </a:p>
        </p:txBody>
      </p:sp>
      <p:sp>
        <p:nvSpPr>
          <p:cNvPr id="24" name="TextBox 23"/>
          <p:cNvSpPr txBox="1"/>
          <p:nvPr/>
        </p:nvSpPr>
        <p:spPr>
          <a:xfrm>
            <a:off x="3381451" y="4279392"/>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川股 ｜ 仕入れ〜最速現金化</a:t>
            </a:r>
          </a:p>
        </p:txBody>
      </p:sp>
      <p:sp>
        <p:nvSpPr>
          <p:cNvPr id="25" name="Rectangle 24"/>
          <p:cNvSpPr/>
          <p:nvPr/>
        </p:nvSpPr>
        <p:spPr>
          <a:xfrm>
            <a:off x="457200" y="4818888"/>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846320"/>
            <a:ext cx="2741371" cy="566928"/>
          </a:xfrm>
          <a:prstGeom prst="rect">
            <a:avLst/>
          </a:prstGeom>
          <a:noFill/>
        </p:spPr>
        <p:txBody>
          <a:bodyPr wrap="square" anchor="ctr">
            <a:spAutoFit/>
          </a:bodyPr>
          <a:lstStyle/>
          <a:p>
            <a:pPr algn="l">
              <a:lnSpc>
                <a:spcPct val="110000"/>
              </a:lnSpc>
            </a:pPr>
            <a:r>
              <a:rPr sz="1300" b="1">
                <a:solidFill>
                  <a:srgbClr val="AA2E26"/>
                </a:solidFill>
                <a:latin typeface="Meiryo"/>
              </a:rPr>
              <a:t>秘書室</a:t>
            </a:r>
          </a:p>
        </p:txBody>
      </p:sp>
      <p:sp>
        <p:nvSpPr>
          <p:cNvPr id="27" name="TextBox 26"/>
          <p:cNvSpPr txBox="1"/>
          <p:nvPr/>
        </p:nvSpPr>
        <p:spPr>
          <a:xfrm>
            <a:off x="3381451" y="4846320"/>
            <a:ext cx="8185708" cy="566928"/>
          </a:xfrm>
          <a:prstGeom prst="rect">
            <a:avLst/>
          </a:prstGeom>
          <a:noFill/>
        </p:spPr>
        <p:txBody>
          <a:bodyPr wrap="square" anchor="ctr">
            <a:spAutoFit/>
          </a:bodyPr>
          <a:lstStyle/>
          <a:p>
            <a:pPr algn="l">
              <a:lnSpc>
                <a:spcPct val="110000"/>
              </a:lnSpc>
            </a:pPr>
            <a:r>
              <a:rPr sz="1300" b="0">
                <a:solidFill>
                  <a:srgbClr val="332A28"/>
                </a:solidFill>
                <a:latin typeface="Meiryo"/>
              </a:rPr>
              <a:t>Claude ｜ 窓口・タスク・記録・内務へのブレーキ</a:t>
            </a:r>
          </a:p>
        </p:txBody>
      </p:sp>
      <p:sp>
        <p:nvSpPr>
          <p:cNvPr id="28" name="TextBox 27"/>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情報の地図 ― どこに何があるか</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457200"/>
          </a:xfrm>
          <a:prstGeom prst="rect">
            <a:avLst/>
          </a:prstGeom>
          <a:noFill/>
        </p:spPr>
        <p:txBody>
          <a:bodyPr wrap="square" anchor="t">
            <a:spAutoFit/>
          </a:bodyPr>
          <a:lstStyle/>
          <a:p>
            <a:pPr algn="l">
              <a:lnSpc>
                <a:spcPct val="110000"/>
              </a:lnSpc>
            </a:pPr>
            <a:r>
              <a:rPr sz="1400" b="1">
                <a:solidFill>
                  <a:srgbClr val="AA2E26"/>
                </a:solidFill>
                <a:latin typeface="Meiryo"/>
              </a:rPr>
              <a:t>最上位原則：『Notionで検索すれば、すべての情報に辿り着ける』状態を全員で保つ。</a:t>
            </a:r>
          </a:p>
        </p:txBody>
      </p:sp>
      <p:sp>
        <p:nvSpPr>
          <p:cNvPr id="8" name="Rectangle 7"/>
          <p:cNvSpPr/>
          <p:nvPr/>
        </p:nvSpPr>
        <p:spPr>
          <a:xfrm>
            <a:off x="457200" y="1920240"/>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947672"/>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Notion「COMPANY KHDまとめ」</a:t>
            </a:r>
          </a:p>
        </p:txBody>
      </p:sp>
      <p:sp>
        <p:nvSpPr>
          <p:cNvPr id="10" name="TextBox 9"/>
          <p:cNvSpPr txBox="1"/>
          <p:nvPr/>
        </p:nvSpPr>
        <p:spPr>
          <a:xfrm>
            <a:off x="4506163" y="1947672"/>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会社情報・ルール・ID・履歴の最終参照源（SSoT）</a:t>
            </a:r>
          </a:p>
        </p:txBody>
      </p:sp>
      <p:sp>
        <p:nvSpPr>
          <p:cNvPr id="11" name="Rectangle 10"/>
          <p:cNvSpPr/>
          <p:nvPr/>
        </p:nvSpPr>
        <p:spPr>
          <a:xfrm>
            <a:off x="457200" y="2514600"/>
            <a:ext cx="11247120" cy="59436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42032"/>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Notion 作業ログDB</a:t>
            </a:r>
          </a:p>
        </p:txBody>
      </p:sp>
      <p:sp>
        <p:nvSpPr>
          <p:cNvPr id="13" name="TextBox 12"/>
          <p:cNvSpPr txBox="1"/>
          <p:nvPr/>
        </p:nvSpPr>
        <p:spPr>
          <a:xfrm>
            <a:off x="4506163" y="2542032"/>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全作業の記録（khd-logで自動追記）</a:t>
            </a:r>
          </a:p>
        </p:txBody>
      </p:sp>
      <p:sp>
        <p:nvSpPr>
          <p:cNvPr id="14" name="Rectangle 13"/>
          <p:cNvSpPr/>
          <p:nvPr/>
        </p:nvSpPr>
        <p:spPr>
          <a:xfrm>
            <a:off x="457200" y="3108960"/>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136391"/>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Google Drive</a:t>
            </a:r>
          </a:p>
        </p:txBody>
      </p:sp>
      <p:sp>
        <p:nvSpPr>
          <p:cNvPr id="16" name="TextBox 15"/>
          <p:cNvSpPr txBox="1"/>
          <p:nvPr/>
        </p:nvSpPr>
        <p:spPr>
          <a:xfrm>
            <a:off x="4506163" y="3136391"/>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成果物ファイル本体（Googleネイティブ＋リンクで残す）</a:t>
            </a:r>
          </a:p>
        </p:txBody>
      </p:sp>
      <p:sp>
        <p:nvSpPr>
          <p:cNvPr id="17" name="Rectangle 16"/>
          <p:cNvSpPr/>
          <p:nvPr/>
        </p:nvSpPr>
        <p:spPr>
          <a:xfrm>
            <a:off x="457200" y="3703320"/>
            <a:ext cx="11247120" cy="59436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730752"/>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物件管理マスターDB（Sheets）</a:t>
            </a:r>
          </a:p>
        </p:txBody>
      </p:sp>
      <p:sp>
        <p:nvSpPr>
          <p:cNvPr id="19" name="TextBox 18"/>
          <p:cNvSpPr txBox="1"/>
          <p:nvPr/>
        </p:nvSpPr>
        <p:spPr>
          <a:xfrm>
            <a:off x="4506163" y="3730752"/>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全案件・KPI・AI査定結果の台帳</a:t>
            </a:r>
          </a:p>
        </p:txBody>
      </p:sp>
      <p:sp>
        <p:nvSpPr>
          <p:cNvPr id="20" name="Rectangle 19"/>
          <p:cNvSpPr/>
          <p:nvPr/>
        </p:nvSpPr>
        <p:spPr>
          <a:xfrm>
            <a:off x="457200" y="4297680"/>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325112"/>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予実DB「時間×金×家族」</a:t>
            </a:r>
          </a:p>
        </p:txBody>
      </p:sp>
      <p:sp>
        <p:nvSpPr>
          <p:cNvPr id="22" name="TextBox 21"/>
          <p:cNvSpPr txBox="1"/>
          <p:nvPr/>
        </p:nvSpPr>
        <p:spPr>
          <a:xfrm>
            <a:off x="4506163" y="4325112"/>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本部別の時間ROIと資源配分ボード</a:t>
            </a:r>
          </a:p>
        </p:txBody>
      </p:sp>
      <p:sp>
        <p:nvSpPr>
          <p:cNvPr id="23" name="Rectangle 22"/>
          <p:cNvSpPr/>
          <p:nvPr/>
        </p:nvSpPr>
        <p:spPr>
          <a:xfrm>
            <a:off x="457200" y="4892040"/>
            <a:ext cx="11247120" cy="59436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919472"/>
            <a:ext cx="3866083" cy="594360"/>
          </a:xfrm>
          <a:prstGeom prst="rect">
            <a:avLst/>
          </a:prstGeom>
          <a:noFill/>
        </p:spPr>
        <p:txBody>
          <a:bodyPr wrap="square" anchor="ctr">
            <a:spAutoFit/>
          </a:bodyPr>
          <a:lstStyle/>
          <a:p>
            <a:pPr algn="l">
              <a:lnSpc>
                <a:spcPct val="110000"/>
              </a:lnSpc>
            </a:pPr>
            <a:r>
              <a:rPr sz="1300" b="1">
                <a:solidFill>
                  <a:srgbClr val="AA2E26"/>
                </a:solidFill>
                <a:latin typeface="Meiryo"/>
              </a:rPr>
              <a:t>資金繰り（古田土ダッシュボード）</a:t>
            </a:r>
          </a:p>
        </p:txBody>
      </p:sp>
      <p:sp>
        <p:nvSpPr>
          <p:cNvPr id="25" name="TextBox 24"/>
          <p:cNvSpPr txBox="1"/>
          <p:nvPr/>
        </p:nvSpPr>
        <p:spPr>
          <a:xfrm>
            <a:off x="4506163" y="4919472"/>
            <a:ext cx="7060996" cy="594360"/>
          </a:xfrm>
          <a:prstGeom prst="rect">
            <a:avLst/>
          </a:prstGeom>
          <a:noFill/>
        </p:spPr>
        <p:txBody>
          <a:bodyPr wrap="square" anchor="ctr">
            <a:spAutoFit/>
          </a:bodyPr>
          <a:lstStyle/>
          <a:p>
            <a:pPr algn="l">
              <a:lnSpc>
                <a:spcPct val="110000"/>
              </a:lnSpc>
            </a:pPr>
            <a:r>
              <a:rPr sz="1300" b="0">
                <a:solidFill>
                  <a:srgbClr val="332A28"/>
                </a:solidFill>
                <a:latin typeface="Meiryo"/>
              </a:rPr>
              <a:t>PL予測＋CF＋BS＋資金繰りが月初現金1セルで連動</a:t>
            </a:r>
          </a:p>
        </p:txBody>
      </p:sp>
      <p:sp>
        <p:nvSpPr>
          <p:cNvPr id="26" name="TextBox 2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ツール一覧 ― 何を・何に使う</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Notion</a:t>
            </a:r>
          </a:p>
        </p:txBody>
      </p:sp>
      <p:sp>
        <p:nvSpPr>
          <p:cNvPr id="9" name="TextBox 8"/>
          <p:cNvSpPr txBox="1"/>
          <p:nvPr/>
        </p:nvSpPr>
        <p:spPr>
          <a:xfrm>
            <a:off x="3381451" y="144475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正本・ルール・記録のSSoT。成果物は本文に構造化して保存</a:t>
            </a:r>
          </a:p>
        </p:txBody>
      </p:sp>
      <p:sp>
        <p:nvSpPr>
          <p:cNvPr id="10" name="Rectangle 9"/>
          <p:cNvSpPr/>
          <p:nvPr/>
        </p:nvSpPr>
        <p:spPr>
          <a:xfrm>
            <a:off x="457200" y="1965960"/>
            <a:ext cx="1124712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93391"/>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Google Drive</a:t>
            </a:r>
          </a:p>
        </p:txBody>
      </p:sp>
      <p:sp>
        <p:nvSpPr>
          <p:cNvPr id="12" name="TextBox 11"/>
          <p:cNvSpPr txBox="1"/>
          <p:nvPr/>
        </p:nvSpPr>
        <p:spPr>
          <a:xfrm>
            <a:off x="3381451" y="1993391"/>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ファイル本体。共有は“リンク”で渡す</a:t>
            </a:r>
          </a:p>
        </p:txBody>
      </p:sp>
      <p:sp>
        <p:nvSpPr>
          <p:cNvPr id="13" name="Rectangle 12"/>
          <p:cNvSpPr/>
          <p:nvPr/>
        </p:nvSpPr>
        <p:spPr>
          <a:xfrm>
            <a:off x="457200" y="2514600"/>
            <a:ext cx="1124712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4203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Google Sheets</a:t>
            </a:r>
          </a:p>
        </p:txBody>
      </p:sp>
      <p:sp>
        <p:nvSpPr>
          <p:cNvPr id="15" name="TextBox 14"/>
          <p:cNvSpPr txBox="1"/>
          <p:nvPr/>
        </p:nvSpPr>
        <p:spPr>
          <a:xfrm>
            <a:off x="3381451" y="254203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WBS／物件DB／予実DB／資金繰り</a:t>
            </a:r>
          </a:p>
        </p:txBody>
      </p:sp>
      <p:sp>
        <p:nvSpPr>
          <p:cNvPr id="16" name="Rectangle 15"/>
          <p:cNvSpPr/>
          <p:nvPr/>
        </p:nvSpPr>
        <p:spPr>
          <a:xfrm>
            <a:off x="457200" y="3063240"/>
            <a:ext cx="1124712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9067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Google Calendar</a:t>
            </a:r>
          </a:p>
        </p:txBody>
      </p:sp>
      <p:sp>
        <p:nvSpPr>
          <p:cNvPr id="18" name="TextBox 17"/>
          <p:cNvSpPr txBox="1"/>
          <p:nvPr/>
        </p:nvSpPr>
        <p:spPr>
          <a:xfrm>
            <a:off x="3381451" y="309067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予定（時刻が明確な枠のみ。終日でごまかさない）</a:t>
            </a:r>
          </a:p>
        </p:txBody>
      </p:sp>
      <p:sp>
        <p:nvSpPr>
          <p:cNvPr id="19" name="Rectangle 18"/>
          <p:cNvSpPr/>
          <p:nvPr/>
        </p:nvSpPr>
        <p:spPr>
          <a:xfrm>
            <a:off x="457200" y="3611880"/>
            <a:ext cx="1124712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3931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Google Tasks</a:t>
            </a:r>
          </a:p>
        </p:txBody>
      </p:sp>
      <p:sp>
        <p:nvSpPr>
          <p:cNvPr id="21" name="TextBox 20"/>
          <p:cNvSpPr txBox="1"/>
          <p:nvPr/>
        </p:nvSpPr>
        <p:spPr>
          <a:xfrm>
            <a:off x="3381451" y="363931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タスクの実運用SSoT（やることはここ）</a:t>
            </a:r>
          </a:p>
        </p:txBody>
      </p:sp>
      <p:sp>
        <p:nvSpPr>
          <p:cNvPr id="22" name="Rectangle 21"/>
          <p:cNvSpPr/>
          <p:nvPr/>
        </p:nvSpPr>
        <p:spPr>
          <a:xfrm>
            <a:off x="457200" y="4160520"/>
            <a:ext cx="11247120" cy="54864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8795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Claude（秘書・本部長）</a:t>
            </a:r>
          </a:p>
        </p:txBody>
      </p:sp>
      <p:sp>
        <p:nvSpPr>
          <p:cNvPr id="24" name="TextBox 23"/>
          <p:cNvSpPr txBox="1"/>
          <p:nvPr/>
        </p:nvSpPr>
        <p:spPr>
          <a:xfrm>
            <a:off x="3381451" y="418795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文面作成・物件査定・壁打ち・自動化</a:t>
            </a:r>
          </a:p>
        </p:txBody>
      </p:sp>
      <p:sp>
        <p:nvSpPr>
          <p:cNvPr id="25" name="Rectangle 24"/>
          <p:cNvSpPr/>
          <p:nvPr/>
        </p:nvSpPr>
        <p:spPr>
          <a:xfrm>
            <a:off x="457200" y="4709159"/>
            <a:ext cx="1124712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736592"/>
            <a:ext cx="2741371" cy="548640"/>
          </a:xfrm>
          <a:prstGeom prst="rect">
            <a:avLst/>
          </a:prstGeom>
          <a:noFill/>
        </p:spPr>
        <p:txBody>
          <a:bodyPr wrap="square" anchor="ctr">
            <a:spAutoFit/>
          </a:bodyPr>
          <a:lstStyle/>
          <a:p>
            <a:pPr algn="l">
              <a:lnSpc>
                <a:spcPct val="110000"/>
              </a:lnSpc>
            </a:pPr>
            <a:r>
              <a:rPr sz="1300" b="1">
                <a:solidFill>
                  <a:srgbClr val="AA2E26"/>
                </a:solidFill>
                <a:latin typeface="Meiryo"/>
              </a:rPr>
              <a:t>khd-log（CLI）</a:t>
            </a:r>
          </a:p>
        </p:txBody>
      </p:sp>
      <p:sp>
        <p:nvSpPr>
          <p:cNvPr id="27" name="TextBox 26"/>
          <p:cNvSpPr txBox="1"/>
          <p:nvPr/>
        </p:nvSpPr>
        <p:spPr>
          <a:xfrm>
            <a:off x="3381451" y="4736592"/>
            <a:ext cx="8185708" cy="548640"/>
          </a:xfrm>
          <a:prstGeom prst="rect">
            <a:avLst/>
          </a:prstGeom>
          <a:noFill/>
        </p:spPr>
        <p:txBody>
          <a:bodyPr wrap="square" anchor="ctr">
            <a:spAutoFit/>
          </a:bodyPr>
          <a:lstStyle/>
          <a:p>
            <a:pPr algn="l">
              <a:lnSpc>
                <a:spcPct val="110000"/>
              </a:lnSpc>
            </a:pPr>
            <a:r>
              <a:rPr sz="1300" b="0">
                <a:solidFill>
                  <a:srgbClr val="332A28"/>
                </a:solidFill>
                <a:latin typeface="Meiryo"/>
              </a:rPr>
              <a:t>作業1単位ごとに作業ログDBへ追記</a:t>
            </a:r>
          </a:p>
        </p:txBody>
      </p:sp>
      <p:sp>
        <p:nvSpPr>
          <p:cNvPr id="28" name="TextBox 27"/>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本部別「稼ぐ」KPI</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90472"/>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01 経営管理</a:t>
            </a:r>
          </a:p>
        </p:txBody>
      </p:sp>
      <p:sp>
        <p:nvSpPr>
          <p:cNvPr id="9" name="TextBox 8"/>
          <p:cNvSpPr txBox="1"/>
          <p:nvPr/>
        </p:nvSpPr>
        <p:spPr>
          <a:xfrm>
            <a:off x="3156508" y="1490472"/>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損切り・撤退の実行数 ／ キャッシュアウト削減額</a:t>
            </a:r>
          </a:p>
        </p:txBody>
      </p:sp>
      <p:sp>
        <p:nvSpPr>
          <p:cNvPr id="10" name="Rectangle 9"/>
          <p:cNvSpPr/>
          <p:nvPr/>
        </p:nvSpPr>
        <p:spPr>
          <a:xfrm>
            <a:off x="457200" y="2121408"/>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48840"/>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02 資金調達</a:t>
            </a:r>
          </a:p>
        </p:txBody>
      </p:sp>
      <p:sp>
        <p:nvSpPr>
          <p:cNvPr id="12" name="TextBox 11"/>
          <p:cNvSpPr txBox="1"/>
          <p:nvPr/>
        </p:nvSpPr>
        <p:spPr>
          <a:xfrm>
            <a:off x="3156508" y="2148840"/>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銀行 打診・面談件数 ／ 新規融資 内諾・確保額</a:t>
            </a:r>
          </a:p>
        </p:txBody>
      </p:sp>
      <p:sp>
        <p:nvSpPr>
          <p:cNvPr id="13" name="Rectangle 12"/>
          <p:cNvSpPr/>
          <p:nvPr/>
        </p:nvSpPr>
        <p:spPr>
          <a:xfrm>
            <a:off x="457200" y="2779776"/>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07208"/>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03 事業運営</a:t>
            </a:r>
          </a:p>
        </p:txBody>
      </p:sp>
      <p:sp>
        <p:nvSpPr>
          <p:cNvPr id="15" name="TextBox 14"/>
          <p:cNvSpPr txBox="1"/>
          <p:nvPr/>
        </p:nvSpPr>
        <p:spPr>
          <a:xfrm>
            <a:off x="3156508" y="2807208"/>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ホット客への追客送信数 ／ 自社HP経由の有効問合せ数</a:t>
            </a:r>
          </a:p>
        </p:txBody>
      </p:sp>
      <p:sp>
        <p:nvSpPr>
          <p:cNvPr id="16" name="Rectangle 15"/>
          <p:cNvSpPr/>
          <p:nvPr/>
        </p:nvSpPr>
        <p:spPr>
          <a:xfrm>
            <a:off x="457200" y="3438144"/>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65575"/>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04 コンサル</a:t>
            </a:r>
          </a:p>
        </p:txBody>
      </p:sp>
      <p:sp>
        <p:nvSpPr>
          <p:cNvPr id="18" name="TextBox 17"/>
          <p:cNvSpPr txBox="1"/>
          <p:nvPr/>
        </p:nvSpPr>
        <p:spPr>
          <a:xfrm>
            <a:off x="3156508" y="3465575"/>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セミナー→個別相談 獲得率 ／ コンサル見積 提示額</a:t>
            </a:r>
          </a:p>
        </p:txBody>
      </p:sp>
      <p:sp>
        <p:nvSpPr>
          <p:cNvPr id="19" name="Rectangle 18"/>
          <p:cNvSpPr/>
          <p:nvPr/>
        </p:nvSpPr>
        <p:spPr>
          <a:xfrm>
            <a:off x="457200" y="4096511"/>
            <a:ext cx="112471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123944"/>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05 物件調達</a:t>
            </a:r>
          </a:p>
        </p:txBody>
      </p:sp>
      <p:sp>
        <p:nvSpPr>
          <p:cNvPr id="21" name="TextBox 20"/>
          <p:cNvSpPr txBox="1"/>
          <p:nvPr/>
        </p:nvSpPr>
        <p:spPr>
          <a:xfrm>
            <a:off x="3156508" y="4123944"/>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主要業者からの新規物件情報数 ／ 決済前倒し達成率</a:t>
            </a:r>
          </a:p>
        </p:txBody>
      </p:sp>
      <p:sp>
        <p:nvSpPr>
          <p:cNvPr id="22" name="Rectangle 21"/>
          <p:cNvSpPr/>
          <p:nvPr/>
        </p:nvSpPr>
        <p:spPr>
          <a:xfrm>
            <a:off x="457200" y="4754879"/>
            <a:ext cx="11247120" cy="65836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782312"/>
            <a:ext cx="2516428" cy="658368"/>
          </a:xfrm>
          <a:prstGeom prst="rect">
            <a:avLst/>
          </a:prstGeom>
          <a:noFill/>
        </p:spPr>
        <p:txBody>
          <a:bodyPr wrap="square" anchor="ctr">
            <a:spAutoFit/>
          </a:bodyPr>
          <a:lstStyle/>
          <a:p>
            <a:pPr algn="l">
              <a:lnSpc>
                <a:spcPct val="110000"/>
              </a:lnSpc>
            </a:pPr>
            <a:r>
              <a:rPr sz="1400" b="1">
                <a:solidFill>
                  <a:srgbClr val="AA2E26"/>
                </a:solidFill>
                <a:latin typeface="Meiryo"/>
              </a:rPr>
              <a:t>秘書室</a:t>
            </a:r>
          </a:p>
        </p:txBody>
      </p:sp>
      <p:sp>
        <p:nvSpPr>
          <p:cNvPr id="24" name="TextBox 23"/>
          <p:cNvSpPr txBox="1"/>
          <p:nvPr/>
        </p:nvSpPr>
        <p:spPr>
          <a:xfrm>
            <a:off x="3156508" y="4782312"/>
            <a:ext cx="8410651" cy="658368"/>
          </a:xfrm>
          <a:prstGeom prst="rect">
            <a:avLst/>
          </a:prstGeom>
          <a:noFill/>
        </p:spPr>
        <p:txBody>
          <a:bodyPr wrap="square" anchor="ctr">
            <a:spAutoFit/>
          </a:bodyPr>
          <a:lstStyle/>
          <a:p>
            <a:pPr algn="l">
              <a:lnSpc>
                <a:spcPct val="110000"/>
              </a:lnSpc>
            </a:pPr>
            <a:r>
              <a:rPr sz="1400" b="0">
                <a:solidFill>
                  <a:srgbClr val="332A28"/>
                </a:solidFill>
                <a:latin typeface="Meiryo"/>
              </a:rPr>
              <a:t>「営業・仕込み・商談」の時間比率 60%以上を維持</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ルーティン ― いつ・誰が・何を</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06</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112471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90472"/>
            <a:ext cx="2741371" cy="868680"/>
          </a:xfrm>
          <a:prstGeom prst="rect">
            <a:avLst/>
          </a:prstGeom>
          <a:noFill/>
        </p:spPr>
        <p:txBody>
          <a:bodyPr wrap="square" anchor="ctr">
            <a:spAutoFit/>
          </a:bodyPr>
          <a:lstStyle/>
          <a:p>
            <a:pPr algn="l">
              <a:lnSpc>
                <a:spcPct val="110000"/>
              </a:lnSpc>
            </a:pPr>
            <a:r>
              <a:rPr sz="1400" b="1">
                <a:solidFill>
                  <a:srgbClr val="AA2E26"/>
                </a:solidFill>
                <a:latin typeface="Meiryo"/>
              </a:rPr>
              <a:t>毎朝 朝ブリーフ</a:t>
            </a:r>
          </a:p>
        </p:txBody>
      </p:sp>
      <p:sp>
        <p:nvSpPr>
          <p:cNvPr id="9" name="TextBox 8"/>
          <p:cNvSpPr txBox="1"/>
          <p:nvPr/>
        </p:nvSpPr>
        <p:spPr>
          <a:xfrm>
            <a:off x="3381451" y="1490472"/>
            <a:ext cx="8185708" cy="868680"/>
          </a:xfrm>
          <a:prstGeom prst="rect">
            <a:avLst/>
          </a:prstGeom>
          <a:noFill/>
        </p:spPr>
        <p:txBody>
          <a:bodyPr wrap="square" anchor="ctr">
            <a:spAutoFit/>
          </a:bodyPr>
          <a:lstStyle/>
          <a:p>
            <a:pPr algn="l">
              <a:lnSpc>
                <a:spcPct val="110000"/>
              </a:lnSpc>
            </a:pPr>
            <a:r>
              <a:rPr sz="1400" b="0">
                <a:solidFill>
                  <a:srgbClr val="332A28"/>
                </a:solidFill>
                <a:latin typeface="Meiryo"/>
              </a:rPr>
              <a:t>秘書がカレンダー(今週)＋Googleタスク(全件)を統合→期限切れ/今日を炙り出し“配置換え”</a:t>
            </a:r>
          </a:p>
        </p:txBody>
      </p:sp>
      <p:sp>
        <p:nvSpPr>
          <p:cNvPr id="10" name="Rectangle 9"/>
          <p:cNvSpPr/>
          <p:nvPr/>
        </p:nvSpPr>
        <p:spPr>
          <a:xfrm>
            <a:off x="457200" y="2331720"/>
            <a:ext cx="11247120" cy="86868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359151"/>
            <a:ext cx="2741371" cy="868680"/>
          </a:xfrm>
          <a:prstGeom prst="rect">
            <a:avLst/>
          </a:prstGeom>
          <a:noFill/>
        </p:spPr>
        <p:txBody>
          <a:bodyPr wrap="square" anchor="ctr">
            <a:spAutoFit/>
          </a:bodyPr>
          <a:lstStyle/>
          <a:p>
            <a:pPr algn="l">
              <a:lnSpc>
                <a:spcPct val="110000"/>
              </a:lnSpc>
            </a:pPr>
            <a:r>
              <a:rPr sz="1400" b="1">
                <a:solidFill>
                  <a:srgbClr val="AA2E26"/>
                </a:solidFill>
                <a:latin typeface="Meiryo"/>
              </a:rPr>
              <a:t>週次 事業部報告会</a:t>
            </a:r>
          </a:p>
        </p:txBody>
      </p:sp>
      <p:sp>
        <p:nvSpPr>
          <p:cNvPr id="12" name="TextBox 11"/>
          <p:cNvSpPr txBox="1"/>
          <p:nvPr/>
        </p:nvSpPr>
        <p:spPr>
          <a:xfrm>
            <a:off x="3381451" y="2359151"/>
            <a:ext cx="8185708" cy="868680"/>
          </a:xfrm>
          <a:prstGeom prst="rect">
            <a:avLst/>
          </a:prstGeom>
          <a:noFill/>
        </p:spPr>
        <p:txBody>
          <a:bodyPr wrap="square" anchor="ctr">
            <a:spAutoFit/>
          </a:bodyPr>
          <a:lstStyle/>
          <a:p>
            <a:pPr algn="l">
              <a:lnSpc>
                <a:spcPct val="110000"/>
              </a:lnSpc>
            </a:pPr>
            <a:r>
              <a:rPr sz="1400" b="0">
                <a:solidFill>
                  <a:srgbClr val="332A28"/>
                </a:solidFill>
                <a:latin typeface="Meiryo"/>
              </a:rPr>
              <a:t>本部ごとに 数字(KPI)／先週やったこと／今週の一手／詰まり・依頼 を共有</a:t>
            </a:r>
          </a:p>
        </p:txBody>
      </p:sp>
      <p:sp>
        <p:nvSpPr>
          <p:cNvPr id="13" name="Rectangle 12"/>
          <p:cNvSpPr/>
          <p:nvPr/>
        </p:nvSpPr>
        <p:spPr>
          <a:xfrm>
            <a:off x="457200" y="3200400"/>
            <a:ext cx="112471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227832"/>
            <a:ext cx="2741371" cy="868680"/>
          </a:xfrm>
          <a:prstGeom prst="rect">
            <a:avLst/>
          </a:prstGeom>
          <a:noFill/>
        </p:spPr>
        <p:txBody>
          <a:bodyPr wrap="square" anchor="ctr">
            <a:spAutoFit/>
          </a:bodyPr>
          <a:lstStyle/>
          <a:p>
            <a:pPr algn="l">
              <a:lnSpc>
                <a:spcPct val="110000"/>
              </a:lnSpc>
            </a:pPr>
            <a:r>
              <a:rPr sz="1400" b="1">
                <a:solidFill>
                  <a:srgbClr val="AA2E26"/>
                </a:solidFill>
                <a:latin typeface="Meiryo"/>
              </a:rPr>
              <a:t>月次 経営報告会</a:t>
            </a:r>
          </a:p>
        </p:txBody>
      </p:sp>
      <p:sp>
        <p:nvSpPr>
          <p:cNvPr id="15" name="TextBox 14"/>
          <p:cNvSpPr txBox="1"/>
          <p:nvPr/>
        </p:nvSpPr>
        <p:spPr>
          <a:xfrm>
            <a:off x="3381451" y="3227832"/>
            <a:ext cx="8185708" cy="868680"/>
          </a:xfrm>
          <a:prstGeom prst="rect">
            <a:avLst/>
          </a:prstGeom>
          <a:noFill/>
        </p:spPr>
        <p:txBody>
          <a:bodyPr wrap="square" anchor="ctr">
            <a:spAutoFit/>
          </a:bodyPr>
          <a:lstStyle/>
          <a:p>
            <a:pPr algn="l">
              <a:lnSpc>
                <a:spcPct val="110000"/>
              </a:lnSpc>
            </a:pPr>
            <a:r>
              <a:rPr sz="1400" b="0">
                <a:solidFill>
                  <a:srgbClr val="332A28"/>
                </a:solidFill>
                <a:latin typeface="Meiryo"/>
              </a:rPr>
              <a:t>予実(時間×金)・資金繰り・撤退/損切り判断・来月の山を確認</a:t>
            </a:r>
          </a:p>
        </p:txBody>
      </p:sp>
      <p:sp>
        <p:nvSpPr>
          <p:cNvPr id="16" name="Rectangle 15"/>
          <p:cNvSpPr/>
          <p:nvPr/>
        </p:nvSpPr>
        <p:spPr>
          <a:xfrm>
            <a:off x="457200" y="4069080"/>
            <a:ext cx="11247120" cy="86868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096512"/>
            <a:ext cx="2741371" cy="868680"/>
          </a:xfrm>
          <a:prstGeom prst="rect">
            <a:avLst/>
          </a:prstGeom>
          <a:noFill/>
        </p:spPr>
        <p:txBody>
          <a:bodyPr wrap="square" anchor="ctr">
            <a:spAutoFit/>
          </a:bodyPr>
          <a:lstStyle/>
          <a:p>
            <a:pPr algn="l">
              <a:lnSpc>
                <a:spcPct val="110000"/>
              </a:lnSpc>
            </a:pPr>
            <a:r>
              <a:rPr sz="1400" b="1">
                <a:solidFill>
                  <a:srgbClr val="AA2E26"/>
                </a:solidFill>
                <a:latin typeface="Meiryo"/>
              </a:rPr>
              <a:t>月初 家族会議</a:t>
            </a:r>
          </a:p>
        </p:txBody>
      </p:sp>
      <p:sp>
        <p:nvSpPr>
          <p:cNvPr id="18" name="TextBox 17"/>
          <p:cNvSpPr txBox="1"/>
          <p:nvPr/>
        </p:nvSpPr>
        <p:spPr>
          <a:xfrm>
            <a:off x="3381451" y="4096512"/>
            <a:ext cx="8185708" cy="868680"/>
          </a:xfrm>
          <a:prstGeom prst="rect">
            <a:avLst/>
          </a:prstGeom>
          <a:noFill/>
        </p:spPr>
        <p:txBody>
          <a:bodyPr wrap="square" anchor="ctr">
            <a:spAutoFit/>
          </a:bodyPr>
          <a:lstStyle/>
          <a:p>
            <a:pPr algn="l">
              <a:lnSpc>
                <a:spcPct val="110000"/>
              </a:lnSpc>
            </a:pPr>
            <a:r>
              <a:rPr sz="1400" b="0">
                <a:solidFill>
                  <a:srgbClr val="332A28"/>
                </a:solidFill>
                <a:latin typeface="Meiryo"/>
              </a:rPr>
              <a:t>妻と今月の時間配分を決める。家族時間を死守（記念日も先回り）</a:t>
            </a:r>
          </a:p>
        </p:txBody>
      </p:sp>
      <p:sp>
        <p:nvSpPr>
          <p:cNvPr id="19" name="TextBox 18"/>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全社ルール ― これだけは守る</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07</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中核信条</a:t>
            </a:r>
          </a:p>
        </p:txBody>
      </p:sp>
      <p:sp>
        <p:nvSpPr>
          <p:cNvPr id="9" name="TextBox 8"/>
          <p:cNvSpPr txBox="1"/>
          <p:nvPr/>
        </p:nvSpPr>
        <p:spPr>
          <a:xfrm>
            <a:off x="3156508" y="1444752"/>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相手目線でGIVE→信頼の対価として収益（売り込まない）</a:t>
            </a:r>
          </a:p>
        </p:txBody>
      </p:sp>
      <p:sp>
        <p:nvSpPr>
          <p:cNvPr id="10" name="Rectangle 9"/>
          <p:cNvSpPr/>
          <p:nvPr/>
        </p:nvSpPr>
        <p:spPr>
          <a:xfrm>
            <a:off x="457200" y="1984248"/>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1679"/>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利益直結モード</a:t>
            </a:r>
          </a:p>
        </p:txBody>
      </p:sp>
      <p:sp>
        <p:nvSpPr>
          <p:cNvPr id="12" name="TextBox 11"/>
          <p:cNvSpPr txBox="1"/>
          <p:nvPr/>
        </p:nvSpPr>
        <p:spPr>
          <a:xfrm>
            <a:off x="3156508" y="2011679"/>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営業直結のみ実行。内務・ツール開発は売上回復まで凍結</a:t>
            </a:r>
          </a:p>
        </p:txBody>
      </p:sp>
      <p:sp>
        <p:nvSpPr>
          <p:cNvPr id="13" name="Rectangle 12"/>
          <p:cNvSpPr/>
          <p:nvPr/>
        </p:nvSpPr>
        <p:spPr>
          <a:xfrm>
            <a:off x="457200" y="2551176"/>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78608"/>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置き場</a:t>
            </a:r>
          </a:p>
        </p:txBody>
      </p:sp>
      <p:sp>
        <p:nvSpPr>
          <p:cNvPr id="15" name="TextBox 14"/>
          <p:cNvSpPr txBox="1"/>
          <p:nvPr/>
        </p:nvSpPr>
        <p:spPr>
          <a:xfrm>
            <a:off x="3156508" y="2578608"/>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Notionで全部辿れる状態を維持。成果物は作成と同時にNotion化</a:t>
            </a:r>
          </a:p>
        </p:txBody>
      </p:sp>
      <p:sp>
        <p:nvSpPr>
          <p:cNvPr id="16" name="Rectangle 15"/>
          <p:cNvSpPr/>
          <p:nvPr/>
        </p:nvSpPr>
        <p:spPr>
          <a:xfrm>
            <a:off x="457200" y="3118104"/>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45536"/>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成果物の出し方</a:t>
            </a:r>
          </a:p>
        </p:txBody>
      </p:sp>
      <p:sp>
        <p:nvSpPr>
          <p:cNvPr id="18" name="TextBox 17"/>
          <p:cNvSpPr txBox="1"/>
          <p:nvPr/>
        </p:nvSpPr>
        <p:spPr>
          <a:xfrm>
            <a:off x="3156508" y="3145536"/>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Googleネイティブ化＋クリックできるリンク＋実物スクショ＋時間棚卸し</a:t>
            </a:r>
          </a:p>
        </p:txBody>
      </p:sp>
      <p:sp>
        <p:nvSpPr>
          <p:cNvPr id="19" name="Rectangle 18"/>
          <p:cNvSpPr/>
          <p:nvPr/>
        </p:nvSpPr>
        <p:spPr>
          <a:xfrm>
            <a:off x="457200" y="3685032"/>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12464"/>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命名</a:t>
            </a:r>
          </a:p>
        </p:txBody>
      </p:sp>
      <p:sp>
        <p:nvSpPr>
          <p:cNvPr id="21" name="TextBox 20"/>
          <p:cNvSpPr txBox="1"/>
          <p:nvPr/>
        </p:nvSpPr>
        <p:spPr>
          <a:xfrm>
            <a:off x="3156508" y="3712464"/>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ファイル名の頭に本部番号(00〜05)。検索・本部識別が効くように</a:t>
            </a:r>
          </a:p>
        </p:txBody>
      </p:sp>
      <p:sp>
        <p:nvSpPr>
          <p:cNvPr id="22" name="Rectangle 21"/>
          <p:cNvSpPr/>
          <p:nvPr/>
        </p:nvSpPr>
        <p:spPr>
          <a:xfrm>
            <a:off x="457200" y="4251960"/>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79392"/>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完了の合図</a:t>
            </a:r>
          </a:p>
        </p:txBody>
      </p:sp>
      <p:sp>
        <p:nvSpPr>
          <p:cNvPr id="24" name="TextBox 23"/>
          <p:cNvSpPr txBox="1"/>
          <p:nvPr/>
        </p:nvSpPr>
        <p:spPr>
          <a:xfrm>
            <a:off x="3156508" y="4279392"/>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菊池が「OK」と打ったら直前タスクは完了→作業ログへ記録</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会議アジェンダ（1枚テンプレ）</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08</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5577840" cy="411480"/>
          </a:xfrm>
          <a:prstGeom prst="rect">
            <a:avLst/>
          </a:prstGeom>
          <a:noFill/>
        </p:spPr>
        <p:txBody>
          <a:bodyPr wrap="square" anchor="t">
            <a:spAutoFit/>
          </a:bodyPr>
          <a:lstStyle/>
          <a:p>
            <a:pPr algn="l">
              <a:lnSpc>
                <a:spcPct val="110000"/>
              </a:lnSpc>
            </a:pPr>
            <a:r>
              <a:rPr sz="1400" b="1">
                <a:solidFill>
                  <a:srgbClr val="AA2E26"/>
                </a:solidFill>
                <a:latin typeface="Meiryo"/>
              </a:rPr>
              <a:t>◆ 毎朝ブリーフ</a:t>
            </a:r>
          </a:p>
        </p:txBody>
      </p:sp>
      <p:sp>
        <p:nvSpPr>
          <p:cNvPr id="8" name="TextBox 7"/>
          <p:cNvSpPr txBox="1"/>
          <p:nvPr/>
        </p:nvSpPr>
        <p:spPr>
          <a:xfrm>
            <a:off x="548640" y="1783080"/>
            <a:ext cx="5486400" cy="1554480"/>
          </a:xfrm>
          <a:prstGeom prst="rect">
            <a:avLst/>
          </a:prstGeom>
          <a:noFill/>
        </p:spPr>
        <p:txBody>
          <a:bodyPr wrap="square" anchor="t">
            <a:spAutoFit/>
          </a:bodyPr>
          <a:lstStyle/>
          <a:p>
            <a:pPr algn="l">
              <a:lnSpc>
                <a:spcPct val="125000"/>
              </a:lnSpc>
            </a:pPr>
            <a:r>
              <a:rPr sz="1300" b="0">
                <a:solidFill>
                  <a:srgbClr val="332A28"/>
                </a:solidFill>
                <a:latin typeface="Meiryo"/>
              </a:rPr>
              <a:t>① 期限切れ（件数を明示）</a:t>
            </a:r>
          </a:p>
          <a:p>
            <a:pPr algn="l">
              <a:lnSpc>
                <a:spcPct val="125000"/>
              </a:lnSpc>
            </a:pPr>
            <a:r>
              <a:rPr sz="1300" b="0">
                <a:solidFill>
                  <a:srgbClr val="332A28"/>
                </a:solidFill>
                <a:latin typeface="Meiryo"/>
              </a:rPr>
              <a:t>② 今日やる</a:t>
            </a:r>
          </a:p>
          <a:p>
            <a:pPr algn="l">
              <a:lnSpc>
                <a:spcPct val="125000"/>
              </a:lnSpc>
            </a:pPr>
            <a:r>
              <a:rPr sz="1300" b="0">
                <a:solidFill>
                  <a:srgbClr val="332A28"/>
                </a:solidFill>
                <a:latin typeface="Meiryo"/>
              </a:rPr>
              <a:t>③ 今週</a:t>
            </a:r>
          </a:p>
          <a:p>
            <a:pPr algn="l">
              <a:lnSpc>
                <a:spcPct val="125000"/>
              </a:lnSpc>
            </a:pPr>
            <a:r>
              <a:rPr sz="1300" b="0">
                <a:solidFill>
                  <a:srgbClr val="332A28"/>
                </a:solidFill>
                <a:latin typeface="Meiryo"/>
              </a:rPr>
              <a:t>④ 将来</a:t>
            </a:r>
          </a:p>
          <a:p>
            <a:pPr algn="l">
              <a:lnSpc>
                <a:spcPct val="125000"/>
              </a:lnSpc>
            </a:pPr>
            <a:r>
              <a:rPr sz="1300" b="0">
                <a:solidFill>
                  <a:srgbClr val="332A28"/>
                </a:solidFill>
                <a:latin typeface="Meiryo"/>
              </a:rPr>
              <a:t>→ 各件を 今日/今週/凍結/完了 に配置換え（YES/NO）</a:t>
            </a:r>
          </a:p>
        </p:txBody>
      </p:sp>
      <p:sp>
        <p:nvSpPr>
          <p:cNvPr id="9" name="TextBox 8"/>
          <p:cNvSpPr txBox="1"/>
          <p:nvPr/>
        </p:nvSpPr>
        <p:spPr>
          <a:xfrm>
            <a:off x="6217920" y="1371600"/>
            <a:ext cx="5486400" cy="411480"/>
          </a:xfrm>
          <a:prstGeom prst="rect">
            <a:avLst/>
          </a:prstGeom>
          <a:noFill/>
        </p:spPr>
        <p:txBody>
          <a:bodyPr wrap="square" anchor="t">
            <a:spAutoFit/>
          </a:bodyPr>
          <a:lstStyle/>
          <a:p>
            <a:pPr algn="l">
              <a:lnSpc>
                <a:spcPct val="110000"/>
              </a:lnSpc>
            </a:pPr>
            <a:r>
              <a:rPr sz="1400" b="1">
                <a:solidFill>
                  <a:srgbClr val="AA2E26"/>
                </a:solidFill>
                <a:latin typeface="Meiryo"/>
              </a:rPr>
              <a:t>◆ 週次 事業部報告会</a:t>
            </a:r>
          </a:p>
        </p:txBody>
      </p:sp>
      <p:sp>
        <p:nvSpPr>
          <p:cNvPr id="10" name="TextBox 9"/>
          <p:cNvSpPr txBox="1"/>
          <p:nvPr/>
        </p:nvSpPr>
        <p:spPr>
          <a:xfrm>
            <a:off x="6309360" y="1783080"/>
            <a:ext cx="5394960" cy="1554480"/>
          </a:xfrm>
          <a:prstGeom prst="rect">
            <a:avLst/>
          </a:prstGeom>
          <a:noFill/>
        </p:spPr>
        <p:txBody>
          <a:bodyPr wrap="square" anchor="t">
            <a:spAutoFit/>
          </a:bodyPr>
          <a:lstStyle/>
          <a:p>
            <a:pPr algn="l">
              <a:lnSpc>
                <a:spcPct val="125000"/>
              </a:lnSpc>
            </a:pPr>
            <a:r>
              <a:rPr sz="1300" b="0">
                <a:solidFill>
                  <a:srgbClr val="332A28"/>
                </a:solidFill>
                <a:latin typeface="Meiryo"/>
              </a:rPr>
              <a:t>本部ごとに4点：</a:t>
            </a:r>
          </a:p>
          <a:p>
            <a:pPr algn="l">
              <a:lnSpc>
                <a:spcPct val="125000"/>
              </a:lnSpc>
            </a:pPr>
            <a:r>
              <a:rPr sz="1300" b="0">
                <a:solidFill>
                  <a:srgbClr val="332A28"/>
                </a:solidFill>
                <a:latin typeface="Meiryo"/>
              </a:rPr>
              <a:t>[数字＝KPI]／[先週やった]</a:t>
            </a:r>
          </a:p>
          <a:p>
            <a:pPr algn="l">
              <a:lnSpc>
                <a:spcPct val="125000"/>
              </a:lnSpc>
            </a:pPr>
            <a:r>
              <a:rPr sz="1300" b="0">
                <a:solidFill>
                  <a:srgbClr val="332A28"/>
                </a:solidFill>
                <a:latin typeface="Meiryo"/>
              </a:rPr>
              <a:t>[今週の一手]／[詰まり・依頼]</a:t>
            </a:r>
          </a:p>
        </p:txBody>
      </p:sp>
      <p:sp>
        <p:nvSpPr>
          <p:cNvPr id="11" name="TextBox 10"/>
          <p:cNvSpPr txBox="1"/>
          <p:nvPr/>
        </p:nvSpPr>
        <p:spPr>
          <a:xfrm>
            <a:off x="457200" y="3657600"/>
            <a:ext cx="5577840" cy="411480"/>
          </a:xfrm>
          <a:prstGeom prst="rect">
            <a:avLst/>
          </a:prstGeom>
          <a:noFill/>
        </p:spPr>
        <p:txBody>
          <a:bodyPr wrap="square" anchor="t">
            <a:spAutoFit/>
          </a:bodyPr>
          <a:lstStyle/>
          <a:p>
            <a:pPr algn="l">
              <a:lnSpc>
                <a:spcPct val="110000"/>
              </a:lnSpc>
            </a:pPr>
            <a:r>
              <a:rPr sz="1400" b="1">
                <a:solidFill>
                  <a:srgbClr val="AA2E26"/>
                </a:solidFill>
                <a:latin typeface="Meiryo"/>
              </a:rPr>
              <a:t>◆ 月次 経営報告会</a:t>
            </a:r>
          </a:p>
        </p:txBody>
      </p:sp>
      <p:sp>
        <p:nvSpPr>
          <p:cNvPr id="12" name="TextBox 11"/>
          <p:cNvSpPr txBox="1"/>
          <p:nvPr/>
        </p:nvSpPr>
        <p:spPr>
          <a:xfrm>
            <a:off x="548640" y="4069080"/>
            <a:ext cx="5486400" cy="1554480"/>
          </a:xfrm>
          <a:prstGeom prst="rect">
            <a:avLst/>
          </a:prstGeom>
          <a:noFill/>
        </p:spPr>
        <p:txBody>
          <a:bodyPr wrap="square" anchor="t">
            <a:spAutoFit/>
          </a:bodyPr>
          <a:lstStyle/>
          <a:p>
            <a:pPr algn="l">
              <a:lnSpc>
                <a:spcPct val="125000"/>
              </a:lnSpc>
            </a:pPr>
            <a:r>
              <a:rPr sz="1300" b="0">
                <a:solidFill>
                  <a:srgbClr val="332A28"/>
                </a:solidFill>
                <a:latin typeface="Meiryo"/>
              </a:rPr>
              <a:t>[時間配分の実績]</a:t>
            </a:r>
          </a:p>
          <a:p>
            <a:pPr algn="l">
              <a:lnSpc>
                <a:spcPct val="125000"/>
              </a:lnSpc>
            </a:pPr>
            <a:r>
              <a:rPr sz="1300" b="0">
                <a:solidFill>
                  <a:srgbClr val="332A28"/>
                </a:solidFill>
                <a:latin typeface="Meiryo"/>
              </a:rPr>
              <a:t>[金＝粗利・資金繰り]</a:t>
            </a:r>
          </a:p>
          <a:p>
            <a:pPr algn="l">
              <a:lnSpc>
                <a:spcPct val="125000"/>
              </a:lnSpc>
            </a:pPr>
            <a:r>
              <a:rPr sz="1300" b="0">
                <a:solidFill>
                  <a:srgbClr val="332A28"/>
                </a:solidFill>
                <a:latin typeface="Meiryo"/>
              </a:rPr>
              <a:t>[撤退・損切り判断]</a:t>
            </a:r>
          </a:p>
          <a:p>
            <a:pPr algn="l">
              <a:lnSpc>
                <a:spcPct val="125000"/>
              </a:lnSpc>
            </a:pPr>
            <a:r>
              <a:rPr sz="1300" b="0">
                <a:solidFill>
                  <a:srgbClr val="332A28"/>
                </a:solidFill>
                <a:latin typeface="Meiryo"/>
              </a:rPr>
              <a:t>[来月の山]</a:t>
            </a:r>
          </a:p>
        </p:txBody>
      </p:sp>
      <p:sp>
        <p:nvSpPr>
          <p:cNvPr id="13" name="TextBox 12"/>
          <p:cNvSpPr txBox="1"/>
          <p:nvPr/>
        </p:nvSpPr>
        <p:spPr>
          <a:xfrm>
            <a:off x="6217920" y="3657600"/>
            <a:ext cx="5486400" cy="411480"/>
          </a:xfrm>
          <a:prstGeom prst="rect">
            <a:avLst/>
          </a:prstGeom>
          <a:noFill/>
        </p:spPr>
        <p:txBody>
          <a:bodyPr wrap="square" anchor="t">
            <a:spAutoFit/>
          </a:bodyPr>
          <a:lstStyle/>
          <a:p>
            <a:pPr algn="l">
              <a:lnSpc>
                <a:spcPct val="110000"/>
              </a:lnSpc>
            </a:pPr>
            <a:r>
              <a:rPr sz="1400" b="1">
                <a:solidFill>
                  <a:srgbClr val="1F7A1F"/>
                </a:solidFill>
                <a:latin typeface="Meiryo"/>
              </a:rPr>
              <a:t>◆ 月初 家族会議</a:t>
            </a:r>
          </a:p>
        </p:txBody>
      </p:sp>
      <p:sp>
        <p:nvSpPr>
          <p:cNvPr id="14" name="TextBox 13"/>
          <p:cNvSpPr txBox="1"/>
          <p:nvPr/>
        </p:nvSpPr>
        <p:spPr>
          <a:xfrm>
            <a:off x="6309360" y="4069080"/>
            <a:ext cx="5394960" cy="1554480"/>
          </a:xfrm>
          <a:prstGeom prst="rect">
            <a:avLst/>
          </a:prstGeom>
          <a:noFill/>
        </p:spPr>
        <p:txBody>
          <a:bodyPr wrap="square" anchor="t">
            <a:spAutoFit/>
          </a:bodyPr>
          <a:lstStyle/>
          <a:p>
            <a:pPr algn="l">
              <a:lnSpc>
                <a:spcPct val="125000"/>
              </a:lnSpc>
            </a:pPr>
            <a:r>
              <a:rPr sz="1300" b="0">
                <a:solidFill>
                  <a:srgbClr val="332A28"/>
                </a:solidFill>
                <a:latin typeface="Meiryo"/>
              </a:rPr>
              <a:t>[今月の家族時間]</a:t>
            </a:r>
          </a:p>
          <a:p>
            <a:pPr algn="l">
              <a:lnSpc>
                <a:spcPct val="125000"/>
              </a:lnSpc>
            </a:pPr>
            <a:r>
              <a:rPr sz="1300" b="0">
                <a:solidFill>
                  <a:srgbClr val="332A28"/>
                </a:solidFill>
                <a:latin typeface="Meiryo"/>
              </a:rPr>
              <a:t>[記念日・行事]</a:t>
            </a:r>
          </a:p>
          <a:p>
            <a:pPr algn="l">
              <a:lnSpc>
                <a:spcPct val="125000"/>
              </a:lnSpc>
            </a:pPr>
            <a:r>
              <a:rPr sz="1300" b="0">
                <a:solidFill>
                  <a:srgbClr val="332A28"/>
                </a:solidFill>
                <a:latin typeface="Meiryo"/>
              </a:rPr>
              <a:t>[時間配分の約束（妻と合意）]</a:t>
            </a:r>
          </a:p>
        </p:txBody>
      </p:sp>
      <p:sp>
        <p:nvSpPr>
          <p:cNvPr id="15" name="TextBox 1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用語集</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09</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44752"/>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バイセル</a:t>
            </a:r>
          </a:p>
        </p:txBody>
      </p:sp>
      <p:sp>
        <p:nvSpPr>
          <p:cNvPr id="9" name="TextBox 8"/>
          <p:cNvSpPr txBox="1"/>
          <p:nvPr/>
        </p:nvSpPr>
        <p:spPr>
          <a:xfrm>
            <a:off x="3156508" y="1444752"/>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元・仕入/売却のパートナー業者（2026年に円満卒業）</a:t>
            </a:r>
          </a:p>
        </p:txBody>
      </p:sp>
      <p:sp>
        <p:nvSpPr>
          <p:cNvPr id="10" name="Rectangle 9"/>
          <p:cNvSpPr/>
          <p:nvPr/>
        </p:nvSpPr>
        <p:spPr>
          <a:xfrm>
            <a:off x="457200" y="1984248"/>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11679"/>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玉川式KPI</a:t>
            </a:r>
          </a:p>
        </p:txBody>
      </p:sp>
      <p:sp>
        <p:nvSpPr>
          <p:cNvPr id="12" name="TextBox 11"/>
          <p:cNvSpPr txBox="1"/>
          <p:nvPr/>
        </p:nvSpPr>
        <p:spPr>
          <a:xfrm>
            <a:off x="3156508" y="2011679"/>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物件評価基準：土地値割合0.4↑／CF率1.5%↑／CCR15%↑／粗利率20%↑</a:t>
            </a:r>
          </a:p>
        </p:txBody>
      </p:sp>
      <p:sp>
        <p:nvSpPr>
          <p:cNvPr id="13" name="Rectangle 12"/>
          <p:cNvSpPr/>
          <p:nvPr/>
        </p:nvSpPr>
        <p:spPr>
          <a:xfrm>
            <a:off x="457200" y="2551176"/>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78608"/>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AI査定エンジン</a:t>
            </a:r>
          </a:p>
        </p:txBody>
      </p:sp>
      <p:sp>
        <p:nvSpPr>
          <p:cNvPr id="15" name="TextBox 14"/>
          <p:cNvSpPr txBox="1"/>
          <p:nvPr/>
        </p:nvSpPr>
        <p:spPr>
          <a:xfrm>
            <a:off x="3156508" y="2578608"/>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物件を入れると自動査定→🟢は銀行用 融資資料デッキまで全自動</a:t>
            </a:r>
          </a:p>
        </p:txBody>
      </p:sp>
      <p:sp>
        <p:nvSpPr>
          <p:cNvPr id="16" name="Rectangle 15"/>
          <p:cNvSpPr/>
          <p:nvPr/>
        </p:nvSpPr>
        <p:spPr>
          <a:xfrm>
            <a:off x="457200" y="3118104"/>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45536"/>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予実DB</a:t>
            </a:r>
          </a:p>
        </p:txBody>
      </p:sp>
      <p:sp>
        <p:nvSpPr>
          <p:cNvPr id="18" name="TextBox 17"/>
          <p:cNvSpPr txBox="1"/>
          <p:nvPr/>
        </p:nvSpPr>
        <p:spPr>
          <a:xfrm>
            <a:off x="3156508" y="3145536"/>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時間×金×家族の資源配分ボード（円/h＝時間ROIで判断）</a:t>
            </a:r>
          </a:p>
        </p:txBody>
      </p:sp>
      <p:sp>
        <p:nvSpPr>
          <p:cNvPr id="19" name="Rectangle 18"/>
          <p:cNvSpPr/>
          <p:nvPr/>
        </p:nvSpPr>
        <p:spPr>
          <a:xfrm>
            <a:off x="457200" y="3685032"/>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12464"/>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SSoT</a:t>
            </a:r>
          </a:p>
        </p:txBody>
      </p:sp>
      <p:sp>
        <p:nvSpPr>
          <p:cNvPr id="21" name="TextBox 20"/>
          <p:cNvSpPr txBox="1"/>
          <p:nvPr/>
        </p:nvSpPr>
        <p:spPr>
          <a:xfrm>
            <a:off x="3156508" y="3712464"/>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Single Source of Truth＝単一の真実源（情報の最終参照先）</a:t>
            </a:r>
          </a:p>
        </p:txBody>
      </p:sp>
      <p:sp>
        <p:nvSpPr>
          <p:cNvPr id="22" name="Rectangle 21"/>
          <p:cNvSpPr/>
          <p:nvPr/>
        </p:nvSpPr>
        <p:spPr>
          <a:xfrm>
            <a:off x="457200" y="4251960"/>
            <a:ext cx="11247120" cy="566928"/>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79392"/>
            <a:ext cx="2516428" cy="566928"/>
          </a:xfrm>
          <a:prstGeom prst="rect">
            <a:avLst/>
          </a:prstGeom>
          <a:noFill/>
        </p:spPr>
        <p:txBody>
          <a:bodyPr wrap="square" anchor="ctr">
            <a:spAutoFit/>
          </a:bodyPr>
          <a:lstStyle/>
          <a:p>
            <a:pPr algn="l">
              <a:lnSpc>
                <a:spcPct val="110000"/>
              </a:lnSpc>
            </a:pPr>
            <a:r>
              <a:rPr sz="1300" b="1">
                <a:solidFill>
                  <a:srgbClr val="AA2E26"/>
                </a:solidFill>
                <a:latin typeface="Meiryo"/>
              </a:rPr>
              <a:t>テナントアシスト</a:t>
            </a:r>
          </a:p>
        </p:txBody>
      </p:sp>
      <p:sp>
        <p:nvSpPr>
          <p:cNvPr id="24" name="TextBox 23"/>
          <p:cNvSpPr txBox="1"/>
          <p:nvPr/>
        </p:nvSpPr>
        <p:spPr>
          <a:xfrm>
            <a:off x="3156508" y="4279392"/>
            <a:ext cx="8410651" cy="566928"/>
          </a:xfrm>
          <a:prstGeom prst="rect">
            <a:avLst/>
          </a:prstGeom>
          <a:noFill/>
        </p:spPr>
        <p:txBody>
          <a:bodyPr wrap="square" anchor="ctr">
            <a:spAutoFit/>
          </a:bodyPr>
          <a:lstStyle/>
          <a:p>
            <a:pPr algn="l">
              <a:lnSpc>
                <a:spcPct val="110000"/>
              </a:lnSpc>
            </a:pPr>
            <a:r>
              <a:rPr sz="1300" b="0">
                <a:solidFill>
                  <a:srgbClr val="332A28"/>
                </a:solidFill>
                <a:latin typeface="Meiryo"/>
              </a:rPr>
              <a:t>医療クリニックの承継・開業コンサル事業</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371600"/>
          </a:xfrm>
          <a:prstGeom prst="rect">
            <a:avLst/>
          </a:prstGeom>
          <a:noFill/>
        </p:spPr>
        <p:txBody>
          <a:bodyPr wrap="square" anchor="t">
            <a:spAutoFit/>
          </a:bodyPr>
          <a:lstStyle/>
          <a:p>
            <a:pPr algn="l">
              <a:lnSpc>
                <a:spcPct val="135000"/>
              </a:lnSpc>
            </a:pPr>
            <a:r>
              <a:rPr sz="2000" b="0">
                <a:solidFill>
                  <a:srgbClr val="332A28"/>
                </a:solidFill>
                <a:latin typeface="Meiryo"/>
              </a:rPr>
              <a:t>迷ったら：Notionで検索 → 第3章(地図)・第4章(ツール)。</a:t>
            </a:r>
          </a:p>
          <a:p>
            <a:pPr algn="l">
              <a:lnSpc>
                <a:spcPct val="135000"/>
              </a:lnSpc>
            </a:pPr>
            <a:r>
              <a:rPr sz="2000" b="0">
                <a:solidFill>
                  <a:srgbClr val="332A28"/>
                </a:solidFill>
                <a:latin typeface="Meiryo"/>
              </a:rPr>
              <a:t>日々は 第6章(ルーティン)。判断は 第7章(ルール)＋中核信条。</a:t>
            </a:r>
          </a:p>
        </p:txBody>
      </p:sp>
      <p:sp>
        <p:nvSpPr>
          <p:cNvPr id="5" name="TextBox 4"/>
          <p:cNvSpPr txBox="1"/>
          <p:nvPr/>
        </p:nvSpPr>
        <p:spPr>
          <a:xfrm>
            <a:off x="868680" y="5120640"/>
            <a:ext cx="10515600" cy="640080"/>
          </a:xfrm>
          <a:prstGeom prst="rect">
            <a:avLst/>
          </a:prstGeom>
          <a:noFill/>
        </p:spPr>
        <p:txBody>
          <a:bodyPr wrap="square" anchor="t">
            <a:spAutoFit/>
          </a:bodyPr>
          <a:lstStyle/>
          <a:p>
            <a:pPr algn="l">
              <a:lnSpc>
                <a:spcPct val="110000"/>
              </a:lnSpc>
            </a:pPr>
            <a:r>
              <a:rPr sz="1300" b="0">
                <a:solidFill>
                  <a:srgbClr val="77706E"/>
                </a:solidFill>
                <a:latin typeface="Meiryo"/>
              </a:rPr>
              <a:t>KHD 全社オペレーション・ハンドブック ／ 2026-06-04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
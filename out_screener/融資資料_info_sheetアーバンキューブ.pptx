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36576"/>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400" b="1">
                <a:solidFill>
                  <a:srgbClr val="AA2E26"/>
                </a:solidFill>
                <a:latin typeface="Meiryo"/>
              </a:rPr>
              <a:t>融資ご相談資料</a:t>
            </a:r>
          </a:p>
        </p:txBody>
      </p:sp>
      <p:sp>
        <p:nvSpPr>
          <p:cNvPr id="7" name="TextBox 6"/>
          <p:cNvSpPr txBox="1"/>
          <p:nvPr/>
        </p:nvSpPr>
        <p:spPr>
          <a:xfrm>
            <a:off x="868680" y="3456432"/>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info_sheetアーバンキューブ</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岩手銀行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2240280"/>
            <a:ext cx="2651760" cy="640080"/>
          </a:xfrm>
          <a:prstGeom prst="rect">
            <a:avLst/>
          </a:prstGeom>
          <a:noFill/>
        </p:spPr>
        <p:txBody>
          <a:bodyPr wrap="square" anchor="t">
            <a:spAutoFit/>
          </a:bodyPr>
          <a:lstStyle/>
          <a:p>
            <a:pPr algn="ctr">
              <a:lnSpc>
                <a:spcPct val="110000"/>
              </a:lnSpc>
            </a:pPr>
            <a:r>
              <a:rPr sz="2400" b="1">
                <a:solidFill>
                  <a:srgbClr val="AA2E26"/>
                </a:solidFill>
                <a:latin typeface="Meiryo"/>
              </a:rPr>
              <a:t>25,000千円</a:t>
            </a:r>
          </a:p>
        </p:txBody>
      </p:sp>
      <p:sp>
        <p:nvSpPr>
          <p:cNvPr id="10" name="Rectangle 9"/>
          <p:cNvSpPr/>
          <p:nvPr/>
        </p:nvSpPr>
        <p:spPr>
          <a:xfrm>
            <a:off x="329184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2" name="TextBox 11"/>
          <p:cNvSpPr txBox="1"/>
          <p:nvPr/>
        </p:nvSpPr>
        <p:spPr>
          <a:xfrm>
            <a:off x="329184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64.8%</a:t>
            </a:r>
          </a:p>
        </p:txBody>
      </p:sp>
      <p:sp>
        <p:nvSpPr>
          <p:cNvPr id="13" name="TextBox 12"/>
          <p:cNvSpPr txBox="1"/>
          <p:nvPr/>
        </p:nvSpPr>
        <p:spPr>
          <a:xfrm>
            <a:off x="329184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担保</a:t>
            </a:r>
          </a:p>
        </p:txBody>
      </p:sp>
      <p:sp>
        <p:nvSpPr>
          <p:cNvPr id="14" name="Rectangle 13"/>
          <p:cNvSpPr/>
          <p:nvPr/>
        </p:nvSpPr>
        <p:spPr>
          <a:xfrm>
            <a:off x="457200" y="35661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593591"/>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16" name="TextBox 15"/>
          <p:cNvSpPr txBox="1"/>
          <p:nvPr/>
        </p:nvSpPr>
        <p:spPr>
          <a:xfrm>
            <a:off x="2706624" y="3593591"/>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岩手県盛岡市高松2丁目</a:t>
            </a:r>
          </a:p>
        </p:txBody>
      </p:sp>
      <p:sp>
        <p:nvSpPr>
          <p:cNvPr id="17" name="Rectangle 16"/>
          <p:cNvSpPr/>
          <p:nvPr/>
        </p:nvSpPr>
        <p:spPr>
          <a:xfrm>
            <a:off x="457200" y="40233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0507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19" name="TextBox 18"/>
          <p:cNvSpPr txBox="1"/>
          <p:nvPr/>
        </p:nvSpPr>
        <p:spPr>
          <a:xfrm>
            <a:off x="2706624" y="40507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0" name="Rectangle 19"/>
          <p:cNvSpPr/>
          <p:nvPr/>
        </p:nvSpPr>
        <p:spPr>
          <a:xfrm>
            <a:off x="457200" y="44805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5079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2" name="TextBox 21"/>
          <p:cNvSpPr txBox="1"/>
          <p:nvPr/>
        </p:nvSpPr>
        <p:spPr>
          <a:xfrm>
            <a:off x="2706624" y="45079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335.66 ㎡</a:t>
            </a:r>
          </a:p>
        </p:txBody>
      </p:sp>
      <p:sp>
        <p:nvSpPr>
          <p:cNvPr id="23" name="Rectangle 22"/>
          <p:cNvSpPr/>
          <p:nvPr/>
        </p:nvSpPr>
        <p:spPr>
          <a:xfrm>
            <a:off x="457200" y="49377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9651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25" name="TextBox 24"/>
          <p:cNvSpPr txBox="1"/>
          <p:nvPr/>
        </p:nvSpPr>
        <p:spPr>
          <a:xfrm>
            <a:off x="2706624" y="49651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再販（キャピタル）</a:t>
            </a:r>
          </a:p>
        </p:txBody>
      </p:sp>
      <p:sp>
        <p:nvSpPr>
          <p:cNvPr id="26" name="TextBox 25"/>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info_sheetアーバンキューブ</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25,000千円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923544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9" name="Rectangle 18"/>
          <p:cNvSpPr/>
          <p:nvPr/>
        </p:nvSpPr>
        <p:spPr>
          <a:xfrm>
            <a:off x="457200" y="30632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90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1" name="TextBox 20"/>
          <p:cNvSpPr txBox="1"/>
          <p:nvPr/>
        </p:nvSpPr>
        <p:spPr>
          <a:xfrm>
            <a:off x="2706624" y="3090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岩手県盛岡市高松2丁目</a:t>
            </a:r>
          </a:p>
        </p:txBody>
      </p:sp>
      <p:sp>
        <p:nvSpPr>
          <p:cNvPr id="22" name="Rectangle 21"/>
          <p:cNvSpPr/>
          <p:nvPr/>
        </p:nvSpPr>
        <p:spPr>
          <a:xfrm>
            <a:off x="457200" y="35204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78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4" name="TextBox 23"/>
          <p:cNvSpPr txBox="1"/>
          <p:nvPr/>
        </p:nvSpPr>
        <p:spPr>
          <a:xfrm>
            <a:off x="2706624" y="35478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3977639"/>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050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7" name="TextBox 26"/>
          <p:cNvSpPr txBox="1"/>
          <p:nvPr/>
        </p:nvSpPr>
        <p:spPr>
          <a:xfrm>
            <a:off x="2706624" y="40050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335.66 ㎡</a:t>
            </a:r>
          </a:p>
        </p:txBody>
      </p:sp>
      <p:sp>
        <p:nvSpPr>
          <p:cNvPr id="28" name="Rectangle 27"/>
          <p:cNvSpPr/>
          <p:nvPr/>
        </p:nvSpPr>
        <p:spPr>
          <a:xfrm>
            <a:off x="457200" y="44348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4622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0" name="TextBox 29"/>
          <p:cNvSpPr txBox="1"/>
          <p:nvPr/>
        </p:nvSpPr>
        <p:spPr>
          <a:xfrm>
            <a:off x="2706624" y="44622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1" name="Rectangle 30"/>
          <p:cNvSpPr/>
          <p:nvPr/>
        </p:nvSpPr>
        <p:spPr>
          <a:xfrm>
            <a:off x="457200" y="48920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194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3" name="TextBox 32"/>
          <p:cNvSpPr txBox="1"/>
          <p:nvPr/>
        </p:nvSpPr>
        <p:spPr>
          <a:xfrm>
            <a:off x="2706624" y="49194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4" name="Rectangle 33"/>
          <p:cNvSpPr/>
          <p:nvPr/>
        </p:nvSpPr>
        <p:spPr>
          <a:xfrm>
            <a:off x="457200" y="53492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76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6" name="TextBox 35"/>
          <p:cNvSpPr txBox="1"/>
          <p:nvPr/>
        </p:nvSpPr>
        <p:spPr>
          <a:xfrm>
            <a:off x="2706624" y="5376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担保・積算評価（融資の根拠）</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約48,240円/㎡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64.8%</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積算割合</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65%（積算1,619万円）</a:t>
            </a:r>
          </a:p>
        </p:txBody>
      </p:sp>
      <p:sp>
        <p:nvSpPr>
          <p:cNvPr id="16" name="TextBox 15"/>
          <p:cNvSpPr txBox="1"/>
          <p:nvPr/>
        </p:nvSpPr>
        <p:spPr>
          <a:xfrm>
            <a:off x="457200" y="3200400"/>
            <a:ext cx="11247120" cy="2743200"/>
          </a:xfrm>
          <a:prstGeom prst="rect">
            <a:avLst/>
          </a:prstGeom>
          <a:noFill/>
        </p:spPr>
        <p:txBody>
          <a:bodyPr wrap="square" anchor="t">
            <a:spAutoFit/>
          </a:bodyPr>
          <a:lstStyle/>
          <a:p>
            <a:pPr algn="l">
              <a:lnSpc>
                <a:spcPct val="125000"/>
              </a:lnSpc>
            </a:pPr>
            <a:r>
              <a:rPr sz="1300" b="0">
                <a:solidFill>
                  <a:srgbClr val="332A28"/>
                </a:solidFill>
                <a:latin typeface="Meiryo"/>
              </a:rPr>
              <a:t>■ 土地値割合（玉川式・投資の下値）＝路線価×面積÷価格。0.4以上で安全圏。</a:t>
            </a:r>
          </a:p>
          <a:p>
            <a:pPr algn="l">
              <a:lnSpc>
                <a:spcPct val="125000"/>
              </a:lnSpc>
            </a:pPr>
            <a:r>
              <a:rPr sz="1300" b="0">
                <a:solidFill>
                  <a:srgbClr val="332A28"/>
                </a:solidFill>
                <a:latin typeface="Meiryo"/>
              </a:rPr>
              <a:t>　本件 64.8%。</a:t>
            </a:r>
          </a:p>
          <a:p>
            <a:pPr algn="l">
              <a:lnSpc>
                <a:spcPct val="125000"/>
              </a:lnSpc>
            </a:pPr>
            <a:r>
              <a:rPr sz="1300" b="0">
                <a:solidFill>
                  <a:srgbClr val="332A28"/>
                </a:solidFill>
                <a:latin typeface="Meiryo"/>
              </a:rPr>
              <a:t>■ 積算割合（銀行の融資根拠）＝積算評価÷価格。1.0以上で積算が出て融資が付きやすい。</a:t>
            </a:r>
          </a:p>
          <a:p>
            <a:pPr algn="l">
              <a:lnSpc>
                <a:spcPct val="125000"/>
              </a:lnSpc>
            </a:pPr>
            <a:r>
              <a:rPr sz="1300" b="0">
                <a:solidFill>
                  <a:srgbClr val="332A28"/>
                </a:solidFill>
                <a:latin typeface="Meiryo"/>
              </a:rPr>
              <a:t>　本件 65%（積算1,619万円）。積算＝土地（路線価×面積）＋建物（再調達単価×延床×残存÷耐用）。</a:t>
            </a:r>
          </a:p>
          <a:p>
            <a:pPr algn="l">
              <a:lnSpc>
                <a:spcPct val="125000"/>
              </a:lnSpc>
            </a:pPr>
            <a:r>
              <a:rPr sz="1300" b="0">
                <a:solidFill>
                  <a:srgbClr val="332A28"/>
                </a:solidFill>
                <a:latin typeface="Meiryo"/>
              </a:rPr>
              <a:t>　参考：1.24（融資カバー率B・1以下で担保堅い）</a:t>
            </a:r>
          </a:p>
          <a:p>
            <a:pPr algn="l">
              <a:lnSpc>
                <a:spcPct val="125000"/>
              </a:lnSpc>
            </a:pPr>
            <a:r>
              <a:rPr sz="1300" b="0">
                <a:solidFill>
                  <a:srgbClr val="332A28"/>
                </a:solidFill>
                <a:latin typeface="Meiryo"/>
              </a:rPr>
              <a:t>■ 路線価はreinfolib周辺取引価格より推定。最終資料は国税庁路線価図で実値確認。</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25,000千円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想定売却額</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粗利率</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457200" y="32004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278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取得価格</a:t>
            </a:r>
          </a:p>
        </p:txBody>
      </p:sp>
      <p:sp>
        <p:nvSpPr>
          <p:cNvPr id="18" name="TextBox 17"/>
          <p:cNvSpPr txBox="1"/>
          <p:nvPr/>
        </p:nvSpPr>
        <p:spPr>
          <a:xfrm>
            <a:off x="3831335" y="32278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25,000千円</a:t>
            </a:r>
          </a:p>
        </p:txBody>
      </p:sp>
      <p:sp>
        <p:nvSpPr>
          <p:cNvPr id="19" name="Rectangle 18"/>
          <p:cNvSpPr/>
          <p:nvPr/>
        </p:nvSpPr>
        <p:spPr>
          <a:xfrm>
            <a:off x="457200" y="36576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850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想定売却額</a:t>
            </a:r>
          </a:p>
        </p:txBody>
      </p:sp>
      <p:sp>
        <p:nvSpPr>
          <p:cNvPr id="21" name="TextBox 20"/>
          <p:cNvSpPr txBox="1"/>
          <p:nvPr/>
        </p:nvSpPr>
        <p:spPr>
          <a:xfrm>
            <a:off x="3831335" y="36850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41148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422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建築費</a:t>
            </a:r>
          </a:p>
        </p:txBody>
      </p:sp>
      <p:sp>
        <p:nvSpPr>
          <p:cNvPr id="24" name="TextBox 23"/>
          <p:cNvSpPr txBox="1"/>
          <p:nvPr/>
        </p:nvSpPr>
        <p:spPr>
          <a:xfrm>
            <a:off x="3831335" y="41422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TextBox 2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400" b="1">
                <a:solidFill>
                  <a:srgbClr val="AA2E26"/>
                </a:solidFill>
                <a:latin typeface="Meiryo"/>
              </a:rPr>
              <a:t>25,000千円</a:t>
            </a:r>
          </a:p>
        </p:txBody>
      </p:sp>
      <p:sp>
        <p:nvSpPr>
          <p:cNvPr id="10" name="Rectangle 9"/>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2" name="TextBox 11"/>
          <p:cNvSpPr txBox="1"/>
          <p:nvPr/>
        </p:nvSpPr>
        <p:spPr>
          <a:xfrm>
            <a:off x="4297680" y="1874520"/>
            <a:ext cx="3657600" cy="640080"/>
          </a:xfrm>
          <a:prstGeom prst="rect">
            <a:avLst/>
          </a:prstGeom>
          <a:noFill/>
        </p:spPr>
        <p:txBody>
          <a:bodyPr wrap="square" anchor="t">
            <a:spAutoFit/>
          </a:bodyPr>
          <a:lstStyle/>
          <a:p>
            <a:pPr algn="ctr">
              <a:lnSpc>
                <a:spcPct val="110000"/>
              </a:lnSpc>
            </a:pPr>
            <a:r>
              <a:rPr sz="2400" b="1">
                <a:solidFill>
                  <a:srgbClr val="332A28"/>
                </a:solidFill>
                <a:latin typeface="Meiryo"/>
              </a:rPr>
              <a:t>売却代金</a:t>
            </a:r>
          </a:p>
        </p:txBody>
      </p:sp>
      <p:sp>
        <p:nvSpPr>
          <p:cNvPr id="13" name="Rectangle 12"/>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スキーム</a:t>
            </a:r>
          </a:p>
        </p:txBody>
      </p:sp>
      <p:sp>
        <p:nvSpPr>
          <p:cNvPr id="15" name="TextBox 14"/>
          <p:cNvSpPr txBox="1"/>
          <p:nvPr/>
        </p:nvSpPr>
        <p:spPr>
          <a:xfrm>
            <a:off x="813816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再販（キャピタル）</a:t>
            </a:r>
          </a:p>
        </p:txBody>
      </p:sp>
      <p:sp>
        <p:nvSpPr>
          <p:cNvPr id="16" name="TextBox 15"/>
          <p:cNvSpPr txBox="1"/>
          <p:nvPr/>
        </p:nvSpPr>
        <p:spPr>
          <a:xfrm>
            <a:off x="457200" y="3200400"/>
            <a:ext cx="11247120" cy="237744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詳細書類（レントロール・確定測量等）は順次ご提出いたします。</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本案件へのご支援を賜りますようお願い申し上げます。</a:t>
            </a:r>
          </a:p>
        </p:txBody>
      </p:sp>
      <p:sp>
        <p:nvSpPr>
          <p:cNvPr id="5" name="TextBox 4"/>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
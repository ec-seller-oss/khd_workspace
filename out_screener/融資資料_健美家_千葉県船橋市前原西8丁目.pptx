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9144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160520"/>
            <a:ext cx="12191695" cy="36576"/>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280160"/>
            <a:ext cx="10058400" cy="457200"/>
          </a:xfrm>
          <a:prstGeom prst="rect">
            <a:avLst/>
          </a:prstGeom>
          <a:noFill/>
        </p:spPr>
        <p:txBody>
          <a:bodyPr wrap="square" anchor="t">
            <a:spAutoFit/>
          </a:bodyPr>
          <a:lstStyle/>
          <a:p>
            <a:pPr algn="l">
              <a:lnSpc>
                <a:spcPct val="110000"/>
              </a:lnSpc>
            </a:pPr>
            <a:r>
              <a:rPr sz="1200" b="0">
                <a:solidFill>
                  <a:srgbClr val="77706E"/>
                </a:solidFill>
                <a:latin typeface="Meiryo"/>
              </a:rPr>
              <a:t>CONFIDENTIAL ／ 融資ご相談資料</a:t>
            </a:r>
          </a:p>
        </p:txBody>
      </p:sp>
      <p:sp>
        <p:nvSpPr>
          <p:cNvPr id="6" name="TextBox 5"/>
          <p:cNvSpPr txBox="1"/>
          <p:nvPr/>
        </p:nvSpPr>
        <p:spPr>
          <a:xfrm>
            <a:off x="822960" y="2514600"/>
            <a:ext cx="10515600" cy="914400"/>
          </a:xfrm>
          <a:prstGeom prst="rect">
            <a:avLst/>
          </a:prstGeom>
          <a:noFill/>
        </p:spPr>
        <p:txBody>
          <a:bodyPr wrap="square" anchor="t">
            <a:spAutoFit/>
          </a:bodyPr>
          <a:lstStyle/>
          <a:p>
            <a:pPr algn="l">
              <a:lnSpc>
                <a:spcPct val="110000"/>
              </a:lnSpc>
            </a:pPr>
            <a:r>
              <a:rPr sz="4400" b="1">
                <a:solidFill>
                  <a:srgbClr val="AA2E26"/>
                </a:solidFill>
                <a:latin typeface="Meiryo"/>
              </a:rPr>
              <a:t>融資ご相談資料</a:t>
            </a:r>
          </a:p>
        </p:txBody>
      </p:sp>
      <p:sp>
        <p:nvSpPr>
          <p:cNvPr id="7" name="TextBox 6"/>
          <p:cNvSpPr txBox="1"/>
          <p:nvPr/>
        </p:nvSpPr>
        <p:spPr>
          <a:xfrm>
            <a:off x="868680" y="3456432"/>
            <a:ext cx="10515600" cy="640080"/>
          </a:xfrm>
          <a:prstGeom prst="rect">
            <a:avLst/>
          </a:prstGeom>
          <a:noFill/>
        </p:spPr>
        <p:txBody>
          <a:bodyPr wrap="square" anchor="t">
            <a:spAutoFit/>
          </a:bodyPr>
          <a:lstStyle/>
          <a:p>
            <a:pPr algn="l">
              <a:lnSpc>
                <a:spcPct val="110000"/>
              </a:lnSpc>
            </a:pPr>
            <a:r>
              <a:rPr sz="1900" b="0">
                <a:solidFill>
                  <a:srgbClr val="332A28"/>
                </a:solidFill>
                <a:latin typeface="Meiryo"/>
              </a:rPr>
              <a:t>健美家_千葉県船橋市前原西8丁目</a:t>
            </a:r>
          </a:p>
        </p:txBody>
      </p:sp>
      <p:sp>
        <p:nvSpPr>
          <p:cNvPr id="8" name="TextBox 7"/>
          <p:cNvSpPr txBox="1"/>
          <p:nvPr/>
        </p:nvSpPr>
        <p:spPr>
          <a:xfrm>
            <a:off x="868680" y="4343400"/>
            <a:ext cx="10515600" cy="457200"/>
          </a:xfrm>
          <a:prstGeom prst="rect">
            <a:avLst/>
          </a:prstGeom>
          <a:noFill/>
        </p:spPr>
        <p:txBody>
          <a:bodyPr wrap="square" anchor="t">
            <a:spAutoFit/>
          </a:bodyPr>
          <a:lstStyle/>
          <a:p>
            <a:pPr algn="l">
              <a:lnSpc>
                <a:spcPct val="110000"/>
              </a:lnSpc>
            </a:pPr>
            <a:r>
              <a:rPr sz="1800" b="1">
                <a:solidFill>
                  <a:srgbClr val="332A28"/>
                </a:solidFill>
                <a:latin typeface="Meiryo"/>
              </a:rPr>
              <a:t>京葉銀行 御中</a:t>
            </a:r>
          </a:p>
        </p:txBody>
      </p:sp>
      <p:sp>
        <p:nvSpPr>
          <p:cNvPr id="9" name="TextBox 8"/>
          <p:cNvSpPr txBox="1"/>
          <p:nvPr/>
        </p:nvSpPr>
        <p:spPr>
          <a:xfrm>
            <a:off x="868680" y="5577840"/>
            <a:ext cx="10515600" cy="822960"/>
          </a:xfrm>
          <a:prstGeom prst="rect">
            <a:avLst/>
          </a:prstGeom>
          <a:noFill/>
        </p:spPr>
        <p:txBody>
          <a:bodyPr wrap="square" anchor="t">
            <a:spAutoFit/>
          </a:bodyPr>
          <a:lstStyle/>
          <a:p>
            <a:pPr algn="l">
              <a:lnSpc>
                <a:spcPct val="110000"/>
              </a:lnSpc>
            </a:pPr>
            <a:r>
              <a:rPr sz="1500" b="0">
                <a:solidFill>
                  <a:srgbClr val="77706E"/>
                </a:solidFill>
                <a:latin typeface="Meiryo"/>
              </a:rPr>
              <a:t>菊池ホールディングス（KHD）</a:t>
            </a:r>
          </a:p>
          <a:p>
            <a:pPr algn="l">
              <a:lnSpc>
                <a:spcPct val="110000"/>
              </a:lnSpc>
            </a:pPr>
            <a:r>
              <a:rPr sz="1500" b="0">
                <a:solidFill>
                  <a:srgbClr val="77706E"/>
                </a:solidFill>
                <a:latin typeface="Meiryo"/>
              </a:rPr>
              <a:t>代表　菊池 研太</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案件概要</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01</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取得価格</a:t>
            </a:r>
          </a:p>
        </p:txBody>
      </p:sp>
      <p:sp>
        <p:nvSpPr>
          <p:cNvPr id="9" name="TextBox 8"/>
          <p:cNvSpPr txBox="1"/>
          <p:nvPr/>
        </p:nvSpPr>
        <p:spPr>
          <a:xfrm>
            <a:off x="457200" y="2240280"/>
            <a:ext cx="2651760" cy="640080"/>
          </a:xfrm>
          <a:prstGeom prst="rect">
            <a:avLst/>
          </a:prstGeom>
          <a:noFill/>
        </p:spPr>
        <p:txBody>
          <a:bodyPr wrap="square" anchor="t">
            <a:spAutoFit/>
          </a:bodyPr>
          <a:lstStyle/>
          <a:p>
            <a:pPr algn="ctr">
              <a:lnSpc>
                <a:spcPct val="110000"/>
              </a:lnSpc>
            </a:pPr>
            <a:r>
              <a:rPr sz="2400" b="1">
                <a:solidFill>
                  <a:srgbClr val="AA2E26"/>
                </a:solidFill>
                <a:latin typeface="Meiryo"/>
              </a:rPr>
              <a:t>74,800千円</a:t>
            </a:r>
          </a:p>
        </p:txBody>
      </p:sp>
      <p:sp>
        <p:nvSpPr>
          <p:cNvPr id="10" name="Rectangle 9"/>
          <p:cNvSpPr/>
          <p:nvPr/>
        </p:nvSpPr>
        <p:spPr>
          <a:xfrm>
            <a:off x="329184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土地値割合</a:t>
            </a:r>
          </a:p>
        </p:txBody>
      </p:sp>
      <p:sp>
        <p:nvSpPr>
          <p:cNvPr id="12" name="TextBox 11"/>
          <p:cNvSpPr txBox="1"/>
          <p:nvPr/>
        </p:nvSpPr>
        <p:spPr>
          <a:xfrm>
            <a:off x="3291840" y="2240280"/>
            <a:ext cx="2651760" cy="640080"/>
          </a:xfrm>
          <a:prstGeom prst="rect">
            <a:avLst/>
          </a:prstGeom>
          <a:noFill/>
        </p:spPr>
        <p:txBody>
          <a:bodyPr wrap="square" anchor="t">
            <a:spAutoFit/>
          </a:bodyPr>
          <a:lstStyle/>
          <a:p>
            <a:pPr algn="ctr">
              <a:lnSpc>
                <a:spcPct val="110000"/>
              </a:lnSpc>
            </a:pPr>
            <a:r>
              <a:rPr sz="2400" b="1">
                <a:solidFill>
                  <a:srgbClr val="1F7A1F"/>
                </a:solidFill>
                <a:latin typeface="Meiryo"/>
              </a:rPr>
              <a:t>24.5%</a:t>
            </a:r>
          </a:p>
        </p:txBody>
      </p:sp>
      <p:sp>
        <p:nvSpPr>
          <p:cNvPr id="13" name="TextBox 12"/>
          <p:cNvSpPr txBox="1"/>
          <p:nvPr/>
        </p:nvSpPr>
        <p:spPr>
          <a:xfrm>
            <a:off x="3291840" y="2852928"/>
            <a:ext cx="2651760" cy="320040"/>
          </a:xfrm>
          <a:prstGeom prst="rect">
            <a:avLst/>
          </a:prstGeom>
          <a:noFill/>
        </p:spPr>
        <p:txBody>
          <a:bodyPr wrap="square" anchor="t">
            <a:spAutoFit/>
          </a:bodyPr>
          <a:lstStyle/>
          <a:p>
            <a:pPr algn="ctr">
              <a:lnSpc>
                <a:spcPct val="110000"/>
              </a:lnSpc>
            </a:pPr>
            <a:r>
              <a:rPr sz="1000" b="0">
                <a:solidFill>
                  <a:srgbClr val="77706E"/>
                </a:solidFill>
                <a:latin typeface="Meiryo"/>
              </a:rPr>
              <a:t>担保</a:t>
            </a:r>
          </a:p>
        </p:txBody>
      </p:sp>
      <p:sp>
        <p:nvSpPr>
          <p:cNvPr id="14" name="Rectangle 13"/>
          <p:cNvSpPr/>
          <p:nvPr/>
        </p:nvSpPr>
        <p:spPr>
          <a:xfrm>
            <a:off x="612648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実質利回り</a:t>
            </a:r>
          </a:p>
        </p:txBody>
      </p:sp>
      <p:sp>
        <p:nvSpPr>
          <p:cNvPr id="16" name="TextBox 15"/>
          <p:cNvSpPr txBox="1"/>
          <p:nvPr/>
        </p:nvSpPr>
        <p:spPr>
          <a:xfrm>
            <a:off x="6126480" y="2240280"/>
            <a:ext cx="2651760" cy="640080"/>
          </a:xfrm>
          <a:prstGeom prst="rect">
            <a:avLst/>
          </a:prstGeom>
          <a:noFill/>
        </p:spPr>
        <p:txBody>
          <a:bodyPr wrap="square" anchor="t">
            <a:spAutoFit/>
          </a:bodyPr>
          <a:lstStyle/>
          <a:p>
            <a:pPr algn="ctr">
              <a:lnSpc>
                <a:spcPct val="110000"/>
              </a:lnSpc>
            </a:pPr>
            <a:r>
              <a:rPr sz="2400" b="1">
                <a:solidFill>
                  <a:srgbClr val="1F7A1F"/>
                </a:solidFill>
                <a:latin typeface="Meiryo"/>
              </a:rPr>
              <a:t>5.4%</a:t>
            </a:r>
          </a:p>
        </p:txBody>
      </p:sp>
      <p:sp>
        <p:nvSpPr>
          <p:cNvPr id="17" name="TextBox 16"/>
          <p:cNvSpPr txBox="1"/>
          <p:nvPr/>
        </p:nvSpPr>
        <p:spPr>
          <a:xfrm>
            <a:off x="6126480" y="2852928"/>
            <a:ext cx="2651760" cy="320040"/>
          </a:xfrm>
          <a:prstGeom prst="rect">
            <a:avLst/>
          </a:prstGeom>
          <a:noFill/>
        </p:spPr>
        <p:txBody>
          <a:bodyPr wrap="square" anchor="t">
            <a:spAutoFit/>
          </a:bodyPr>
          <a:lstStyle/>
          <a:p>
            <a:pPr algn="ctr">
              <a:lnSpc>
                <a:spcPct val="110000"/>
              </a:lnSpc>
            </a:pPr>
            <a:r>
              <a:rPr sz="1000" b="0">
                <a:solidFill>
                  <a:srgbClr val="77706E"/>
                </a:solidFill>
                <a:latin typeface="Meiryo"/>
              </a:rPr>
              <a:t>経費15%控除</a:t>
            </a:r>
          </a:p>
        </p:txBody>
      </p:sp>
      <p:sp>
        <p:nvSpPr>
          <p:cNvPr id="18" name="Rectangle 17"/>
          <p:cNvSpPr/>
          <p:nvPr/>
        </p:nvSpPr>
        <p:spPr>
          <a:xfrm>
            <a:off x="896112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CF率</a:t>
            </a:r>
          </a:p>
        </p:txBody>
      </p:sp>
      <p:sp>
        <p:nvSpPr>
          <p:cNvPr id="20" name="TextBox 19"/>
          <p:cNvSpPr txBox="1"/>
          <p:nvPr/>
        </p:nvSpPr>
        <p:spPr>
          <a:xfrm>
            <a:off x="8961120" y="2240280"/>
            <a:ext cx="2651760" cy="640080"/>
          </a:xfrm>
          <a:prstGeom prst="rect">
            <a:avLst/>
          </a:prstGeom>
          <a:noFill/>
        </p:spPr>
        <p:txBody>
          <a:bodyPr wrap="square" anchor="t">
            <a:spAutoFit/>
          </a:bodyPr>
          <a:lstStyle/>
          <a:p>
            <a:pPr algn="ctr">
              <a:lnSpc>
                <a:spcPct val="110000"/>
              </a:lnSpc>
            </a:pPr>
            <a:r>
              <a:rPr sz="2400" b="1">
                <a:solidFill>
                  <a:srgbClr val="1F7A1F"/>
                </a:solidFill>
                <a:latin typeface="Meiryo"/>
              </a:rPr>
              <a:t>-0.0%</a:t>
            </a:r>
          </a:p>
        </p:txBody>
      </p:sp>
      <p:sp>
        <p:nvSpPr>
          <p:cNvPr id="21" name="TextBox 20"/>
          <p:cNvSpPr txBox="1"/>
          <p:nvPr/>
        </p:nvSpPr>
        <p:spPr>
          <a:xfrm>
            <a:off x="8961120" y="2852928"/>
            <a:ext cx="2651760" cy="320040"/>
          </a:xfrm>
          <a:prstGeom prst="rect">
            <a:avLst/>
          </a:prstGeom>
          <a:noFill/>
        </p:spPr>
        <p:txBody>
          <a:bodyPr wrap="square" anchor="t">
            <a:spAutoFit/>
          </a:bodyPr>
          <a:lstStyle/>
          <a:p>
            <a:pPr algn="ctr">
              <a:lnSpc>
                <a:spcPct val="110000"/>
              </a:lnSpc>
            </a:pPr>
            <a:r>
              <a:rPr sz="1000" b="0">
                <a:solidFill>
                  <a:srgbClr val="77706E"/>
                </a:solidFill>
                <a:latin typeface="Meiryo"/>
              </a:rPr>
              <a:t>税引前CF/価格</a:t>
            </a:r>
          </a:p>
        </p:txBody>
      </p:sp>
      <p:sp>
        <p:nvSpPr>
          <p:cNvPr id="22" name="Rectangle 21"/>
          <p:cNvSpPr/>
          <p:nvPr/>
        </p:nvSpPr>
        <p:spPr>
          <a:xfrm>
            <a:off x="457200" y="356616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93591"/>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所在地</a:t>
            </a:r>
          </a:p>
        </p:txBody>
      </p:sp>
      <p:sp>
        <p:nvSpPr>
          <p:cNvPr id="24" name="TextBox 23"/>
          <p:cNvSpPr txBox="1"/>
          <p:nvPr/>
        </p:nvSpPr>
        <p:spPr>
          <a:xfrm>
            <a:off x="2706624" y="3593591"/>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5" name="Rectangle 24"/>
          <p:cNvSpPr/>
          <p:nvPr/>
        </p:nvSpPr>
        <p:spPr>
          <a:xfrm>
            <a:off x="457200" y="402336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05079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用途地域</a:t>
            </a:r>
          </a:p>
        </p:txBody>
      </p:sp>
      <p:sp>
        <p:nvSpPr>
          <p:cNvPr id="27" name="TextBox 26"/>
          <p:cNvSpPr txBox="1"/>
          <p:nvPr/>
        </p:nvSpPr>
        <p:spPr>
          <a:xfrm>
            <a:off x="2706624" y="405079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8" name="Rectangle 27"/>
          <p:cNvSpPr/>
          <p:nvPr/>
        </p:nvSpPr>
        <p:spPr>
          <a:xfrm>
            <a:off x="457200" y="448056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50799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土地面積</a:t>
            </a:r>
          </a:p>
        </p:txBody>
      </p:sp>
      <p:sp>
        <p:nvSpPr>
          <p:cNvPr id="30" name="TextBox 29"/>
          <p:cNvSpPr txBox="1"/>
          <p:nvPr/>
        </p:nvSpPr>
        <p:spPr>
          <a:xfrm>
            <a:off x="2706624" y="450799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110.81 ㎡</a:t>
            </a:r>
          </a:p>
        </p:txBody>
      </p:sp>
      <p:sp>
        <p:nvSpPr>
          <p:cNvPr id="31" name="Rectangle 30"/>
          <p:cNvSpPr/>
          <p:nvPr/>
        </p:nvSpPr>
        <p:spPr>
          <a:xfrm>
            <a:off x="457200" y="493776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496519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スキーム</a:t>
            </a:r>
          </a:p>
        </p:txBody>
      </p:sp>
      <p:sp>
        <p:nvSpPr>
          <p:cNvPr id="33" name="TextBox 32"/>
          <p:cNvSpPr txBox="1"/>
          <p:nvPr/>
        </p:nvSpPr>
        <p:spPr>
          <a:xfrm>
            <a:off x="2706624" y="496519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保有（インカム）</a:t>
            </a:r>
          </a:p>
        </p:txBody>
      </p:sp>
      <p:sp>
        <p:nvSpPr>
          <p:cNvPr id="34" name="TextBox 33"/>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物件1 ― 健美家_千葉県船橋市前原西8丁目</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02</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取得価格</a:t>
            </a:r>
          </a:p>
        </p:txBody>
      </p:sp>
      <p:sp>
        <p:nvSpPr>
          <p:cNvPr id="9" name="TextBox 8"/>
          <p:cNvSpPr txBox="1"/>
          <p:nvPr/>
        </p:nvSpPr>
        <p:spPr>
          <a:xfrm>
            <a:off x="457200" y="1828800"/>
            <a:ext cx="2743200" cy="640080"/>
          </a:xfrm>
          <a:prstGeom prst="rect">
            <a:avLst/>
          </a:prstGeom>
          <a:noFill/>
        </p:spPr>
        <p:txBody>
          <a:bodyPr wrap="square" anchor="t">
            <a:spAutoFit/>
          </a:bodyPr>
          <a:lstStyle/>
          <a:p>
            <a:pPr algn="ctr">
              <a:lnSpc>
                <a:spcPct val="110000"/>
              </a:lnSpc>
            </a:pPr>
            <a:r>
              <a:rPr sz="2400" b="1">
                <a:solidFill>
                  <a:srgbClr val="AA2E26"/>
                </a:solidFill>
                <a:latin typeface="Meiryo"/>
              </a:rPr>
              <a:t>74,800千円</a:t>
            </a:r>
          </a:p>
        </p:txBody>
      </p:sp>
      <p:sp>
        <p:nvSpPr>
          <p:cNvPr id="10" name="Rectangle 9"/>
          <p:cNvSpPr/>
          <p:nvPr/>
        </p:nvSpPr>
        <p:spPr>
          <a:xfrm>
            <a:off x="338328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年間賃料</a:t>
            </a:r>
          </a:p>
        </p:txBody>
      </p:sp>
      <p:sp>
        <p:nvSpPr>
          <p:cNvPr id="12" name="TextBox 11"/>
          <p:cNvSpPr txBox="1"/>
          <p:nvPr/>
        </p:nvSpPr>
        <p:spPr>
          <a:xfrm>
            <a:off x="3383280" y="1828800"/>
            <a:ext cx="2743200" cy="640080"/>
          </a:xfrm>
          <a:prstGeom prst="rect">
            <a:avLst/>
          </a:prstGeom>
          <a:noFill/>
        </p:spPr>
        <p:txBody>
          <a:bodyPr wrap="square" anchor="t">
            <a:spAutoFit/>
          </a:bodyPr>
          <a:lstStyle/>
          <a:p>
            <a:pPr algn="ctr">
              <a:lnSpc>
                <a:spcPct val="110000"/>
              </a:lnSpc>
            </a:pPr>
            <a:r>
              <a:rPr sz="2400" b="1">
                <a:solidFill>
                  <a:srgbClr val="AA2E26"/>
                </a:solidFill>
                <a:latin typeface="Meiryo"/>
              </a:rPr>
              <a:t>4,727千円</a:t>
            </a:r>
          </a:p>
        </p:txBody>
      </p:sp>
      <p:sp>
        <p:nvSpPr>
          <p:cNvPr id="13" name="Rectangle 12"/>
          <p:cNvSpPr/>
          <p:nvPr/>
        </p:nvSpPr>
        <p:spPr>
          <a:xfrm>
            <a:off x="630936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利回り</a:t>
            </a:r>
          </a:p>
        </p:txBody>
      </p:sp>
      <p:sp>
        <p:nvSpPr>
          <p:cNvPr id="15" name="TextBox 14"/>
          <p:cNvSpPr txBox="1"/>
          <p:nvPr/>
        </p:nvSpPr>
        <p:spPr>
          <a:xfrm>
            <a:off x="6309360" y="182880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a:t>
            </a:r>
          </a:p>
        </p:txBody>
      </p:sp>
      <p:sp>
        <p:nvSpPr>
          <p:cNvPr id="16" name="Rectangle 15"/>
          <p:cNvSpPr/>
          <p:nvPr/>
        </p:nvSpPr>
        <p:spPr>
          <a:xfrm>
            <a:off x="923544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現況</a:t>
            </a:r>
          </a:p>
        </p:txBody>
      </p:sp>
      <p:sp>
        <p:nvSpPr>
          <p:cNvPr id="18" name="TextBox 17"/>
          <p:cNvSpPr txBox="1"/>
          <p:nvPr/>
        </p:nvSpPr>
        <p:spPr>
          <a:xfrm>
            <a:off x="9235440" y="182880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a:t>
            </a:r>
          </a:p>
        </p:txBody>
      </p:sp>
      <p:sp>
        <p:nvSpPr>
          <p:cNvPr id="19" name="Rectangle 18"/>
          <p:cNvSpPr/>
          <p:nvPr/>
        </p:nvSpPr>
        <p:spPr>
          <a:xfrm>
            <a:off x="457200" y="306324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0906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所在地</a:t>
            </a:r>
          </a:p>
        </p:txBody>
      </p:sp>
      <p:sp>
        <p:nvSpPr>
          <p:cNvPr id="21" name="TextBox 20"/>
          <p:cNvSpPr txBox="1"/>
          <p:nvPr/>
        </p:nvSpPr>
        <p:spPr>
          <a:xfrm>
            <a:off x="2706624" y="30906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2" name="Rectangle 21"/>
          <p:cNvSpPr/>
          <p:nvPr/>
        </p:nvSpPr>
        <p:spPr>
          <a:xfrm>
            <a:off x="457200" y="352044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478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構造／築年</a:t>
            </a:r>
          </a:p>
        </p:txBody>
      </p:sp>
      <p:sp>
        <p:nvSpPr>
          <p:cNvPr id="24" name="TextBox 23"/>
          <p:cNvSpPr txBox="1"/>
          <p:nvPr/>
        </p:nvSpPr>
        <p:spPr>
          <a:xfrm>
            <a:off x="2706624" y="35478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5" name="Rectangle 24"/>
          <p:cNvSpPr/>
          <p:nvPr/>
        </p:nvSpPr>
        <p:spPr>
          <a:xfrm>
            <a:off x="457200" y="3977639"/>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0050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土地面積</a:t>
            </a:r>
          </a:p>
        </p:txBody>
      </p:sp>
      <p:sp>
        <p:nvSpPr>
          <p:cNvPr id="27" name="TextBox 26"/>
          <p:cNvSpPr txBox="1"/>
          <p:nvPr/>
        </p:nvSpPr>
        <p:spPr>
          <a:xfrm>
            <a:off x="2706624" y="40050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110.81 ㎡</a:t>
            </a:r>
          </a:p>
        </p:txBody>
      </p:sp>
      <p:sp>
        <p:nvSpPr>
          <p:cNvPr id="28" name="Rectangle 27"/>
          <p:cNvSpPr/>
          <p:nvPr/>
        </p:nvSpPr>
        <p:spPr>
          <a:xfrm>
            <a:off x="457200" y="443484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4622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建物面積</a:t>
            </a:r>
          </a:p>
        </p:txBody>
      </p:sp>
      <p:sp>
        <p:nvSpPr>
          <p:cNvPr id="30" name="TextBox 29"/>
          <p:cNvSpPr txBox="1"/>
          <p:nvPr/>
        </p:nvSpPr>
        <p:spPr>
          <a:xfrm>
            <a:off x="2706624" y="44622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31" name="Rectangle 30"/>
          <p:cNvSpPr/>
          <p:nvPr/>
        </p:nvSpPr>
        <p:spPr>
          <a:xfrm>
            <a:off x="457200" y="489204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49194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月額賃料</a:t>
            </a:r>
          </a:p>
        </p:txBody>
      </p:sp>
      <p:sp>
        <p:nvSpPr>
          <p:cNvPr id="33" name="TextBox 32"/>
          <p:cNvSpPr txBox="1"/>
          <p:nvPr/>
        </p:nvSpPr>
        <p:spPr>
          <a:xfrm>
            <a:off x="2706624" y="49194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34" name="Rectangle 33"/>
          <p:cNvSpPr/>
          <p:nvPr/>
        </p:nvSpPr>
        <p:spPr>
          <a:xfrm>
            <a:off x="457200" y="534924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53766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特記</a:t>
            </a:r>
          </a:p>
        </p:txBody>
      </p:sp>
      <p:sp>
        <p:nvSpPr>
          <p:cNvPr id="36" name="TextBox 35"/>
          <p:cNvSpPr txBox="1"/>
          <p:nvPr/>
        </p:nvSpPr>
        <p:spPr>
          <a:xfrm>
            <a:off x="2706624" y="53766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37" name="TextBox 3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路線価・担保評価</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03</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相続税路線価</a:t>
            </a:r>
          </a:p>
        </p:txBody>
      </p:sp>
      <p:sp>
        <p:nvSpPr>
          <p:cNvPr id="9" name="TextBox 8"/>
          <p:cNvSpPr txBox="1"/>
          <p:nvPr/>
        </p:nvSpPr>
        <p:spPr>
          <a:xfrm>
            <a:off x="457200" y="1874520"/>
            <a:ext cx="3566160" cy="640080"/>
          </a:xfrm>
          <a:prstGeom prst="rect">
            <a:avLst/>
          </a:prstGeom>
          <a:noFill/>
        </p:spPr>
        <p:txBody>
          <a:bodyPr wrap="square" anchor="t">
            <a:spAutoFit/>
          </a:bodyPr>
          <a:lstStyle/>
          <a:p>
            <a:pPr algn="ctr">
              <a:lnSpc>
                <a:spcPct val="110000"/>
              </a:lnSpc>
            </a:pPr>
            <a:r>
              <a:rPr sz="2400" b="1">
                <a:solidFill>
                  <a:srgbClr val="AA2E26"/>
                </a:solidFill>
                <a:latin typeface="Meiryo"/>
              </a:rPr>
              <a:t>約165,600円/㎡</a:t>
            </a:r>
          </a:p>
        </p:txBody>
      </p:sp>
      <p:sp>
        <p:nvSpPr>
          <p:cNvPr id="10" name="Rectangle 9"/>
          <p:cNvSpPr/>
          <p:nvPr/>
        </p:nvSpPr>
        <p:spPr>
          <a:xfrm>
            <a:off x="420624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実勢(中央値)</a:t>
            </a:r>
          </a:p>
        </p:txBody>
      </p:sp>
      <p:sp>
        <p:nvSpPr>
          <p:cNvPr id="12" name="TextBox 11"/>
          <p:cNvSpPr txBox="1"/>
          <p:nvPr/>
        </p:nvSpPr>
        <p:spPr>
          <a:xfrm>
            <a:off x="4206240" y="1874520"/>
            <a:ext cx="3566160" cy="640080"/>
          </a:xfrm>
          <a:prstGeom prst="rect">
            <a:avLst/>
          </a:prstGeom>
          <a:noFill/>
        </p:spPr>
        <p:txBody>
          <a:bodyPr wrap="square" anchor="t">
            <a:spAutoFit/>
          </a:bodyPr>
          <a:lstStyle/>
          <a:p>
            <a:pPr algn="ctr">
              <a:lnSpc>
                <a:spcPct val="110000"/>
              </a:lnSpc>
            </a:pPr>
            <a:r>
              <a:rPr sz="2400" b="1">
                <a:solidFill>
                  <a:srgbClr val="332A28"/>
                </a:solidFill>
                <a:latin typeface="Meiryo"/>
              </a:rPr>
              <a:t>—</a:t>
            </a:r>
          </a:p>
        </p:txBody>
      </p:sp>
      <p:sp>
        <p:nvSpPr>
          <p:cNvPr id="13" name="Rectangle 12"/>
          <p:cNvSpPr/>
          <p:nvPr/>
        </p:nvSpPr>
        <p:spPr>
          <a:xfrm>
            <a:off x="7955279"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79"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土地値割合</a:t>
            </a:r>
          </a:p>
        </p:txBody>
      </p:sp>
      <p:sp>
        <p:nvSpPr>
          <p:cNvPr id="15" name="TextBox 14"/>
          <p:cNvSpPr txBox="1"/>
          <p:nvPr/>
        </p:nvSpPr>
        <p:spPr>
          <a:xfrm>
            <a:off x="7955279" y="1874520"/>
            <a:ext cx="3566160" cy="640080"/>
          </a:xfrm>
          <a:prstGeom prst="rect">
            <a:avLst/>
          </a:prstGeom>
          <a:noFill/>
        </p:spPr>
        <p:txBody>
          <a:bodyPr wrap="square" anchor="t">
            <a:spAutoFit/>
          </a:bodyPr>
          <a:lstStyle/>
          <a:p>
            <a:pPr algn="ctr">
              <a:lnSpc>
                <a:spcPct val="110000"/>
              </a:lnSpc>
            </a:pPr>
            <a:r>
              <a:rPr sz="2400" b="1">
                <a:solidFill>
                  <a:srgbClr val="1F7A1F"/>
                </a:solidFill>
                <a:latin typeface="Meiryo"/>
              </a:rPr>
              <a:t>24.5%</a:t>
            </a:r>
          </a:p>
        </p:txBody>
      </p:sp>
      <p:sp>
        <p:nvSpPr>
          <p:cNvPr id="16" name="TextBox 15"/>
          <p:cNvSpPr txBox="1"/>
          <p:nvPr/>
        </p:nvSpPr>
        <p:spPr>
          <a:xfrm>
            <a:off x="457200" y="3200400"/>
            <a:ext cx="11247120" cy="2560320"/>
          </a:xfrm>
          <a:prstGeom prst="rect">
            <a:avLst/>
          </a:prstGeom>
          <a:noFill/>
        </p:spPr>
        <p:txBody>
          <a:bodyPr wrap="square" anchor="t">
            <a:spAutoFit/>
          </a:bodyPr>
          <a:lstStyle/>
          <a:p>
            <a:pPr algn="l">
              <a:lnSpc>
                <a:spcPct val="125000"/>
              </a:lnSpc>
            </a:pPr>
            <a:r>
              <a:rPr sz="1400" b="0">
                <a:solidFill>
                  <a:srgbClr val="332A28"/>
                </a:solidFill>
                <a:latin typeface="Meiryo"/>
              </a:rPr>
              <a:t>■ 担保評価（玉川式）</a:t>
            </a:r>
          </a:p>
          <a:p>
            <a:pPr algn="l">
              <a:lnSpc>
                <a:spcPct val="125000"/>
              </a:lnSpc>
            </a:pPr>
            <a:r>
              <a:rPr sz="1400" b="0">
                <a:solidFill>
                  <a:srgbClr val="332A28"/>
                </a:solidFill>
                <a:latin typeface="Meiryo"/>
              </a:rPr>
              <a:t>・土地値割合 ＝ 路線価 × 土地面積 ÷ 取得価格。0.4以上で安全圏。</a:t>
            </a:r>
          </a:p>
          <a:p>
            <a:pPr algn="l">
              <a:lnSpc>
                <a:spcPct val="125000"/>
              </a:lnSpc>
            </a:pPr>
            <a:r>
              <a:rPr sz="1400" b="0">
                <a:solidFill>
                  <a:srgbClr val="332A28"/>
                </a:solidFill>
                <a:latin typeface="Meiryo"/>
              </a:rPr>
              <a:t>・本件 24.5%。</a:t>
            </a:r>
          </a:p>
          <a:p>
            <a:pPr algn="l">
              <a:lnSpc>
                <a:spcPct val="125000"/>
              </a:lnSpc>
            </a:pPr>
            <a:r>
              <a:rPr sz="1400" b="0">
                <a:solidFill>
                  <a:srgbClr val="332A28"/>
                </a:solidFill>
                <a:latin typeface="Meiryo"/>
              </a:rPr>
              <a:t/>
            </a:r>
          </a:p>
          <a:p>
            <a:pPr algn="l">
              <a:lnSpc>
                <a:spcPct val="125000"/>
              </a:lnSpc>
            </a:pPr>
            <a:r>
              <a:rPr sz="1400" b="0">
                <a:solidFill>
                  <a:srgbClr val="332A28"/>
                </a:solidFill>
                <a:latin typeface="Meiryo"/>
              </a:rPr>
              <a:t>■ 換算（参考）</a:t>
            </a:r>
          </a:p>
          <a:p>
            <a:pPr algn="l">
              <a:lnSpc>
                <a:spcPct val="125000"/>
              </a:lnSpc>
            </a:pPr>
            <a:r>
              <a:rPr sz="1400" b="0">
                <a:solidFill>
                  <a:srgbClr val="332A28"/>
                </a:solidFill>
                <a:latin typeface="Meiryo"/>
              </a:rPr>
              <a:t>・公示価格相当 ＝ 路線価 ÷ 0.8 ／ 地方実勢 ＝ 公示相当 × 1.0〜1.1</a:t>
            </a:r>
          </a:p>
          <a:p>
            <a:pPr algn="l">
              <a:lnSpc>
                <a:spcPct val="125000"/>
              </a:lnSpc>
            </a:pPr>
            <a:r>
              <a:rPr sz="1400" b="0">
                <a:solidFill>
                  <a:srgbClr val="332A28"/>
                </a:solidFill>
                <a:latin typeface="Meiryo"/>
              </a:rPr>
              <a:t>・路線価はreinfolib周辺取引価格より推定。国税庁路線価図で実値確認のうえ最終反映。</a:t>
            </a:r>
          </a:p>
        </p:txBody>
      </p:sp>
      <p:sp>
        <p:nvSpPr>
          <p:cNvPr id="17" name="TextBox 1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収支・収益性</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04</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年間賃料</a:t>
            </a:r>
          </a:p>
        </p:txBody>
      </p:sp>
      <p:sp>
        <p:nvSpPr>
          <p:cNvPr id="9" name="TextBox 8"/>
          <p:cNvSpPr txBox="1"/>
          <p:nvPr/>
        </p:nvSpPr>
        <p:spPr>
          <a:xfrm>
            <a:off x="457200" y="1874520"/>
            <a:ext cx="2743200" cy="640080"/>
          </a:xfrm>
          <a:prstGeom prst="rect">
            <a:avLst/>
          </a:prstGeom>
          <a:noFill/>
        </p:spPr>
        <p:txBody>
          <a:bodyPr wrap="square" anchor="t">
            <a:spAutoFit/>
          </a:bodyPr>
          <a:lstStyle/>
          <a:p>
            <a:pPr algn="ctr">
              <a:lnSpc>
                <a:spcPct val="110000"/>
              </a:lnSpc>
            </a:pPr>
            <a:r>
              <a:rPr sz="2400" b="1">
                <a:solidFill>
                  <a:srgbClr val="AA2E26"/>
                </a:solidFill>
                <a:latin typeface="Meiryo"/>
              </a:rPr>
              <a:t>4,727千円</a:t>
            </a:r>
          </a:p>
        </p:txBody>
      </p:sp>
      <p:sp>
        <p:nvSpPr>
          <p:cNvPr id="10" name="Rectangle 9"/>
          <p:cNvSpPr/>
          <p:nvPr/>
        </p:nvSpPr>
        <p:spPr>
          <a:xfrm>
            <a:off x="338328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表面利回り</a:t>
            </a:r>
          </a:p>
        </p:txBody>
      </p:sp>
      <p:sp>
        <p:nvSpPr>
          <p:cNvPr id="12" name="TextBox 11"/>
          <p:cNvSpPr txBox="1"/>
          <p:nvPr/>
        </p:nvSpPr>
        <p:spPr>
          <a:xfrm>
            <a:off x="3383280" y="187452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6.3%</a:t>
            </a:r>
          </a:p>
        </p:txBody>
      </p:sp>
      <p:sp>
        <p:nvSpPr>
          <p:cNvPr id="13" name="Rectangle 12"/>
          <p:cNvSpPr/>
          <p:nvPr/>
        </p:nvSpPr>
        <p:spPr>
          <a:xfrm>
            <a:off x="630936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実質利回り</a:t>
            </a:r>
          </a:p>
        </p:txBody>
      </p:sp>
      <p:sp>
        <p:nvSpPr>
          <p:cNvPr id="15" name="TextBox 14"/>
          <p:cNvSpPr txBox="1"/>
          <p:nvPr/>
        </p:nvSpPr>
        <p:spPr>
          <a:xfrm>
            <a:off x="6309360" y="187452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5.4%</a:t>
            </a:r>
          </a:p>
        </p:txBody>
      </p:sp>
      <p:sp>
        <p:nvSpPr>
          <p:cNvPr id="16" name="Rectangle 15"/>
          <p:cNvSpPr/>
          <p:nvPr/>
        </p:nvSpPr>
        <p:spPr>
          <a:xfrm>
            <a:off x="923544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税引前CF</a:t>
            </a:r>
          </a:p>
        </p:txBody>
      </p:sp>
      <p:sp>
        <p:nvSpPr>
          <p:cNvPr id="18" name="TextBox 17"/>
          <p:cNvSpPr txBox="1"/>
          <p:nvPr/>
        </p:nvSpPr>
        <p:spPr>
          <a:xfrm>
            <a:off x="9235440" y="187452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-8千円</a:t>
            </a:r>
          </a:p>
        </p:txBody>
      </p:sp>
      <p:sp>
        <p:nvSpPr>
          <p:cNvPr id="19" name="Rectangle 18"/>
          <p:cNvSpPr/>
          <p:nvPr/>
        </p:nvSpPr>
        <p:spPr>
          <a:xfrm>
            <a:off x="457200" y="320040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2278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取得価格</a:t>
            </a:r>
          </a:p>
        </p:txBody>
      </p:sp>
      <p:sp>
        <p:nvSpPr>
          <p:cNvPr id="21" name="TextBox 20"/>
          <p:cNvSpPr txBox="1"/>
          <p:nvPr/>
        </p:nvSpPr>
        <p:spPr>
          <a:xfrm>
            <a:off x="3831335" y="32278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74,800千円</a:t>
            </a:r>
          </a:p>
        </p:txBody>
      </p:sp>
      <p:sp>
        <p:nvSpPr>
          <p:cNvPr id="22" name="Rectangle 21"/>
          <p:cNvSpPr/>
          <p:nvPr/>
        </p:nvSpPr>
        <p:spPr>
          <a:xfrm>
            <a:off x="457200" y="365760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850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年間賃料</a:t>
            </a:r>
          </a:p>
        </p:txBody>
      </p:sp>
      <p:sp>
        <p:nvSpPr>
          <p:cNvPr id="24" name="TextBox 23"/>
          <p:cNvSpPr txBox="1"/>
          <p:nvPr/>
        </p:nvSpPr>
        <p:spPr>
          <a:xfrm>
            <a:off x="3831335" y="36850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4,727千円</a:t>
            </a:r>
          </a:p>
        </p:txBody>
      </p:sp>
      <p:sp>
        <p:nvSpPr>
          <p:cNvPr id="25" name="Rectangle 24"/>
          <p:cNvSpPr/>
          <p:nvPr/>
        </p:nvSpPr>
        <p:spPr>
          <a:xfrm>
            <a:off x="457200" y="411480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1422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実質利回り</a:t>
            </a:r>
          </a:p>
        </p:txBody>
      </p:sp>
      <p:sp>
        <p:nvSpPr>
          <p:cNvPr id="27" name="TextBox 26"/>
          <p:cNvSpPr txBox="1"/>
          <p:nvPr/>
        </p:nvSpPr>
        <p:spPr>
          <a:xfrm>
            <a:off x="3831335" y="41422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5.4%</a:t>
            </a:r>
          </a:p>
        </p:txBody>
      </p:sp>
      <p:sp>
        <p:nvSpPr>
          <p:cNvPr id="28" name="Rectangle 27"/>
          <p:cNvSpPr/>
          <p:nvPr/>
        </p:nvSpPr>
        <p:spPr>
          <a:xfrm>
            <a:off x="457200" y="457200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5994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税引前CF(試算)</a:t>
            </a:r>
          </a:p>
        </p:txBody>
      </p:sp>
      <p:sp>
        <p:nvSpPr>
          <p:cNvPr id="30" name="TextBox 29"/>
          <p:cNvSpPr txBox="1"/>
          <p:nvPr/>
        </p:nvSpPr>
        <p:spPr>
          <a:xfrm>
            <a:off x="3831335" y="45994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-8千円</a:t>
            </a:r>
          </a:p>
        </p:txBody>
      </p:sp>
      <p:sp>
        <p:nvSpPr>
          <p:cNvPr id="31" name="TextBox 30"/>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融資のご相談</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05</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6576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3657600" cy="365760"/>
          </a:xfrm>
          <a:prstGeom prst="rect">
            <a:avLst/>
          </a:prstGeom>
          <a:noFill/>
        </p:spPr>
        <p:txBody>
          <a:bodyPr wrap="square" anchor="t">
            <a:spAutoFit/>
          </a:bodyPr>
          <a:lstStyle/>
          <a:p>
            <a:pPr algn="ctr">
              <a:lnSpc>
                <a:spcPct val="110000"/>
              </a:lnSpc>
            </a:pPr>
            <a:r>
              <a:rPr sz="1200" b="0">
                <a:solidFill>
                  <a:srgbClr val="77706E"/>
                </a:solidFill>
                <a:latin typeface="Meiryo"/>
              </a:rPr>
              <a:t>融資希望額</a:t>
            </a:r>
          </a:p>
        </p:txBody>
      </p:sp>
      <p:sp>
        <p:nvSpPr>
          <p:cNvPr id="9" name="TextBox 8"/>
          <p:cNvSpPr txBox="1"/>
          <p:nvPr/>
        </p:nvSpPr>
        <p:spPr>
          <a:xfrm>
            <a:off x="457200" y="1874520"/>
            <a:ext cx="3657600" cy="640080"/>
          </a:xfrm>
          <a:prstGeom prst="rect">
            <a:avLst/>
          </a:prstGeom>
          <a:noFill/>
        </p:spPr>
        <p:txBody>
          <a:bodyPr wrap="square" anchor="t">
            <a:spAutoFit/>
          </a:bodyPr>
          <a:lstStyle/>
          <a:p>
            <a:pPr algn="ctr">
              <a:lnSpc>
                <a:spcPct val="110000"/>
              </a:lnSpc>
            </a:pPr>
            <a:r>
              <a:rPr sz="2400" b="1">
                <a:solidFill>
                  <a:srgbClr val="AA2E26"/>
                </a:solidFill>
                <a:latin typeface="Meiryo"/>
              </a:rPr>
              <a:t>74,800千円</a:t>
            </a:r>
          </a:p>
        </p:txBody>
      </p:sp>
      <p:sp>
        <p:nvSpPr>
          <p:cNvPr id="10" name="Rectangle 9"/>
          <p:cNvSpPr/>
          <p:nvPr/>
        </p:nvSpPr>
        <p:spPr>
          <a:xfrm>
            <a:off x="4297680" y="1463040"/>
            <a:ext cx="36576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1572768"/>
            <a:ext cx="3657600" cy="365760"/>
          </a:xfrm>
          <a:prstGeom prst="rect">
            <a:avLst/>
          </a:prstGeom>
          <a:noFill/>
        </p:spPr>
        <p:txBody>
          <a:bodyPr wrap="square" anchor="t">
            <a:spAutoFit/>
          </a:bodyPr>
          <a:lstStyle/>
          <a:p>
            <a:pPr algn="ctr">
              <a:lnSpc>
                <a:spcPct val="110000"/>
              </a:lnSpc>
            </a:pPr>
            <a:r>
              <a:rPr sz="1200" b="0">
                <a:solidFill>
                  <a:srgbClr val="77706E"/>
                </a:solidFill>
                <a:latin typeface="Meiryo"/>
              </a:rPr>
              <a:t>返済原資</a:t>
            </a:r>
          </a:p>
        </p:txBody>
      </p:sp>
      <p:sp>
        <p:nvSpPr>
          <p:cNvPr id="12" name="TextBox 11"/>
          <p:cNvSpPr txBox="1"/>
          <p:nvPr/>
        </p:nvSpPr>
        <p:spPr>
          <a:xfrm>
            <a:off x="4297680" y="1874520"/>
            <a:ext cx="3657600" cy="640080"/>
          </a:xfrm>
          <a:prstGeom prst="rect">
            <a:avLst/>
          </a:prstGeom>
          <a:noFill/>
        </p:spPr>
        <p:txBody>
          <a:bodyPr wrap="square" anchor="t">
            <a:spAutoFit/>
          </a:bodyPr>
          <a:lstStyle/>
          <a:p>
            <a:pPr algn="ctr">
              <a:lnSpc>
                <a:spcPct val="110000"/>
              </a:lnSpc>
            </a:pPr>
            <a:r>
              <a:rPr sz="2400" b="1">
                <a:solidFill>
                  <a:srgbClr val="332A28"/>
                </a:solidFill>
                <a:latin typeface="Meiryo"/>
              </a:rPr>
              <a:t>賃料収入</a:t>
            </a:r>
          </a:p>
        </p:txBody>
      </p:sp>
      <p:sp>
        <p:nvSpPr>
          <p:cNvPr id="13" name="Rectangle 12"/>
          <p:cNvSpPr/>
          <p:nvPr/>
        </p:nvSpPr>
        <p:spPr>
          <a:xfrm>
            <a:off x="813816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スキーム</a:t>
            </a:r>
          </a:p>
        </p:txBody>
      </p:sp>
      <p:sp>
        <p:nvSpPr>
          <p:cNvPr id="15" name="TextBox 14"/>
          <p:cNvSpPr txBox="1"/>
          <p:nvPr/>
        </p:nvSpPr>
        <p:spPr>
          <a:xfrm>
            <a:off x="8138160" y="1874520"/>
            <a:ext cx="3566160" cy="640080"/>
          </a:xfrm>
          <a:prstGeom prst="rect">
            <a:avLst/>
          </a:prstGeom>
          <a:noFill/>
        </p:spPr>
        <p:txBody>
          <a:bodyPr wrap="square" anchor="t">
            <a:spAutoFit/>
          </a:bodyPr>
          <a:lstStyle/>
          <a:p>
            <a:pPr algn="ctr">
              <a:lnSpc>
                <a:spcPct val="110000"/>
              </a:lnSpc>
            </a:pPr>
            <a:r>
              <a:rPr sz="2400" b="1">
                <a:solidFill>
                  <a:srgbClr val="332A28"/>
                </a:solidFill>
                <a:latin typeface="Meiryo"/>
              </a:rPr>
              <a:t>保有（インカム）</a:t>
            </a:r>
          </a:p>
        </p:txBody>
      </p:sp>
      <p:sp>
        <p:nvSpPr>
          <p:cNvPr id="16" name="TextBox 15"/>
          <p:cNvSpPr txBox="1"/>
          <p:nvPr/>
        </p:nvSpPr>
        <p:spPr>
          <a:xfrm>
            <a:off x="457200" y="3200400"/>
            <a:ext cx="11247120" cy="2377440"/>
          </a:xfrm>
          <a:prstGeom prst="rect">
            <a:avLst/>
          </a:prstGeom>
          <a:noFill/>
        </p:spPr>
        <p:txBody>
          <a:bodyPr wrap="square" anchor="t">
            <a:spAutoFit/>
          </a:bodyPr>
          <a:lstStyle/>
          <a:p>
            <a:pPr algn="l">
              <a:lnSpc>
                <a:spcPct val="130000"/>
              </a:lnSpc>
            </a:pPr>
            <a:r>
              <a:rPr sz="1500" b="0">
                <a:solidFill>
                  <a:srgbClr val="332A28"/>
                </a:solidFill>
                <a:latin typeface="Meiryo"/>
              </a:rPr>
              <a:t>■ ご相談事項</a:t>
            </a:r>
          </a:p>
          <a:p>
            <a:pPr algn="l">
              <a:lnSpc>
                <a:spcPct val="130000"/>
              </a:lnSpc>
            </a:pPr>
            <a:r>
              <a:rPr sz="1500" b="0">
                <a:solidFill>
                  <a:srgbClr val="332A28"/>
                </a:solidFill>
                <a:latin typeface="Meiryo"/>
              </a:rPr>
              <a:t>・融資可否・融資可能額／対象費目</a:t>
            </a:r>
          </a:p>
          <a:p>
            <a:pPr algn="l">
              <a:lnSpc>
                <a:spcPct val="130000"/>
              </a:lnSpc>
            </a:pPr>
            <a:r>
              <a:rPr sz="1500" b="0">
                <a:solidFill>
                  <a:srgbClr val="332A28"/>
                </a:solidFill>
                <a:latin typeface="Meiryo"/>
              </a:rPr>
              <a:t>・金利・期間・自己資金割合のご条件</a:t>
            </a:r>
          </a:p>
          <a:p>
            <a:pPr algn="l">
              <a:lnSpc>
                <a:spcPct val="130000"/>
              </a:lnSpc>
            </a:pPr>
            <a:r>
              <a:rPr sz="1500" b="0">
                <a:solidFill>
                  <a:srgbClr val="332A28"/>
                </a:solidFill>
                <a:latin typeface="Meiryo"/>
              </a:rPr>
              <a:t>・抵当権設定・必要書類のご確認</a:t>
            </a:r>
          </a:p>
          <a:p>
            <a:pPr algn="l">
              <a:lnSpc>
                <a:spcPct val="130000"/>
              </a:lnSpc>
            </a:pPr>
            <a:r>
              <a:rPr sz="1500" b="0">
                <a:solidFill>
                  <a:srgbClr val="332A28"/>
                </a:solidFill>
                <a:latin typeface="Meiryo"/>
              </a:rPr>
              <a:t/>
            </a:r>
          </a:p>
          <a:p>
            <a:pPr algn="l">
              <a:lnSpc>
                <a:spcPct val="130000"/>
              </a:lnSpc>
            </a:pPr>
            <a:r>
              <a:rPr sz="1500" b="0">
                <a:solidFill>
                  <a:srgbClr val="332A28"/>
                </a:solidFill>
                <a:latin typeface="Meiryo"/>
              </a:rPr>
              <a:t>※ 詳細書類（レントロール・確定測量等）は順次ご提出いたします。</a:t>
            </a:r>
          </a:p>
        </p:txBody>
      </p:sp>
      <p:sp>
        <p:nvSpPr>
          <p:cNvPr id="17" name="TextBox 1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73152"/>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468880"/>
            <a:ext cx="10515600" cy="1280160"/>
          </a:xfrm>
          <a:prstGeom prst="rect">
            <a:avLst/>
          </a:prstGeom>
          <a:noFill/>
        </p:spPr>
        <p:txBody>
          <a:bodyPr wrap="square" anchor="t">
            <a:spAutoFit/>
          </a:bodyPr>
          <a:lstStyle/>
          <a:p>
            <a:pPr algn="l">
              <a:lnSpc>
                <a:spcPct val="130000"/>
              </a:lnSpc>
            </a:pPr>
            <a:r>
              <a:rPr sz="2000" b="0">
                <a:solidFill>
                  <a:srgbClr val="332A28"/>
                </a:solidFill>
                <a:latin typeface="Meiryo"/>
              </a:rPr>
              <a:t>本案件へのご支援を賜りますようお願い申し上げます。</a:t>
            </a:r>
          </a:p>
        </p:txBody>
      </p:sp>
      <p:sp>
        <p:nvSpPr>
          <p:cNvPr id="5" name="TextBox 4"/>
          <p:cNvSpPr txBox="1"/>
          <p:nvPr/>
        </p:nvSpPr>
        <p:spPr>
          <a:xfrm>
            <a:off x="868680" y="4937760"/>
            <a:ext cx="10515600" cy="822960"/>
          </a:xfrm>
          <a:prstGeom prst="rect">
            <a:avLst/>
          </a:prstGeom>
          <a:noFill/>
        </p:spPr>
        <p:txBody>
          <a:bodyPr wrap="square" anchor="t">
            <a:spAutoFit/>
          </a:bodyPr>
          <a:lstStyle/>
          <a:p>
            <a:pPr algn="l">
              <a:lnSpc>
                <a:spcPct val="110000"/>
              </a:lnSpc>
            </a:pPr>
            <a:r>
              <a:rPr sz="1500" b="0">
                <a:solidFill>
                  <a:srgbClr val="77706E"/>
                </a:solidFill>
                <a:latin typeface="Meiryo"/>
              </a:rPr>
              <a:t>菊池ホールディングス（KHD）</a:t>
            </a:r>
          </a:p>
          <a:p>
            <a:pPr algn="l">
              <a:lnSpc>
                <a:spcPct val="110000"/>
              </a:lnSpc>
            </a:pPr>
            <a:r>
              <a:rPr sz="1500" b="0">
                <a:solidFill>
                  <a:srgbClr val="77706E"/>
                </a:solidFill>
                <a:latin typeface="Meiryo"/>
              </a:rPr>
              <a:t>代表　菊池 研太</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
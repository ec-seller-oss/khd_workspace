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盛岡高松_番地査定テスト</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岩手銀行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64.8%</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担保</a:t>
            </a:r>
          </a:p>
        </p:txBody>
      </p:sp>
      <p:sp>
        <p:nvSpPr>
          <p:cNvPr id="14" name="Rectangle 13"/>
          <p:cNvSpPr/>
          <p:nvPr/>
        </p:nvSpPr>
        <p:spPr>
          <a:xfrm>
            <a:off x="612648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6" name="TextBox 15"/>
          <p:cNvSpPr txBox="1"/>
          <p:nvPr/>
        </p:nvSpPr>
        <p:spPr>
          <a:xfrm>
            <a:off x="612648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12.0%</a:t>
            </a:r>
          </a:p>
        </p:txBody>
      </p:sp>
      <p:sp>
        <p:nvSpPr>
          <p:cNvPr id="17" name="TextBox 16"/>
          <p:cNvSpPr txBox="1"/>
          <p:nvPr/>
        </p:nvSpPr>
        <p:spPr>
          <a:xfrm>
            <a:off x="612648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18" name="Rectangle 17"/>
          <p:cNvSpPr/>
          <p:nvPr/>
        </p:nvSpPr>
        <p:spPr>
          <a:xfrm>
            <a:off x="896112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CF率</a:t>
            </a:r>
          </a:p>
        </p:txBody>
      </p:sp>
      <p:sp>
        <p:nvSpPr>
          <p:cNvPr id="20" name="TextBox 19"/>
          <p:cNvSpPr txBox="1"/>
          <p:nvPr/>
        </p:nvSpPr>
        <p:spPr>
          <a:xfrm>
            <a:off x="896112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5.6%</a:t>
            </a:r>
          </a:p>
        </p:txBody>
      </p:sp>
      <p:sp>
        <p:nvSpPr>
          <p:cNvPr id="21" name="TextBox 20"/>
          <p:cNvSpPr txBox="1"/>
          <p:nvPr/>
        </p:nvSpPr>
        <p:spPr>
          <a:xfrm>
            <a:off x="896112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税引前CF/価格</a:t>
            </a:r>
          </a:p>
        </p:txBody>
      </p:sp>
      <p:sp>
        <p:nvSpPr>
          <p:cNvPr id="22" name="Rectangle 21"/>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4" name="TextBox 23"/>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27" name="TextBox 26"/>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8" name="Rectangle 27"/>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30" name="TextBox 29"/>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335.66 ㎡</a:t>
            </a:r>
          </a:p>
        </p:txBody>
      </p:sp>
      <p:sp>
        <p:nvSpPr>
          <p:cNvPr id="31" name="Rectangle 30"/>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33" name="TextBox 32"/>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保有（インカム）</a:t>
            </a:r>
          </a:p>
        </p:txBody>
      </p:sp>
      <p:sp>
        <p:nvSpPr>
          <p:cNvPr id="34" name="TextBox 33"/>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盛岡高松_番地査定テスト</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3,528千円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335.66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約48,240円/㎡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64.8%</a:t>
            </a:r>
          </a:p>
        </p:txBody>
      </p:sp>
      <p:sp>
        <p:nvSpPr>
          <p:cNvPr id="16" name="TextBox 15"/>
          <p:cNvSpPr txBox="1"/>
          <p:nvPr/>
        </p:nvSpPr>
        <p:spPr>
          <a:xfrm>
            <a:off x="457200" y="3200400"/>
            <a:ext cx="11247120" cy="25603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 ÷ 取得価格。0.4以上で安全圏。</a:t>
            </a:r>
          </a:p>
          <a:p>
            <a:pPr algn="l">
              <a:lnSpc>
                <a:spcPct val="125000"/>
              </a:lnSpc>
            </a:pPr>
            <a:r>
              <a:rPr sz="1400" b="0">
                <a:solidFill>
                  <a:srgbClr val="332A28"/>
                </a:solidFill>
                <a:latin typeface="Meiryo"/>
              </a:rPr>
              <a:t>・本件 64.8%。</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換算（参考）</a:t>
            </a:r>
          </a:p>
          <a:p>
            <a:pPr algn="l">
              <a:lnSpc>
                <a:spcPct val="125000"/>
              </a:lnSpc>
            </a:pPr>
            <a:r>
              <a:rPr sz="1400" b="0">
                <a:solidFill>
                  <a:srgbClr val="332A28"/>
                </a:solidFill>
                <a:latin typeface="Meiryo"/>
              </a:rPr>
              <a:t>・公示価格相当 ＝ 路線価 ÷ 0.8 ／ 地方実勢 ＝ 公示相当 × 1.0〜1.1</a:t>
            </a:r>
          </a:p>
          <a:p>
            <a:pPr algn="l">
              <a:lnSpc>
                <a:spcPct val="125000"/>
              </a:lnSpc>
            </a:pPr>
            <a:r>
              <a:rPr sz="1400" b="0">
                <a:solidFill>
                  <a:srgbClr val="332A28"/>
                </a:solidFill>
                <a:latin typeface="Meiryo"/>
              </a:rPr>
              <a:t>・路線価はreinfolib周辺取引価格より推定。国税庁路線価図で実値確認のうえ最終反映。</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9" name="TextBox 8"/>
          <p:cNvSpPr txBox="1"/>
          <p:nvPr/>
        </p:nvSpPr>
        <p:spPr>
          <a:xfrm>
            <a:off x="457200" y="187452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3,528千円</a:t>
            </a:r>
          </a:p>
        </p:txBody>
      </p:sp>
      <p:sp>
        <p:nvSpPr>
          <p:cNvPr id="10" name="Rectangle 9"/>
          <p:cNvSpPr/>
          <p:nvPr/>
        </p:nvSpPr>
        <p:spPr>
          <a:xfrm>
            <a:off x="338328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2" name="TextBox 11"/>
          <p:cNvSpPr txBox="1"/>
          <p:nvPr/>
        </p:nvSpPr>
        <p:spPr>
          <a:xfrm>
            <a:off x="338328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14.1%</a:t>
            </a:r>
          </a:p>
        </p:txBody>
      </p:sp>
      <p:sp>
        <p:nvSpPr>
          <p:cNvPr id="13" name="Rectangle 12"/>
          <p:cNvSpPr/>
          <p:nvPr/>
        </p:nvSpPr>
        <p:spPr>
          <a:xfrm>
            <a:off x="630936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5" name="TextBox 14"/>
          <p:cNvSpPr txBox="1"/>
          <p:nvPr/>
        </p:nvSpPr>
        <p:spPr>
          <a:xfrm>
            <a:off x="630936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12.0%</a:t>
            </a:r>
          </a:p>
        </p:txBody>
      </p:sp>
      <p:sp>
        <p:nvSpPr>
          <p:cNvPr id="16" name="Rectangle 15"/>
          <p:cNvSpPr/>
          <p:nvPr/>
        </p:nvSpPr>
        <p:spPr>
          <a:xfrm>
            <a:off x="923544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税引前CF</a:t>
            </a:r>
          </a:p>
        </p:txBody>
      </p:sp>
      <p:sp>
        <p:nvSpPr>
          <p:cNvPr id="18" name="TextBox 17"/>
          <p:cNvSpPr txBox="1"/>
          <p:nvPr/>
        </p:nvSpPr>
        <p:spPr>
          <a:xfrm>
            <a:off x="923544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1,409千円</a:t>
            </a:r>
          </a:p>
        </p:txBody>
      </p:sp>
      <p:sp>
        <p:nvSpPr>
          <p:cNvPr id="19" name="Rectangle 18"/>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21" name="TextBox 20"/>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25,000千円</a:t>
            </a:r>
          </a:p>
        </p:txBody>
      </p:sp>
      <p:sp>
        <p:nvSpPr>
          <p:cNvPr id="22" name="Rectangle 21"/>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年間賃料</a:t>
            </a:r>
          </a:p>
        </p:txBody>
      </p:sp>
      <p:sp>
        <p:nvSpPr>
          <p:cNvPr id="24" name="TextBox 23"/>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3,528千円</a:t>
            </a:r>
          </a:p>
        </p:txBody>
      </p:sp>
      <p:sp>
        <p:nvSpPr>
          <p:cNvPr id="25" name="Rectangle 24"/>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実質利回り</a:t>
            </a:r>
          </a:p>
        </p:txBody>
      </p:sp>
      <p:sp>
        <p:nvSpPr>
          <p:cNvPr id="27" name="TextBox 26"/>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12.0%</a:t>
            </a:r>
          </a:p>
        </p:txBody>
      </p:sp>
      <p:sp>
        <p:nvSpPr>
          <p:cNvPr id="28" name="Rectangle 27"/>
          <p:cNvSpPr/>
          <p:nvPr/>
        </p:nvSpPr>
        <p:spPr>
          <a:xfrm>
            <a:off x="457200" y="45720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994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税引前CF(試算)</a:t>
            </a:r>
          </a:p>
        </p:txBody>
      </p:sp>
      <p:sp>
        <p:nvSpPr>
          <p:cNvPr id="30" name="TextBox 29"/>
          <p:cNvSpPr txBox="1"/>
          <p:nvPr/>
        </p:nvSpPr>
        <p:spPr>
          <a:xfrm>
            <a:off x="3831335" y="45994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1,409千円</a:t>
            </a:r>
          </a:p>
        </p:txBody>
      </p:sp>
      <p:sp>
        <p:nvSpPr>
          <p:cNvPr id="31" name="TextBox 3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25,000千円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賃料収入</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保有（インカム）</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
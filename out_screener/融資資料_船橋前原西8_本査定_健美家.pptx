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331720"/>
            <a:ext cx="12191695" cy="9144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160520"/>
            <a:ext cx="12191695" cy="36576"/>
          </a:xfrm>
          <a:prstGeom prst="rect">
            <a:avLst/>
          </a:prstGeom>
          <a:solidFill>
            <a:srgbClr val="E3D8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280160"/>
            <a:ext cx="10058400" cy="457200"/>
          </a:xfrm>
          <a:prstGeom prst="rect">
            <a:avLst/>
          </a:prstGeom>
          <a:noFill/>
        </p:spPr>
        <p:txBody>
          <a:bodyPr wrap="square" anchor="t">
            <a:spAutoFit/>
          </a:bodyPr>
          <a:lstStyle/>
          <a:p>
            <a:pPr algn="l">
              <a:lnSpc>
                <a:spcPct val="110000"/>
              </a:lnSpc>
            </a:pPr>
            <a:r>
              <a:rPr sz="1200" b="0">
                <a:solidFill>
                  <a:srgbClr val="77706E"/>
                </a:solidFill>
                <a:latin typeface="Meiryo"/>
              </a:rPr>
              <a:t>CONFIDENTIAL ／ 融資ご相談資料</a:t>
            </a:r>
          </a:p>
        </p:txBody>
      </p:sp>
      <p:sp>
        <p:nvSpPr>
          <p:cNvPr id="6" name="TextBox 5"/>
          <p:cNvSpPr txBox="1"/>
          <p:nvPr/>
        </p:nvSpPr>
        <p:spPr>
          <a:xfrm>
            <a:off x="822960" y="2514600"/>
            <a:ext cx="10515600" cy="914400"/>
          </a:xfrm>
          <a:prstGeom prst="rect">
            <a:avLst/>
          </a:prstGeom>
          <a:noFill/>
        </p:spPr>
        <p:txBody>
          <a:bodyPr wrap="square" anchor="t">
            <a:spAutoFit/>
          </a:bodyPr>
          <a:lstStyle/>
          <a:p>
            <a:pPr algn="l">
              <a:lnSpc>
                <a:spcPct val="110000"/>
              </a:lnSpc>
            </a:pPr>
            <a:r>
              <a:rPr sz="4400" b="1">
                <a:solidFill>
                  <a:srgbClr val="AA2E26"/>
                </a:solidFill>
                <a:latin typeface="Meiryo"/>
              </a:rPr>
              <a:t>融資ご相談資料</a:t>
            </a:r>
          </a:p>
        </p:txBody>
      </p:sp>
      <p:sp>
        <p:nvSpPr>
          <p:cNvPr id="7" name="TextBox 6"/>
          <p:cNvSpPr txBox="1"/>
          <p:nvPr/>
        </p:nvSpPr>
        <p:spPr>
          <a:xfrm>
            <a:off x="868680" y="3456432"/>
            <a:ext cx="10515600" cy="640080"/>
          </a:xfrm>
          <a:prstGeom prst="rect">
            <a:avLst/>
          </a:prstGeom>
          <a:noFill/>
        </p:spPr>
        <p:txBody>
          <a:bodyPr wrap="square" anchor="t">
            <a:spAutoFit/>
          </a:bodyPr>
          <a:lstStyle/>
          <a:p>
            <a:pPr algn="l">
              <a:lnSpc>
                <a:spcPct val="110000"/>
              </a:lnSpc>
            </a:pPr>
            <a:r>
              <a:rPr sz="1900" b="0">
                <a:solidFill>
                  <a:srgbClr val="332A28"/>
                </a:solidFill>
                <a:latin typeface="Meiryo"/>
              </a:rPr>
              <a:t>船橋前原西8_本査定_健美家</a:t>
            </a:r>
          </a:p>
        </p:txBody>
      </p:sp>
      <p:sp>
        <p:nvSpPr>
          <p:cNvPr id="8" name="TextBox 7"/>
          <p:cNvSpPr txBox="1"/>
          <p:nvPr/>
        </p:nvSpPr>
        <p:spPr>
          <a:xfrm>
            <a:off x="868680" y="4343400"/>
            <a:ext cx="10515600" cy="457200"/>
          </a:xfrm>
          <a:prstGeom prst="rect">
            <a:avLst/>
          </a:prstGeom>
          <a:noFill/>
        </p:spPr>
        <p:txBody>
          <a:bodyPr wrap="square" anchor="t">
            <a:spAutoFit/>
          </a:bodyPr>
          <a:lstStyle/>
          <a:p>
            <a:pPr algn="l">
              <a:lnSpc>
                <a:spcPct val="110000"/>
              </a:lnSpc>
            </a:pPr>
            <a:r>
              <a:rPr sz="1800" b="1">
                <a:solidFill>
                  <a:srgbClr val="332A28"/>
                </a:solidFill>
                <a:latin typeface="Meiryo"/>
              </a:rPr>
              <a:t>京葉銀行 御中</a:t>
            </a:r>
          </a:p>
        </p:txBody>
      </p:sp>
      <p:sp>
        <p:nvSpPr>
          <p:cNvPr id="9" name="TextBox 8"/>
          <p:cNvSpPr txBox="1"/>
          <p:nvPr/>
        </p:nvSpPr>
        <p:spPr>
          <a:xfrm>
            <a:off x="868680" y="5577840"/>
            <a:ext cx="10515600" cy="822960"/>
          </a:xfrm>
          <a:prstGeom prst="rect">
            <a:avLst/>
          </a:prstGeom>
          <a:noFill/>
        </p:spPr>
        <p:txBody>
          <a:bodyPr wrap="square" anchor="t">
            <a:spAutoFit/>
          </a:bodyPr>
          <a:lstStyle/>
          <a:p>
            <a:pPr algn="l">
              <a:lnSpc>
                <a:spcPct val="110000"/>
              </a:lnSpc>
            </a:pPr>
            <a:r>
              <a:rPr sz="1500" b="0">
                <a:solidFill>
                  <a:srgbClr val="77706E"/>
                </a:solidFill>
                <a:latin typeface="Meiryo"/>
              </a:rPr>
              <a:t>菊池ホールディングス（KHD）</a:t>
            </a:r>
          </a:p>
          <a:p>
            <a:pPr algn="l">
              <a:lnSpc>
                <a:spcPct val="110000"/>
              </a:lnSpc>
            </a:pPr>
            <a:r>
              <a:rPr sz="1500" b="0">
                <a:solidFill>
                  <a:srgbClr val="77706E"/>
                </a:solidFill>
                <a:latin typeface="Meiryo"/>
              </a:rPr>
              <a:t>代表　菊池 研太</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201168" cy="59436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10789920" cy="731520"/>
          </a:xfrm>
          <a:prstGeom prst="rect">
            <a:avLst/>
          </a:prstGeom>
          <a:noFill/>
        </p:spPr>
        <p:txBody>
          <a:bodyPr wrap="square" anchor="t">
            <a:spAutoFit/>
          </a:bodyPr>
          <a:lstStyle/>
          <a:p>
            <a:pPr algn="l">
              <a:lnSpc>
                <a:spcPct val="110000"/>
              </a:lnSpc>
            </a:pPr>
            <a:r>
              <a:rPr sz="2600" b="1">
                <a:solidFill>
                  <a:srgbClr val="AA2E26"/>
                </a:solidFill>
                <a:latin typeface="Meiryo"/>
              </a:rPr>
              <a:t>案件概要</a:t>
            </a:r>
          </a:p>
        </p:txBody>
      </p:sp>
      <p:sp>
        <p:nvSpPr>
          <p:cNvPr id="5" name="TextBox 4"/>
          <p:cNvSpPr txBox="1"/>
          <p:nvPr/>
        </p:nvSpPr>
        <p:spPr>
          <a:xfrm>
            <a:off x="11338560" y="548640"/>
            <a:ext cx="640080" cy="457200"/>
          </a:xfrm>
          <a:prstGeom prst="rect">
            <a:avLst/>
          </a:prstGeom>
          <a:noFill/>
        </p:spPr>
        <p:txBody>
          <a:bodyPr wrap="square" anchor="t">
            <a:spAutoFit/>
          </a:bodyPr>
          <a:lstStyle/>
          <a:p>
            <a:pPr algn="r">
              <a:lnSpc>
                <a:spcPct val="110000"/>
              </a:lnSpc>
            </a:pPr>
            <a:r>
              <a:rPr sz="1600" b="1">
                <a:solidFill>
                  <a:srgbClr val="77706E"/>
                </a:solidFill>
                <a:latin typeface="Meiryo"/>
              </a:rPr>
              <a:t>01</a:t>
            </a:r>
          </a:p>
        </p:txBody>
      </p:sp>
      <p:sp>
        <p:nvSpPr>
          <p:cNvPr id="6" name="Rectangle 5"/>
          <p:cNvSpPr/>
          <p:nvPr/>
        </p:nvSpPr>
        <p:spPr>
          <a:xfrm>
            <a:off x="457200" y="1207008"/>
            <a:ext cx="11247120" cy="18288"/>
          </a:xfrm>
          <a:prstGeom prst="rect">
            <a:avLst/>
          </a:prstGeom>
          <a:solidFill>
            <a:srgbClr val="E3D8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828800"/>
            <a:ext cx="265176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938528"/>
            <a:ext cx="2651760" cy="365760"/>
          </a:xfrm>
          <a:prstGeom prst="rect">
            <a:avLst/>
          </a:prstGeom>
          <a:noFill/>
        </p:spPr>
        <p:txBody>
          <a:bodyPr wrap="square" anchor="t">
            <a:spAutoFit/>
          </a:bodyPr>
          <a:lstStyle/>
          <a:p>
            <a:pPr algn="ctr">
              <a:lnSpc>
                <a:spcPct val="110000"/>
              </a:lnSpc>
            </a:pPr>
            <a:r>
              <a:rPr sz="1200" b="0">
                <a:solidFill>
                  <a:srgbClr val="77706E"/>
                </a:solidFill>
                <a:latin typeface="Meiryo"/>
              </a:rPr>
              <a:t>取得価格</a:t>
            </a:r>
          </a:p>
        </p:txBody>
      </p:sp>
      <p:sp>
        <p:nvSpPr>
          <p:cNvPr id="9" name="TextBox 8"/>
          <p:cNvSpPr txBox="1"/>
          <p:nvPr/>
        </p:nvSpPr>
        <p:spPr>
          <a:xfrm>
            <a:off x="457200" y="2240280"/>
            <a:ext cx="2651760" cy="640080"/>
          </a:xfrm>
          <a:prstGeom prst="rect">
            <a:avLst/>
          </a:prstGeom>
          <a:noFill/>
        </p:spPr>
        <p:txBody>
          <a:bodyPr wrap="square" anchor="t">
            <a:spAutoFit/>
          </a:bodyPr>
          <a:lstStyle/>
          <a:p>
            <a:pPr algn="ctr">
              <a:lnSpc>
                <a:spcPct val="110000"/>
              </a:lnSpc>
            </a:pPr>
            <a:r>
              <a:rPr sz="2400" b="1">
                <a:solidFill>
                  <a:srgbClr val="AA2E26"/>
                </a:solidFill>
                <a:latin typeface="Meiryo"/>
              </a:rPr>
              <a:t>74,800千円</a:t>
            </a:r>
          </a:p>
        </p:txBody>
      </p:sp>
      <p:sp>
        <p:nvSpPr>
          <p:cNvPr id="10" name="Rectangle 9"/>
          <p:cNvSpPr/>
          <p:nvPr/>
        </p:nvSpPr>
        <p:spPr>
          <a:xfrm>
            <a:off x="3291840" y="1828800"/>
            <a:ext cx="265176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91840" y="1938528"/>
            <a:ext cx="2651760" cy="365760"/>
          </a:xfrm>
          <a:prstGeom prst="rect">
            <a:avLst/>
          </a:prstGeom>
          <a:noFill/>
        </p:spPr>
        <p:txBody>
          <a:bodyPr wrap="square" anchor="t">
            <a:spAutoFit/>
          </a:bodyPr>
          <a:lstStyle/>
          <a:p>
            <a:pPr algn="ctr">
              <a:lnSpc>
                <a:spcPct val="110000"/>
              </a:lnSpc>
            </a:pPr>
            <a:r>
              <a:rPr sz="1200" b="0">
                <a:solidFill>
                  <a:srgbClr val="77706E"/>
                </a:solidFill>
                <a:latin typeface="Meiryo"/>
              </a:rPr>
              <a:t>土地値割合</a:t>
            </a:r>
          </a:p>
        </p:txBody>
      </p:sp>
      <p:sp>
        <p:nvSpPr>
          <p:cNvPr id="12" name="TextBox 11"/>
          <p:cNvSpPr txBox="1"/>
          <p:nvPr/>
        </p:nvSpPr>
        <p:spPr>
          <a:xfrm>
            <a:off x="3291840" y="2240280"/>
            <a:ext cx="2651760" cy="640080"/>
          </a:xfrm>
          <a:prstGeom prst="rect">
            <a:avLst/>
          </a:prstGeom>
          <a:noFill/>
        </p:spPr>
        <p:txBody>
          <a:bodyPr wrap="square" anchor="t">
            <a:spAutoFit/>
          </a:bodyPr>
          <a:lstStyle/>
          <a:p>
            <a:pPr algn="ctr">
              <a:lnSpc>
                <a:spcPct val="110000"/>
              </a:lnSpc>
            </a:pPr>
            <a:r>
              <a:rPr sz="2400" b="1">
                <a:solidFill>
                  <a:srgbClr val="1F7A1F"/>
                </a:solidFill>
                <a:latin typeface="Meiryo"/>
              </a:rPr>
              <a:t>24.5%</a:t>
            </a:r>
          </a:p>
        </p:txBody>
      </p:sp>
      <p:sp>
        <p:nvSpPr>
          <p:cNvPr id="13" name="TextBox 12"/>
          <p:cNvSpPr txBox="1"/>
          <p:nvPr/>
        </p:nvSpPr>
        <p:spPr>
          <a:xfrm>
            <a:off x="3291840" y="2852928"/>
            <a:ext cx="2651760" cy="320040"/>
          </a:xfrm>
          <a:prstGeom prst="rect">
            <a:avLst/>
          </a:prstGeom>
          <a:noFill/>
        </p:spPr>
        <p:txBody>
          <a:bodyPr wrap="square" anchor="t">
            <a:spAutoFit/>
          </a:bodyPr>
          <a:lstStyle/>
          <a:p>
            <a:pPr algn="ctr">
              <a:lnSpc>
                <a:spcPct val="110000"/>
              </a:lnSpc>
            </a:pPr>
            <a:r>
              <a:rPr sz="1000" b="0">
                <a:solidFill>
                  <a:srgbClr val="77706E"/>
                </a:solidFill>
                <a:latin typeface="Meiryo"/>
              </a:rPr>
              <a:t>担保</a:t>
            </a:r>
          </a:p>
        </p:txBody>
      </p:sp>
      <p:sp>
        <p:nvSpPr>
          <p:cNvPr id="14" name="Rectangle 13"/>
          <p:cNvSpPr/>
          <p:nvPr/>
        </p:nvSpPr>
        <p:spPr>
          <a:xfrm>
            <a:off x="6126480" y="1828800"/>
            <a:ext cx="265176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26480" y="1938528"/>
            <a:ext cx="2651760" cy="365760"/>
          </a:xfrm>
          <a:prstGeom prst="rect">
            <a:avLst/>
          </a:prstGeom>
          <a:noFill/>
        </p:spPr>
        <p:txBody>
          <a:bodyPr wrap="square" anchor="t">
            <a:spAutoFit/>
          </a:bodyPr>
          <a:lstStyle/>
          <a:p>
            <a:pPr algn="ctr">
              <a:lnSpc>
                <a:spcPct val="110000"/>
              </a:lnSpc>
            </a:pPr>
            <a:r>
              <a:rPr sz="1200" b="0">
                <a:solidFill>
                  <a:srgbClr val="77706E"/>
                </a:solidFill>
                <a:latin typeface="Meiryo"/>
              </a:rPr>
              <a:t>実質利回り</a:t>
            </a:r>
          </a:p>
        </p:txBody>
      </p:sp>
      <p:sp>
        <p:nvSpPr>
          <p:cNvPr id="16" name="TextBox 15"/>
          <p:cNvSpPr txBox="1"/>
          <p:nvPr/>
        </p:nvSpPr>
        <p:spPr>
          <a:xfrm>
            <a:off x="6126480" y="2240280"/>
            <a:ext cx="2651760" cy="640080"/>
          </a:xfrm>
          <a:prstGeom prst="rect">
            <a:avLst/>
          </a:prstGeom>
          <a:noFill/>
        </p:spPr>
        <p:txBody>
          <a:bodyPr wrap="square" anchor="t">
            <a:spAutoFit/>
          </a:bodyPr>
          <a:lstStyle/>
          <a:p>
            <a:pPr algn="ctr">
              <a:lnSpc>
                <a:spcPct val="110000"/>
              </a:lnSpc>
            </a:pPr>
            <a:r>
              <a:rPr sz="2400" b="1">
                <a:solidFill>
                  <a:srgbClr val="1F7A1F"/>
                </a:solidFill>
                <a:latin typeface="Meiryo"/>
              </a:rPr>
              <a:t>5.4%</a:t>
            </a:r>
          </a:p>
        </p:txBody>
      </p:sp>
      <p:sp>
        <p:nvSpPr>
          <p:cNvPr id="17" name="TextBox 16"/>
          <p:cNvSpPr txBox="1"/>
          <p:nvPr/>
        </p:nvSpPr>
        <p:spPr>
          <a:xfrm>
            <a:off x="6126480" y="2852928"/>
            <a:ext cx="2651760" cy="320040"/>
          </a:xfrm>
          <a:prstGeom prst="rect">
            <a:avLst/>
          </a:prstGeom>
          <a:noFill/>
        </p:spPr>
        <p:txBody>
          <a:bodyPr wrap="square" anchor="t">
            <a:spAutoFit/>
          </a:bodyPr>
          <a:lstStyle/>
          <a:p>
            <a:pPr algn="ctr">
              <a:lnSpc>
                <a:spcPct val="110000"/>
              </a:lnSpc>
            </a:pPr>
            <a:r>
              <a:rPr sz="1000" b="0">
                <a:solidFill>
                  <a:srgbClr val="77706E"/>
                </a:solidFill>
                <a:latin typeface="Meiryo"/>
              </a:rPr>
              <a:t>経費15%控除</a:t>
            </a:r>
          </a:p>
        </p:txBody>
      </p:sp>
      <p:sp>
        <p:nvSpPr>
          <p:cNvPr id="18" name="Rectangle 17"/>
          <p:cNvSpPr/>
          <p:nvPr/>
        </p:nvSpPr>
        <p:spPr>
          <a:xfrm>
            <a:off x="8961120" y="1828800"/>
            <a:ext cx="265176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61120" y="1938528"/>
            <a:ext cx="2651760" cy="365760"/>
          </a:xfrm>
          <a:prstGeom prst="rect">
            <a:avLst/>
          </a:prstGeom>
          <a:noFill/>
        </p:spPr>
        <p:txBody>
          <a:bodyPr wrap="square" anchor="t">
            <a:spAutoFit/>
          </a:bodyPr>
          <a:lstStyle/>
          <a:p>
            <a:pPr algn="ctr">
              <a:lnSpc>
                <a:spcPct val="110000"/>
              </a:lnSpc>
            </a:pPr>
            <a:r>
              <a:rPr sz="1200" b="0">
                <a:solidFill>
                  <a:srgbClr val="77706E"/>
                </a:solidFill>
                <a:latin typeface="Meiryo"/>
              </a:rPr>
              <a:t>CF率</a:t>
            </a:r>
          </a:p>
        </p:txBody>
      </p:sp>
      <p:sp>
        <p:nvSpPr>
          <p:cNvPr id="20" name="TextBox 19"/>
          <p:cNvSpPr txBox="1"/>
          <p:nvPr/>
        </p:nvSpPr>
        <p:spPr>
          <a:xfrm>
            <a:off x="8961120" y="2240280"/>
            <a:ext cx="2651760" cy="640080"/>
          </a:xfrm>
          <a:prstGeom prst="rect">
            <a:avLst/>
          </a:prstGeom>
          <a:noFill/>
        </p:spPr>
        <p:txBody>
          <a:bodyPr wrap="square" anchor="t">
            <a:spAutoFit/>
          </a:bodyPr>
          <a:lstStyle/>
          <a:p>
            <a:pPr algn="ctr">
              <a:lnSpc>
                <a:spcPct val="110000"/>
              </a:lnSpc>
            </a:pPr>
            <a:r>
              <a:rPr sz="2400" b="1">
                <a:solidFill>
                  <a:srgbClr val="1F7A1F"/>
                </a:solidFill>
                <a:latin typeface="Meiryo"/>
              </a:rPr>
              <a:t>-0.0%</a:t>
            </a:r>
          </a:p>
        </p:txBody>
      </p:sp>
      <p:sp>
        <p:nvSpPr>
          <p:cNvPr id="21" name="TextBox 20"/>
          <p:cNvSpPr txBox="1"/>
          <p:nvPr/>
        </p:nvSpPr>
        <p:spPr>
          <a:xfrm>
            <a:off x="8961120" y="2852928"/>
            <a:ext cx="2651760" cy="320040"/>
          </a:xfrm>
          <a:prstGeom prst="rect">
            <a:avLst/>
          </a:prstGeom>
          <a:noFill/>
        </p:spPr>
        <p:txBody>
          <a:bodyPr wrap="square" anchor="t">
            <a:spAutoFit/>
          </a:bodyPr>
          <a:lstStyle/>
          <a:p>
            <a:pPr algn="ctr">
              <a:lnSpc>
                <a:spcPct val="110000"/>
              </a:lnSpc>
            </a:pPr>
            <a:r>
              <a:rPr sz="1000" b="0">
                <a:solidFill>
                  <a:srgbClr val="77706E"/>
                </a:solidFill>
                <a:latin typeface="Meiryo"/>
              </a:rPr>
              <a:t>税引前CF/価格</a:t>
            </a:r>
          </a:p>
        </p:txBody>
      </p:sp>
      <p:sp>
        <p:nvSpPr>
          <p:cNvPr id="22" name="Rectangle 21"/>
          <p:cNvSpPr/>
          <p:nvPr/>
        </p:nvSpPr>
        <p:spPr>
          <a:xfrm>
            <a:off x="457200" y="3566160"/>
            <a:ext cx="1124712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593591"/>
            <a:ext cx="2066544" cy="457200"/>
          </a:xfrm>
          <a:prstGeom prst="rect">
            <a:avLst/>
          </a:prstGeom>
          <a:noFill/>
        </p:spPr>
        <p:txBody>
          <a:bodyPr wrap="square" anchor="ctr">
            <a:spAutoFit/>
          </a:bodyPr>
          <a:lstStyle/>
          <a:p>
            <a:pPr algn="l">
              <a:lnSpc>
                <a:spcPct val="110000"/>
              </a:lnSpc>
            </a:pPr>
            <a:r>
              <a:rPr sz="1300" b="1">
                <a:solidFill>
                  <a:srgbClr val="AA2E26"/>
                </a:solidFill>
                <a:latin typeface="Meiryo"/>
              </a:rPr>
              <a:t>所在地</a:t>
            </a:r>
          </a:p>
        </p:txBody>
      </p:sp>
      <p:sp>
        <p:nvSpPr>
          <p:cNvPr id="24" name="TextBox 23"/>
          <p:cNvSpPr txBox="1"/>
          <p:nvPr/>
        </p:nvSpPr>
        <p:spPr>
          <a:xfrm>
            <a:off x="2706624" y="3593591"/>
            <a:ext cx="8860536" cy="457200"/>
          </a:xfrm>
          <a:prstGeom prst="rect">
            <a:avLst/>
          </a:prstGeom>
          <a:noFill/>
        </p:spPr>
        <p:txBody>
          <a:bodyPr wrap="square" anchor="ctr">
            <a:spAutoFit/>
          </a:bodyPr>
          <a:lstStyle/>
          <a:p>
            <a:pPr algn="l">
              <a:lnSpc>
                <a:spcPct val="110000"/>
              </a:lnSpc>
            </a:pPr>
            <a:r>
              <a:rPr sz="1300" b="0">
                <a:solidFill>
                  <a:srgbClr val="332A28"/>
                </a:solidFill>
                <a:latin typeface="Meiryo"/>
              </a:rPr>
              <a:t>—</a:t>
            </a:r>
          </a:p>
        </p:txBody>
      </p:sp>
      <p:sp>
        <p:nvSpPr>
          <p:cNvPr id="25" name="Rectangle 24"/>
          <p:cNvSpPr/>
          <p:nvPr/>
        </p:nvSpPr>
        <p:spPr>
          <a:xfrm>
            <a:off x="457200" y="4023360"/>
            <a:ext cx="11247120" cy="457200"/>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4050792"/>
            <a:ext cx="2066544" cy="457200"/>
          </a:xfrm>
          <a:prstGeom prst="rect">
            <a:avLst/>
          </a:prstGeom>
          <a:noFill/>
        </p:spPr>
        <p:txBody>
          <a:bodyPr wrap="square" anchor="ctr">
            <a:spAutoFit/>
          </a:bodyPr>
          <a:lstStyle/>
          <a:p>
            <a:pPr algn="l">
              <a:lnSpc>
                <a:spcPct val="110000"/>
              </a:lnSpc>
            </a:pPr>
            <a:r>
              <a:rPr sz="1300" b="1">
                <a:solidFill>
                  <a:srgbClr val="AA2E26"/>
                </a:solidFill>
                <a:latin typeface="Meiryo"/>
              </a:rPr>
              <a:t>用途地域</a:t>
            </a:r>
          </a:p>
        </p:txBody>
      </p:sp>
      <p:sp>
        <p:nvSpPr>
          <p:cNvPr id="27" name="TextBox 26"/>
          <p:cNvSpPr txBox="1"/>
          <p:nvPr/>
        </p:nvSpPr>
        <p:spPr>
          <a:xfrm>
            <a:off x="2706624" y="4050792"/>
            <a:ext cx="8860536" cy="457200"/>
          </a:xfrm>
          <a:prstGeom prst="rect">
            <a:avLst/>
          </a:prstGeom>
          <a:noFill/>
        </p:spPr>
        <p:txBody>
          <a:bodyPr wrap="square" anchor="ctr">
            <a:spAutoFit/>
          </a:bodyPr>
          <a:lstStyle/>
          <a:p>
            <a:pPr algn="l">
              <a:lnSpc>
                <a:spcPct val="110000"/>
              </a:lnSpc>
            </a:pPr>
            <a:r>
              <a:rPr sz="1300" b="0">
                <a:solidFill>
                  <a:srgbClr val="332A28"/>
                </a:solidFill>
                <a:latin typeface="Meiryo"/>
              </a:rPr>
              <a:t>—</a:t>
            </a:r>
          </a:p>
        </p:txBody>
      </p:sp>
      <p:sp>
        <p:nvSpPr>
          <p:cNvPr id="28" name="Rectangle 27"/>
          <p:cNvSpPr/>
          <p:nvPr/>
        </p:nvSpPr>
        <p:spPr>
          <a:xfrm>
            <a:off x="457200" y="4480560"/>
            <a:ext cx="1124712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66928" y="4507992"/>
            <a:ext cx="2066544" cy="457200"/>
          </a:xfrm>
          <a:prstGeom prst="rect">
            <a:avLst/>
          </a:prstGeom>
          <a:noFill/>
        </p:spPr>
        <p:txBody>
          <a:bodyPr wrap="square" anchor="ctr">
            <a:spAutoFit/>
          </a:bodyPr>
          <a:lstStyle/>
          <a:p>
            <a:pPr algn="l">
              <a:lnSpc>
                <a:spcPct val="110000"/>
              </a:lnSpc>
            </a:pPr>
            <a:r>
              <a:rPr sz="1300" b="1">
                <a:solidFill>
                  <a:srgbClr val="AA2E26"/>
                </a:solidFill>
                <a:latin typeface="Meiryo"/>
              </a:rPr>
              <a:t>土地面積</a:t>
            </a:r>
          </a:p>
        </p:txBody>
      </p:sp>
      <p:sp>
        <p:nvSpPr>
          <p:cNvPr id="30" name="TextBox 29"/>
          <p:cNvSpPr txBox="1"/>
          <p:nvPr/>
        </p:nvSpPr>
        <p:spPr>
          <a:xfrm>
            <a:off x="2706624" y="4507992"/>
            <a:ext cx="8860536" cy="457200"/>
          </a:xfrm>
          <a:prstGeom prst="rect">
            <a:avLst/>
          </a:prstGeom>
          <a:noFill/>
        </p:spPr>
        <p:txBody>
          <a:bodyPr wrap="square" anchor="ctr">
            <a:spAutoFit/>
          </a:bodyPr>
          <a:lstStyle/>
          <a:p>
            <a:pPr algn="l">
              <a:lnSpc>
                <a:spcPct val="110000"/>
              </a:lnSpc>
            </a:pPr>
            <a:r>
              <a:rPr sz="1300" b="0">
                <a:solidFill>
                  <a:srgbClr val="332A28"/>
                </a:solidFill>
                <a:latin typeface="Meiryo"/>
              </a:rPr>
              <a:t>110.81 ㎡</a:t>
            </a:r>
          </a:p>
        </p:txBody>
      </p:sp>
      <p:sp>
        <p:nvSpPr>
          <p:cNvPr id="31" name="Rectangle 30"/>
          <p:cNvSpPr/>
          <p:nvPr/>
        </p:nvSpPr>
        <p:spPr>
          <a:xfrm>
            <a:off x="457200" y="4937760"/>
            <a:ext cx="11247120" cy="457200"/>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66928" y="4965192"/>
            <a:ext cx="2066544" cy="457200"/>
          </a:xfrm>
          <a:prstGeom prst="rect">
            <a:avLst/>
          </a:prstGeom>
          <a:noFill/>
        </p:spPr>
        <p:txBody>
          <a:bodyPr wrap="square" anchor="ctr">
            <a:spAutoFit/>
          </a:bodyPr>
          <a:lstStyle/>
          <a:p>
            <a:pPr algn="l">
              <a:lnSpc>
                <a:spcPct val="110000"/>
              </a:lnSpc>
            </a:pPr>
            <a:r>
              <a:rPr sz="1300" b="1">
                <a:solidFill>
                  <a:srgbClr val="AA2E26"/>
                </a:solidFill>
                <a:latin typeface="Meiryo"/>
              </a:rPr>
              <a:t>スキーム</a:t>
            </a:r>
          </a:p>
        </p:txBody>
      </p:sp>
      <p:sp>
        <p:nvSpPr>
          <p:cNvPr id="33" name="TextBox 32"/>
          <p:cNvSpPr txBox="1"/>
          <p:nvPr/>
        </p:nvSpPr>
        <p:spPr>
          <a:xfrm>
            <a:off x="2706624" y="4965192"/>
            <a:ext cx="8860536" cy="457200"/>
          </a:xfrm>
          <a:prstGeom prst="rect">
            <a:avLst/>
          </a:prstGeom>
          <a:noFill/>
        </p:spPr>
        <p:txBody>
          <a:bodyPr wrap="square" anchor="ctr">
            <a:spAutoFit/>
          </a:bodyPr>
          <a:lstStyle/>
          <a:p>
            <a:pPr algn="l">
              <a:lnSpc>
                <a:spcPct val="110000"/>
              </a:lnSpc>
            </a:pPr>
            <a:r>
              <a:rPr sz="1300" b="0">
                <a:solidFill>
                  <a:srgbClr val="332A28"/>
                </a:solidFill>
                <a:latin typeface="Meiryo"/>
              </a:rPr>
              <a:t>保有（インカム）</a:t>
            </a:r>
          </a:p>
        </p:txBody>
      </p:sp>
      <p:sp>
        <p:nvSpPr>
          <p:cNvPr id="34" name="TextBox 33"/>
          <p:cNvSpPr txBox="1"/>
          <p:nvPr/>
        </p:nvSpPr>
        <p:spPr>
          <a:xfrm>
            <a:off x="457200" y="6446520"/>
            <a:ext cx="8229600" cy="320040"/>
          </a:xfrm>
          <a:prstGeom prst="rect">
            <a:avLst/>
          </a:prstGeom>
          <a:noFill/>
        </p:spPr>
        <p:txBody>
          <a:bodyPr wrap="square" anchor="t">
            <a:spAutoFit/>
          </a:bodyPr>
          <a:lstStyle/>
          <a:p>
            <a:pPr algn="l">
              <a:lnSpc>
                <a:spcPct val="110000"/>
              </a:lnSpc>
            </a:pPr>
            <a:r>
              <a:rPr sz="900" b="0">
                <a:solidFill>
                  <a:srgbClr val="77706E"/>
                </a:solidFill>
                <a:latin typeface="Meiryo"/>
              </a:rPr>
              <a:t>菊池ホールディングス（KHD）／ 本資料は融資ご相談用の概算であり最終条件は協議のうえ確定します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201168" cy="59436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10789920" cy="731520"/>
          </a:xfrm>
          <a:prstGeom prst="rect">
            <a:avLst/>
          </a:prstGeom>
          <a:noFill/>
        </p:spPr>
        <p:txBody>
          <a:bodyPr wrap="square" anchor="t">
            <a:spAutoFit/>
          </a:bodyPr>
          <a:lstStyle/>
          <a:p>
            <a:pPr algn="l">
              <a:lnSpc>
                <a:spcPct val="110000"/>
              </a:lnSpc>
            </a:pPr>
            <a:r>
              <a:rPr sz="2600" b="1">
                <a:solidFill>
                  <a:srgbClr val="AA2E26"/>
                </a:solidFill>
                <a:latin typeface="Meiryo"/>
              </a:rPr>
              <a:t>物件1 ― 船橋前原西8_本査定_健美家</a:t>
            </a:r>
          </a:p>
        </p:txBody>
      </p:sp>
      <p:sp>
        <p:nvSpPr>
          <p:cNvPr id="5" name="TextBox 4"/>
          <p:cNvSpPr txBox="1"/>
          <p:nvPr/>
        </p:nvSpPr>
        <p:spPr>
          <a:xfrm>
            <a:off x="11338560" y="548640"/>
            <a:ext cx="640080" cy="457200"/>
          </a:xfrm>
          <a:prstGeom prst="rect">
            <a:avLst/>
          </a:prstGeom>
          <a:noFill/>
        </p:spPr>
        <p:txBody>
          <a:bodyPr wrap="square" anchor="t">
            <a:spAutoFit/>
          </a:bodyPr>
          <a:lstStyle/>
          <a:p>
            <a:pPr algn="r">
              <a:lnSpc>
                <a:spcPct val="110000"/>
              </a:lnSpc>
            </a:pPr>
            <a:r>
              <a:rPr sz="1600" b="1">
                <a:solidFill>
                  <a:srgbClr val="77706E"/>
                </a:solidFill>
                <a:latin typeface="Meiryo"/>
              </a:rPr>
              <a:t>02</a:t>
            </a:r>
          </a:p>
        </p:txBody>
      </p:sp>
      <p:sp>
        <p:nvSpPr>
          <p:cNvPr id="6" name="Rectangle 5"/>
          <p:cNvSpPr/>
          <p:nvPr/>
        </p:nvSpPr>
        <p:spPr>
          <a:xfrm>
            <a:off x="457200" y="1207008"/>
            <a:ext cx="11247120" cy="18288"/>
          </a:xfrm>
          <a:prstGeom prst="rect">
            <a:avLst/>
          </a:prstGeom>
          <a:solidFill>
            <a:srgbClr val="E3D8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417320"/>
            <a:ext cx="274320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27048"/>
            <a:ext cx="2743200" cy="365760"/>
          </a:xfrm>
          <a:prstGeom prst="rect">
            <a:avLst/>
          </a:prstGeom>
          <a:noFill/>
        </p:spPr>
        <p:txBody>
          <a:bodyPr wrap="square" anchor="t">
            <a:spAutoFit/>
          </a:bodyPr>
          <a:lstStyle/>
          <a:p>
            <a:pPr algn="ctr">
              <a:lnSpc>
                <a:spcPct val="110000"/>
              </a:lnSpc>
            </a:pPr>
            <a:r>
              <a:rPr sz="1200" b="0">
                <a:solidFill>
                  <a:srgbClr val="77706E"/>
                </a:solidFill>
                <a:latin typeface="Meiryo"/>
              </a:rPr>
              <a:t>取得価格</a:t>
            </a:r>
          </a:p>
        </p:txBody>
      </p:sp>
      <p:sp>
        <p:nvSpPr>
          <p:cNvPr id="9" name="TextBox 8"/>
          <p:cNvSpPr txBox="1"/>
          <p:nvPr/>
        </p:nvSpPr>
        <p:spPr>
          <a:xfrm>
            <a:off x="457200" y="1828800"/>
            <a:ext cx="2743200" cy="640080"/>
          </a:xfrm>
          <a:prstGeom prst="rect">
            <a:avLst/>
          </a:prstGeom>
          <a:noFill/>
        </p:spPr>
        <p:txBody>
          <a:bodyPr wrap="square" anchor="t">
            <a:spAutoFit/>
          </a:bodyPr>
          <a:lstStyle/>
          <a:p>
            <a:pPr algn="ctr">
              <a:lnSpc>
                <a:spcPct val="110000"/>
              </a:lnSpc>
            </a:pPr>
            <a:r>
              <a:rPr sz="2400" b="1">
                <a:solidFill>
                  <a:srgbClr val="AA2E26"/>
                </a:solidFill>
                <a:latin typeface="Meiryo"/>
              </a:rPr>
              <a:t>74,800千円</a:t>
            </a:r>
          </a:p>
        </p:txBody>
      </p:sp>
      <p:sp>
        <p:nvSpPr>
          <p:cNvPr id="10" name="Rectangle 9"/>
          <p:cNvSpPr/>
          <p:nvPr/>
        </p:nvSpPr>
        <p:spPr>
          <a:xfrm>
            <a:off x="3383280" y="1417320"/>
            <a:ext cx="274320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83280" y="1527048"/>
            <a:ext cx="2743200" cy="365760"/>
          </a:xfrm>
          <a:prstGeom prst="rect">
            <a:avLst/>
          </a:prstGeom>
          <a:noFill/>
        </p:spPr>
        <p:txBody>
          <a:bodyPr wrap="square" anchor="t">
            <a:spAutoFit/>
          </a:bodyPr>
          <a:lstStyle/>
          <a:p>
            <a:pPr algn="ctr">
              <a:lnSpc>
                <a:spcPct val="110000"/>
              </a:lnSpc>
            </a:pPr>
            <a:r>
              <a:rPr sz="1200" b="0">
                <a:solidFill>
                  <a:srgbClr val="77706E"/>
                </a:solidFill>
                <a:latin typeface="Meiryo"/>
              </a:rPr>
              <a:t>年間賃料</a:t>
            </a:r>
          </a:p>
        </p:txBody>
      </p:sp>
      <p:sp>
        <p:nvSpPr>
          <p:cNvPr id="12" name="TextBox 11"/>
          <p:cNvSpPr txBox="1"/>
          <p:nvPr/>
        </p:nvSpPr>
        <p:spPr>
          <a:xfrm>
            <a:off x="3383280" y="1828800"/>
            <a:ext cx="2743200" cy="640080"/>
          </a:xfrm>
          <a:prstGeom prst="rect">
            <a:avLst/>
          </a:prstGeom>
          <a:noFill/>
        </p:spPr>
        <p:txBody>
          <a:bodyPr wrap="square" anchor="t">
            <a:spAutoFit/>
          </a:bodyPr>
          <a:lstStyle/>
          <a:p>
            <a:pPr algn="ctr">
              <a:lnSpc>
                <a:spcPct val="110000"/>
              </a:lnSpc>
            </a:pPr>
            <a:r>
              <a:rPr sz="2400" b="1">
                <a:solidFill>
                  <a:srgbClr val="AA2E26"/>
                </a:solidFill>
                <a:latin typeface="Meiryo"/>
              </a:rPr>
              <a:t>4,730千円</a:t>
            </a:r>
          </a:p>
        </p:txBody>
      </p:sp>
      <p:sp>
        <p:nvSpPr>
          <p:cNvPr id="13" name="Rectangle 12"/>
          <p:cNvSpPr/>
          <p:nvPr/>
        </p:nvSpPr>
        <p:spPr>
          <a:xfrm>
            <a:off x="6309360" y="1417320"/>
            <a:ext cx="274320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60" y="1527048"/>
            <a:ext cx="2743200" cy="365760"/>
          </a:xfrm>
          <a:prstGeom prst="rect">
            <a:avLst/>
          </a:prstGeom>
          <a:noFill/>
        </p:spPr>
        <p:txBody>
          <a:bodyPr wrap="square" anchor="t">
            <a:spAutoFit/>
          </a:bodyPr>
          <a:lstStyle/>
          <a:p>
            <a:pPr algn="ctr">
              <a:lnSpc>
                <a:spcPct val="110000"/>
              </a:lnSpc>
            </a:pPr>
            <a:r>
              <a:rPr sz="1200" b="0">
                <a:solidFill>
                  <a:srgbClr val="77706E"/>
                </a:solidFill>
                <a:latin typeface="Meiryo"/>
              </a:rPr>
              <a:t>利回り</a:t>
            </a:r>
          </a:p>
        </p:txBody>
      </p:sp>
      <p:sp>
        <p:nvSpPr>
          <p:cNvPr id="15" name="TextBox 14"/>
          <p:cNvSpPr txBox="1"/>
          <p:nvPr/>
        </p:nvSpPr>
        <p:spPr>
          <a:xfrm>
            <a:off x="6309360" y="1828800"/>
            <a:ext cx="2743200" cy="640080"/>
          </a:xfrm>
          <a:prstGeom prst="rect">
            <a:avLst/>
          </a:prstGeom>
          <a:noFill/>
        </p:spPr>
        <p:txBody>
          <a:bodyPr wrap="square" anchor="t">
            <a:spAutoFit/>
          </a:bodyPr>
          <a:lstStyle/>
          <a:p>
            <a:pPr algn="ctr">
              <a:lnSpc>
                <a:spcPct val="110000"/>
              </a:lnSpc>
            </a:pPr>
            <a:r>
              <a:rPr sz="2400" b="1">
                <a:solidFill>
                  <a:srgbClr val="1F7A1F"/>
                </a:solidFill>
                <a:latin typeface="Meiryo"/>
              </a:rPr>
              <a:t>—</a:t>
            </a:r>
          </a:p>
        </p:txBody>
      </p:sp>
      <p:sp>
        <p:nvSpPr>
          <p:cNvPr id="16" name="Rectangle 15"/>
          <p:cNvSpPr/>
          <p:nvPr/>
        </p:nvSpPr>
        <p:spPr>
          <a:xfrm>
            <a:off x="9235440" y="1417320"/>
            <a:ext cx="274320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35440" y="1527048"/>
            <a:ext cx="2743200" cy="365760"/>
          </a:xfrm>
          <a:prstGeom prst="rect">
            <a:avLst/>
          </a:prstGeom>
          <a:noFill/>
        </p:spPr>
        <p:txBody>
          <a:bodyPr wrap="square" anchor="t">
            <a:spAutoFit/>
          </a:bodyPr>
          <a:lstStyle/>
          <a:p>
            <a:pPr algn="ctr">
              <a:lnSpc>
                <a:spcPct val="110000"/>
              </a:lnSpc>
            </a:pPr>
            <a:r>
              <a:rPr sz="1200" b="0">
                <a:solidFill>
                  <a:srgbClr val="77706E"/>
                </a:solidFill>
                <a:latin typeface="Meiryo"/>
              </a:rPr>
              <a:t>現況</a:t>
            </a:r>
          </a:p>
        </p:txBody>
      </p:sp>
      <p:sp>
        <p:nvSpPr>
          <p:cNvPr id="18" name="TextBox 17"/>
          <p:cNvSpPr txBox="1"/>
          <p:nvPr/>
        </p:nvSpPr>
        <p:spPr>
          <a:xfrm>
            <a:off x="9235440" y="1828800"/>
            <a:ext cx="2743200" cy="640080"/>
          </a:xfrm>
          <a:prstGeom prst="rect">
            <a:avLst/>
          </a:prstGeom>
          <a:noFill/>
        </p:spPr>
        <p:txBody>
          <a:bodyPr wrap="square" anchor="t">
            <a:spAutoFit/>
          </a:bodyPr>
          <a:lstStyle/>
          <a:p>
            <a:pPr algn="ctr">
              <a:lnSpc>
                <a:spcPct val="110000"/>
              </a:lnSpc>
            </a:pPr>
            <a:r>
              <a:rPr sz="2400" b="1">
                <a:solidFill>
                  <a:srgbClr val="1F7A1F"/>
                </a:solidFill>
                <a:latin typeface="Meiryo"/>
              </a:rPr>
              <a:t>—</a:t>
            </a:r>
          </a:p>
        </p:txBody>
      </p:sp>
      <p:sp>
        <p:nvSpPr>
          <p:cNvPr id="19" name="Rectangle 18"/>
          <p:cNvSpPr/>
          <p:nvPr/>
        </p:nvSpPr>
        <p:spPr>
          <a:xfrm>
            <a:off x="457200" y="3063240"/>
            <a:ext cx="1124712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3090672"/>
            <a:ext cx="2066544" cy="457200"/>
          </a:xfrm>
          <a:prstGeom prst="rect">
            <a:avLst/>
          </a:prstGeom>
          <a:noFill/>
        </p:spPr>
        <p:txBody>
          <a:bodyPr wrap="square" anchor="ctr">
            <a:spAutoFit/>
          </a:bodyPr>
          <a:lstStyle/>
          <a:p>
            <a:pPr algn="l">
              <a:lnSpc>
                <a:spcPct val="110000"/>
              </a:lnSpc>
            </a:pPr>
            <a:r>
              <a:rPr sz="1300" b="1">
                <a:solidFill>
                  <a:srgbClr val="AA2E26"/>
                </a:solidFill>
                <a:latin typeface="Meiryo"/>
              </a:rPr>
              <a:t>所在地</a:t>
            </a:r>
          </a:p>
        </p:txBody>
      </p:sp>
      <p:sp>
        <p:nvSpPr>
          <p:cNvPr id="21" name="TextBox 20"/>
          <p:cNvSpPr txBox="1"/>
          <p:nvPr/>
        </p:nvSpPr>
        <p:spPr>
          <a:xfrm>
            <a:off x="2706624" y="3090672"/>
            <a:ext cx="8860536" cy="457200"/>
          </a:xfrm>
          <a:prstGeom prst="rect">
            <a:avLst/>
          </a:prstGeom>
          <a:noFill/>
        </p:spPr>
        <p:txBody>
          <a:bodyPr wrap="square" anchor="ctr">
            <a:spAutoFit/>
          </a:bodyPr>
          <a:lstStyle/>
          <a:p>
            <a:pPr algn="l">
              <a:lnSpc>
                <a:spcPct val="110000"/>
              </a:lnSpc>
            </a:pPr>
            <a:r>
              <a:rPr sz="1300" b="0">
                <a:solidFill>
                  <a:srgbClr val="332A28"/>
                </a:solidFill>
                <a:latin typeface="Meiryo"/>
              </a:rPr>
              <a:t>—</a:t>
            </a:r>
          </a:p>
        </p:txBody>
      </p:sp>
      <p:sp>
        <p:nvSpPr>
          <p:cNvPr id="22" name="Rectangle 21"/>
          <p:cNvSpPr/>
          <p:nvPr/>
        </p:nvSpPr>
        <p:spPr>
          <a:xfrm>
            <a:off x="457200" y="3520440"/>
            <a:ext cx="11247120" cy="457200"/>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547872"/>
            <a:ext cx="2066544" cy="457200"/>
          </a:xfrm>
          <a:prstGeom prst="rect">
            <a:avLst/>
          </a:prstGeom>
          <a:noFill/>
        </p:spPr>
        <p:txBody>
          <a:bodyPr wrap="square" anchor="ctr">
            <a:spAutoFit/>
          </a:bodyPr>
          <a:lstStyle/>
          <a:p>
            <a:pPr algn="l">
              <a:lnSpc>
                <a:spcPct val="110000"/>
              </a:lnSpc>
            </a:pPr>
            <a:r>
              <a:rPr sz="1300" b="1">
                <a:solidFill>
                  <a:srgbClr val="AA2E26"/>
                </a:solidFill>
                <a:latin typeface="Meiryo"/>
              </a:rPr>
              <a:t>構造／築年</a:t>
            </a:r>
          </a:p>
        </p:txBody>
      </p:sp>
      <p:sp>
        <p:nvSpPr>
          <p:cNvPr id="24" name="TextBox 23"/>
          <p:cNvSpPr txBox="1"/>
          <p:nvPr/>
        </p:nvSpPr>
        <p:spPr>
          <a:xfrm>
            <a:off x="2706624" y="3547872"/>
            <a:ext cx="8860536" cy="457200"/>
          </a:xfrm>
          <a:prstGeom prst="rect">
            <a:avLst/>
          </a:prstGeom>
          <a:noFill/>
        </p:spPr>
        <p:txBody>
          <a:bodyPr wrap="square" anchor="ctr">
            <a:spAutoFit/>
          </a:bodyPr>
          <a:lstStyle/>
          <a:p>
            <a:pPr algn="l">
              <a:lnSpc>
                <a:spcPct val="110000"/>
              </a:lnSpc>
            </a:pPr>
            <a:r>
              <a:rPr sz="1300" b="0">
                <a:solidFill>
                  <a:srgbClr val="332A28"/>
                </a:solidFill>
                <a:latin typeface="Meiryo"/>
              </a:rPr>
              <a:t>—</a:t>
            </a:r>
          </a:p>
        </p:txBody>
      </p:sp>
      <p:sp>
        <p:nvSpPr>
          <p:cNvPr id="25" name="Rectangle 24"/>
          <p:cNvSpPr/>
          <p:nvPr/>
        </p:nvSpPr>
        <p:spPr>
          <a:xfrm>
            <a:off x="457200" y="3977639"/>
            <a:ext cx="1124712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4005072"/>
            <a:ext cx="2066544" cy="457200"/>
          </a:xfrm>
          <a:prstGeom prst="rect">
            <a:avLst/>
          </a:prstGeom>
          <a:noFill/>
        </p:spPr>
        <p:txBody>
          <a:bodyPr wrap="square" anchor="ctr">
            <a:spAutoFit/>
          </a:bodyPr>
          <a:lstStyle/>
          <a:p>
            <a:pPr algn="l">
              <a:lnSpc>
                <a:spcPct val="110000"/>
              </a:lnSpc>
            </a:pPr>
            <a:r>
              <a:rPr sz="1300" b="1">
                <a:solidFill>
                  <a:srgbClr val="AA2E26"/>
                </a:solidFill>
                <a:latin typeface="Meiryo"/>
              </a:rPr>
              <a:t>土地面積</a:t>
            </a:r>
          </a:p>
        </p:txBody>
      </p:sp>
      <p:sp>
        <p:nvSpPr>
          <p:cNvPr id="27" name="TextBox 26"/>
          <p:cNvSpPr txBox="1"/>
          <p:nvPr/>
        </p:nvSpPr>
        <p:spPr>
          <a:xfrm>
            <a:off x="2706624" y="4005072"/>
            <a:ext cx="8860536" cy="457200"/>
          </a:xfrm>
          <a:prstGeom prst="rect">
            <a:avLst/>
          </a:prstGeom>
          <a:noFill/>
        </p:spPr>
        <p:txBody>
          <a:bodyPr wrap="square" anchor="ctr">
            <a:spAutoFit/>
          </a:bodyPr>
          <a:lstStyle/>
          <a:p>
            <a:pPr algn="l">
              <a:lnSpc>
                <a:spcPct val="110000"/>
              </a:lnSpc>
            </a:pPr>
            <a:r>
              <a:rPr sz="1300" b="0">
                <a:solidFill>
                  <a:srgbClr val="332A28"/>
                </a:solidFill>
                <a:latin typeface="Meiryo"/>
              </a:rPr>
              <a:t>110.81 ㎡</a:t>
            </a:r>
          </a:p>
        </p:txBody>
      </p:sp>
      <p:sp>
        <p:nvSpPr>
          <p:cNvPr id="28" name="Rectangle 27"/>
          <p:cNvSpPr/>
          <p:nvPr/>
        </p:nvSpPr>
        <p:spPr>
          <a:xfrm>
            <a:off x="457200" y="4434840"/>
            <a:ext cx="11247120" cy="457200"/>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66928" y="4462272"/>
            <a:ext cx="2066544" cy="457200"/>
          </a:xfrm>
          <a:prstGeom prst="rect">
            <a:avLst/>
          </a:prstGeom>
          <a:noFill/>
        </p:spPr>
        <p:txBody>
          <a:bodyPr wrap="square" anchor="ctr">
            <a:spAutoFit/>
          </a:bodyPr>
          <a:lstStyle/>
          <a:p>
            <a:pPr algn="l">
              <a:lnSpc>
                <a:spcPct val="110000"/>
              </a:lnSpc>
            </a:pPr>
            <a:r>
              <a:rPr sz="1300" b="1">
                <a:solidFill>
                  <a:srgbClr val="AA2E26"/>
                </a:solidFill>
                <a:latin typeface="Meiryo"/>
              </a:rPr>
              <a:t>建物面積</a:t>
            </a:r>
          </a:p>
        </p:txBody>
      </p:sp>
      <p:sp>
        <p:nvSpPr>
          <p:cNvPr id="30" name="TextBox 29"/>
          <p:cNvSpPr txBox="1"/>
          <p:nvPr/>
        </p:nvSpPr>
        <p:spPr>
          <a:xfrm>
            <a:off x="2706624" y="4462272"/>
            <a:ext cx="8860536" cy="457200"/>
          </a:xfrm>
          <a:prstGeom prst="rect">
            <a:avLst/>
          </a:prstGeom>
          <a:noFill/>
        </p:spPr>
        <p:txBody>
          <a:bodyPr wrap="square" anchor="ctr">
            <a:spAutoFit/>
          </a:bodyPr>
          <a:lstStyle/>
          <a:p>
            <a:pPr algn="l">
              <a:lnSpc>
                <a:spcPct val="110000"/>
              </a:lnSpc>
            </a:pPr>
            <a:r>
              <a:rPr sz="1300" b="0">
                <a:solidFill>
                  <a:srgbClr val="332A28"/>
                </a:solidFill>
                <a:latin typeface="Meiryo"/>
              </a:rPr>
              <a:t>—</a:t>
            </a:r>
          </a:p>
        </p:txBody>
      </p:sp>
      <p:sp>
        <p:nvSpPr>
          <p:cNvPr id="31" name="Rectangle 30"/>
          <p:cNvSpPr/>
          <p:nvPr/>
        </p:nvSpPr>
        <p:spPr>
          <a:xfrm>
            <a:off x="457200" y="4892040"/>
            <a:ext cx="1124712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66928" y="4919472"/>
            <a:ext cx="2066544" cy="457200"/>
          </a:xfrm>
          <a:prstGeom prst="rect">
            <a:avLst/>
          </a:prstGeom>
          <a:noFill/>
        </p:spPr>
        <p:txBody>
          <a:bodyPr wrap="square" anchor="ctr">
            <a:spAutoFit/>
          </a:bodyPr>
          <a:lstStyle/>
          <a:p>
            <a:pPr algn="l">
              <a:lnSpc>
                <a:spcPct val="110000"/>
              </a:lnSpc>
            </a:pPr>
            <a:r>
              <a:rPr sz="1300" b="1">
                <a:solidFill>
                  <a:srgbClr val="AA2E26"/>
                </a:solidFill>
                <a:latin typeface="Meiryo"/>
              </a:rPr>
              <a:t>月額賃料</a:t>
            </a:r>
          </a:p>
        </p:txBody>
      </p:sp>
      <p:sp>
        <p:nvSpPr>
          <p:cNvPr id="33" name="TextBox 32"/>
          <p:cNvSpPr txBox="1"/>
          <p:nvPr/>
        </p:nvSpPr>
        <p:spPr>
          <a:xfrm>
            <a:off x="2706624" y="4919472"/>
            <a:ext cx="8860536" cy="457200"/>
          </a:xfrm>
          <a:prstGeom prst="rect">
            <a:avLst/>
          </a:prstGeom>
          <a:noFill/>
        </p:spPr>
        <p:txBody>
          <a:bodyPr wrap="square" anchor="ctr">
            <a:spAutoFit/>
          </a:bodyPr>
          <a:lstStyle/>
          <a:p>
            <a:pPr algn="l">
              <a:lnSpc>
                <a:spcPct val="110000"/>
              </a:lnSpc>
            </a:pPr>
            <a:r>
              <a:rPr sz="1300" b="0">
                <a:solidFill>
                  <a:srgbClr val="332A28"/>
                </a:solidFill>
                <a:latin typeface="Meiryo"/>
              </a:rPr>
              <a:t>—</a:t>
            </a:r>
          </a:p>
        </p:txBody>
      </p:sp>
      <p:sp>
        <p:nvSpPr>
          <p:cNvPr id="34" name="Rectangle 33"/>
          <p:cNvSpPr/>
          <p:nvPr/>
        </p:nvSpPr>
        <p:spPr>
          <a:xfrm>
            <a:off x="457200" y="5349240"/>
            <a:ext cx="11247120" cy="457200"/>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6928" y="5376672"/>
            <a:ext cx="2066544" cy="457200"/>
          </a:xfrm>
          <a:prstGeom prst="rect">
            <a:avLst/>
          </a:prstGeom>
          <a:noFill/>
        </p:spPr>
        <p:txBody>
          <a:bodyPr wrap="square" anchor="ctr">
            <a:spAutoFit/>
          </a:bodyPr>
          <a:lstStyle/>
          <a:p>
            <a:pPr algn="l">
              <a:lnSpc>
                <a:spcPct val="110000"/>
              </a:lnSpc>
            </a:pPr>
            <a:r>
              <a:rPr sz="1300" b="1">
                <a:solidFill>
                  <a:srgbClr val="AA2E26"/>
                </a:solidFill>
                <a:latin typeface="Meiryo"/>
              </a:rPr>
              <a:t>特記</a:t>
            </a:r>
          </a:p>
        </p:txBody>
      </p:sp>
      <p:sp>
        <p:nvSpPr>
          <p:cNvPr id="36" name="TextBox 35"/>
          <p:cNvSpPr txBox="1"/>
          <p:nvPr/>
        </p:nvSpPr>
        <p:spPr>
          <a:xfrm>
            <a:off x="2706624" y="5376672"/>
            <a:ext cx="8860536" cy="457200"/>
          </a:xfrm>
          <a:prstGeom prst="rect">
            <a:avLst/>
          </a:prstGeom>
          <a:noFill/>
        </p:spPr>
        <p:txBody>
          <a:bodyPr wrap="square" anchor="ctr">
            <a:spAutoFit/>
          </a:bodyPr>
          <a:lstStyle/>
          <a:p>
            <a:pPr algn="l">
              <a:lnSpc>
                <a:spcPct val="110000"/>
              </a:lnSpc>
            </a:pPr>
            <a:r>
              <a:rPr sz="1300" b="0">
                <a:solidFill>
                  <a:srgbClr val="332A28"/>
                </a:solidFill>
                <a:latin typeface="Meiryo"/>
              </a:rPr>
              <a:t>—</a:t>
            </a:r>
          </a:p>
        </p:txBody>
      </p:sp>
      <p:sp>
        <p:nvSpPr>
          <p:cNvPr id="37" name="TextBox 36"/>
          <p:cNvSpPr txBox="1"/>
          <p:nvPr/>
        </p:nvSpPr>
        <p:spPr>
          <a:xfrm>
            <a:off x="457200" y="6446520"/>
            <a:ext cx="8229600" cy="320040"/>
          </a:xfrm>
          <a:prstGeom prst="rect">
            <a:avLst/>
          </a:prstGeom>
          <a:noFill/>
        </p:spPr>
        <p:txBody>
          <a:bodyPr wrap="square" anchor="t">
            <a:spAutoFit/>
          </a:bodyPr>
          <a:lstStyle/>
          <a:p>
            <a:pPr algn="l">
              <a:lnSpc>
                <a:spcPct val="110000"/>
              </a:lnSpc>
            </a:pPr>
            <a:r>
              <a:rPr sz="900" b="0">
                <a:solidFill>
                  <a:srgbClr val="77706E"/>
                </a:solidFill>
                <a:latin typeface="Meiryo"/>
              </a:rPr>
              <a:t>菊池ホールディングス（KHD）／ 本資料は融資ご相談用の概算であり最終条件は協議のうえ確定します</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201168" cy="59436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10789920" cy="731520"/>
          </a:xfrm>
          <a:prstGeom prst="rect">
            <a:avLst/>
          </a:prstGeom>
          <a:noFill/>
        </p:spPr>
        <p:txBody>
          <a:bodyPr wrap="square" anchor="t">
            <a:spAutoFit/>
          </a:bodyPr>
          <a:lstStyle/>
          <a:p>
            <a:pPr algn="l">
              <a:lnSpc>
                <a:spcPct val="110000"/>
              </a:lnSpc>
            </a:pPr>
            <a:r>
              <a:rPr sz="2600" b="1">
                <a:solidFill>
                  <a:srgbClr val="AA2E26"/>
                </a:solidFill>
                <a:latin typeface="Meiryo"/>
              </a:rPr>
              <a:t>路線価・担保評価</a:t>
            </a:r>
          </a:p>
        </p:txBody>
      </p:sp>
      <p:sp>
        <p:nvSpPr>
          <p:cNvPr id="5" name="TextBox 4"/>
          <p:cNvSpPr txBox="1"/>
          <p:nvPr/>
        </p:nvSpPr>
        <p:spPr>
          <a:xfrm>
            <a:off x="11338560" y="548640"/>
            <a:ext cx="640080" cy="457200"/>
          </a:xfrm>
          <a:prstGeom prst="rect">
            <a:avLst/>
          </a:prstGeom>
          <a:noFill/>
        </p:spPr>
        <p:txBody>
          <a:bodyPr wrap="square" anchor="t">
            <a:spAutoFit/>
          </a:bodyPr>
          <a:lstStyle/>
          <a:p>
            <a:pPr algn="r">
              <a:lnSpc>
                <a:spcPct val="110000"/>
              </a:lnSpc>
            </a:pPr>
            <a:r>
              <a:rPr sz="1600" b="1">
                <a:solidFill>
                  <a:srgbClr val="77706E"/>
                </a:solidFill>
                <a:latin typeface="Meiryo"/>
              </a:rPr>
              <a:t>03</a:t>
            </a:r>
          </a:p>
        </p:txBody>
      </p:sp>
      <p:sp>
        <p:nvSpPr>
          <p:cNvPr id="6" name="Rectangle 5"/>
          <p:cNvSpPr/>
          <p:nvPr/>
        </p:nvSpPr>
        <p:spPr>
          <a:xfrm>
            <a:off x="457200" y="1207008"/>
            <a:ext cx="11247120" cy="18288"/>
          </a:xfrm>
          <a:prstGeom prst="rect">
            <a:avLst/>
          </a:prstGeom>
          <a:solidFill>
            <a:srgbClr val="E3D8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463040"/>
            <a:ext cx="356616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72768"/>
            <a:ext cx="3566160" cy="365760"/>
          </a:xfrm>
          <a:prstGeom prst="rect">
            <a:avLst/>
          </a:prstGeom>
          <a:noFill/>
        </p:spPr>
        <p:txBody>
          <a:bodyPr wrap="square" anchor="t">
            <a:spAutoFit/>
          </a:bodyPr>
          <a:lstStyle/>
          <a:p>
            <a:pPr algn="ctr">
              <a:lnSpc>
                <a:spcPct val="110000"/>
              </a:lnSpc>
            </a:pPr>
            <a:r>
              <a:rPr sz="1200" b="0">
                <a:solidFill>
                  <a:srgbClr val="77706E"/>
                </a:solidFill>
                <a:latin typeface="Meiryo"/>
              </a:rPr>
              <a:t>相続税路線価</a:t>
            </a:r>
          </a:p>
        </p:txBody>
      </p:sp>
      <p:sp>
        <p:nvSpPr>
          <p:cNvPr id="9" name="TextBox 8"/>
          <p:cNvSpPr txBox="1"/>
          <p:nvPr/>
        </p:nvSpPr>
        <p:spPr>
          <a:xfrm>
            <a:off x="457200" y="1874520"/>
            <a:ext cx="3566160" cy="640080"/>
          </a:xfrm>
          <a:prstGeom prst="rect">
            <a:avLst/>
          </a:prstGeom>
          <a:noFill/>
        </p:spPr>
        <p:txBody>
          <a:bodyPr wrap="square" anchor="t">
            <a:spAutoFit/>
          </a:bodyPr>
          <a:lstStyle/>
          <a:p>
            <a:pPr algn="ctr">
              <a:lnSpc>
                <a:spcPct val="110000"/>
              </a:lnSpc>
            </a:pPr>
            <a:r>
              <a:rPr sz="2400" b="1">
                <a:solidFill>
                  <a:srgbClr val="AA2E26"/>
                </a:solidFill>
                <a:latin typeface="Meiryo"/>
              </a:rPr>
              <a:t>約165,600円/㎡</a:t>
            </a:r>
          </a:p>
        </p:txBody>
      </p:sp>
      <p:sp>
        <p:nvSpPr>
          <p:cNvPr id="10" name="Rectangle 9"/>
          <p:cNvSpPr/>
          <p:nvPr/>
        </p:nvSpPr>
        <p:spPr>
          <a:xfrm>
            <a:off x="4206240" y="1463040"/>
            <a:ext cx="356616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06240" y="1572768"/>
            <a:ext cx="3566160" cy="365760"/>
          </a:xfrm>
          <a:prstGeom prst="rect">
            <a:avLst/>
          </a:prstGeom>
          <a:noFill/>
        </p:spPr>
        <p:txBody>
          <a:bodyPr wrap="square" anchor="t">
            <a:spAutoFit/>
          </a:bodyPr>
          <a:lstStyle/>
          <a:p>
            <a:pPr algn="ctr">
              <a:lnSpc>
                <a:spcPct val="110000"/>
              </a:lnSpc>
            </a:pPr>
            <a:r>
              <a:rPr sz="1200" b="0">
                <a:solidFill>
                  <a:srgbClr val="77706E"/>
                </a:solidFill>
                <a:latin typeface="Meiryo"/>
              </a:rPr>
              <a:t>実勢(中央値)</a:t>
            </a:r>
          </a:p>
        </p:txBody>
      </p:sp>
      <p:sp>
        <p:nvSpPr>
          <p:cNvPr id="12" name="TextBox 11"/>
          <p:cNvSpPr txBox="1"/>
          <p:nvPr/>
        </p:nvSpPr>
        <p:spPr>
          <a:xfrm>
            <a:off x="4206240" y="1874520"/>
            <a:ext cx="3566160" cy="640080"/>
          </a:xfrm>
          <a:prstGeom prst="rect">
            <a:avLst/>
          </a:prstGeom>
          <a:noFill/>
        </p:spPr>
        <p:txBody>
          <a:bodyPr wrap="square" anchor="t">
            <a:spAutoFit/>
          </a:bodyPr>
          <a:lstStyle/>
          <a:p>
            <a:pPr algn="ctr">
              <a:lnSpc>
                <a:spcPct val="110000"/>
              </a:lnSpc>
            </a:pPr>
            <a:r>
              <a:rPr sz="2400" b="1">
                <a:solidFill>
                  <a:srgbClr val="332A28"/>
                </a:solidFill>
                <a:latin typeface="Meiryo"/>
              </a:rPr>
              <a:t>—</a:t>
            </a:r>
          </a:p>
        </p:txBody>
      </p:sp>
      <p:sp>
        <p:nvSpPr>
          <p:cNvPr id="13" name="Rectangle 12"/>
          <p:cNvSpPr/>
          <p:nvPr/>
        </p:nvSpPr>
        <p:spPr>
          <a:xfrm>
            <a:off x="7955279" y="1463040"/>
            <a:ext cx="356616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55279" y="1572768"/>
            <a:ext cx="3566160" cy="365760"/>
          </a:xfrm>
          <a:prstGeom prst="rect">
            <a:avLst/>
          </a:prstGeom>
          <a:noFill/>
        </p:spPr>
        <p:txBody>
          <a:bodyPr wrap="square" anchor="t">
            <a:spAutoFit/>
          </a:bodyPr>
          <a:lstStyle/>
          <a:p>
            <a:pPr algn="ctr">
              <a:lnSpc>
                <a:spcPct val="110000"/>
              </a:lnSpc>
            </a:pPr>
            <a:r>
              <a:rPr sz="1200" b="0">
                <a:solidFill>
                  <a:srgbClr val="77706E"/>
                </a:solidFill>
                <a:latin typeface="Meiryo"/>
              </a:rPr>
              <a:t>土地値割合</a:t>
            </a:r>
          </a:p>
        </p:txBody>
      </p:sp>
      <p:sp>
        <p:nvSpPr>
          <p:cNvPr id="15" name="TextBox 14"/>
          <p:cNvSpPr txBox="1"/>
          <p:nvPr/>
        </p:nvSpPr>
        <p:spPr>
          <a:xfrm>
            <a:off x="7955279" y="1874520"/>
            <a:ext cx="3566160" cy="640080"/>
          </a:xfrm>
          <a:prstGeom prst="rect">
            <a:avLst/>
          </a:prstGeom>
          <a:noFill/>
        </p:spPr>
        <p:txBody>
          <a:bodyPr wrap="square" anchor="t">
            <a:spAutoFit/>
          </a:bodyPr>
          <a:lstStyle/>
          <a:p>
            <a:pPr algn="ctr">
              <a:lnSpc>
                <a:spcPct val="110000"/>
              </a:lnSpc>
            </a:pPr>
            <a:r>
              <a:rPr sz="2400" b="1">
                <a:solidFill>
                  <a:srgbClr val="1F7A1F"/>
                </a:solidFill>
                <a:latin typeface="Meiryo"/>
              </a:rPr>
              <a:t>24.5%</a:t>
            </a:r>
          </a:p>
        </p:txBody>
      </p:sp>
      <p:sp>
        <p:nvSpPr>
          <p:cNvPr id="16" name="TextBox 15"/>
          <p:cNvSpPr txBox="1"/>
          <p:nvPr/>
        </p:nvSpPr>
        <p:spPr>
          <a:xfrm>
            <a:off x="457200" y="3200400"/>
            <a:ext cx="11247120" cy="2560320"/>
          </a:xfrm>
          <a:prstGeom prst="rect">
            <a:avLst/>
          </a:prstGeom>
          <a:noFill/>
        </p:spPr>
        <p:txBody>
          <a:bodyPr wrap="square" anchor="t">
            <a:spAutoFit/>
          </a:bodyPr>
          <a:lstStyle/>
          <a:p>
            <a:pPr algn="l">
              <a:lnSpc>
                <a:spcPct val="125000"/>
              </a:lnSpc>
            </a:pPr>
            <a:r>
              <a:rPr sz="1400" b="0">
                <a:solidFill>
                  <a:srgbClr val="332A28"/>
                </a:solidFill>
                <a:latin typeface="Meiryo"/>
              </a:rPr>
              <a:t>■ 担保評価（玉川式）</a:t>
            </a:r>
          </a:p>
          <a:p>
            <a:pPr algn="l">
              <a:lnSpc>
                <a:spcPct val="125000"/>
              </a:lnSpc>
            </a:pPr>
            <a:r>
              <a:rPr sz="1400" b="0">
                <a:solidFill>
                  <a:srgbClr val="332A28"/>
                </a:solidFill>
                <a:latin typeface="Meiryo"/>
              </a:rPr>
              <a:t>・土地値割合 ＝ 路線価 × 土地面積 ÷ 取得価格。0.4以上で安全圏。</a:t>
            </a:r>
          </a:p>
          <a:p>
            <a:pPr algn="l">
              <a:lnSpc>
                <a:spcPct val="125000"/>
              </a:lnSpc>
            </a:pPr>
            <a:r>
              <a:rPr sz="1400" b="0">
                <a:solidFill>
                  <a:srgbClr val="332A28"/>
                </a:solidFill>
                <a:latin typeface="Meiryo"/>
              </a:rPr>
              <a:t>・本件 24.5%。</a:t>
            </a:r>
          </a:p>
          <a:p>
            <a:pPr algn="l">
              <a:lnSpc>
                <a:spcPct val="125000"/>
              </a:lnSpc>
            </a:pPr>
            <a:r>
              <a:rPr sz="1400" b="0">
                <a:solidFill>
                  <a:srgbClr val="332A28"/>
                </a:solidFill>
                <a:latin typeface="Meiryo"/>
              </a:rPr>
              <a:t/>
            </a:r>
          </a:p>
          <a:p>
            <a:pPr algn="l">
              <a:lnSpc>
                <a:spcPct val="125000"/>
              </a:lnSpc>
            </a:pPr>
            <a:r>
              <a:rPr sz="1400" b="0">
                <a:solidFill>
                  <a:srgbClr val="332A28"/>
                </a:solidFill>
                <a:latin typeface="Meiryo"/>
              </a:rPr>
              <a:t>■ 換算（参考）</a:t>
            </a:r>
          </a:p>
          <a:p>
            <a:pPr algn="l">
              <a:lnSpc>
                <a:spcPct val="125000"/>
              </a:lnSpc>
            </a:pPr>
            <a:r>
              <a:rPr sz="1400" b="0">
                <a:solidFill>
                  <a:srgbClr val="332A28"/>
                </a:solidFill>
                <a:latin typeface="Meiryo"/>
              </a:rPr>
              <a:t>・公示価格相当 ＝ 路線価 ÷ 0.8 ／ 地方実勢 ＝ 公示相当 × 1.0〜1.1</a:t>
            </a:r>
          </a:p>
          <a:p>
            <a:pPr algn="l">
              <a:lnSpc>
                <a:spcPct val="125000"/>
              </a:lnSpc>
            </a:pPr>
            <a:r>
              <a:rPr sz="1400" b="0">
                <a:solidFill>
                  <a:srgbClr val="332A28"/>
                </a:solidFill>
                <a:latin typeface="Meiryo"/>
              </a:rPr>
              <a:t>・路線価はreinfolib周辺取引価格より推定。国税庁路線価図で実値確認のうえ最終反映。</a:t>
            </a:r>
          </a:p>
        </p:txBody>
      </p:sp>
      <p:sp>
        <p:nvSpPr>
          <p:cNvPr id="17" name="TextBox 16"/>
          <p:cNvSpPr txBox="1"/>
          <p:nvPr/>
        </p:nvSpPr>
        <p:spPr>
          <a:xfrm>
            <a:off x="457200" y="6446520"/>
            <a:ext cx="8229600" cy="320040"/>
          </a:xfrm>
          <a:prstGeom prst="rect">
            <a:avLst/>
          </a:prstGeom>
          <a:noFill/>
        </p:spPr>
        <p:txBody>
          <a:bodyPr wrap="square" anchor="t">
            <a:spAutoFit/>
          </a:bodyPr>
          <a:lstStyle/>
          <a:p>
            <a:pPr algn="l">
              <a:lnSpc>
                <a:spcPct val="110000"/>
              </a:lnSpc>
            </a:pPr>
            <a:r>
              <a:rPr sz="900" b="0">
                <a:solidFill>
                  <a:srgbClr val="77706E"/>
                </a:solidFill>
                <a:latin typeface="Meiryo"/>
              </a:rPr>
              <a:t>菊池ホールディングス（KHD）／ 本資料は融資ご相談用の概算であり最終条件は協議のうえ確定します</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201168" cy="59436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10789920" cy="731520"/>
          </a:xfrm>
          <a:prstGeom prst="rect">
            <a:avLst/>
          </a:prstGeom>
          <a:noFill/>
        </p:spPr>
        <p:txBody>
          <a:bodyPr wrap="square" anchor="t">
            <a:spAutoFit/>
          </a:bodyPr>
          <a:lstStyle/>
          <a:p>
            <a:pPr algn="l">
              <a:lnSpc>
                <a:spcPct val="110000"/>
              </a:lnSpc>
            </a:pPr>
            <a:r>
              <a:rPr sz="2600" b="1">
                <a:solidFill>
                  <a:srgbClr val="AA2E26"/>
                </a:solidFill>
                <a:latin typeface="Meiryo"/>
              </a:rPr>
              <a:t>収支・収益性</a:t>
            </a:r>
          </a:p>
        </p:txBody>
      </p:sp>
      <p:sp>
        <p:nvSpPr>
          <p:cNvPr id="5" name="TextBox 4"/>
          <p:cNvSpPr txBox="1"/>
          <p:nvPr/>
        </p:nvSpPr>
        <p:spPr>
          <a:xfrm>
            <a:off x="11338560" y="548640"/>
            <a:ext cx="640080" cy="457200"/>
          </a:xfrm>
          <a:prstGeom prst="rect">
            <a:avLst/>
          </a:prstGeom>
          <a:noFill/>
        </p:spPr>
        <p:txBody>
          <a:bodyPr wrap="square" anchor="t">
            <a:spAutoFit/>
          </a:bodyPr>
          <a:lstStyle/>
          <a:p>
            <a:pPr algn="r">
              <a:lnSpc>
                <a:spcPct val="110000"/>
              </a:lnSpc>
            </a:pPr>
            <a:r>
              <a:rPr sz="1600" b="1">
                <a:solidFill>
                  <a:srgbClr val="77706E"/>
                </a:solidFill>
                <a:latin typeface="Meiryo"/>
              </a:rPr>
              <a:t>04</a:t>
            </a:r>
          </a:p>
        </p:txBody>
      </p:sp>
      <p:sp>
        <p:nvSpPr>
          <p:cNvPr id="6" name="Rectangle 5"/>
          <p:cNvSpPr/>
          <p:nvPr/>
        </p:nvSpPr>
        <p:spPr>
          <a:xfrm>
            <a:off x="457200" y="1207008"/>
            <a:ext cx="11247120" cy="18288"/>
          </a:xfrm>
          <a:prstGeom prst="rect">
            <a:avLst/>
          </a:prstGeom>
          <a:solidFill>
            <a:srgbClr val="E3D8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463040"/>
            <a:ext cx="274320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72768"/>
            <a:ext cx="2743200" cy="365760"/>
          </a:xfrm>
          <a:prstGeom prst="rect">
            <a:avLst/>
          </a:prstGeom>
          <a:noFill/>
        </p:spPr>
        <p:txBody>
          <a:bodyPr wrap="square" anchor="t">
            <a:spAutoFit/>
          </a:bodyPr>
          <a:lstStyle/>
          <a:p>
            <a:pPr algn="ctr">
              <a:lnSpc>
                <a:spcPct val="110000"/>
              </a:lnSpc>
            </a:pPr>
            <a:r>
              <a:rPr sz="1200" b="0">
                <a:solidFill>
                  <a:srgbClr val="77706E"/>
                </a:solidFill>
                <a:latin typeface="Meiryo"/>
              </a:rPr>
              <a:t>年間賃料</a:t>
            </a:r>
          </a:p>
        </p:txBody>
      </p:sp>
      <p:sp>
        <p:nvSpPr>
          <p:cNvPr id="9" name="TextBox 8"/>
          <p:cNvSpPr txBox="1"/>
          <p:nvPr/>
        </p:nvSpPr>
        <p:spPr>
          <a:xfrm>
            <a:off x="457200" y="1874520"/>
            <a:ext cx="2743200" cy="640080"/>
          </a:xfrm>
          <a:prstGeom prst="rect">
            <a:avLst/>
          </a:prstGeom>
          <a:noFill/>
        </p:spPr>
        <p:txBody>
          <a:bodyPr wrap="square" anchor="t">
            <a:spAutoFit/>
          </a:bodyPr>
          <a:lstStyle/>
          <a:p>
            <a:pPr algn="ctr">
              <a:lnSpc>
                <a:spcPct val="110000"/>
              </a:lnSpc>
            </a:pPr>
            <a:r>
              <a:rPr sz="2400" b="1">
                <a:solidFill>
                  <a:srgbClr val="AA2E26"/>
                </a:solidFill>
                <a:latin typeface="Meiryo"/>
              </a:rPr>
              <a:t>4,730千円</a:t>
            </a:r>
          </a:p>
        </p:txBody>
      </p:sp>
      <p:sp>
        <p:nvSpPr>
          <p:cNvPr id="10" name="Rectangle 9"/>
          <p:cNvSpPr/>
          <p:nvPr/>
        </p:nvSpPr>
        <p:spPr>
          <a:xfrm>
            <a:off x="3383280" y="1463040"/>
            <a:ext cx="274320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83280" y="1572768"/>
            <a:ext cx="2743200" cy="365760"/>
          </a:xfrm>
          <a:prstGeom prst="rect">
            <a:avLst/>
          </a:prstGeom>
          <a:noFill/>
        </p:spPr>
        <p:txBody>
          <a:bodyPr wrap="square" anchor="t">
            <a:spAutoFit/>
          </a:bodyPr>
          <a:lstStyle/>
          <a:p>
            <a:pPr algn="ctr">
              <a:lnSpc>
                <a:spcPct val="110000"/>
              </a:lnSpc>
            </a:pPr>
            <a:r>
              <a:rPr sz="1200" b="0">
                <a:solidFill>
                  <a:srgbClr val="77706E"/>
                </a:solidFill>
                <a:latin typeface="Meiryo"/>
              </a:rPr>
              <a:t>表面利回り</a:t>
            </a:r>
          </a:p>
        </p:txBody>
      </p:sp>
      <p:sp>
        <p:nvSpPr>
          <p:cNvPr id="12" name="TextBox 11"/>
          <p:cNvSpPr txBox="1"/>
          <p:nvPr/>
        </p:nvSpPr>
        <p:spPr>
          <a:xfrm>
            <a:off x="3383280" y="1874520"/>
            <a:ext cx="2743200" cy="640080"/>
          </a:xfrm>
          <a:prstGeom prst="rect">
            <a:avLst/>
          </a:prstGeom>
          <a:noFill/>
        </p:spPr>
        <p:txBody>
          <a:bodyPr wrap="square" anchor="t">
            <a:spAutoFit/>
          </a:bodyPr>
          <a:lstStyle/>
          <a:p>
            <a:pPr algn="ctr">
              <a:lnSpc>
                <a:spcPct val="110000"/>
              </a:lnSpc>
            </a:pPr>
            <a:r>
              <a:rPr sz="2400" b="1">
                <a:solidFill>
                  <a:srgbClr val="1F7A1F"/>
                </a:solidFill>
                <a:latin typeface="Meiryo"/>
              </a:rPr>
              <a:t>6.3%</a:t>
            </a:r>
          </a:p>
        </p:txBody>
      </p:sp>
      <p:sp>
        <p:nvSpPr>
          <p:cNvPr id="13" name="Rectangle 12"/>
          <p:cNvSpPr/>
          <p:nvPr/>
        </p:nvSpPr>
        <p:spPr>
          <a:xfrm>
            <a:off x="6309360" y="1463040"/>
            <a:ext cx="274320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60" y="1572768"/>
            <a:ext cx="2743200" cy="365760"/>
          </a:xfrm>
          <a:prstGeom prst="rect">
            <a:avLst/>
          </a:prstGeom>
          <a:noFill/>
        </p:spPr>
        <p:txBody>
          <a:bodyPr wrap="square" anchor="t">
            <a:spAutoFit/>
          </a:bodyPr>
          <a:lstStyle/>
          <a:p>
            <a:pPr algn="ctr">
              <a:lnSpc>
                <a:spcPct val="110000"/>
              </a:lnSpc>
            </a:pPr>
            <a:r>
              <a:rPr sz="1200" b="0">
                <a:solidFill>
                  <a:srgbClr val="77706E"/>
                </a:solidFill>
                <a:latin typeface="Meiryo"/>
              </a:rPr>
              <a:t>実質利回り</a:t>
            </a:r>
          </a:p>
        </p:txBody>
      </p:sp>
      <p:sp>
        <p:nvSpPr>
          <p:cNvPr id="15" name="TextBox 14"/>
          <p:cNvSpPr txBox="1"/>
          <p:nvPr/>
        </p:nvSpPr>
        <p:spPr>
          <a:xfrm>
            <a:off x="6309360" y="1874520"/>
            <a:ext cx="2743200" cy="640080"/>
          </a:xfrm>
          <a:prstGeom prst="rect">
            <a:avLst/>
          </a:prstGeom>
          <a:noFill/>
        </p:spPr>
        <p:txBody>
          <a:bodyPr wrap="square" anchor="t">
            <a:spAutoFit/>
          </a:bodyPr>
          <a:lstStyle/>
          <a:p>
            <a:pPr algn="ctr">
              <a:lnSpc>
                <a:spcPct val="110000"/>
              </a:lnSpc>
            </a:pPr>
            <a:r>
              <a:rPr sz="2400" b="1">
                <a:solidFill>
                  <a:srgbClr val="1F7A1F"/>
                </a:solidFill>
                <a:latin typeface="Meiryo"/>
              </a:rPr>
              <a:t>5.4%</a:t>
            </a:r>
          </a:p>
        </p:txBody>
      </p:sp>
      <p:sp>
        <p:nvSpPr>
          <p:cNvPr id="16" name="Rectangle 15"/>
          <p:cNvSpPr/>
          <p:nvPr/>
        </p:nvSpPr>
        <p:spPr>
          <a:xfrm>
            <a:off x="9235440" y="1463040"/>
            <a:ext cx="274320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35440" y="1572768"/>
            <a:ext cx="2743200" cy="365760"/>
          </a:xfrm>
          <a:prstGeom prst="rect">
            <a:avLst/>
          </a:prstGeom>
          <a:noFill/>
        </p:spPr>
        <p:txBody>
          <a:bodyPr wrap="square" anchor="t">
            <a:spAutoFit/>
          </a:bodyPr>
          <a:lstStyle/>
          <a:p>
            <a:pPr algn="ctr">
              <a:lnSpc>
                <a:spcPct val="110000"/>
              </a:lnSpc>
            </a:pPr>
            <a:r>
              <a:rPr sz="1200" b="0">
                <a:solidFill>
                  <a:srgbClr val="77706E"/>
                </a:solidFill>
                <a:latin typeface="Meiryo"/>
              </a:rPr>
              <a:t>税引前CF</a:t>
            </a:r>
          </a:p>
        </p:txBody>
      </p:sp>
      <p:sp>
        <p:nvSpPr>
          <p:cNvPr id="18" name="TextBox 17"/>
          <p:cNvSpPr txBox="1"/>
          <p:nvPr/>
        </p:nvSpPr>
        <p:spPr>
          <a:xfrm>
            <a:off x="9235440" y="1874520"/>
            <a:ext cx="2743200" cy="640080"/>
          </a:xfrm>
          <a:prstGeom prst="rect">
            <a:avLst/>
          </a:prstGeom>
          <a:noFill/>
        </p:spPr>
        <p:txBody>
          <a:bodyPr wrap="square" anchor="t">
            <a:spAutoFit/>
          </a:bodyPr>
          <a:lstStyle/>
          <a:p>
            <a:pPr algn="ctr">
              <a:lnSpc>
                <a:spcPct val="110000"/>
              </a:lnSpc>
            </a:pPr>
            <a:r>
              <a:rPr sz="2400" b="1">
                <a:solidFill>
                  <a:srgbClr val="1F7A1F"/>
                </a:solidFill>
                <a:latin typeface="Meiryo"/>
              </a:rPr>
              <a:t>-6千円</a:t>
            </a:r>
          </a:p>
        </p:txBody>
      </p:sp>
      <p:sp>
        <p:nvSpPr>
          <p:cNvPr id="19" name="Rectangle 18"/>
          <p:cNvSpPr/>
          <p:nvPr/>
        </p:nvSpPr>
        <p:spPr>
          <a:xfrm>
            <a:off x="457200" y="3200400"/>
            <a:ext cx="1124712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3227832"/>
            <a:ext cx="3191256" cy="457200"/>
          </a:xfrm>
          <a:prstGeom prst="rect">
            <a:avLst/>
          </a:prstGeom>
          <a:noFill/>
        </p:spPr>
        <p:txBody>
          <a:bodyPr wrap="square" anchor="ctr">
            <a:spAutoFit/>
          </a:bodyPr>
          <a:lstStyle/>
          <a:p>
            <a:pPr algn="l">
              <a:lnSpc>
                <a:spcPct val="110000"/>
              </a:lnSpc>
            </a:pPr>
            <a:r>
              <a:rPr sz="1300" b="1">
                <a:solidFill>
                  <a:srgbClr val="AA2E26"/>
                </a:solidFill>
                <a:latin typeface="Meiryo"/>
              </a:rPr>
              <a:t>取得価格</a:t>
            </a:r>
          </a:p>
        </p:txBody>
      </p:sp>
      <p:sp>
        <p:nvSpPr>
          <p:cNvPr id="21" name="TextBox 20"/>
          <p:cNvSpPr txBox="1"/>
          <p:nvPr/>
        </p:nvSpPr>
        <p:spPr>
          <a:xfrm>
            <a:off x="3831335" y="3227832"/>
            <a:ext cx="7735823" cy="457200"/>
          </a:xfrm>
          <a:prstGeom prst="rect">
            <a:avLst/>
          </a:prstGeom>
          <a:noFill/>
        </p:spPr>
        <p:txBody>
          <a:bodyPr wrap="square" anchor="ctr">
            <a:spAutoFit/>
          </a:bodyPr>
          <a:lstStyle/>
          <a:p>
            <a:pPr algn="l">
              <a:lnSpc>
                <a:spcPct val="110000"/>
              </a:lnSpc>
            </a:pPr>
            <a:r>
              <a:rPr sz="1300" b="0">
                <a:solidFill>
                  <a:srgbClr val="332A28"/>
                </a:solidFill>
                <a:latin typeface="Meiryo"/>
              </a:rPr>
              <a:t>74,800千円</a:t>
            </a:r>
          </a:p>
        </p:txBody>
      </p:sp>
      <p:sp>
        <p:nvSpPr>
          <p:cNvPr id="22" name="Rectangle 21"/>
          <p:cNvSpPr/>
          <p:nvPr/>
        </p:nvSpPr>
        <p:spPr>
          <a:xfrm>
            <a:off x="457200" y="3657600"/>
            <a:ext cx="11247120" cy="457200"/>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685032"/>
            <a:ext cx="3191256" cy="457200"/>
          </a:xfrm>
          <a:prstGeom prst="rect">
            <a:avLst/>
          </a:prstGeom>
          <a:noFill/>
        </p:spPr>
        <p:txBody>
          <a:bodyPr wrap="square" anchor="ctr">
            <a:spAutoFit/>
          </a:bodyPr>
          <a:lstStyle/>
          <a:p>
            <a:pPr algn="l">
              <a:lnSpc>
                <a:spcPct val="110000"/>
              </a:lnSpc>
            </a:pPr>
            <a:r>
              <a:rPr sz="1300" b="1">
                <a:solidFill>
                  <a:srgbClr val="AA2E26"/>
                </a:solidFill>
                <a:latin typeface="Meiryo"/>
              </a:rPr>
              <a:t>年間賃料</a:t>
            </a:r>
          </a:p>
        </p:txBody>
      </p:sp>
      <p:sp>
        <p:nvSpPr>
          <p:cNvPr id="24" name="TextBox 23"/>
          <p:cNvSpPr txBox="1"/>
          <p:nvPr/>
        </p:nvSpPr>
        <p:spPr>
          <a:xfrm>
            <a:off x="3831335" y="3685032"/>
            <a:ext cx="7735823" cy="457200"/>
          </a:xfrm>
          <a:prstGeom prst="rect">
            <a:avLst/>
          </a:prstGeom>
          <a:noFill/>
        </p:spPr>
        <p:txBody>
          <a:bodyPr wrap="square" anchor="ctr">
            <a:spAutoFit/>
          </a:bodyPr>
          <a:lstStyle/>
          <a:p>
            <a:pPr algn="l">
              <a:lnSpc>
                <a:spcPct val="110000"/>
              </a:lnSpc>
            </a:pPr>
            <a:r>
              <a:rPr sz="1300" b="0">
                <a:solidFill>
                  <a:srgbClr val="332A28"/>
                </a:solidFill>
                <a:latin typeface="Meiryo"/>
              </a:rPr>
              <a:t>4,730千円</a:t>
            </a:r>
          </a:p>
        </p:txBody>
      </p:sp>
      <p:sp>
        <p:nvSpPr>
          <p:cNvPr id="25" name="Rectangle 24"/>
          <p:cNvSpPr/>
          <p:nvPr/>
        </p:nvSpPr>
        <p:spPr>
          <a:xfrm>
            <a:off x="457200" y="4114800"/>
            <a:ext cx="1124712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4142232"/>
            <a:ext cx="3191256" cy="457200"/>
          </a:xfrm>
          <a:prstGeom prst="rect">
            <a:avLst/>
          </a:prstGeom>
          <a:noFill/>
        </p:spPr>
        <p:txBody>
          <a:bodyPr wrap="square" anchor="ctr">
            <a:spAutoFit/>
          </a:bodyPr>
          <a:lstStyle/>
          <a:p>
            <a:pPr algn="l">
              <a:lnSpc>
                <a:spcPct val="110000"/>
              </a:lnSpc>
            </a:pPr>
            <a:r>
              <a:rPr sz="1300" b="1">
                <a:solidFill>
                  <a:srgbClr val="AA2E26"/>
                </a:solidFill>
                <a:latin typeface="Meiryo"/>
              </a:rPr>
              <a:t>実質利回り</a:t>
            </a:r>
          </a:p>
        </p:txBody>
      </p:sp>
      <p:sp>
        <p:nvSpPr>
          <p:cNvPr id="27" name="TextBox 26"/>
          <p:cNvSpPr txBox="1"/>
          <p:nvPr/>
        </p:nvSpPr>
        <p:spPr>
          <a:xfrm>
            <a:off x="3831335" y="4142232"/>
            <a:ext cx="7735823" cy="457200"/>
          </a:xfrm>
          <a:prstGeom prst="rect">
            <a:avLst/>
          </a:prstGeom>
          <a:noFill/>
        </p:spPr>
        <p:txBody>
          <a:bodyPr wrap="square" anchor="ctr">
            <a:spAutoFit/>
          </a:bodyPr>
          <a:lstStyle/>
          <a:p>
            <a:pPr algn="l">
              <a:lnSpc>
                <a:spcPct val="110000"/>
              </a:lnSpc>
            </a:pPr>
            <a:r>
              <a:rPr sz="1300" b="0">
                <a:solidFill>
                  <a:srgbClr val="332A28"/>
                </a:solidFill>
                <a:latin typeface="Meiryo"/>
              </a:rPr>
              <a:t>5.4%</a:t>
            </a:r>
          </a:p>
        </p:txBody>
      </p:sp>
      <p:sp>
        <p:nvSpPr>
          <p:cNvPr id="28" name="Rectangle 27"/>
          <p:cNvSpPr/>
          <p:nvPr/>
        </p:nvSpPr>
        <p:spPr>
          <a:xfrm>
            <a:off x="457200" y="4572000"/>
            <a:ext cx="11247120" cy="457200"/>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66928" y="4599432"/>
            <a:ext cx="3191256" cy="457200"/>
          </a:xfrm>
          <a:prstGeom prst="rect">
            <a:avLst/>
          </a:prstGeom>
          <a:noFill/>
        </p:spPr>
        <p:txBody>
          <a:bodyPr wrap="square" anchor="ctr">
            <a:spAutoFit/>
          </a:bodyPr>
          <a:lstStyle/>
          <a:p>
            <a:pPr algn="l">
              <a:lnSpc>
                <a:spcPct val="110000"/>
              </a:lnSpc>
            </a:pPr>
            <a:r>
              <a:rPr sz="1300" b="1">
                <a:solidFill>
                  <a:srgbClr val="AA2E26"/>
                </a:solidFill>
                <a:latin typeface="Meiryo"/>
              </a:rPr>
              <a:t>税引前CF(試算)</a:t>
            </a:r>
          </a:p>
        </p:txBody>
      </p:sp>
      <p:sp>
        <p:nvSpPr>
          <p:cNvPr id="30" name="TextBox 29"/>
          <p:cNvSpPr txBox="1"/>
          <p:nvPr/>
        </p:nvSpPr>
        <p:spPr>
          <a:xfrm>
            <a:off x="3831335" y="4599432"/>
            <a:ext cx="7735823" cy="457200"/>
          </a:xfrm>
          <a:prstGeom prst="rect">
            <a:avLst/>
          </a:prstGeom>
          <a:noFill/>
        </p:spPr>
        <p:txBody>
          <a:bodyPr wrap="square" anchor="ctr">
            <a:spAutoFit/>
          </a:bodyPr>
          <a:lstStyle/>
          <a:p>
            <a:pPr algn="l">
              <a:lnSpc>
                <a:spcPct val="110000"/>
              </a:lnSpc>
            </a:pPr>
            <a:r>
              <a:rPr sz="1300" b="0">
                <a:solidFill>
                  <a:srgbClr val="332A28"/>
                </a:solidFill>
                <a:latin typeface="Meiryo"/>
              </a:rPr>
              <a:t>-6千円</a:t>
            </a:r>
          </a:p>
        </p:txBody>
      </p:sp>
      <p:sp>
        <p:nvSpPr>
          <p:cNvPr id="31" name="TextBox 30"/>
          <p:cNvSpPr txBox="1"/>
          <p:nvPr/>
        </p:nvSpPr>
        <p:spPr>
          <a:xfrm>
            <a:off x="457200" y="6446520"/>
            <a:ext cx="8229600" cy="320040"/>
          </a:xfrm>
          <a:prstGeom prst="rect">
            <a:avLst/>
          </a:prstGeom>
          <a:noFill/>
        </p:spPr>
        <p:txBody>
          <a:bodyPr wrap="square" anchor="t">
            <a:spAutoFit/>
          </a:bodyPr>
          <a:lstStyle/>
          <a:p>
            <a:pPr algn="l">
              <a:lnSpc>
                <a:spcPct val="110000"/>
              </a:lnSpc>
            </a:pPr>
            <a:r>
              <a:rPr sz="900" b="0">
                <a:solidFill>
                  <a:srgbClr val="77706E"/>
                </a:solidFill>
                <a:latin typeface="Meiryo"/>
              </a:rPr>
              <a:t>菊池ホールディングス（KHD）／ 本資料は融資ご相談用の概算であり最終条件は協議のうえ確定します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201168" cy="59436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10789920" cy="731520"/>
          </a:xfrm>
          <a:prstGeom prst="rect">
            <a:avLst/>
          </a:prstGeom>
          <a:noFill/>
        </p:spPr>
        <p:txBody>
          <a:bodyPr wrap="square" anchor="t">
            <a:spAutoFit/>
          </a:bodyPr>
          <a:lstStyle/>
          <a:p>
            <a:pPr algn="l">
              <a:lnSpc>
                <a:spcPct val="110000"/>
              </a:lnSpc>
            </a:pPr>
            <a:r>
              <a:rPr sz="2600" b="1">
                <a:solidFill>
                  <a:srgbClr val="AA2E26"/>
                </a:solidFill>
                <a:latin typeface="Meiryo"/>
              </a:rPr>
              <a:t>融資のご相談</a:t>
            </a:r>
          </a:p>
        </p:txBody>
      </p:sp>
      <p:sp>
        <p:nvSpPr>
          <p:cNvPr id="5" name="TextBox 4"/>
          <p:cNvSpPr txBox="1"/>
          <p:nvPr/>
        </p:nvSpPr>
        <p:spPr>
          <a:xfrm>
            <a:off x="11338560" y="548640"/>
            <a:ext cx="640080" cy="457200"/>
          </a:xfrm>
          <a:prstGeom prst="rect">
            <a:avLst/>
          </a:prstGeom>
          <a:noFill/>
        </p:spPr>
        <p:txBody>
          <a:bodyPr wrap="square" anchor="t">
            <a:spAutoFit/>
          </a:bodyPr>
          <a:lstStyle/>
          <a:p>
            <a:pPr algn="r">
              <a:lnSpc>
                <a:spcPct val="110000"/>
              </a:lnSpc>
            </a:pPr>
            <a:r>
              <a:rPr sz="1600" b="1">
                <a:solidFill>
                  <a:srgbClr val="77706E"/>
                </a:solidFill>
                <a:latin typeface="Meiryo"/>
              </a:rPr>
              <a:t>05</a:t>
            </a:r>
          </a:p>
        </p:txBody>
      </p:sp>
      <p:sp>
        <p:nvSpPr>
          <p:cNvPr id="6" name="Rectangle 5"/>
          <p:cNvSpPr/>
          <p:nvPr/>
        </p:nvSpPr>
        <p:spPr>
          <a:xfrm>
            <a:off x="457200" y="1207008"/>
            <a:ext cx="11247120" cy="18288"/>
          </a:xfrm>
          <a:prstGeom prst="rect">
            <a:avLst/>
          </a:prstGeom>
          <a:solidFill>
            <a:srgbClr val="E3D8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463040"/>
            <a:ext cx="365760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72768"/>
            <a:ext cx="3657600" cy="365760"/>
          </a:xfrm>
          <a:prstGeom prst="rect">
            <a:avLst/>
          </a:prstGeom>
          <a:noFill/>
        </p:spPr>
        <p:txBody>
          <a:bodyPr wrap="square" anchor="t">
            <a:spAutoFit/>
          </a:bodyPr>
          <a:lstStyle/>
          <a:p>
            <a:pPr algn="ctr">
              <a:lnSpc>
                <a:spcPct val="110000"/>
              </a:lnSpc>
            </a:pPr>
            <a:r>
              <a:rPr sz="1200" b="0">
                <a:solidFill>
                  <a:srgbClr val="77706E"/>
                </a:solidFill>
                <a:latin typeface="Meiryo"/>
              </a:rPr>
              <a:t>融資希望額</a:t>
            </a:r>
          </a:p>
        </p:txBody>
      </p:sp>
      <p:sp>
        <p:nvSpPr>
          <p:cNvPr id="9" name="TextBox 8"/>
          <p:cNvSpPr txBox="1"/>
          <p:nvPr/>
        </p:nvSpPr>
        <p:spPr>
          <a:xfrm>
            <a:off x="457200" y="1874520"/>
            <a:ext cx="3657600" cy="640080"/>
          </a:xfrm>
          <a:prstGeom prst="rect">
            <a:avLst/>
          </a:prstGeom>
          <a:noFill/>
        </p:spPr>
        <p:txBody>
          <a:bodyPr wrap="square" anchor="t">
            <a:spAutoFit/>
          </a:bodyPr>
          <a:lstStyle/>
          <a:p>
            <a:pPr algn="ctr">
              <a:lnSpc>
                <a:spcPct val="110000"/>
              </a:lnSpc>
            </a:pPr>
            <a:r>
              <a:rPr sz="2400" b="1">
                <a:solidFill>
                  <a:srgbClr val="AA2E26"/>
                </a:solidFill>
                <a:latin typeface="Meiryo"/>
              </a:rPr>
              <a:t>74,800千円</a:t>
            </a:r>
          </a:p>
        </p:txBody>
      </p:sp>
      <p:sp>
        <p:nvSpPr>
          <p:cNvPr id="10" name="Rectangle 9"/>
          <p:cNvSpPr/>
          <p:nvPr/>
        </p:nvSpPr>
        <p:spPr>
          <a:xfrm>
            <a:off x="4297680" y="1463040"/>
            <a:ext cx="365760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97680" y="1572768"/>
            <a:ext cx="3657600" cy="365760"/>
          </a:xfrm>
          <a:prstGeom prst="rect">
            <a:avLst/>
          </a:prstGeom>
          <a:noFill/>
        </p:spPr>
        <p:txBody>
          <a:bodyPr wrap="square" anchor="t">
            <a:spAutoFit/>
          </a:bodyPr>
          <a:lstStyle/>
          <a:p>
            <a:pPr algn="ctr">
              <a:lnSpc>
                <a:spcPct val="110000"/>
              </a:lnSpc>
            </a:pPr>
            <a:r>
              <a:rPr sz="1200" b="0">
                <a:solidFill>
                  <a:srgbClr val="77706E"/>
                </a:solidFill>
                <a:latin typeface="Meiryo"/>
              </a:rPr>
              <a:t>返済原資</a:t>
            </a:r>
          </a:p>
        </p:txBody>
      </p:sp>
      <p:sp>
        <p:nvSpPr>
          <p:cNvPr id="12" name="TextBox 11"/>
          <p:cNvSpPr txBox="1"/>
          <p:nvPr/>
        </p:nvSpPr>
        <p:spPr>
          <a:xfrm>
            <a:off x="4297680" y="1874520"/>
            <a:ext cx="3657600" cy="640080"/>
          </a:xfrm>
          <a:prstGeom prst="rect">
            <a:avLst/>
          </a:prstGeom>
          <a:noFill/>
        </p:spPr>
        <p:txBody>
          <a:bodyPr wrap="square" anchor="t">
            <a:spAutoFit/>
          </a:bodyPr>
          <a:lstStyle/>
          <a:p>
            <a:pPr algn="ctr">
              <a:lnSpc>
                <a:spcPct val="110000"/>
              </a:lnSpc>
            </a:pPr>
            <a:r>
              <a:rPr sz="2400" b="1">
                <a:solidFill>
                  <a:srgbClr val="332A28"/>
                </a:solidFill>
                <a:latin typeface="Meiryo"/>
              </a:rPr>
              <a:t>賃料収入</a:t>
            </a:r>
          </a:p>
        </p:txBody>
      </p:sp>
      <p:sp>
        <p:nvSpPr>
          <p:cNvPr id="13" name="Rectangle 12"/>
          <p:cNvSpPr/>
          <p:nvPr/>
        </p:nvSpPr>
        <p:spPr>
          <a:xfrm>
            <a:off x="8138160" y="1463040"/>
            <a:ext cx="356616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38160" y="1572768"/>
            <a:ext cx="3566160" cy="365760"/>
          </a:xfrm>
          <a:prstGeom prst="rect">
            <a:avLst/>
          </a:prstGeom>
          <a:noFill/>
        </p:spPr>
        <p:txBody>
          <a:bodyPr wrap="square" anchor="t">
            <a:spAutoFit/>
          </a:bodyPr>
          <a:lstStyle/>
          <a:p>
            <a:pPr algn="ctr">
              <a:lnSpc>
                <a:spcPct val="110000"/>
              </a:lnSpc>
            </a:pPr>
            <a:r>
              <a:rPr sz="1200" b="0">
                <a:solidFill>
                  <a:srgbClr val="77706E"/>
                </a:solidFill>
                <a:latin typeface="Meiryo"/>
              </a:rPr>
              <a:t>スキーム</a:t>
            </a:r>
          </a:p>
        </p:txBody>
      </p:sp>
      <p:sp>
        <p:nvSpPr>
          <p:cNvPr id="15" name="TextBox 14"/>
          <p:cNvSpPr txBox="1"/>
          <p:nvPr/>
        </p:nvSpPr>
        <p:spPr>
          <a:xfrm>
            <a:off x="8138160" y="1874520"/>
            <a:ext cx="3566160" cy="640080"/>
          </a:xfrm>
          <a:prstGeom prst="rect">
            <a:avLst/>
          </a:prstGeom>
          <a:noFill/>
        </p:spPr>
        <p:txBody>
          <a:bodyPr wrap="square" anchor="t">
            <a:spAutoFit/>
          </a:bodyPr>
          <a:lstStyle/>
          <a:p>
            <a:pPr algn="ctr">
              <a:lnSpc>
                <a:spcPct val="110000"/>
              </a:lnSpc>
            </a:pPr>
            <a:r>
              <a:rPr sz="2400" b="1">
                <a:solidFill>
                  <a:srgbClr val="332A28"/>
                </a:solidFill>
                <a:latin typeface="Meiryo"/>
              </a:rPr>
              <a:t>保有（インカム）</a:t>
            </a:r>
          </a:p>
        </p:txBody>
      </p:sp>
      <p:sp>
        <p:nvSpPr>
          <p:cNvPr id="16" name="TextBox 15"/>
          <p:cNvSpPr txBox="1"/>
          <p:nvPr/>
        </p:nvSpPr>
        <p:spPr>
          <a:xfrm>
            <a:off x="457200" y="3200400"/>
            <a:ext cx="11247120" cy="2377440"/>
          </a:xfrm>
          <a:prstGeom prst="rect">
            <a:avLst/>
          </a:prstGeom>
          <a:noFill/>
        </p:spPr>
        <p:txBody>
          <a:bodyPr wrap="square" anchor="t">
            <a:spAutoFit/>
          </a:bodyPr>
          <a:lstStyle/>
          <a:p>
            <a:pPr algn="l">
              <a:lnSpc>
                <a:spcPct val="130000"/>
              </a:lnSpc>
            </a:pPr>
            <a:r>
              <a:rPr sz="1500" b="0">
                <a:solidFill>
                  <a:srgbClr val="332A28"/>
                </a:solidFill>
                <a:latin typeface="Meiryo"/>
              </a:rPr>
              <a:t>■ ご相談事項</a:t>
            </a:r>
          </a:p>
          <a:p>
            <a:pPr algn="l">
              <a:lnSpc>
                <a:spcPct val="130000"/>
              </a:lnSpc>
            </a:pPr>
            <a:r>
              <a:rPr sz="1500" b="0">
                <a:solidFill>
                  <a:srgbClr val="332A28"/>
                </a:solidFill>
                <a:latin typeface="Meiryo"/>
              </a:rPr>
              <a:t>・融資可否・融資可能額／対象費目</a:t>
            </a:r>
          </a:p>
          <a:p>
            <a:pPr algn="l">
              <a:lnSpc>
                <a:spcPct val="130000"/>
              </a:lnSpc>
            </a:pPr>
            <a:r>
              <a:rPr sz="1500" b="0">
                <a:solidFill>
                  <a:srgbClr val="332A28"/>
                </a:solidFill>
                <a:latin typeface="Meiryo"/>
              </a:rPr>
              <a:t>・金利・期間・自己資金割合のご条件</a:t>
            </a:r>
          </a:p>
          <a:p>
            <a:pPr algn="l">
              <a:lnSpc>
                <a:spcPct val="130000"/>
              </a:lnSpc>
            </a:pPr>
            <a:r>
              <a:rPr sz="1500" b="0">
                <a:solidFill>
                  <a:srgbClr val="332A28"/>
                </a:solidFill>
                <a:latin typeface="Meiryo"/>
              </a:rPr>
              <a:t>・抵当権設定・必要書類のご確認</a:t>
            </a:r>
          </a:p>
          <a:p>
            <a:pPr algn="l">
              <a:lnSpc>
                <a:spcPct val="130000"/>
              </a:lnSpc>
            </a:pPr>
            <a:r>
              <a:rPr sz="1500" b="0">
                <a:solidFill>
                  <a:srgbClr val="332A28"/>
                </a:solidFill>
                <a:latin typeface="Meiryo"/>
              </a:rPr>
              <a:t/>
            </a:r>
          </a:p>
          <a:p>
            <a:pPr algn="l">
              <a:lnSpc>
                <a:spcPct val="130000"/>
              </a:lnSpc>
            </a:pPr>
            <a:r>
              <a:rPr sz="1500" b="0">
                <a:solidFill>
                  <a:srgbClr val="332A28"/>
                </a:solidFill>
                <a:latin typeface="Meiryo"/>
              </a:rPr>
              <a:t>※ 詳細書類（レントロール・確定測量等）は順次ご提出いたします。</a:t>
            </a:r>
          </a:p>
        </p:txBody>
      </p:sp>
      <p:sp>
        <p:nvSpPr>
          <p:cNvPr id="17" name="TextBox 16"/>
          <p:cNvSpPr txBox="1"/>
          <p:nvPr/>
        </p:nvSpPr>
        <p:spPr>
          <a:xfrm>
            <a:off x="457200" y="6446520"/>
            <a:ext cx="8229600" cy="320040"/>
          </a:xfrm>
          <a:prstGeom prst="rect">
            <a:avLst/>
          </a:prstGeom>
          <a:noFill/>
        </p:spPr>
        <p:txBody>
          <a:bodyPr wrap="square" anchor="t">
            <a:spAutoFit/>
          </a:bodyPr>
          <a:lstStyle/>
          <a:p>
            <a:pPr algn="l">
              <a:lnSpc>
                <a:spcPct val="110000"/>
              </a:lnSpc>
            </a:pPr>
            <a:r>
              <a:rPr sz="900" b="0">
                <a:solidFill>
                  <a:srgbClr val="77706E"/>
                </a:solidFill>
                <a:latin typeface="Meiryo"/>
              </a:rPr>
              <a:t>菊池ホールディングス（KHD）／ 本資料は融資ご相談用の概算であり最終条件は協議のうえ確定します</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194560"/>
            <a:ext cx="12191695" cy="73152"/>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468880"/>
            <a:ext cx="10515600" cy="1280160"/>
          </a:xfrm>
          <a:prstGeom prst="rect">
            <a:avLst/>
          </a:prstGeom>
          <a:noFill/>
        </p:spPr>
        <p:txBody>
          <a:bodyPr wrap="square" anchor="t">
            <a:spAutoFit/>
          </a:bodyPr>
          <a:lstStyle/>
          <a:p>
            <a:pPr algn="l">
              <a:lnSpc>
                <a:spcPct val="130000"/>
              </a:lnSpc>
            </a:pPr>
            <a:r>
              <a:rPr sz="2000" b="0">
                <a:solidFill>
                  <a:srgbClr val="332A28"/>
                </a:solidFill>
                <a:latin typeface="Meiryo"/>
              </a:rPr>
              <a:t>本案件へのご支援を賜りますようお願い申し上げます。</a:t>
            </a:r>
          </a:p>
        </p:txBody>
      </p:sp>
      <p:sp>
        <p:nvSpPr>
          <p:cNvPr id="5" name="TextBox 4"/>
          <p:cNvSpPr txBox="1"/>
          <p:nvPr/>
        </p:nvSpPr>
        <p:spPr>
          <a:xfrm>
            <a:off x="868680" y="4937760"/>
            <a:ext cx="10515600" cy="822960"/>
          </a:xfrm>
          <a:prstGeom prst="rect">
            <a:avLst/>
          </a:prstGeom>
          <a:noFill/>
        </p:spPr>
        <p:txBody>
          <a:bodyPr wrap="square" anchor="t">
            <a:spAutoFit/>
          </a:bodyPr>
          <a:lstStyle/>
          <a:p>
            <a:pPr algn="l">
              <a:lnSpc>
                <a:spcPct val="110000"/>
              </a:lnSpc>
            </a:pPr>
            <a:r>
              <a:rPr sz="1500" b="0">
                <a:solidFill>
                  <a:srgbClr val="77706E"/>
                </a:solidFill>
                <a:latin typeface="Meiryo"/>
              </a:rPr>
              <a:t>菊池ホールディングス（KHD）</a:t>
            </a:r>
          </a:p>
          <a:p>
            <a:pPr algn="l">
              <a:lnSpc>
                <a:spcPct val="110000"/>
              </a:lnSpc>
            </a:pPr>
            <a:r>
              <a:rPr sz="1500" b="0">
                <a:solidFill>
                  <a:srgbClr val="77706E"/>
                </a:solidFill>
                <a:latin typeface="Meiryo"/>
              </a:rPr>
              <a:t>代表　菊池 研太</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
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OPERATING MODEL ｜ 1 HOME MAC RUNS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人は「打席」だけ。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AA2E26"/>
                </a:solidFill>
                <a:latin typeface="Hiragino Sans"/>
              </a:rPr>
              <a:t>残りは、自宅Macが24時間回す。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会って・聞いて・詰めて・信頼を作る＝人。記録/集計/資料/分析/可視化＝Claude。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その“Claude側”を、自宅に常設した旧Macが、スマホ1本でいつでも回す。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3502152" cy="120700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709160"/>
            <a:ext cx="3502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64608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AA2E26"/>
                </a:solidFill>
                <a:latin typeface="Hiragino Sans"/>
              </a:rPr>
              <a:t>旧Mac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Hiragino Sans"/>
              </a:rPr>
              <a:t>自宅常設・リモート箱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96128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Claude代行を24h・git母艦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4709160"/>
            <a:ext cx="3502152" cy="120700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07992" y="4709160"/>
            <a:ext cx="3502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4864608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AA2E26"/>
                </a:solidFill>
                <a:latin typeface="Hiragino Sans"/>
              </a:rPr>
              <a:t>新Mac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5303520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Hiragino Sans"/>
              </a:rPr>
              <a:t>持ち出し・打席機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5596128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商談/内見の相棒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4709160"/>
            <a:ext cx="3502152" cy="120700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4" y="4709160"/>
            <a:ext cx="3502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3024" y="4864608"/>
            <a:ext cx="3502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AA2E26"/>
                </a:solidFill>
                <a:latin typeface="Hiragino Sans"/>
              </a:rPr>
              <a:t>ゆーしMac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5303520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Hiragino Sans"/>
              </a:rPr>
              <a:t>ゆーし主＋菊池も可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5596128"/>
            <a:ext cx="350215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菊池ログイン済の3台目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08990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Hiragino Sans"/>
              </a:rPr>
              <a:t>KHD  ｜  菊池 研太  ｜ 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経営の最小単位は1つ ── 人は打席に全集中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空いた時間は調査士と家族へ。“それ以外全部”を旧Macが肩代わりする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19659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293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◯ 人＝打席・判断・信頼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会う／電話／ヒアリング／詰める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53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クロージング・GO／見送り・指値・採用・GIVE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107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→ 関係・判断・存在は自動化できない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783080"/>
            <a:ext cx="5486400" cy="19659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9293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AI Claude＝それ以外 全部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496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記録(02転記)／集計(週次KPI)／資料作成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953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分析(決め手)／リマインド／可視化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4107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→ 旧Macに常駐させ、24時間まわす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77639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69079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今回の進化 ── 旧Macを「自宅常設のClaude代行サーバー」に格上げ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71415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持ち歩かない1台を母艦にする＝書き手1台ルールに最適。打席の合間にスマホから投げれば、帰宅前に“残り全部”が片付いている。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029200"/>
            <a:ext cx="11183112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029200"/>
            <a:ext cx="1118311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" y="5175504"/>
            <a:ext cx="10725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⛔ 逃げの罠（ここだけ注意）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42432"/>
            <a:ext cx="10634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「自動化の作り込み」自体が新しい謎の業務になりがち。物件の自動提案を作り込むより、レインズで自分で精査→ヒアリング→即提案が速い（6/27 羽鳥MEETの学び）。空いた時間は打席・調査士・家族へ。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3 MACHINES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Mac3台の使い分け ── どれで何をやるか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“1案件1台”が原則。同じ顧客を2台で触らない（分岐衝突の実害あり）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602736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602736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AA2E26"/>
                </a:solidFill>
                <a:latin typeface="Hiragino Sans"/>
              </a:rPr>
              <a:t>旧Mac｜自宅常設・リモート箱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69748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Claude代行サーバー（24時間）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13639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git母艦＝“書き手1台”はここ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575304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241D"/>
                </a:solidFill>
                <a:latin typeface="Hiragino Sans"/>
              </a:rPr>
              <a:t>● 常時2セッション：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014216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①03賃貸追客 ②01財務/KPI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4453128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重作業：査定・収支・謄本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489204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報告書・診療圏・ダッシュボード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33095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スマホから叩く（次頁の手順）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783080"/>
            <a:ext cx="3602736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783080"/>
            <a:ext cx="3602736" cy="54864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1938528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8C241D"/>
                </a:solidFill>
                <a:latin typeface="Hiragino Sans"/>
              </a:rPr>
              <a:t>新Mac｜持ち出し・打席機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69748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商談・内見・現地の相棒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313639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241D"/>
                </a:solidFill>
                <a:latin typeface="Hiragino Sans"/>
              </a:rPr>
              <a:t>● 基本は旧Macに“入って”使う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575304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（ゆーしと同じ・データは旧Mac側）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4014216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圏外/オフライン時だけローカル起動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4453128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→ 後で「保存して」で同期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489204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打席直後に“その場で1行”投げる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533095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● スマホ1本でも旧Macに入れる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40" y="1783080"/>
            <a:ext cx="3602736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1783080"/>
            <a:ext cx="3602736" cy="54864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1938528"/>
            <a:ext cx="323697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6E6E6E"/>
                </a:solidFill>
                <a:latin typeface="Hiragino Sans"/>
              </a:rPr>
              <a:t>ゆーしMac｜ゆーし主＋菊池も使える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269748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菊池のGoogle/Claudeログイン済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4" y="313639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＋workspace clone済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4" y="3575304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8C241D"/>
                </a:solidFill>
                <a:latin typeface="Hiragino Sans"/>
              </a:rPr>
              <a:t>● ＝菊池がすぐ使える3台目の実機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4014216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普段の主＝ゆーし（EC折半）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4" y="4453128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制約は全台共通：開始pull/終了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4" y="4892040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push・書き手1台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4" y="5330952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● “触らない”でなく“同じ案件を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0184" y="5769864"/>
            <a:ext cx="31455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　母艦と同時に書かない”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WHAT TO THROW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スマホから投げる ── 打席直後に1行、裏で完了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「報告回数に応じて積み上がる」。朝晩に限らず“別れた直後”が理想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3749039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9293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✅ リモートで回す（⬜Claude代行）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96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「○○さんと予算13万/なぜ＝駅近で握った」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53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→ 作業DB入力・KPI/日報・顧客マスター更新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107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追客ドラフト作成（送信は自分の最終チェック）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679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査定・収支試算・謄本/契約精読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251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診療圏調査・報告書・議事録→タスク化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82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朝ブリーフ／週次KPI／ダッシュボード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39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→ 脳に溜めず即ハンドオフ＝打席に集中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783080"/>
            <a:ext cx="5486400" cy="3749039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929384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⛔ リモートでやらせない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496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物件の自動ピック・自動提案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953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→ 6/27羽鳥MEETの結論：ヒアリング→提案は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4107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　菊池が打席でやる方が速くて成約に近い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679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クロージング・YES取り（人の核）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3251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GO/見送り・指値・採用・撤退の最終判断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782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2395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→ “誰のYesに繋がるか”言えない作業はやめる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6928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66928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同時セッションは“箱”でなく“投げ込み頻度”を増やす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16305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打席時間は1人分。常時2セッション（03追客／01財務）で十分。04医療・05物件は案件が立った時だけ起こす。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TO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スマホ→自宅Mac リモート起動 手順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本命＝Claude Code 公式 Remote Control（SSH不要・コードはMac上のまま・無料）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28800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810512"/>
            <a:ext cx="5989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Hiragino Sans"/>
              </a:rPr>
              <a:t>旧Macを更新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3312" y="2103120"/>
            <a:ext cx="5989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ターミナルで `claude --version`（v2.1.51以上）。古ければ `claude upgrade`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70048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651760"/>
            <a:ext cx="5989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Hiragino Sans"/>
              </a:rPr>
              <a:t>Remote Controlを開始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944368"/>
            <a:ext cx="5989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対象フォルダで `claude` 起動 → Remote Control を有効化（画面にQR/URLが出る）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511296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11296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493008"/>
            <a:ext cx="5989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Hiragino Sans"/>
              </a:rPr>
              <a:t>iPhoneに Claude アプリ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785616"/>
            <a:ext cx="5989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App Storeから入れ、同じアカウントでログイン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352544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352544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334256"/>
            <a:ext cx="5989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Hiragino Sans"/>
              </a:rPr>
              <a:t>QRを読んで接続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4626864"/>
            <a:ext cx="5989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アプリのカメラ/「Code」タブで MacのQRを読む → セッションに接続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193792"/>
            <a:ext cx="512064" cy="512064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93792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5175504"/>
            <a:ext cx="5989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Hiragino Sans"/>
              </a:rPr>
              <a:t>Macを寝かせない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5468112"/>
            <a:ext cx="5989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別タブで `caffeinate -di &amp;`（終了は `killall caffeinate`）＋設定でスリープOFF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26679" y="1828800"/>
            <a:ext cx="3977639" cy="2331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79" y="1828800"/>
            <a:ext cx="3977639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2711" y="1975104"/>
            <a:ext cx="3520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AA2E26"/>
                </a:solidFill>
                <a:latin typeface="Hiragino Sans"/>
              </a:rPr>
              <a:t>常時2セッション運用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0999" y="2542032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①「03追客」②「01財務」の2本を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0999" y="2962656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名前付きで起動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0999" y="3383280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iPhoneの「Code」タブで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0999" y="3803904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　タップ切替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999" y="4224528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緑点＝オンライン中の目印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79" y="4315968"/>
            <a:ext cx="3977639" cy="17830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26679" y="4315968"/>
            <a:ext cx="3977639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2711" y="4462272"/>
            <a:ext cx="35204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8C241D"/>
                </a:solidFill>
                <a:latin typeface="Hiragino Sans"/>
              </a:rPr>
              <a:t>⚠️ 電源OFFからは無理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0999" y="5029200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Hiragino Sans"/>
              </a:rPr>
              <a:t>Wake-on-LANは不安定。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0999" y="5449824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8C241D"/>
                </a:solidFill>
                <a:latin typeface="Hiragino Sans"/>
              </a:rPr>
              <a:t>旧Mac＝常時起動＋スリープなしが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0999" y="5870448"/>
            <a:ext cx="3428999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E6E6E"/>
                </a:solidFill>
                <a:latin typeface="Hiragino Sans"/>
              </a:rPr>
              <a:t>一番手堅い（電気代だけ）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E6E6E"/>
                </a:solidFill>
                <a:latin typeface="Hiragino Sans"/>
              </a:rPr>
              <a:t>※コマンドの正確な表記はバージョンで変わることがあります。`claude --help` と公式ドキュメント（code.claude.com/docs/remote-control）で最新を確認。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CONNECTION &amp; 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接続モデルと、メモリ・負荷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入る側（クライアント）は軽い。重さは“入られる側”＝旧Macに集中する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新Mac・ゆーしMac・スマホは、全部「旧Mac」に入る（リモート）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3113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本体・データ・記憶は旧Macに1つだけ。だから書き手も実質1台＝同時編集の衝突が起きない。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2926080" cy="512064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743200"/>
            <a:ext cx="267004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機器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743200"/>
            <a:ext cx="4206240" cy="512064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2743200"/>
            <a:ext cx="39502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役割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2743200"/>
            <a:ext cx="4050791" cy="512064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1544" y="2743200"/>
            <a:ext cx="379475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Hiragino Sans"/>
              </a:rPr>
              <a:t>メモリ・負荷の目安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255264"/>
            <a:ext cx="2926080" cy="512064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255264"/>
            <a:ext cx="267004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C241D"/>
                </a:solidFill>
                <a:latin typeface="Hiragino Sans"/>
              </a:rPr>
              <a:t>旧Mac（8GB・M1 Air）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255264"/>
            <a:ext cx="4206240" cy="512064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75304" y="3255264"/>
            <a:ext cx="39502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Hiragino Sans"/>
              </a:rPr>
              <a:t>母艦＝全員が入る側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3255264"/>
            <a:ext cx="4050791" cy="512064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1544" y="3255264"/>
            <a:ext cx="379475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Hiragino Sans"/>
              </a:rPr>
              <a:t>★重い側。全セッション＋リモート配信をここで背負う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767328"/>
            <a:ext cx="2926080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3767328"/>
            <a:ext cx="267004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新Mac（ハイスペック）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3767328"/>
            <a:ext cx="4206240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75304" y="3767328"/>
            <a:ext cx="39502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Hiragino Sans"/>
              </a:rPr>
              <a:t>打席機。基本は旧Macに入る／圏外時だけローカル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3767328"/>
            <a:ext cx="4050791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1544" y="3767328"/>
            <a:ext cx="379475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Hiragino Sans"/>
              </a:rPr>
              <a:t>入るだけ＝超軽い(ブラウザ1枚)。ローカル起動時のみClaude分のRAM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279392"/>
            <a:ext cx="2926080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279392"/>
            <a:ext cx="267004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ゆーしMac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4279392"/>
            <a:ext cx="4206240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75304" y="4279392"/>
            <a:ext cx="39502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Hiragino Sans"/>
              </a:rPr>
              <a:t>旧Macに入るだけ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4279392"/>
            <a:ext cx="4050791" cy="512064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81544" y="4279392"/>
            <a:ext cx="379475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Hiragino Sans"/>
              </a:rPr>
              <a:t>超軽い(ブラウザ1枚)。本体メモリはほぼ食わない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791456"/>
            <a:ext cx="2926080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" y="4791456"/>
            <a:ext cx="267004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スマホ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29000" y="4791456"/>
            <a:ext cx="4206240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75304" y="4791456"/>
            <a:ext cx="395020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Hiragino Sans"/>
              </a:rPr>
              <a:t>旧Macに入るだけ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791456"/>
            <a:ext cx="4050791" cy="512064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81544" y="4791456"/>
            <a:ext cx="379475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Hiragino Sans"/>
              </a:rPr>
              <a:t>アプリ1つ。負荷ほぼゼロ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44068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544068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5321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C241D"/>
                </a:solidFill>
                <a:latin typeface="Hiragino Sans"/>
              </a:rPr>
              <a:t>⚠️ 旧Mac＝8GBが全体の上限。常時2セッション＋ゆーし1接続が現実的な天井。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3445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重くなったら、入る先を新ハイスペックMac3に切替＝母艦を格上げ（クライアント側は変えなくてOK）。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3642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※実測(2026-06-28 旧Mac)：claude各セッション≒80〜140MB／空きメモリ33%／ロード平均 約2.0（8コア）。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3つの方式 ── 迷ったら本命1本でいい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結論：菊池さんは Remote Control 一択。他は知識として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749039" cy="566928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828800"/>
            <a:ext cx="34747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iragino Sans"/>
              </a:rPr>
              <a:t>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828800"/>
            <a:ext cx="2194560" cy="566928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1" y="1828800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iragino Sans"/>
              </a:rPr>
              <a:t>セットアップ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19" y="1828800"/>
            <a:ext cx="3657600" cy="566928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1" y="1828800"/>
            <a:ext cx="3383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Hiragino Sans"/>
              </a:rPr>
              <a:t>操作感／用途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19" y="1828800"/>
            <a:ext cx="1581912" cy="566928"/>
          </a:xfrm>
          <a:prstGeom prst="rect">
            <a:avLst/>
          </a:prstGeom>
          <a:solidFill>
            <a:srgbClr val="AA2E26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68711" y="1828800"/>
            <a:ext cx="1307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Hiragino Sans"/>
              </a:rPr>
              <a:t>推奨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395728"/>
            <a:ext cx="3749039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2395728"/>
            <a:ext cx="34747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Hiragino Sans"/>
              </a:rPr>
              <a:t>① Remote Control（本命）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2395728"/>
            <a:ext cx="2194560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1" y="2395728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低・5分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19" y="2395728"/>
            <a:ext cx="3657600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1" y="2395728"/>
            <a:ext cx="3383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アプリで快適。打席の合間に確認・指示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04119" y="2395728"/>
            <a:ext cx="1581912" cy="566928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8711" y="2395728"/>
            <a:ext cx="1307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8C241D"/>
                </a:solidFill>
                <a:latin typeface="Hiragino Sans"/>
              </a:rPr>
              <a:t>★★★★★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962656"/>
            <a:ext cx="3749039" cy="566928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962656"/>
            <a:ext cx="34747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Hiragino Sans"/>
              </a:rPr>
              <a:t>② SSH+Tailscale+Blink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2962656"/>
            <a:ext cx="2194560" cy="566928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1" y="2962656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中・30分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19" y="2962656"/>
            <a:ext cx="3657600" cy="566928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1" y="2962656"/>
            <a:ext cx="3383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ターミナル常駐。画面は小さい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19" y="2962656"/>
            <a:ext cx="1581912" cy="566928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8711" y="2962656"/>
            <a:ext cx="1307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8C241D"/>
                </a:solidFill>
                <a:latin typeface="Hiragino Sans"/>
              </a:rPr>
              <a:t>★★★★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529584"/>
            <a:ext cx="3749039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" y="3529584"/>
            <a:ext cx="3474719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Hiragino Sans"/>
              </a:rPr>
              <a:t>③ リモートデスク(Jump等)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3529584"/>
            <a:ext cx="2194560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6551" y="3529584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19" y="3529584"/>
            <a:ext cx="3657600" cy="56692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1111" y="3529584"/>
            <a:ext cx="3383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Hiragino Sans"/>
              </a:rPr>
              <a:t>Mac画面ごと操作。遅く見づらい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04119" y="3529584"/>
            <a:ext cx="1581912" cy="566928"/>
          </a:xfrm>
          <a:prstGeom prst="rect">
            <a:avLst/>
          </a:prstGeom>
          <a:solidFill>
            <a:srgbClr val="F4E4E2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68711" y="3529584"/>
            <a:ext cx="130759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 i="0">
                <a:solidFill>
                  <a:srgbClr val="8C241D"/>
                </a:solidFill>
                <a:latin typeface="Hiragino Sans"/>
              </a:rPr>
              <a:t>★★★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370832"/>
            <a:ext cx="11183112" cy="1874519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370832"/>
            <a:ext cx="1118311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4517136"/>
            <a:ext cx="1072591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🔐 セキュリティ（人に勧める時の心得）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084064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A1A"/>
                </a:solidFill>
                <a:latin typeface="Hiragino Sans"/>
              </a:rPr>
              <a:t>Remote Control＝コードは自宅Mac上で実行・通信はTLS・ポート開放不要（受け身で安全）。iPhoneを失くしたらアカウント側でデバイス登録を取消せば即遮断。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504688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SSH方式を使うなら必ず Tailscale等の閉域網＋鍵認証。SSHを直接インターネットに開けない。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25312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8C241D"/>
                </a:solidFill>
                <a:latin typeface="Hiragino Sans"/>
              </a:rPr>
              <a:t>⚠️ ゆーしMac＝第三者(ゆーし)の実機に菊池のGoogle/Claude/顧客・財務・家族データがclone＆ログイン済。フルアクセス共有を許容するか、用途限定(別アカウント)にするかは意識的に決める。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KHD オペレーティングモデル × Mac3台・リモート活用  ｜  菊池 研太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DAILY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1日の流れ ── 朝の聖域は守り、打席に集中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旧Macは裏で回り続ける。第一声は「今日の打席は誰？」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371600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8C241D"/>
                </a:solidFill>
                <a:latin typeface="Hiragino Sans"/>
              </a:rPr>
              <a:t>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1828800"/>
            <a:ext cx="4709160" cy="91440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9202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人＝打席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94560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調査士(5-7聖域)→当日の打席を1つ決める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828800"/>
            <a:ext cx="482803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92024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旧Mac＝Claude代行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94560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旧Mac：朝ブリーフ自動（カネ直結2-3件＋今日の打席は誰か）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52928"/>
            <a:ext cx="1371600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852928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52928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8C241D"/>
                </a:solidFill>
                <a:latin typeface="Hiragino Sans"/>
              </a:rPr>
              <a:t>日中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2852928"/>
            <a:ext cx="4709160" cy="91440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94436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人＝打席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218688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打席に立つ（会う・聞く・詰める）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852928"/>
            <a:ext cx="482803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944368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旧Mac＝Claude代行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218688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スマホ→旧Mac：対話を02へ転記／追客ドラフト／資料作成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877056"/>
            <a:ext cx="1371600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877056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77056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8C241D"/>
                </a:solidFill>
                <a:latin typeface="Hiragino Sans"/>
              </a:rPr>
              <a:t>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3877056"/>
            <a:ext cx="4709160" cy="91440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396849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人＝打席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4242816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結果と「決め手」を一言／明日の方針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877056"/>
            <a:ext cx="482803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3968496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旧Mac＝Claude代行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242816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旧Mac：実績化・KPI更新・明日の打席キュー準備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901184"/>
            <a:ext cx="1371600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4901184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901184"/>
            <a:ext cx="1371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8C241D"/>
                </a:solidFill>
                <a:latin typeface="Hiragino Sans"/>
              </a:rPr>
              <a:t>週次(月)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4901184"/>
            <a:ext cx="4709160" cy="914400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4992624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人＝打席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5266944"/>
            <a:ext cx="4389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先週レビュー→今週の打席を選ぶ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4901184"/>
            <a:ext cx="4828032" cy="914400"/>
          </a:xfrm>
          <a:prstGeom prst="rect">
            <a:avLst/>
          </a:prstGeom>
          <a:solidFill>
            <a:srgbClr val="ECE8DF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4992624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旧Mac＝Claude代行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266944"/>
            <a:ext cx="4480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A1A1A"/>
                </a:solidFill>
                <a:latin typeface="Hiragino Sans"/>
              </a:rPr>
              <a:t>旧Mac：週次KPIを自動再構築（本部別h・成約率・繰越）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2860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Hiragino Sans"/>
              </a:rPr>
              <a:t>あなたは、打席に立つだけでいい。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063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自宅Macが、残り全部を24時間回す。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Hiragino Sans"/>
              </a:rPr>
              <a:t>それ（会って・聞いて・詰める）が一番難しく、一番価値があり、反復で当たり前になる。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1A1A1A"/>
                </a:solidFill>
                <a:latin typeface="Hiragino Sans"/>
              </a:rPr>
              <a:t>空いた時間は、調査士と家族へ。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349240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4681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Hiragino Sans"/>
              </a:rPr>
              <a:t>KHD オペレーティングモデル × Mac3台・リモート活用  ｜  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
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KHD ｜ 仕事をAIで回すための土台づくり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Hiragino Sans"/>
              </a:rPr>
              <a:t>AI仕事環境 整備マニュアル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AA2E26"/>
                </a:solidFill>
                <a:latin typeface="Hiragino Sans"/>
              </a:rPr>
              <a:t>― はじめての人でも、同じ環境を迷わず作れる地図 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パソコンの選び方・役割分担、データの置き場、外からの使い方、付属品まで。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この目次に章を足しながら“厚く”していきます。営業・コンサルでも使える型に。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12064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Hiragino Sans"/>
              </a:rPr>
              <a:t>KHD  ｜  菊池 研太  ｜  v1 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はじめに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このマニュアルの“ねらい”と使い方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「人は打席（会って話す）だけ。残りはAIが全部やる」を支える“道具と環境”の地図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2377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486400" cy="640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2E26"/>
                </a:solidFill>
                <a:latin typeface="Hiragino Sans"/>
              </a:rPr>
              <a:t>何のため？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603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AIで仕事を回すには、まず“環境”が要る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17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（どのパソコンで・どこに保存し・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4747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　外からどう使うか）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931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ここが整うと、菊池さんは“打席”に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389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2E7D46"/>
                </a:solidFill>
                <a:latin typeface="Hiragino Sans"/>
              </a:rPr>
              <a:t>　集中でき、空き時間が増える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86400" cy="2377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486400" cy="6400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94767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7D46"/>
                </a:solidFill>
                <a:latin typeface="Hiragino Sans"/>
              </a:rPr>
              <a:t>どう使う？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困ったら、次ページの“目次”から開く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17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章は、これから足して厚くしていく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（今日できた所は ✓、これからは 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そのまま 他の営業・コンサル先にも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2E7D46"/>
                </a:solidFill>
                <a:latin typeface="Hiragino Sans"/>
              </a:rPr>
              <a:t>　配れる“型”として育てる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34840"/>
            <a:ext cx="11183112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3484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445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C241D"/>
                </a:solidFill>
                <a:latin typeface="Hiragino Sans"/>
              </a:rPr>
              <a:t>大原則：むずかしい横文字は使わない。「机の広さ」「倉庫」「窓口」など、身近な言葉で。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469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新しく関わる人（ゆーし・スタッフ・お客様）が、読んだだけで動ける状態を保つ。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目次 ── この順番で“環境”が整う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✓＝今回入れた章／＋＝これから厚くする章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40680" cy="713232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4008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第1章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1783080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全体像（主役の1台＋のぞき窓）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783080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7D46"/>
                </a:solidFill>
                <a:latin typeface="Hiragino Sans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24328"/>
            <a:ext cx="5440680" cy="713232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24328"/>
            <a:ext cx="64008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24328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第2章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2624328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速さの正体（机の広さ と 倉庫）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624328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7D46"/>
                </a:solidFill>
                <a:latin typeface="Hiragino Sans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65576"/>
            <a:ext cx="5440680" cy="713232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65576"/>
            <a:ext cx="64008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65576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第3章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3465576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データの置き場（全部クラウドへ）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465576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7D46"/>
                </a:solidFill>
                <a:latin typeface="Hiragino Sans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06824"/>
            <a:ext cx="5440680" cy="713232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306824"/>
            <a:ext cx="64008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06824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第4章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4306824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パソコンの役割分担（何台でどう使う）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306824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7D46"/>
                </a:solidFill>
                <a:latin typeface="Hiragino Sans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48072"/>
            <a:ext cx="5440680" cy="713232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148072"/>
            <a:ext cx="64008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48072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第5章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20" y="5148072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外から使う（遠くから主役に入る）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5148072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7D46"/>
                </a:solidFill>
                <a:latin typeface="Hiragino Sans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783080"/>
            <a:ext cx="5440680" cy="713232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783080"/>
            <a:ext cx="64008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783080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第6章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1783080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付属品・周辺機器（ケーブル・画面 等）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1783080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7D46"/>
                </a:solidFill>
                <a:latin typeface="Hiragino Sans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624328"/>
            <a:ext cx="5440680" cy="713232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2624328"/>
            <a:ext cx="64008" cy="71323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624328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6E6E"/>
                </a:solidFill>
                <a:latin typeface="Hiragino Sans"/>
              </a:rPr>
              <a:t>第7章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2624328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新しい機械の初期設定（同じ状態に）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2624328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E6E6E"/>
                </a:solidFill>
                <a:latin typeface="Hiragino Sans"/>
              </a:rPr>
              <a:t>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465576"/>
            <a:ext cx="5440680" cy="713232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3465576"/>
            <a:ext cx="64008" cy="71323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465576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6E6E"/>
                </a:solidFill>
                <a:latin typeface="Hiragino Sans"/>
              </a:rPr>
              <a:t>第8章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3465576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毎日の回し方（朝・日中・夜）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3465576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E6E6E"/>
                </a:solidFill>
                <a:latin typeface="Hiragino Sans"/>
              </a:rPr>
              <a:t>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306824"/>
            <a:ext cx="5440680" cy="713232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4306824"/>
            <a:ext cx="64008" cy="71323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306824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6E6E"/>
                </a:solidFill>
                <a:latin typeface="Hiragino Sans"/>
              </a:rPr>
              <a:t>第9章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4306824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安全とバックアップ（失わない・分ける）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4306824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E6E6E"/>
                </a:solidFill>
                <a:latin typeface="Hiragino Sans"/>
              </a:rPr>
              <a:t>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5148072"/>
            <a:ext cx="5440680" cy="713232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2200" y="5148072"/>
            <a:ext cx="64008" cy="71323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148072"/>
            <a:ext cx="1188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6E6E"/>
                </a:solidFill>
                <a:latin typeface="Hiragino Sans"/>
              </a:rPr>
              <a:t>第10章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5148072"/>
            <a:ext cx="3520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困った時（つまずきと直し方）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09960" y="5148072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E6E6E"/>
                </a:solidFill>
                <a:latin typeface="Hiragino Sans"/>
              </a:rPr>
              <a:t>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第1章｜全体像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主役の1台に、みんなが“入って”使う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“主役パソコン（母艦）”がAIとデータを持ち、他は窓からのぞくだけ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03120"/>
            <a:ext cx="3017520" cy="182880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C241D"/>
                </a:solidFill>
                <a:latin typeface="Hiragino Sans"/>
              </a:rPr>
              <a:t>主役パソコン</a:t>
            </a:r>
          </a:p>
          <a:p>
            <a:pPr algn="ctr"/>
            <a:r>
              <a:rPr sz="1800" b="1">
                <a:solidFill>
                  <a:srgbClr val="8C241D"/>
                </a:solidFill>
                <a:latin typeface="Hiragino Sans"/>
              </a:rPr>
              <a:t>（母艦）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632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AI（クロード）と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会社のデータが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ここに集約・常時稼働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246888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自分のスマホ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＝のぞき窓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（入って使うだけ）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246888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持ち出しパソコン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＝のぞき窓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（入って使うだけ）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920240"/>
            <a:ext cx="246888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0574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ゆーしのパソコン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7744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＝のぞき窓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（入って使うだけ）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4023360"/>
            <a:ext cx="246888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41605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自宅の予備機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4805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＝のぞき窓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（入って使うだけ）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40680"/>
            <a:ext cx="11183112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44068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5040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C241D"/>
                </a:solidFill>
                <a:latin typeface="Hiragino Sans"/>
              </a:rPr>
              <a:t>だから“窓口”側は軽い。重い処理は全部“主役”が引き受ける。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5274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覚えること：強い1台を主役にして、他はそこに入る。これがAI環境の背骨。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第2章｜速さの正体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“机の広さ”と“倉庫の大きさ”は別もの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パソコンが遅いのは「机が狭い」から。「倉庫が一杯」とは別の話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377440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828800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828800"/>
            <a:ext cx="4389120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828800"/>
            <a:ext cx="41330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>机の広さ（速さ）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1828800"/>
            <a:ext cx="4416552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784" y="1828800"/>
            <a:ext cx="4160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>倉庫の大きさ（保存）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40864"/>
            <a:ext cx="2377440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340864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たとえ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340864"/>
            <a:ext cx="4389120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26664" y="2340864"/>
            <a:ext cx="41330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一度に広げて作業できる量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340864"/>
            <a:ext cx="4416552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2340864"/>
            <a:ext cx="4160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しまっておける量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52928"/>
            <a:ext cx="237744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852928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足りないと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2852928"/>
            <a:ext cx="438912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26664" y="2852928"/>
            <a:ext cx="41330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固まる・もたつく・遅い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2852928"/>
            <a:ext cx="4416552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784" y="2852928"/>
            <a:ext cx="4160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保存できない（速さは無関係）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64992"/>
            <a:ext cx="2377440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3364992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増やすには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3364992"/>
            <a:ext cx="4389120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3364992"/>
            <a:ext cx="41330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強いパソコン（主役）に替える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3364992"/>
            <a:ext cx="4416552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5784" y="3364992"/>
            <a:ext cx="4160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クラウド（ネット倉庫）を使う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877056"/>
            <a:ext cx="2377440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877056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C241D"/>
                </a:solidFill>
                <a:latin typeface="Hiragino Sans"/>
              </a:rPr>
              <a:t>今の旧Mac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3877056"/>
            <a:ext cx="4389120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26664" y="3877056"/>
            <a:ext cx="41330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机が狭い（8GB）＝ここが遅さの正体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3877056"/>
            <a:ext cx="4416552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15784" y="3877056"/>
            <a:ext cx="4160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倉庫はクラウドで足りる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212080"/>
            <a:ext cx="11183112" cy="9601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212080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2180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C241D"/>
                </a:solidFill>
                <a:latin typeface="Hiragino Sans"/>
              </a:rPr>
              <a:t>大事：データを全部クラウドに移しても“速さ”は直らない。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72414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速さ＝机の広さ。倉庫（クラウド）をいくら広げても、机は広がらない。遅さは“主役を強い機械にする”で直す。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第3章｜データの置き場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データは全部クラウド（ネット倉庫）に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机の上に物を積まない＝パソコンが軽くなる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2743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486400" cy="6400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7D46"/>
                </a:solidFill>
                <a:latin typeface="Hiragino Sans"/>
              </a:rPr>
              <a:t>こうする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60320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ファイルは Google ドライブ に置く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35808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「開く時だけ取り寄せ」の設定にする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511296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2E7D46"/>
                </a:solidFill>
                <a:latin typeface="Hiragino Sans"/>
              </a:rPr>
              <a:t>→ パソコンの中に物をためない＝軽い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986784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3台のどれからでも同じファイルが見える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462272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倉庫はたっぷり（容量で困らない）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86400" cy="2743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486400" cy="64008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94767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C241D"/>
                </a:solidFill>
                <a:latin typeface="Hiragino Sans"/>
              </a:rPr>
              <a:t>2つだけ例外（クラウド任せにしない）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① 作業中の“記録の金庫”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35808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　＝同時に書き換えると壊れるので、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11296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　　主役パソコンの中で扱う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86784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1A1A1A"/>
                </a:solidFill>
                <a:latin typeface="Hiragino Sans"/>
              </a:rPr>
              <a:t>② AIやアプリ本体（ソフト）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62272"/>
            <a:ext cx="4937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　＝そもそも機械の中で動くもの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00600"/>
            <a:ext cx="11183112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0060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103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C241D"/>
                </a:solidFill>
                <a:latin typeface="Hiragino Sans"/>
              </a:rPr>
              <a:t>合言葉：「ファイルはクラウド、机の上はいつも空っぽ」。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1266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これで保存に困らず、パソコンも軽く保てる。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第4章｜パソコンの役割分担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何台を、どう使い分けるか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強い1台を“主役”に。他は軽い“窓口”か“予備”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743200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828800"/>
            <a:ext cx="24871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>パソコン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2377440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1828800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>役割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828800"/>
            <a:ext cx="6062472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1828800"/>
            <a:ext cx="5806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>使い方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40864"/>
            <a:ext cx="2743200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340864"/>
            <a:ext cx="24871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C241D"/>
                </a:solidFill>
                <a:latin typeface="Hiragino Sans"/>
              </a:rPr>
              <a:t>新しい強いパソコン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340864"/>
            <a:ext cx="2377440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340864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主役（母艦）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340864"/>
            <a:ext cx="6062472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340864"/>
            <a:ext cx="5806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AIとデータを持ち、ずっと動かす。重い処理はここ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52928"/>
            <a:ext cx="274320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852928"/>
            <a:ext cx="24871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今までの旧パソコン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852928"/>
            <a:ext cx="237744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92424" y="2852928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のぞき窓 か 予備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60" y="2852928"/>
            <a:ext cx="6062472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9864" y="2852928"/>
            <a:ext cx="5806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主役に入って使うだけ＝軽い。重い仕事はさせない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64992"/>
            <a:ext cx="2743200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3364992"/>
            <a:ext cx="24871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ゆーしのパソコン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364992"/>
            <a:ext cx="2377440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92424" y="3364992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のぞき窓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3364992"/>
            <a:ext cx="6062472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9864" y="3364992"/>
            <a:ext cx="5806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主役に入って使う（くわしくは別マニュアル）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877056"/>
            <a:ext cx="274320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877056"/>
            <a:ext cx="24871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スマホ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3877056"/>
            <a:ext cx="237744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92424" y="3877056"/>
            <a:ext cx="21214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のぞき窓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3877056"/>
            <a:ext cx="6062472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9864" y="3877056"/>
            <a:ext cx="5806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外出先から主役に入る。アプリ1つで軽い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212080"/>
            <a:ext cx="11183112" cy="9601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212080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2180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C241D"/>
                </a:solidFill>
                <a:latin typeface="Hiragino Sans"/>
              </a:rPr>
              <a:t>今日のおすすめ：遅い旧パソコンを“主役”からはずし、新しい強いパソコンを主役にする。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72414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旧パソコンは「のぞき窓」か「予備」へ。これだけで旧パソコンがぐっと軽くなる。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第5章｜外から使う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出先のスマホから、自宅の主役に“入る”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主役は家でずっと動かし、外からはそこへ入って使う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7040880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7040880" cy="640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2E26"/>
                </a:solidFill>
                <a:latin typeface="Hiragino Sans"/>
              </a:rPr>
              <a:t>やり方（くわしくは別マニュアル）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60320"/>
            <a:ext cx="6492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主役パソコンは 家に置いて、ずっと起動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54096"/>
            <a:ext cx="6492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外からは スマホ／別パソコンで そこへ入る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547872"/>
            <a:ext cx="6492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画面ごと見る方法、AIだけ操作する方法 など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41648"/>
            <a:ext cx="6492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2E7D46"/>
                </a:solidFill>
                <a:latin typeface="Hiragino Sans"/>
              </a:rPr>
              <a:t>入る側は“窓”なので、通信さえあれば軽い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535424"/>
            <a:ext cx="6492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8C241D"/>
                </a:solidFill>
                <a:latin typeface="Hiragino Sans"/>
              </a:rPr>
              <a:t>電源を切ると入れない→主役は つけっぱなしに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783080"/>
            <a:ext cx="3959352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1783080"/>
            <a:ext cx="3959352" cy="6400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0999" y="1947672"/>
            <a:ext cx="3502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7D46"/>
                </a:solidFill>
                <a:latin typeface="Hiragino Sans"/>
              </a:rPr>
              <a:t>良いところ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7" y="2560320"/>
            <a:ext cx="3410712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打席（商談）の直後に、その場で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7" y="3054096"/>
            <a:ext cx="3410712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　一言だけ指示できる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7" y="3547872"/>
            <a:ext cx="3410712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帰宅前に“残りの仕事”が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7" y="4041648"/>
            <a:ext cx="3410712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400" b="0">
                <a:solidFill>
                  <a:srgbClr val="2E7D46"/>
                </a:solidFill>
                <a:latin typeface="Hiragino Sans"/>
              </a:rPr>
              <a:t>　片付いている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9204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017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C241D"/>
                </a:solidFill>
                <a:latin typeface="Hiragino Sans"/>
              </a:rPr>
              <a:t>※ くわしい手順は別冊「外から使う 設定ガイド」に。この章は“考え方”だけ。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第6章｜付属品・周辺機器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AI環境に“付随して整える物”リスト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本体だけでなく、周りの道具も揃えて初めて回る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383280" cy="548640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3080"/>
            <a:ext cx="31272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>品目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783080"/>
            <a:ext cx="5029200" cy="548640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2504" y="1783080"/>
            <a:ext cx="4773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>何のため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783080"/>
            <a:ext cx="2770632" cy="548640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178308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</a:rPr>
              <a:t>要否の目安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31720"/>
            <a:ext cx="3383280" cy="548640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331720"/>
            <a:ext cx="31272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C241D"/>
                </a:solidFill>
                <a:latin typeface="Hiragino Sans"/>
              </a:rPr>
              <a:t>高速ケーブル（サンダーボルト等）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331720"/>
            <a:ext cx="5029200" cy="548640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32504" y="2331720"/>
            <a:ext cx="4773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新しいパソコンへ“丸ごと引っ越し”を最速で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331720"/>
            <a:ext cx="2770632" cy="548640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233172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引っ越し時に必須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80360"/>
            <a:ext cx="3383280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880360"/>
            <a:ext cx="31272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外付けの大きい画面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2880360"/>
            <a:ext cx="5029200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32504" y="2880360"/>
            <a:ext cx="4773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主役パソコンは画面が広いほど作業が速い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2880360"/>
            <a:ext cx="2770632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4" y="288036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主役にあると良い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29000"/>
            <a:ext cx="3383280" cy="54864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3429000"/>
            <a:ext cx="31272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キーボード・マウス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3429000"/>
            <a:ext cx="5029200" cy="54864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32504" y="3429000"/>
            <a:ext cx="4773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長時間の入力を楽に・正確に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3429000"/>
            <a:ext cx="2770632" cy="54864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61704" y="342900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主役にあると良い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977640"/>
            <a:ext cx="3383280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3977640"/>
            <a:ext cx="31272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有線LAN／安定したネット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3977640"/>
            <a:ext cx="5029200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32504" y="3977640"/>
            <a:ext cx="4773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常時起動の主役は通信が命綱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3977640"/>
            <a:ext cx="2770632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61704" y="397764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主役は必須級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26280"/>
            <a:ext cx="3383280" cy="54864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" y="4526280"/>
            <a:ext cx="31272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電源・電源タップ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6200" y="4526280"/>
            <a:ext cx="5029200" cy="54864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32504" y="4526280"/>
            <a:ext cx="4773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主役はつけっぱなし＝電源を確保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4526280"/>
            <a:ext cx="2770632" cy="54864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452628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必須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074920"/>
            <a:ext cx="3383280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" y="5074920"/>
            <a:ext cx="31272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Hiragino Sans"/>
              </a:rPr>
              <a:t>バックアップ用の外付け保存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5074920"/>
            <a:ext cx="5029200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32504" y="5074920"/>
            <a:ext cx="4773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万一に備えてデータの控えを取る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15400" y="5074920"/>
            <a:ext cx="2770632" cy="54864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61704" y="507492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あると安心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※ この章は、新しい道具を買う・もらうたびに行を足して“買い物リスト＆理由”として育てる。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AI仕事環境 整備マニュアル  ｜  v1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これから厚くする章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iragino Sans"/>
              </a:rPr>
              <a:t>第7〜10章 ── 足しながら育てる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今は見出しだけ。運用で分かった事を、章に足していく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118311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91440" cy="9144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Hiragino Sans"/>
              </a:rPr>
              <a:t>第7章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5681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Hiragino Sans"/>
              </a:rPr>
              <a:t>新しい機械の初期設定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322576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新しいパソコンを“いつもと同じ状態”にする段取り（引っ越し→ログイン→データ取り込み）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118311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52928"/>
            <a:ext cx="91440" cy="9144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8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Hiragino Sans"/>
              </a:rPr>
              <a:t>第8章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980944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Hiragino Sans"/>
              </a:rPr>
              <a:t>毎日の回し方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346704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朝（今日の打席を決める）・日中（その場で一言）・夜（結果を一言）の流れ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77056"/>
            <a:ext cx="1118311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77056"/>
            <a:ext cx="91440" cy="9144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77056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Hiragino Sans"/>
              </a:rPr>
              <a:t>第9章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00507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Hiragino Sans"/>
              </a:rPr>
              <a:t>安全とバックアップ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370832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データを失わない／第三者（外の人）と“見える範囲”を分ける考え方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01184"/>
            <a:ext cx="1118311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01184"/>
            <a:ext cx="91440" cy="9144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01184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Hiragino Sans"/>
              </a:rPr>
              <a:t>第10章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029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Hiragino Sans"/>
              </a:rPr>
              <a:t>困った時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394960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つまずきやすい所と直し方。エラーは触らず写真を撮って相談、など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Hiragino Sans"/>
              </a:rPr>
              <a:t>この1冊が、AI環境の“標準”になる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AA2E26"/>
                </a:solidFill>
                <a:latin typeface="Hiragino Sans"/>
              </a:rPr>
              <a:t>足しながら、営業・コンサルの“武器”に。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1A1A"/>
                </a:solidFill>
                <a:latin typeface="Hiragino Sans"/>
              </a:rPr>
              <a:t>むずかしい横文字を使わず、誰が読んでも動ける。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1A1A"/>
                </a:solidFill>
                <a:latin typeface="Hiragino Sans"/>
              </a:rPr>
              <a:t>この型をそのままお客様にも渡せる＝“環境づくり”自体が、商品になる。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30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KHD AI仕事環境 整備マニュアル  ｜  v1  2026-06-28  ｜  以後、章を追加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
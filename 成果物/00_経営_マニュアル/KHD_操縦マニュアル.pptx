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eiryo"/>
              </a:rPr>
              <a:t>KHD 財務 × 営業 操縦マニュアル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63240"/>
            <a:ext cx="1219169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E599"/>
                </a:solidFill>
                <a:latin typeface="Meiryo"/>
              </a:rPr>
              <a:t>【完成版 v2】開けば分かる｜タブは使う順に 01〜11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0D8D5"/>
                </a:solidFill>
                <a:latin typeface="Meiryo"/>
              </a:rPr>
              <a:t>日々のタイムライン × どのタブ・どのセル × 判断の仕方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394960"/>
            <a:ext cx="1219169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E8C8C4"/>
                </a:solidFill>
                <a:latin typeface="Meiryo"/>
              </a:rPr>
              <a:t>本体スプシ『01_KHD PJ一覧_v2_260601』  /  2026-06-05 税理士・損益分岐 修正反映済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eiryo"/>
              </a:rPr>
              <a:t>① タブは「使う順」01〜11 に整理済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76656"/>
            <a:ext cx="11430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0D8D5"/>
                </a:solidFill>
                <a:latin typeface="Meiryo"/>
              </a:rPr>
              <a:t>見えてるのは操縦席だけ。データ系13枚は非表示・不要2枚は削除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▼ 画面下のタブ（左から使う順）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8229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3333"/>
                </a:solidFill>
                <a:latin typeface="Meiryo"/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1508760"/>
            <a:ext cx="1444752" cy="457200"/>
          </a:xfrm>
          <a:prstGeom prst="rect">
            <a:avLst/>
          </a:prstGeom>
          <a:solidFill>
            <a:srgbClr val="FCE5CD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1508760"/>
            <a:ext cx="1444752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3333"/>
                </a:solidFill>
                <a:latin typeface="Meiryo"/>
              </a:rPr>
              <a:t>01_統合司令塔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508760"/>
            <a:ext cx="1444752" cy="457200"/>
          </a:xfrm>
          <a:prstGeom prst="rect">
            <a:avLst/>
          </a:prstGeom>
          <a:solidFill>
            <a:srgbClr val="FCE5CD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9776" y="1508760"/>
            <a:ext cx="1444752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3333"/>
                </a:solidFill>
                <a:latin typeface="Meiryo"/>
              </a:rPr>
              <a:t>02_追客リスト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1444752" cy="457200"/>
          </a:xfrm>
          <a:prstGeom prst="rect">
            <a:avLst/>
          </a:prstGeom>
          <a:solidFill>
            <a:srgbClr val="FFF2C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508760"/>
            <a:ext cx="1444752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3333"/>
                </a:solidFill>
                <a:latin typeface="Meiryo"/>
              </a:rPr>
              <a:t>03_売上見込み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5584" y="1508760"/>
            <a:ext cx="1321308" cy="457200"/>
          </a:xfrm>
          <a:prstGeom prst="rect">
            <a:avLst/>
          </a:prstGeom>
          <a:solidFill>
            <a:srgbClr val="CFE2F3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15584" y="1508760"/>
            <a:ext cx="1321308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3333"/>
                </a:solidFill>
                <a:latin typeface="Meiryo"/>
              </a:rPr>
              <a:t>04_損益PL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10044" y="1508760"/>
            <a:ext cx="1321308" cy="457200"/>
          </a:xfrm>
          <a:prstGeom prst="rect">
            <a:avLst/>
          </a:prstGeom>
          <a:solidFill>
            <a:srgbClr val="CFE2F3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0044" y="1508760"/>
            <a:ext cx="1321308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3333"/>
                </a:solidFill>
                <a:latin typeface="Meiryo"/>
              </a:rPr>
              <a:t>05_資金繰り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04504" y="1508760"/>
            <a:ext cx="1554480" cy="457200"/>
          </a:xfrm>
          <a:prstGeom prst="rect">
            <a:avLst/>
          </a:prstGeom>
          <a:solidFill>
            <a:srgbClr val="CFE2F3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04504" y="1508760"/>
            <a:ext cx="15544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3333"/>
                </a:solidFill>
                <a:latin typeface="Meiryo"/>
              </a:rPr>
              <a:t>06_資産負債BS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32136" y="1508760"/>
            <a:ext cx="1554480" cy="457200"/>
          </a:xfrm>
          <a:prstGeom prst="rect">
            <a:avLst/>
          </a:prstGeom>
          <a:solidFill>
            <a:srgbClr val="F9F6E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32136" y="1508760"/>
            <a:ext cx="15544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3333"/>
                </a:solidFill>
                <a:latin typeface="Meiryo"/>
              </a:rPr>
              <a:t>07_本部マトリクス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075688"/>
            <a:ext cx="1554480" cy="457200"/>
          </a:xfrm>
          <a:prstGeom prst="rect">
            <a:avLst/>
          </a:prstGeom>
          <a:solidFill>
            <a:srgbClr val="F9F6E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075688"/>
            <a:ext cx="15544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3333"/>
                </a:solidFill>
                <a:latin typeface="Meiryo"/>
              </a:rPr>
              <a:t>08_残高クイック入力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93392" y="2075688"/>
            <a:ext cx="1321308" cy="457200"/>
          </a:xfrm>
          <a:prstGeom prst="rect">
            <a:avLst/>
          </a:prstGeom>
          <a:solidFill>
            <a:srgbClr val="F9F6E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93392" y="2075688"/>
            <a:ext cx="1321308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3333"/>
                </a:solidFill>
                <a:latin typeface="Meiryo"/>
              </a:rPr>
              <a:t>09_MF残高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7852" y="2075688"/>
            <a:ext cx="1554480" cy="457200"/>
          </a:xfrm>
          <a:prstGeom prst="rect">
            <a:avLst/>
          </a:prstGeom>
          <a:solidFill>
            <a:srgbClr val="F9F6E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7852" y="2075688"/>
            <a:ext cx="15544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3333"/>
                </a:solidFill>
                <a:latin typeface="Meiryo"/>
              </a:rPr>
              <a:t>10_収益パイプライン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15484" y="2075688"/>
            <a:ext cx="1197864" cy="457200"/>
          </a:xfrm>
          <a:prstGeom prst="rect">
            <a:avLst/>
          </a:prstGeom>
          <a:solidFill>
            <a:srgbClr val="F9F6E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5484" y="2075688"/>
            <a:ext cx="1197864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3333"/>
                </a:solidFill>
                <a:latin typeface="Meiryo"/>
              </a:rPr>
              <a:t>11_KPI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色＝役割（タブも中のセルも同じルール）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154680"/>
            <a:ext cx="2788920" cy="502920"/>
          </a:xfrm>
          <a:prstGeom prst="rect">
            <a:avLst/>
          </a:prstGeom>
          <a:solidFill>
            <a:srgbClr val="FCE5CD"/>
          </a:solidFill>
          <a:ln w="762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154680"/>
            <a:ext cx="26974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33333"/>
                </a:solidFill>
                <a:latin typeface="Meiryo"/>
              </a:rPr>
              <a:t>🟧 毎日見る：01司令塔・02追客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18688" y="3154680"/>
            <a:ext cx="2788920" cy="502920"/>
          </a:xfrm>
          <a:prstGeom prst="rect">
            <a:avLst/>
          </a:prstGeom>
          <a:solidFill>
            <a:srgbClr val="FFF2CC"/>
          </a:solidFill>
          <a:ln w="762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64408" y="3154680"/>
            <a:ext cx="26974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33333"/>
                </a:solidFill>
                <a:latin typeface="Meiryo"/>
              </a:rPr>
              <a:t>🟡 入力：03売上見込み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71616" y="3154680"/>
            <a:ext cx="2788920" cy="502920"/>
          </a:xfrm>
          <a:prstGeom prst="rect">
            <a:avLst/>
          </a:prstGeom>
          <a:solidFill>
            <a:srgbClr val="CFE2F3"/>
          </a:solidFill>
          <a:ln w="762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17336" y="3154680"/>
            <a:ext cx="26974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33333"/>
                </a:solidFill>
                <a:latin typeface="Meiryo"/>
              </a:rPr>
              <a:t>🟦 見る(損益/現金)：04PL・05資金繰り・06BS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24544" y="3154680"/>
            <a:ext cx="2788920" cy="502920"/>
          </a:xfrm>
          <a:prstGeom prst="rect">
            <a:avLst/>
          </a:prstGeom>
          <a:solidFill>
            <a:srgbClr val="F9F6EF"/>
          </a:solidFill>
          <a:ln w="762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70264" y="3154680"/>
            <a:ext cx="26974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33333"/>
                </a:solidFill>
                <a:latin typeface="Meiryo"/>
              </a:rPr>
              <a:t>⬜ 補助/データ：07〜11・pass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886200"/>
            <a:ext cx="114300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023360"/>
            <a:ext cx="1106424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3333"/>
                </a:solidFill>
                <a:latin typeface="Meiryo"/>
              </a:rPr>
              <a:t>・非表示（データ源・スポット13枚）：⑤借入／借入返済／借入条件／税金／諸経費／クレカ用途／按分／役員報酬／経費削減・損切り／銀行提出前クリーンアップ／事業計画／未来会計図表／WBS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3333"/>
                </a:solidFill>
                <a:latin typeface="Meiryo"/>
              </a:rPr>
              <a:t>   → 計算の元なので消さず非表示。表示メニュー（左下の三本線）からいつでも戻せる。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3333"/>
                </a:solidFill>
                <a:latin typeface="Meiryo"/>
              </a:rPr>
              <a:t>・削除（不要2枚）：⑥使い方（このマニュアルで代替）／📋按分棚卸し_テンプレ（重複）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3333"/>
                </a:solidFill>
                <a:latin typeface="Meiryo"/>
              </a:rPr>
              <a:t>・pass（ID/パスワード/サブスク管理）＝よく使うので表示のまま先頭に。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3333"/>
                </a:solidFill>
                <a:latin typeface="Meiry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3333"/>
                </a:solidFill>
                <a:latin typeface="Meiryo"/>
              </a:rPr>
              <a:t>★ ポイント：番号を変えても中の計算・参照は自動で追従。日常は 01〜06 を見れば回る。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eiryo"/>
              </a:rPr>
              <a:t>② 連動マップ：数字はこう流れる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76656"/>
            <a:ext cx="11430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0D8D5"/>
                </a:solidFill>
                <a:latin typeface="Meiryo"/>
              </a:rPr>
              <a:t>入口(黄)を正直に埋めるだけ。あとは自動で右へ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1463040"/>
          </a:xfrm>
          <a:prstGeom prst="rect">
            <a:avLst/>
          </a:prstGeom>
          <a:solidFill>
            <a:srgbClr val="FFF2CC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560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33333"/>
                </a:solidFill>
                <a:latin typeface="Meiryo"/>
              </a:rPr>
              <a:t>✍ 03_売上見込み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25603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E満額/F確度/G着金月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＝金額のSSoT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2743200" cy="1371600"/>
          </a:xfrm>
          <a:prstGeom prst="rect">
            <a:avLst/>
          </a:prstGeom>
          <a:solidFill>
            <a:srgbClr val="FFF2CC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2560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33333"/>
                </a:solidFill>
                <a:latin typeface="Meiryo"/>
              </a:rPr>
              <a:t>✍ 04_損益PL ドライバー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25603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B55/B56転換率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B60稼働日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846320"/>
            <a:ext cx="2743200" cy="1280160"/>
          </a:xfrm>
          <a:prstGeom prst="rect">
            <a:avLst/>
          </a:prstGeom>
          <a:solidFill>
            <a:srgbClr val="FCE5CD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37759"/>
            <a:ext cx="2560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33333"/>
                </a:solidFill>
                <a:latin typeface="Meiryo"/>
              </a:rPr>
              <a:t>🎯 02_追客リスト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59"/>
            <a:ext cx="2560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誰を追う・確度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次アクション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00400" y="2011680"/>
            <a:ext cx="914400" cy="292608"/>
          </a:xfrm>
          <a:prstGeom prst="rightArrow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3200400" y="3794760"/>
            <a:ext cx="914400" cy="292608"/>
          </a:xfrm>
          <a:prstGeom prst="rightArrow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3017520" cy="1463040"/>
          </a:xfrm>
          <a:prstGeom prst="rect">
            <a:avLst/>
          </a:prstGeom>
          <a:solidFill>
            <a:srgbClr val="CFE2F3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463040"/>
            <a:ext cx="283463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33333"/>
                </a:solidFill>
                <a:latin typeface="Meiryo"/>
              </a:rPr>
              <a:t>05_資金繰り(自動)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920240"/>
            <a:ext cx="2834639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入金=売上見込み連動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→月末現金・ランウェイ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108960"/>
            <a:ext cx="3017520" cy="1554480"/>
          </a:xfrm>
          <a:prstGeom prst="rect">
            <a:avLst/>
          </a:prstGeom>
          <a:solidFill>
            <a:srgbClr val="CFE2F3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200400"/>
            <a:ext cx="283463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33333"/>
                </a:solidFill>
                <a:latin typeface="Meiryo"/>
              </a:rPr>
              <a:t>04_損益PL 逆算(自動)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657600"/>
            <a:ext cx="2834639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家族ライン−粗利=穴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÷単価=必要件数→追客数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406640" y="2331720"/>
            <a:ext cx="914400" cy="292608"/>
          </a:xfrm>
          <a:prstGeom prst="rightArrow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406640" y="3611880"/>
            <a:ext cx="914400" cy="292608"/>
          </a:xfrm>
          <a:prstGeom prst="rightArrow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03920" y="1737360"/>
            <a:ext cx="3291840" cy="2651760"/>
          </a:xfrm>
          <a:prstGeom prst="rect">
            <a:avLst/>
          </a:prstGeom>
          <a:solidFill>
            <a:srgbClr val="FCE5CD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1828800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33333"/>
                </a:solidFill>
                <a:latin typeface="Meiryo"/>
              </a:rPr>
              <a:t>01_統合司令塔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286000"/>
            <a:ext cx="31089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毎日の操縦席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・現預金/ランウェイ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・通期の谷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・毎月の穴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・今日の一手/追客目標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333333"/>
                </a:solidFill>
                <a:latin typeface="Meiryo"/>
              </a:rPr>
              <a:t>・営業直結比率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200400" y="5394960"/>
            <a:ext cx="5212080" cy="292608"/>
          </a:xfrm>
          <a:prstGeom prst="rightArrow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A2E26"/>
                </a:solidFill>
                <a:latin typeface="Meiryo"/>
              </a:rPr>
              <a:t>※触るのは黄(03売上見込みE/F/G・04PLのB55/B56/B60・02追客)だけ。青/データは見るだけ。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eiryo"/>
              </a:rPr>
              <a:t>③ 毎日のタイムライン：いつ・どこを見て・何を打つ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52728"/>
            <a:ext cx="1554480" cy="713232"/>
          </a:xfrm>
          <a:prstGeom prst="rect">
            <a:avLst/>
          </a:prstGeom>
          <a:solidFill>
            <a:srgbClr val="FCE5CD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15544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33333"/>
                </a:solidFill>
                <a:latin typeface="Meiryo"/>
              </a:rPr>
              <a:t>🌅 朝(5分)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216152"/>
            <a:ext cx="21031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A2E26"/>
                </a:solidFill>
                <a:latin typeface="Meiryo"/>
              </a:rPr>
              <a:t>01_統合司令塔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197864"/>
            <a:ext cx="7315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33333"/>
                </a:solidFill>
                <a:latin typeface="Meiryo"/>
              </a:rPr>
              <a:t>見る：今日の優先①②／今日の一手(B52)／追客目標(B62)／現預金・ランウェイ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91640"/>
            <a:ext cx="731520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88888"/>
                </a:solidFill>
                <a:latin typeface="Meiryo"/>
              </a:rPr>
              <a:t>→ 今日やる1〜2件を決める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48840"/>
            <a:ext cx="114300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58568"/>
            <a:ext cx="1554480" cy="713232"/>
          </a:xfrm>
          <a:prstGeom prst="rect">
            <a:avLst/>
          </a:prstGeom>
          <a:solidFill>
            <a:srgbClr val="FCE5CD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58568"/>
            <a:ext cx="15544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33333"/>
                </a:solidFill>
                <a:latin typeface="Meiryo"/>
              </a:rPr>
              <a:t>🌅 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221992"/>
            <a:ext cx="21031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A2E26"/>
                </a:solidFill>
                <a:latin typeface="Meiryo"/>
              </a:rPr>
              <a:t>02_追客リスト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203704"/>
            <a:ext cx="7315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33333"/>
                </a:solidFill>
                <a:latin typeface="Meiryo"/>
              </a:rPr>
              <a:t>見る：優先スコア順／C3『今日の推奨追客』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97480"/>
            <a:ext cx="731520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88888"/>
                </a:solidFill>
                <a:latin typeface="Meiryo"/>
              </a:rPr>
              <a:t>→ 今日追う1人を確定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114300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64408"/>
            <a:ext cx="1554480" cy="713232"/>
          </a:xfrm>
          <a:prstGeom prst="rect">
            <a:avLst/>
          </a:prstGeom>
          <a:solidFill>
            <a:srgbClr val="FFF2C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64408"/>
            <a:ext cx="15544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33333"/>
                </a:solidFill>
                <a:latin typeface="Meiryo"/>
              </a:rPr>
              <a:t>☀ 日中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227832"/>
            <a:ext cx="21031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A2E26"/>
                </a:solidFill>
                <a:latin typeface="Meiryo"/>
              </a:rPr>
              <a:t>02_追客リスト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209544"/>
            <a:ext cx="7315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33333"/>
                </a:solidFill>
                <a:latin typeface="Meiryo"/>
              </a:rPr>
              <a:t>打つ：追客したら最終接触・次アクションを更新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703320"/>
            <a:ext cx="731520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88888"/>
                </a:solidFill>
                <a:latin typeface="Meiryo"/>
              </a:rPr>
              <a:t>→ 動いた案件はその場で1行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60520"/>
            <a:ext cx="114300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270248"/>
            <a:ext cx="1554480" cy="713232"/>
          </a:xfrm>
          <a:prstGeom prst="rect">
            <a:avLst/>
          </a:prstGeom>
          <a:solidFill>
            <a:srgbClr val="FFF2C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270248"/>
            <a:ext cx="15544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33333"/>
                </a:solidFill>
                <a:latin typeface="Meiryo"/>
              </a:rPr>
              <a:t>☀ 日中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233672"/>
            <a:ext cx="21031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A2E26"/>
                </a:solidFill>
                <a:latin typeface="Meiryo"/>
              </a:rPr>
              <a:t>03_売上見込み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215384"/>
            <a:ext cx="7315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33333"/>
                </a:solidFill>
                <a:latin typeface="Meiryo"/>
              </a:rPr>
              <a:t>打つ：案件が動いたら 確度(F)・着金月(G)／新規はE/F/G追記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709160"/>
            <a:ext cx="731520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88888"/>
                </a:solidFill>
                <a:latin typeface="Meiryo"/>
              </a:rPr>
              <a:t>→ 資金繰りに自動反映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166360"/>
            <a:ext cx="114300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276088"/>
            <a:ext cx="1554480" cy="713232"/>
          </a:xfrm>
          <a:prstGeom prst="rect">
            <a:avLst/>
          </a:prstGeom>
          <a:solidFill>
            <a:srgbClr val="FCE5CD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276088"/>
            <a:ext cx="15544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33333"/>
                </a:solidFill>
                <a:latin typeface="Meiryo"/>
              </a:rPr>
              <a:t>🌙 夜(3分)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5239512"/>
            <a:ext cx="21031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A2E26"/>
                </a:solidFill>
                <a:latin typeface="Meiryo"/>
              </a:rPr>
              <a:t>01_統合司令塔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221224"/>
            <a:ext cx="7315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33333"/>
                </a:solidFill>
                <a:latin typeface="Meiryo"/>
              </a:rPr>
              <a:t>見る：営業直結比率(目標60%)／今日の一手は消化したか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715000"/>
            <a:ext cx="7315200" cy="34747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88888"/>
                </a:solidFill>
                <a:latin typeface="Meiryo"/>
              </a:rPr>
              <a:t>→ 日報に結果○△×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A2E26"/>
                </a:solidFill>
                <a:latin typeface="Meiryo"/>
              </a:rPr>
              <a:t>毎日触るのは『01_司令塔』と『02_追客リスト』の2枚だけ。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eiryo"/>
              </a:rPr>
              <a:t>④ 週次・月次ルーティン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AA2E26"/>
                </a:solidFill>
                <a:latin typeface="Meiryo"/>
              </a:rPr>
              <a:t>■ 週次（営業会議・15分）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468880" cy="502920"/>
          </a:xfrm>
          <a:prstGeom prst="rect">
            <a:avLst/>
          </a:prstGeom>
          <a:solidFill>
            <a:srgbClr val="CFE2F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468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Meiryo"/>
              </a:rPr>
              <a:t>02_追客リスト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463040"/>
            <a:ext cx="86868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eiryo"/>
              </a:rPr>
              <a:t>全件のステージ/確度を見直し、要再開を拾う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84832"/>
            <a:ext cx="2468880" cy="502920"/>
          </a:xfrm>
          <a:prstGeom prst="rect">
            <a:avLst/>
          </a:prstGeom>
          <a:solidFill>
            <a:srgbClr val="CFE2F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84832"/>
            <a:ext cx="2468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Meiryo"/>
              </a:rPr>
              <a:t>03_売上見込み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084832"/>
            <a:ext cx="86868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eiryo"/>
              </a:rPr>
              <a:t>期待値合計B21・採用額B20を確認（今月いくら見込めるか）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06624"/>
            <a:ext cx="2468880" cy="502920"/>
          </a:xfrm>
          <a:prstGeom prst="rect">
            <a:avLst/>
          </a:prstGeom>
          <a:solidFill>
            <a:srgbClr val="CFE2F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06624"/>
            <a:ext cx="2468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Meiryo"/>
              </a:rPr>
              <a:t>10_収益パイプライン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706624"/>
            <a:ext cx="86868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eiryo"/>
              </a:rPr>
              <a:t>取りこぼしチェック&gt;0なら売上見込みに起票（例:高松）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28416"/>
            <a:ext cx="2468880" cy="502920"/>
          </a:xfrm>
          <a:prstGeom prst="rect">
            <a:avLst/>
          </a:prstGeom>
          <a:solidFill>
            <a:srgbClr val="CFE2F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28416"/>
            <a:ext cx="2468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Meiryo"/>
              </a:rPr>
              <a:t>04_損益PL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328416"/>
            <a:ext cx="86868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eiryo"/>
              </a:rPr>
              <a:t>B55/B56(転換率)を実績で更新→1日の必要追客数が現実化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114800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AA2E26"/>
                </a:solidFill>
                <a:latin typeface="Meiryo"/>
              </a:rPr>
              <a:t>■ 月初（経営の棚卸し・20分）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26280"/>
            <a:ext cx="2468880" cy="475488"/>
          </a:xfrm>
          <a:prstGeom prst="rect">
            <a:avLst/>
          </a:prstGeom>
          <a:solidFill>
            <a:srgbClr val="FFF2C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526280"/>
            <a:ext cx="246888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Meiryo"/>
              </a:rPr>
              <a:t>03_売上見込み B2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526280"/>
            <a:ext cx="868680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eiryo"/>
              </a:rPr>
              <a:t>シナリオ(弱気/現実/強気)を当月想定に切替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74920"/>
            <a:ext cx="2468880" cy="475488"/>
          </a:xfrm>
          <a:prstGeom prst="rect">
            <a:avLst/>
          </a:prstGeom>
          <a:solidFill>
            <a:srgbClr val="FFF2C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74920"/>
            <a:ext cx="246888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Meiryo"/>
              </a:rPr>
              <a:t>08_残高クイック入力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074920"/>
            <a:ext cx="868680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eiryo"/>
              </a:rPr>
              <a:t>各口座残高を実額入力→BS・資金繰りの月初現金が更新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23560"/>
            <a:ext cx="2468880" cy="475488"/>
          </a:xfrm>
          <a:prstGeom prst="rect">
            <a:avLst/>
          </a:prstGeom>
          <a:solidFill>
            <a:srgbClr val="FFF2C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623560"/>
            <a:ext cx="246888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Meiryo"/>
              </a:rPr>
              <a:t>05_資金繰り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623560"/>
            <a:ext cx="868680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eiryo"/>
              </a:rPr>
              <a:t>固定費(B14:B26)に変動あれば反映／月末現金・谷を確認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172200"/>
            <a:ext cx="2468880" cy="475488"/>
          </a:xfrm>
          <a:prstGeom prst="rect">
            <a:avLst/>
          </a:prstGeom>
          <a:solidFill>
            <a:srgbClr val="FFF2C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172200"/>
            <a:ext cx="246888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Meiryo"/>
              </a:rPr>
              <a:t>04_損益PL B60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6172200"/>
            <a:ext cx="868680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33333"/>
                </a:solidFill>
                <a:latin typeface="Meiryo"/>
              </a:rPr>
              <a:t>当月の稼働日を入力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eiryo"/>
              </a:rPr>
              <a:t>コア① 01_統合司令塔 — 毎日の操縦席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76656"/>
            <a:ext cx="11430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0D8D5"/>
                </a:solidFill>
                <a:latin typeface="Meiryo"/>
              </a:rPr>
              <a:t>朝晩ここを開く。あなたが言った『大事なシート』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57784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● 役割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52120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3333"/>
                </a:solidFill>
                <a:latin typeface="Meiryo"/>
              </a:rPr>
              <a:t>過去(BS)→現在(現金/ランウェイ)→未来(谷/穴)→今日やること を1枚に。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👀 見る（頻度つき）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52120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毎日：今日の優先①〜⑤／今日の一手／追客目標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毎日：現預金・ランウェイ(🟢/🟡/🔴)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週次：通期の谷・毎月の穴・営業直結比率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59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✍ 打つ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78807"/>
            <a:ext cx="52120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なし（全自動表示）。『見て動く』専用。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19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⚖ 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58967"/>
            <a:ext cx="52120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・ランウェイ🔴&lt;3ヶ月→投資凍結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・営業直結&lt;60%→内務を切って追客へ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・①緊急→②生命線→③追客 の順で処理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188720"/>
            <a:ext cx="5394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88888"/>
                </a:solidFill>
                <a:latin typeface="Meiryo"/>
              </a:rPr>
              <a:t>▼ 実物イメージ（色＝運用ルール）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5486400" cy="384048"/>
          </a:xfrm>
          <a:prstGeom prst="rect">
            <a:avLst/>
          </a:prstGeom>
          <a:solidFill>
            <a:srgbClr val="AA2E26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600200"/>
            <a:ext cx="54406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01_統合司令塔 — 過去→現在→未来＋行動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011680"/>
            <a:ext cx="2743200" cy="384048"/>
          </a:xfrm>
          <a:prstGeom prst="rect">
            <a:avLst/>
          </a:prstGeom>
          <a:solidFill>
            <a:srgbClr val="FCE5CD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011680"/>
            <a:ext cx="26974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現預金 7,520,809円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2011680"/>
            <a:ext cx="2743200" cy="384048"/>
          </a:xfrm>
          <a:prstGeom prst="rect">
            <a:avLst/>
          </a:prstGeom>
          <a:solidFill>
            <a:srgbClr val="FCE5CD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2011680"/>
            <a:ext cx="26974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ランウェイ 11.9ヶ月🟢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423160"/>
            <a:ext cx="548640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423160"/>
            <a:ext cx="54406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通期の谷 4,602,420円 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834640"/>
            <a:ext cx="548640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834640"/>
            <a:ext cx="54406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毎月の穴 434,857円(税理士修正後)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246120"/>
            <a:ext cx="548640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3246120"/>
            <a:ext cx="54406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家族ライン 577,587 − 粗利 142,731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657600"/>
            <a:ext cx="5486400" cy="384048"/>
          </a:xfrm>
          <a:prstGeom prst="rect">
            <a:avLst/>
          </a:prstGeom>
          <a:solidFill>
            <a:srgbClr val="FCE5CD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3657600"/>
            <a:ext cx="54406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今日の一手：医療 月0.7件で家族ライン突破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069080"/>
            <a:ext cx="5486400" cy="384048"/>
          </a:xfrm>
          <a:prstGeom prst="rect">
            <a:avLst/>
          </a:prstGeom>
          <a:solidFill>
            <a:srgbClr val="FCE5CD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4069080"/>
            <a:ext cx="54406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③追客：持倉様(栄町)→6/20決済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480560"/>
            <a:ext cx="548640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4480560"/>
            <a:ext cx="54406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営業直結比率 26%(目標60%) 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eiryo"/>
              </a:rPr>
              <a:t>コア② 02_追客リスト — 誰を追うか(全案件SSoT)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76656"/>
            <a:ext cx="11430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0D8D5"/>
                </a:solidFill>
                <a:latin typeface="Meiryo"/>
              </a:rPr>
              <a:t>医療/物件/cloud mil/協業を優先スコア順に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57784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● 役割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52120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3333"/>
                </a:solidFill>
                <a:latin typeface="Meiryo"/>
              </a:rPr>
              <a:t>全本部の見込み客を1枚に。優先スコアで自動並べ替え、今日の1人を司令塔へ。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👀 見る（頻度つき）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52120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毎日：上位の優先スコア／C3『今日の推奨追客』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週次：要再開(COLD)を拾い直す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59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✍ 打つ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78807"/>
            <a:ext cx="52120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随時：追客したら最終接触・次アクション・期限を更新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新規客は1行追加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19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⚖ 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58967"/>
            <a:ext cx="52120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・優先スコア高=今日触る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・確度はステージで決める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・賃貸新規は『05_追客管理シート』で受けHOT化で昇格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188720"/>
            <a:ext cx="5394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88888"/>
                </a:solidFill>
                <a:latin typeface="Meiryo"/>
              </a:rPr>
              <a:t>▼ 実物イメージ（色＝運用ルール）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640080" cy="38404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600200"/>
            <a:ext cx="59435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優先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600200"/>
            <a:ext cx="1828800" cy="38404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160020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対象名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600200"/>
            <a:ext cx="82296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9952" y="1600200"/>
            <a:ext cx="7772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確度%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1600200"/>
            <a:ext cx="822960" cy="38404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1600200"/>
            <a:ext cx="7772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温度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78440" y="1600200"/>
            <a:ext cx="137160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05872" y="1600200"/>
            <a:ext cx="13258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状態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011680"/>
            <a:ext cx="64008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2011680"/>
            <a:ext cx="59435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105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201168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201168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内山先生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2011680"/>
            <a:ext cx="82296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59952" y="2011680"/>
            <a:ext cx="7772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65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2011680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82912" y="2011680"/>
            <a:ext cx="7772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WARM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78440" y="2011680"/>
            <a:ext cx="137160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05872" y="2011680"/>
            <a:ext cx="13258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進行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423160"/>
            <a:ext cx="64008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2423160"/>
            <a:ext cx="59435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90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242316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31152" y="242316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山崎先生(京橋)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32520" y="2423160"/>
            <a:ext cx="82296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59952" y="2423160"/>
            <a:ext cx="7772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90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55480" y="2423160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82912" y="2423160"/>
            <a:ext cx="7772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HOT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78440" y="2423160"/>
            <a:ext cx="137160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05872" y="2423160"/>
            <a:ext cx="13258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進行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2834640"/>
            <a:ext cx="64008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1072" y="2834640"/>
            <a:ext cx="59435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140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03720" y="283464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31152" y="283464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持倉様(栄町)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32520" y="2834640"/>
            <a:ext cx="82296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59952" y="2834640"/>
            <a:ext cx="7772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100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55480" y="2834640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82912" y="2834640"/>
            <a:ext cx="7772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HOT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78440" y="2834640"/>
            <a:ext cx="137160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05872" y="2834640"/>
            <a:ext cx="13258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進行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3246120"/>
            <a:ext cx="64008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1072" y="3246120"/>
            <a:ext cx="59435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70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03720" y="324612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31152" y="324612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曾我先生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32520" y="3246120"/>
            <a:ext cx="82296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59952" y="3246120"/>
            <a:ext cx="7772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70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55480" y="3246120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82912" y="3246120"/>
            <a:ext cx="7772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WARM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378440" y="3246120"/>
            <a:ext cx="137160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405872" y="3246120"/>
            <a:ext cx="13258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提案中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eiryo"/>
              </a:rPr>
              <a:t>コア③ 03_売上見込み — 金額の真実源(SSoT)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76656"/>
            <a:ext cx="11430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0D8D5"/>
                </a:solidFill>
                <a:latin typeface="Meiryo"/>
              </a:rPr>
              <a:t>ここのE/F/Gが資金繰り・PL・司令塔すべての土台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57784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● 役割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52120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3333"/>
                </a:solidFill>
                <a:latin typeface="Meiryo"/>
              </a:rPr>
              <a:t>案件ごとの満額・確度・着金月を持つ唯一の場所。確度加重(M)と採用額(K)を自動算出し05資金繰りへ。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👀 見る（頻度つき）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52120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週次：期待値合計B21（確度加重の収入見込み）／採用額B20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59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✍ 打つ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78807"/>
            <a:ext cx="52120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案件が動くたび：満額(E)・確度%(F)・着金月(G)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月初：シナリオB2(弱気/現実/強気)／新規は空き行に1行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19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⚖ 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58967"/>
            <a:ext cx="52120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・確度はステージで(提案前10/提案済30/前向き50/交渉中70/内諾90)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・着金月は2026/06形式(資金繰りと一致)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・科目は3つだけ(栄町売却/医療テナント/買取再販)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188720"/>
            <a:ext cx="5394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88888"/>
                </a:solidFill>
                <a:latin typeface="Meiryo"/>
              </a:rPr>
              <a:t>▼ 実物イメージ（色＝運用ルール）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201168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600200"/>
            <a:ext cx="19659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科目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1600200"/>
            <a:ext cx="118872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1600200"/>
            <a:ext cx="11430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満額E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1600200"/>
            <a:ext cx="91440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91472" y="1600200"/>
            <a:ext cx="8686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確度F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78440" y="1600200"/>
            <a:ext cx="137160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05872" y="1600200"/>
            <a:ext cx="13258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着金月G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01168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011680"/>
            <a:ext cx="19659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栄町売却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201168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2011680"/>
            <a:ext cx="11430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1,900,000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64040" y="201168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91472" y="2011680"/>
            <a:ext cx="8686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78440" y="201168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05872" y="2011680"/>
            <a:ext cx="13258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2026/06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42316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2423160"/>
            <a:ext cx="19659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医療テナント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242316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2423160"/>
            <a:ext cx="11430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1,100,000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4040" y="242316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91472" y="2423160"/>
            <a:ext cx="8686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60%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78440" y="242316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05872" y="2423160"/>
            <a:ext cx="13258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2026/09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834640"/>
            <a:ext cx="201168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2834640"/>
            <a:ext cx="19659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(新規はここへ)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20" y="2834640"/>
            <a:ext cx="118872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2752" y="2834640"/>
            <a:ext cx="11430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64040" y="2834640"/>
            <a:ext cx="91440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91472" y="2834640"/>
            <a:ext cx="8686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78440" y="2834640"/>
            <a:ext cx="137160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05872" y="2834640"/>
            <a:ext cx="13258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246120"/>
            <a:ext cx="411480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91072" y="3246120"/>
            <a:ext cx="4069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採用額合計 B20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78440" y="3246120"/>
            <a:ext cx="182880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05872" y="324612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1,900,000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3657600"/>
            <a:ext cx="411480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91072" y="3657600"/>
            <a:ext cx="4069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期待値合計 B21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78440" y="3657600"/>
            <a:ext cx="182880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05872" y="365760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2,560,000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eiryo"/>
              </a:rPr>
              <a:t>コア④ 04_損益PL 営業ドライバー — 逆算エンジン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76656"/>
            <a:ext cx="11430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0D8D5"/>
                </a:solidFill>
                <a:latin typeface="Meiryo"/>
              </a:rPr>
              <a:t>家族ラインから『今日の追客数』まで自動逆算。経常利益は金色で強調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57784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● 役割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52120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3333"/>
                </a:solidFill>
                <a:latin typeface="Meiryo"/>
              </a:rPr>
              <a:t>家族が潰れないライン−確定粗利=毎月の穴。これを必要件数→必要アポ→1日の追客数に翻訳。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👀 見る（頻度つき）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52120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毎日：今日の一手(B52)／追客目標(B62)／時間の一手(B66)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月次：必要件数・1日の追客数・月次トラッキング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59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✍ 打つ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78807"/>
            <a:ext cx="52120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月1回：B55追客→アポ／B56アポ→成約 転換率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月初：B60稼働日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19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⚖ 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58967"/>
            <a:ext cx="52120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・穴&gt;0=営業せよのサイン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・転換率は実績で更新→1日の追客目標が信用できる値に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・経常利益(金色)＝結論。ここがプラスか見る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188720"/>
            <a:ext cx="5394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88888"/>
                </a:solidFill>
                <a:latin typeface="Meiryo"/>
              </a:rPr>
              <a:t>▼ 実物イメージ（色＝運用ルール）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3017520" cy="38404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600200"/>
            <a:ext cx="2971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家族ライン B33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59" y="1600200"/>
            <a:ext cx="2286000" cy="38404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1" y="1600200"/>
            <a:ext cx="22402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577,587円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011680"/>
            <a:ext cx="3017520" cy="38404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011680"/>
            <a:ext cx="2971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− 確定粗利 B32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59" y="2011680"/>
            <a:ext cx="2286000" cy="38404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1" y="2011680"/>
            <a:ext cx="22402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142,731円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423160"/>
            <a:ext cx="301752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423160"/>
            <a:ext cx="2971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= 毎月の穴 B34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59" y="2423160"/>
            <a:ext cx="228600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1" y="2423160"/>
            <a:ext cx="22402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434,857円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834640"/>
            <a:ext cx="3017520" cy="38404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2834640"/>
            <a:ext cx="2971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÷ 医療確度込/件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59" y="2834640"/>
            <a:ext cx="2286000" cy="38404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91" y="2834640"/>
            <a:ext cx="22402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660,000円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246120"/>
            <a:ext cx="301752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3246120"/>
            <a:ext cx="2971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= 必要医療件数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59" y="3246120"/>
            <a:ext cx="228600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8591" y="3246120"/>
            <a:ext cx="22402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0.66件/月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657600"/>
            <a:ext cx="3017520" cy="384048"/>
          </a:xfrm>
          <a:prstGeom prst="rect">
            <a:avLst/>
          </a:prstGeom>
          <a:solidFill>
            <a:srgbClr val="FCE5CD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3657600"/>
            <a:ext cx="2971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→ 1日の追客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1159" y="3657600"/>
            <a:ext cx="2286000" cy="384048"/>
          </a:xfrm>
          <a:prstGeom prst="rect">
            <a:avLst/>
          </a:prstGeom>
          <a:solidFill>
            <a:srgbClr val="FCE5CD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08591" y="3657600"/>
            <a:ext cx="22402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約1件/日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069080"/>
            <a:ext cx="3017520" cy="384048"/>
          </a:xfrm>
          <a:prstGeom prst="rect">
            <a:avLst/>
          </a:prstGeom>
          <a:solidFill>
            <a:srgbClr val="FFE599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4069080"/>
            <a:ext cx="29718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経常利益(全社・金色)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81159" y="4069080"/>
            <a:ext cx="2286000" cy="384048"/>
          </a:xfrm>
          <a:prstGeom prst="rect">
            <a:avLst/>
          </a:prstGeom>
          <a:solidFill>
            <a:srgbClr val="FFE599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08591" y="4069080"/>
            <a:ext cx="22402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結論ライン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eiryo"/>
              </a:rPr>
              <a:t>コア⑤ 05_資金繰り — 会社の体力計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76656"/>
            <a:ext cx="11430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0D8D5"/>
                </a:solidFill>
                <a:latin typeface="Meiryo"/>
              </a:rPr>
              <a:t>入金は売上見込みから自動。見るのが基本。税理士修正反映済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57784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● 役割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52120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3333"/>
                </a:solidFill>
                <a:latin typeface="Meiryo"/>
              </a:rPr>
              <a:t>月初現金→入金−出金→月末現金を8ヶ月先まで。通期の谷とランウェイで『いつ苦しいか』。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👀 見る（頻度つき）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52120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週次/月次：月末現預金(B29:I29＝体力)／ランウェイ判定／通期の谷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59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✍ 打つ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78807"/>
            <a:ext cx="52120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変わった時だけ：固定費・出金(B14:B26)／育休(B10)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※入金(B5:B8)は触らない＝売上見込み連動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19"/>
            <a:ext cx="5212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A2E26"/>
                </a:solidFill>
                <a:latin typeface="Meiryo"/>
              </a:rPr>
              <a:t>⚖ 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58967"/>
            <a:ext cx="52120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・税理士を正値に修正(法人18,333/個人46,750)→穴が67千円縮小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・月末現金がどこかで赤→入金前倒し or 出金カット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3333"/>
                </a:solidFill>
                <a:latin typeface="Meiryo"/>
              </a:rPr>
              <a:t>・栄町190万(6月)が生命線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188720"/>
            <a:ext cx="5394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88888"/>
                </a:solidFill>
                <a:latin typeface="Meiryo"/>
              </a:rPr>
              <a:t>▼ 実物イメージ（色＝運用ルール）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3657600" cy="38404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600200"/>
            <a:ext cx="36118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月初現金(司令塔連動)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21240" y="1600200"/>
            <a:ext cx="1828800" cy="38404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48672" y="160020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7,520,809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011680"/>
            <a:ext cx="3657600" cy="38404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011680"/>
            <a:ext cx="36118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入金=売上見込み連動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21240" y="2011680"/>
            <a:ext cx="1828800" cy="38404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48672" y="201168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自動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423160"/>
            <a:ext cx="365760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423160"/>
            <a:ext cx="36118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✍ 法人税理士(修正)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1240" y="2423160"/>
            <a:ext cx="182880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8672" y="242316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18,333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834640"/>
            <a:ext cx="365760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2834640"/>
            <a:ext cx="36118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✍ 個人税理士(修正)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2834640"/>
            <a:ext cx="1828800" cy="384048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48672" y="283464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46,750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246120"/>
            <a:ext cx="365760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3246120"/>
            <a:ext cx="36118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月末現金=体力計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21240" y="3246120"/>
            <a:ext cx="182880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48672" y="324612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8,743,221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657600"/>
            <a:ext cx="365760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3657600"/>
            <a:ext cx="36118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ランウェイ判定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21240" y="3657600"/>
            <a:ext cx="1828800" cy="384048"/>
          </a:xfrm>
          <a:prstGeom prst="rect">
            <a:avLst/>
          </a:prstGeom>
          <a:solidFill>
            <a:srgbClr val="CFE2F3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48672" y="3657600"/>
            <a:ext cx="178308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Meiryo"/>
              </a:rPr>
              <a:t>🟢攻めOK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eiryo"/>
              </a:rPr>
              <a:t>⑤ これだけ守れば回る — 3原則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20040" cy="141732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81328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AA2E26"/>
                </a:solidFill>
                <a:latin typeface="Meiryo"/>
              </a:rPr>
              <a:t>① 触るのは黄色だけ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93392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333333"/>
                </a:solidFill>
                <a:latin typeface="Meiryo"/>
              </a:rPr>
              <a:t>03売上見込みのE/F/G・04PLのB55/B56/B60・02追客。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333333"/>
                </a:solidFill>
                <a:latin typeface="Meiryo"/>
              </a:rPr>
              <a:t>あとは全部自動。青/データは見るだけ。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99232"/>
            <a:ext cx="10698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99232"/>
            <a:ext cx="320040" cy="1417320"/>
          </a:xfrm>
          <a:prstGeom prst="rect">
            <a:avLst/>
          </a:prstGeom>
          <a:solidFill>
            <a:srgbClr val="CF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1089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AA2E26"/>
                </a:solidFill>
                <a:latin typeface="Meiryo"/>
              </a:rPr>
              <a:t>② 数字は1か所だけ(SSoT)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21024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333333"/>
                </a:solidFill>
                <a:latin typeface="Meiryo"/>
              </a:rPr>
              <a:t>金額=03売上見込み／追客=02追客リスト。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333333"/>
                </a:solidFill>
                <a:latin typeface="Meiryo"/>
              </a:rPr>
              <a:t>同じ情報を2か所に書かない(二重入力禁止)。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26864"/>
            <a:ext cx="10698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626864"/>
            <a:ext cx="320040" cy="1417320"/>
          </a:xfrm>
          <a:prstGeom prst="rect">
            <a:avLst/>
          </a:prstGeom>
          <a:solidFill>
            <a:srgbClr val="FC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36592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AA2E26"/>
                </a:solidFill>
                <a:latin typeface="Meiryo"/>
              </a:rPr>
              <a:t>③ 毎日は2枚だけ開く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248656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333333"/>
                </a:solidFill>
                <a:latin typeface="Meiryo"/>
              </a:rPr>
              <a:t>朝晩『01_統合司令塔』と『02_追客リスト』。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333333"/>
                </a:solidFill>
                <a:latin typeface="Meiryo"/>
              </a:rPr>
              <a:t>動いた案件はその場で1行更新＝報連相がデータになる。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88888"/>
                </a:solidFill>
                <a:latin typeface="Meiryo"/>
              </a:rPr>
              <a:t>色：🟡入力 / 🟧毎日見る / 🟦週次月次で見る / ⬜自動・データ（各タブ下部にも凡例あり）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
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468880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経営操縦席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DCD8"/>
                </a:solidFill>
                <a:latin typeface="Arial"/>
              </a:rPr>
              <a:t>使い方ガイド  —  02入力 → 03営業KPI → 01判断  が自動でつながる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7268"/>
                </a:solidFill>
                <a:latin typeface="Arial"/>
              </a:rPr>
              <a:t>KHD  /  2026-06-07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212080"/>
            <a:ext cx="2560320" cy="777240"/>
          </a:xfrm>
          <a:prstGeom prst="rect">
            <a:avLst/>
          </a:prstGeom>
          <a:solidFill>
            <a:srgbClr val="3C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526694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01 司令塔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623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DDDDD"/>
                </a:solidFill>
                <a:latin typeface="Arial"/>
              </a:rPr>
              <a:t>判断・グラフ確認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5212080"/>
            <a:ext cx="2560320" cy="777240"/>
          </a:xfrm>
          <a:prstGeom prst="rect">
            <a:avLst/>
          </a:prstGeom>
          <a:solidFill>
            <a:srgbClr val="4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526694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02 作業DB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623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DDDDD"/>
                </a:solidFill>
                <a:latin typeface="Arial"/>
              </a:rPr>
              <a:t>唯一の入力ハブ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5212080"/>
            <a:ext cx="2560320" cy="777240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526694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03 予実KPI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6235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DDDDD"/>
                </a:solidFill>
                <a:latin typeface="Arial"/>
              </a:rPr>
              <a:t>営業エンジン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全体フロー  —  どこに何を書いて、どこで何が見える？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85800"/>
            <a:ext cx="3840480" cy="598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85800"/>
            <a:ext cx="3840480" cy="868680"/>
          </a:xfrm>
          <a:prstGeom prst="rect">
            <a:avLst/>
          </a:prstGeom>
          <a:solidFill>
            <a:srgbClr val="3C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722376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02  作業DB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16128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DDDDD"/>
                </a:solidFill>
                <a:latin typeface="Arial"/>
              </a:rPr>
              <a:t>唯一の
入力ハブ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664208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•  日付・時刻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468880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•  内容（フォロー/面談/成約…）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273552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•  案件・相手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4078224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•  営業直結時間（N列=○/P列=分）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4882896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•  結果・メモ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6126480"/>
            <a:ext cx="3840480" cy="45720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" y="6163056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rial"/>
              </a:rPr>
              <a:t>ここだけ書く。他は全部自動。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5384" y="685800"/>
            <a:ext cx="3840480" cy="598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15384" y="685800"/>
            <a:ext cx="3840480" cy="868680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722376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03  売上見込み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116128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DDDDD"/>
                </a:solidFill>
                <a:latin typeface="Arial"/>
              </a:rPr>
              <a:t>営業KPI
エンジン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1664208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•  F列 = 月内必要数（逆算）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2468880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•  G列 = 月内実績（02から自動）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6" y="3273552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•  K〜N列 = 週別実績（02から自動）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6" y="4078224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•  O列 = 進捗%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4882896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•  着地見込み（量OK/不足を判定）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15384" y="6126480"/>
            <a:ext cx="3840480" cy="45720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25112" y="6163056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rial"/>
              </a:rPr>
              <a:t>02に書くと翌秒反映。見るだけ。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02168" y="685800"/>
            <a:ext cx="3840480" cy="598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02168" y="685800"/>
            <a:ext cx="3840480" cy="868680"/>
          </a:xfrm>
          <a:prstGeom prst="rect">
            <a:avLst/>
          </a:prstGeom>
          <a:solidFill>
            <a:srgbClr val="4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1896" y="722376"/>
            <a:ext cx="3611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01  司令塔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116128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DDDDD"/>
                </a:solidFill>
                <a:latin typeface="Arial"/>
              </a:rPr>
              <a:t>経営判断
ダッシュボード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1664208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•  資金繰り着地（グラフ）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468880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•  売上見込み・粗利（グラフ）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273552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•  今月の行動ペース（スパークライン）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078224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•  今日の一手（優先タスク）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882896"/>
            <a:ext cx="3520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•  銀行・案件の状態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02168" y="6126480"/>
            <a:ext cx="3840480" cy="45720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11896" y="6163056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555"/>
                </a:solidFill>
                <a:latin typeface="Arial"/>
              </a:rPr>
              <a:t>朝1分眺めて今日の優先順を確認。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A2E26"/>
                </a:solidFill>
                <a:latin typeface="Arial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E8C5A"/>
                </a:solidFill>
                <a:latin typeface="Arial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日次ルーティン  —  毎日3回・計5分で操縦席が動き続ける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85800"/>
            <a:ext cx="3840480" cy="598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685800"/>
            <a:ext cx="3840480" cy="566928"/>
          </a:xfrm>
          <a:prstGeom prst="rect">
            <a:avLst/>
          </a:prstGeom>
          <a:solidFill>
            <a:srgbClr val="3C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73152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朝  ☀  3分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566160" cy="129844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4475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C5A78"/>
                </a:solidFill>
                <a:latin typeface="Arial"/>
              </a:rPr>
              <a:t>01 司令塔を開く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84708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今月の資金着地・売上見込みをグラフで確認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3566160" cy="129844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90779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C5A78"/>
                </a:solidFill>
                <a:latin typeface="Arial"/>
              </a:rPr>
              <a:t>03 予実KPI表を見る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31012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今週ペース確認（フォロー/面談/成約の必要 vs 実績）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97680"/>
            <a:ext cx="3566160" cy="129844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437083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C5A78"/>
                </a:solidFill>
                <a:latin typeface="Arial"/>
              </a:rPr>
              <a:t>今日の一手を決める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77316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03の進捗%が低い指標に絞って今日の行動1つを決める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15384" y="685800"/>
            <a:ext cx="3840480" cy="598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15384" y="685800"/>
            <a:ext cx="3840480" cy="566928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5112" y="73152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日中  ⚡  都度30秒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2544" y="1371600"/>
            <a:ext cx="3566160" cy="129844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44475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2E26"/>
                </a:solidFill>
                <a:latin typeface="Arial"/>
              </a:rPr>
              <a:t>02 作業DBに1行追加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184708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日付 / 内容（フォロー・面談・成約） / 案件 / 結果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52544" y="2834640"/>
            <a:ext cx="3566160" cy="129844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290779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2E26"/>
                </a:solidFill>
                <a:latin typeface="Arial"/>
              </a:rPr>
              <a:t>内容の書き方がポイント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331012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「フォロー」「面談」「成約」の言葉を含めるだけで自動カウント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52544" y="4297680"/>
            <a:ext cx="3566160" cy="129844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437083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2E26"/>
                </a:solidFill>
                <a:latin typeface="Arial"/>
              </a:rPr>
              <a:t>報告したら03が動く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477316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K〜N列の週別カウントが即時更新 → ペース可視化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02168" y="685800"/>
            <a:ext cx="3840480" cy="5989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02168" y="685800"/>
            <a:ext cx="3840480" cy="566928"/>
          </a:xfrm>
          <a:prstGeom prst="rect">
            <a:avLst/>
          </a:prstGeom>
          <a:solidFill>
            <a:srgbClr val="4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731520"/>
            <a:ext cx="3611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夜  🌙  2分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39328" y="1371600"/>
            <a:ext cx="3566160" cy="129844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49056" y="144475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8C5A"/>
                </a:solidFill>
                <a:latin typeface="Arial"/>
              </a:rPr>
              <a:t>営業直結時間を記録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056" y="184708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N列=○（営業直結フラグ）/ P列=分（所要時間）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39328" y="2834640"/>
            <a:ext cx="3566160" cy="129844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290779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8C5A"/>
                </a:solidFill>
                <a:latin typeface="Arial"/>
              </a:rPr>
              <a:t>03の着地見込みを確認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49056" y="331012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「このペースなら成約◯件。必要◯件。量OK/不足」を読む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39328" y="4297680"/>
            <a:ext cx="3566160" cy="129844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6" y="4370832"/>
            <a:ext cx="3337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8C5A"/>
                </a:solidFill>
                <a:latin typeface="Arial"/>
              </a:rPr>
              <a:t>量不足なら明朝の行動を決める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4773168"/>
            <a:ext cx="3337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翌日フォロー対象を1件決めてGoogle Tasksに追加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02 作業DB  —  「内容」の書き方が全部の精度を決める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AA2E26"/>
                </a:solidFill>
                <a:latin typeface="Arial"/>
              </a:rPr>
              <a:t>🔑 ルール：H列「内容」に以下のキーワードを入れると 03 KPI が自動カウントされる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371600" cy="1005840"/>
          </a:xfrm>
          <a:prstGeom prst="rect">
            <a:avLst/>
          </a:prstGeom>
          <a:solidFill>
            <a:srgbClr val="4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3619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フォロー(CV)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128016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10512" y="1389888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4E8C5A"/>
                </a:solidFill>
                <a:latin typeface="Arial"/>
              </a:rPr>
              <a:t>フォロー  /  追客  /  接触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0512" y="1792224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← H列「内容」にこの言葉を含めるだけ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280160"/>
            <a:ext cx="6080760" cy="100584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50876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先生への連絡・業者への接触 → 全部ここ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14600"/>
            <a:ext cx="1371600" cy="1005840"/>
          </a:xfrm>
          <a:prstGeom prst="rect">
            <a:avLst/>
          </a:prstGeom>
          <a:solidFill>
            <a:srgbClr val="3C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77063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面談(アポ)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25146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512" y="2624328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3C5A78"/>
                </a:solidFill>
                <a:latin typeface="Arial"/>
              </a:rPr>
              <a:t>面談  /  アポ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0512" y="3026664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← H列「内容」にこの言葉を含めるだけ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2514600"/>
            <a:ext cx="6080760" cy="100584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74320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実際に会った・オンラインで話した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1371600" cy="1005840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00507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成約(受注)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3749039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10512" y="3858768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AA2E26"/>
                </a:solidFill>
                <a:latin typeface="Arial"/>
              </a:rPr>
              <a:t>成約  /  受注  /  決済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0512" y="4261104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← H列「内容」にこの言葉を含めるだけ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3749039"/>
            <a:ext cx="6080760" cy="100584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977639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契約成立・入金確定 → 最重要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983480"/>
            <a:ext cx="1371600" cy="1005840"/>
          </a:xfrm>
          <a:prstGeom prst="rect">
            <a:avLst/>
          </a:prstGeom>
          <a:solidFill>
            <a:srgbClr val="C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23951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営業直結(分)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91640" y="49834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10512" y="5093208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C8922A"/>
                </a:solidFill>
                <a:latin typeface="Arial"/>
              </a:rPr>
              <a:t>N列=○ / P列=分数を記入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10512" y="5495544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Arial"/>
              </a:rPr>
              <a:t>← H列「内容」にこの言葉を含めるだけ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4983480"/>
            <a:ext cx="6080760" cy="100584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521208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Arial"/>
              </a:rPr>
              <a:t>KPI表の4行目。H列でなくN/P列で管理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217920"/>
            <a:ext cx="11612880" cy="502920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254496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入力例：  「曾我先生フォロー　西新宿物件の空き情報を送付。返信待ち」 → フォロー(CV)に自動カウント 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📍 現在地と残務  —  2026-06-07 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E8C5A"/>
                </a:solidFill>
                <a:latin typeface="Arial"/>
              </a:rPr>
              <a:t>完成済み（今日ここまで）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8C5A"/>
                </a:solidFill>
                <a:latin typeface="Arial"/>
              </a:rPr>
              <a:t>✅ 01 司令塔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243584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グラフ上部・数値下・今日の一手。クリーム×レンガ赤。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933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8C5A"/>
                </a:solidFill>
                <a:latin typeface="Arial"/>
              </a:rPr>
              <a:t>✅ 02 作業DB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048256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22列入力ハブ。ヘッダー黒帯・色分け・降順フィルタ。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24912"/>
            <a:ext cx="5029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79806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8C5A"/>
                </a:solidFill>
                <a:latin typeface="Arial"/>
              </a:rPr>
              <a:t>✅ 03 営業エンジン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852928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予実KPI一本化（逆算⇔週別実績）。重複タブ削除完了。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68580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Arial"/>
              </a:rPr>
              <a:t>残務（推奨順）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15568"/>
            <a:ext cx="5760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115568"/>
            <a:ext cx="502920" cy="960120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38988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2E26"/>
                </a:solidFill>
                <a:latin typeface="Arial"/>
              </a:rPr>
              <a:t>06 BS鮮度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5910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01の財務グラフを06BSから自動連動（土台）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20" y="1389888"/>
            <a:ext cx="1417320" cy="320040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426464"/>
            <a:ext cx="13258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優先度:高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212848"/>
            <a:ext cx="5760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2212848"/>
            <a:ext cx="502920" cy="960120"/>
          </a:xfrm>
          <a:prstGeom prst="rect">
            <a:avLst/>
          </a:prstGeom>
          <a:solidFill>
            <a:srgbClr val="3C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4871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286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C5A78"/>
                </a:solidFill>
                <a:latin typeface="Arial"/>
              </a:rPr>
              <a:t>04/05 当月精度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68833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04PL・05CF の当月見込みを正確に埋める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46920" y="2487168"/>
            <a:ext cx="1417320" cy="320040"/>
          </a:xfrm>
          <a:prstGeom prst="rect">
            <a:avLst/>
          </a:prstGeom>
          <a:solidFill>
            <a:srgbClr val="3C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2523744"/>
            <a:ext cx="13258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優先度:中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310128"/>
            <a:ext cx="5760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3310128"/>
            <a:ext cx="502920" cy="960120"/>
          </a:xfrm>
          <a:prstGeom prst="rect">
            <a:avLst/>
          </a:prstGeom>
          <a:solidFill>
            <a:srgbClr val="C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5844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383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922A"/>
                </a:solidFill>
                <a:latin typeface="Arial"/>
              </a:rPr>
              <a:t>借入SSoT集約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7856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証票4本を借入管理タブへ・Notionとミラー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6920" y="3584448"/>
            <a:ext cx="1417320" cy="320040"/>
          </a:xfrm>
          <a:prstGeom prst="rect">
            <a:avLst/>
          </a:prstGeom>
          <a:solidFill>
            <a:srgbClr val="3C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3621024"/>
            <a:ext cx="13258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優先度:中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407407"/>
            <a:ext cx="5760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4407407"/>
            <a:ext cx="502920" cy="9601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68172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48055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55555"/>
                </a:solidFill>
                <a:latin typeface="Arial"/>
              </a:rPr>
              <a:t>案件名統一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48828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物件マスターIMPORTRANGEで02↔05の案件名を揃える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46920" y="4681727"/>
            <a:ext cx="1417320" cy="3200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0" y="4718303"/>
            <a:ext cx="132588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優先度:低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AA2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操縦席が完成したら「02に書いて01で判断」だけが毎日の仕事。残務はツールの精度UPであり本業(営業)は今日から回せる。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
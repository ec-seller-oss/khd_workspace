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FOLLOW-UP ENGINE ｜ 追客システム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追客システムの使い方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スプシに書くだけ。あとは全自動。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仲介トップセールス（羽鳥師匠・野仲先輩）のトークをTTPした、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事業横断で使える追客の型。タスク化とKPI集計はGASが裏で回す。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828800"/>
            <a:ext cx="35661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828800"/>
            <a:ext cx="54864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99339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79" y="21031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スプシに1行書く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509759" y="2788920"/>
            <a:ext cx="457200" cy="274320"/>
          </a:xfrm>
          <a:prstGeom prst="downArrow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063240"/>
            <a:ext cx="35661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3063240"/>
            <a:ext cx="54864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22783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9" y="33375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タスクが自動で湧く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509759" y="4023360"/>
            <a:ext cx="457200" cy="274320"/>
          </a:xfrm>
          <a:prstGeom prst="downArrow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4297680"/>
            <a:ext cx="35661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4297680"/>
            <a:ext cx="54864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44622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9" y="457200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完了でKPIが立つ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KHD ｜ 菊池 研太 ｜ 05物件調達・03事業運営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全体像｜あなたは「書くだけ」、あとはGASが回す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PC不要・Google側で自動稼働（gas_tsuikyaku.gs：10分ごと＋毎時）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52044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520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あなた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A2E26"/>
                </a:solidFill>
                <a:latin typeface="Hiragino Sans"/>
              </a:rPr>
              <a:t>スプシに1行＋次アクション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新しい客を1行追加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1304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次アクションと期限を書く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79976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追客したらタスクを完了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78224" y="3383280"/>
            <a:ext cx="384048" cy="548640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920240"/>
            <a:ext cx="3520440" cy="356616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920240"/>
            <a:ext cx="3520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0116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GAS（自動）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70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A2E26"/>
                </a:solidFill>
                <a:latin typeface="Hiragino Sans"/>
              </a:rPr>
              <a:t>Googleが裏で処理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461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行→タスク自動生成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81304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完了タスクをKPI集計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379976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成約/失注でタスク自動クローズ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101584" y="3383280"/>
            <a:ext cx="384048" cy="548640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1920240"/>
            <a:ext cx="352044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1920240"/>
            <a:ext cx="3520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0116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結果（自動）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70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A2E26"/>
                </a:solidFill>
                <a:latin typeface="Hiragino Sans"/>
              </a:rPr>
              <a:t>見える化される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2461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タスクが湧いて忘れない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81304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KPIダッシュボード更新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379976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● 履歴・最終接触日が残る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毎日やることは、たった3つ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この3つだけ。残りは全部自動で回る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客を1行足す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反響が来たら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顧客名・ステージ・温度を入れる。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これがKPIの母数になる。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17720"/>
            <a:ext cx="3063240" cy="4114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8C241D"/>
                </a:solidFill>
                <a:latin typeface="Hiragino Sans"/>
              </a:rPr>
              <a:t>→ DBに登録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182880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92024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606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次アクション＋期限を書く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1546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動かす一手を決める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52044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「誰に・何を・いつまで」を書く。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10分以内にタスクが自動で湧く。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4617720"/>
            <a:ext cx="3063240" cy="4114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61772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8C241D"/>
                </a:solidFill>
                <a:latin typeface="Hiragino Sans"/>
              </a:rPr>
              <a:t>→ タスク自動生成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65592" y="182880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65592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192024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2606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タスクを完了にする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31546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追客したら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52044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LINEでも電話でもメールでもOK。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やったらタスクを閉じるだけ。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9912" y="4617720"/>
            <a:ext cx="3063240" cy="4114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461772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8C241D"/>
                </a:solidFill>
                <a:latin typeface="Hiragino Sans"/>
              </a:rPr>
              <a:t>→ KPI＋1・履歴自動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SCREEN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画面イメージ①｜追客リスト（スプレッドシート）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ここが司令塔。客を入れて、次アクションを書く。※画面はイメージ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10817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📋 ①追客リスト（Googleスプレッドシート）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2350008"/>
            <a:ext cx="1417320" cy="43891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50008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顧客名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1408" y="2350008"/>
            <a:ext cx="1417320" cy="43891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2350008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ステージ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8" y="2350008"/>
            <a:ext cx="868680" cy="43891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350008"/>
            <a:ext cx="868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温度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2350008"/>
            <a:ext cx="2743200" cy="438912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350008"/>
            <a:ext cx="2743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次アクション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608" y="2350008"/>
            <a:ext cx="868680" cy="438912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2350008"/>
            <a:ext cx="868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期限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2350008"/>
            <a:ext cx="960120" cy="43891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2350008"/>
            <a:ext cx="960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iragino Sans"/>
              </a:rPr>
              <a:t>状態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2788920"/>
            <a:ext cx="14173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2788920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持倉様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788920"/>
            <a:ext cx="14173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7984" y="2788920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⑦クロージング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8728" y="2788920"/>
            <a:ext cx="86868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2788920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AA2E26"/>
                </a:solidFill>
                <a:latin typeface="Hiragino Sans"/>
              </a:rPr>
              <a:t>HOT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2788920"/>
            <a:ext cx="274320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4" y="2788920"/>
            <a:ext cx="26883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iragino Sans"/>
              </a:rPr>
              <a:t>小池先生に登記スケ確認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2788920"/>
            <a:ext cx="86868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7184" y="2788920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6/9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9288" y="2788920"/>
            <a:ext cx="9601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2788920"/>
            <a:ext cx="9052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対応中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" y="3227832"/>
            <a:ext cx="1417320" cy="438912"/>
          </a:xfrm>
          <a:prstGeom prst="rect">
            <a:avLst/>
          </a:prstGeom>
          <a:solidFill>
            <a:srgbClr val="F9F6EF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3227832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曾我先生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1408" y="3227832"/>
            <a:ext cx="1417320" cy="438912"/>
          </a:xfrm>
          <a:prstGeom prst="rect">
            <a:avLst/>
          </a:prstGeom>
          <a:solidFill>
            <a:srgbClr val="F9F6EF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7984" y="3227832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④物件提案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8728" y="3227832"/>
            <a:ext cx="868680" cy="438912"/>
          </a:xfrm>
          <a:prstGeom prst="rect">
            <a:avLst/>
          </a:prstGeom>
          <a:solidFill>
            <a:srgbClr val="F9F6EF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5304" y="3227832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WARM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3227832"/>
            <a:ext cx="274320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3984" y="3227832"/>
            <a:ext cx="26883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iragino Sans"/>
              </a:rPr>
              <a:t>福井下書きの送信判断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608" y="3227832"/>
            <a:ext cx="86868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7184" y="3227832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6/5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9288" y="3227832"/>
            <a:ext cx="960120" cy="438912"/>
          </a:xfrm>
          <a:prstGeom prst="rect">
            <a:avLst/>
          </a:prstGeom>
          <a:solidFill>
            <a:srgbClr val="F9F6EF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55864" y="3227832"/>
            <a:ext cx="9052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対応中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" y="3666744"/>
            <a:ext cx="14173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3666744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内山先生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3666744"/>
            <a:ext cx="14173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57984" y="3666744"/>
            <a:ext cx="13624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④物件提案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38728" y="3666744"/>
            <a:ext cx="86868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75304" y="3666744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WARM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8" y="3666744"/>
            <a:ext cx="274320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43984" y="3666744"/>
            <a:ext cx="26883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iragino Sans"/>
              </a:rPr>
              <a:t>西新宿物件を紹介送付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0608" y="3666744"/>
            <a:ext cx="868680" cy="438912"/>
          </a:xfrm>
          <a:prstGeom prst="rect">
            <a:avLst/>
          </a:prstGeom>
          <a:solidFill>
            <a:srgbClr val="F4E4E2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87184" y="3666744"/>
            <a:ext cx="813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6/5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19288" y="3666744"/>
            <a:ext cx="960120" cy="438912"/>
          </a:xfrm>
          <a:prstGeom prst="rect">
            <a:avLst/>
          </a:prstGeom>
          <a:solidFill>
            <a:srgbClr val="F1ECE1"/>
          </a:solidFill>
          <a:ln w="6350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55864" y="3666744"/>
            <a:ext cx="9052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Hiragino Sans"/>
              </a:rPr>
              <a:t>対応中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8" y="4215384"/>
            <a:ext cx="10780776" cy="457200"/>
          </a:xfrm>
          <a:prstGeom prst="rect">
            <a:avLst/>
          </a:prstGeom>
          <a:solidFill>
            <a:srgbClr val="ECE8DF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" y="4215384"/>
            <a:ext cx="10543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8C241D"/>
                </a:solidFill>
                <a:latin typeface="Hiragino Sans"/>
              </a:rPr>
              <a:t>▲ この「次アクション＋期限」を書くと、10分以内にタスクが自動で湧く（＝強制力）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SCREEN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画面イメージ②｜自動で湧くタスク → 完了でKPI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スプシに書いた次アクションが、10分以内にタスク化される。※画面はイメージ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86400" cy="4572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✅ Googleタスク（自動生成）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237744" cy="237744"/>
          </a:xfrm>
          <a:prstGeom prst="roundRect">
            <a:avLst/>
          </a:prstGeom>
          <a:noFill/>
          <a:ln w="1651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43230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1A1A1A"/>
                </a:solidFill>
                <a:latin typeface="Hiragino Sans"/>
              </a:rPr>
              <a:t>【追客】持倉様 ⑦クロージング｜小池先生に登記スケ確認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450592"/>
            <a:ext cx="685800" cy="310896"/>
          </a:xfrm>
          <a:prstGeom prst="round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450592"/>
            <a:ext cx="685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8C241D"/>
                </a:solidFill>
                <a:latin typeface="Hiragino Sans"/>
              </a:rPr>
              <a:t>6/9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44368"/>
            <a:ext cx="5120640" cy="1016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072384"/>
            <a:ext cx="237744" cy="237744"/>
          </a:xfrm>
          <a:prstGeom prst="roundRect">
            <a:avLst/>
          </a:prstGeom>
          <a:noFill/>
          <a:ln w="1651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1A1A1A"/>
                </a:solidFill>
                <a:latin typeface="Hiragino Sans"/>
              </a:rPr>
              <a:t>【追客】曾我先生 ④物件提案｜福井下書きの送信判断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054096"/>
            <a:ext cx="685800" cy="310896"/>
          </a:xfrm>
          <a:prstGeom prst="round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054096"/>
            <a:ext cx="685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8C241D"/>
                </a:solidFill>
                <a:latin typeface="Hiragino Sans"/>
              </a:rPr>
              <a:t>6/5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47872"/>
            <a:ext cx="5120640" cy="1016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675888"/>
            <a:ext cx="237744" cy="237744"/>
          </a:xfrm>
          <a:prstGeom prst="roundRect">
            <a:avLst/>
          </a:prstGeom>
          <a:noFill/>
          <a:ln w="1651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363931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1A1A1A"/>
                </a:solidFill>
                <a:latin typeface="Hiragino Sans"/>
              </a:rPr>
              <a:t>【追客】内山先生 ④物件提案｜西新宿物件を紹介送付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3657600"/>
            <a:ext cx="685800" cy="310896"/>
          </a:xfrm>
          <a:prstGeom prst="round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657600"/>
            <a:ext cx="685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8C241D"/>
                </a:solidFill>
                <a:latin typeface="Hiragino Sans"/>
              </a:rPr>
              <a:t>6/5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151376"/>
            <a:ext cx="5120640" cy="1016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828800"/>
            <a:ext cx="5285232" cy="4023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2852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574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タスクを「完了」にすると、自動で…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606040"/>
            <a:ext cx="47365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2606040"/>
            <a:ext cx="73152" cy="62179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66090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8C241D"/>
                </a:solidFill>
                <a:latin typeface="Hiragino Sans"/>
              </a:rPr>
              <a:t>✓ KPI ＋1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660904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今週の追客数（完了タスク）がカウントされる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355848"/>
            <a:ext cx="47365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3355848"/>
            <a:ext cx="73152" cy="62179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41071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8C241D"/>
                </a:solidFill>
                <a:latin typeface="Hiragino Sans"/>
              </a:rPr>
              <a:t>✓ 履歴が残る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1071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メモ欄に「[6/9済]登記スケ確認」と自動追記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105656"/>
            <a:ext cx="47365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4105656"/>
            <a:ext cx="73152" cy="62179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1605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8C241D"/>
                </a:solidFill>
                <a:latin typeface="Hiragino Sans"/>
              </a:rPr>
              <a:t>✓ 最終接触日 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1605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いつ動いたかが自動で入る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855464"/>
            <a:ext cx="47365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4855464"/>
            <a:ext cx="73152" cy="62179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49103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8C241D"/>
                </a:solidFill>
                <a:latin typeface="Hiragino Sans"/>
              </a:rPr>
              <a:t>✓ 行が解放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9103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次アクションを書けば、また次のタスクが湧く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SCREEN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画面イメージ③｜KPIダッシュボード（毎時自動更新）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今週の追客数＝完了タスク件数（LINE/電話/メール どれでもOK）。※数値は例示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783080"/>
            <a:ext cx="7772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0" y="1783080"/>
            <a:ext cx="7772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929384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📊 KPIダッシュボード（毎時 自動更新）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377440"/>
            <a:ext cx="172593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487168"/>
            <a:ext cx="17259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E6E6E"/>
                </a:solidFill>
                <a:latin typeface="Hiragino Sans"/>
              </a:rPr>
              <a:t>今週の追客数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24912"/>
            <a:ext cx="172593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A2E26"/>
                </a:solidFill>
                <a:latin typeface="Hiragino Sans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218688"/>
            <a:ext cx="17259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6250" y="2377440"/>
            <a:ext cx="172593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6250" y="2487168"/>
            <a:ext cx="17259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E6E6E"/>
                </a:solidFill>
                <a:latin typeface="Hiragino Sans"/>
              </a:rPr>
              <a:t>アクティブ追客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6250" y="2724912"/>
            <a:ext cx="172593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A2E26"/>
                </a:solidFill>
                <a:latin typeface="Hiragino Sa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0" y="3218688"/>
            <a:ext cx="17259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340" y="2377440"/>
            <a:ext cx="1725930" cy="1051560"/>
          </a:xfrm>
          <a:prstGeom prst="rect">
            <a:avLst/>
          </a:prstGeom>
          <a:solidFill>
            <a:srgbClr val="F4E4E2"/>
          </a:solidFill>
          <a:ln w="1778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9340" y="2487168"/>
            <a:ext cx="17259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8C241D"/>
                </a:solidFill>
                <a:latin typeface="Hiragino Sans"/>
              </a:rPr>
              <a:t>SLA期限切れ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40" y="2724912"/>
            <a:ext cx="172593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9340" y="3218688"/>
            <a:ext cx="17259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2430" y="2377440"/>
            <a:ext cx="172593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2430" y="2487168"/>
            <a:ext cx="17259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E6E6E"/>
                </a:solidFill>
                <a:latin typeface="Hiragino Sans"/>
              </a:rPr>
              <a:t>成約率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2430" y="2724912"/>
            <a:ext cx="172593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AA2E26"/>
                </a:solidFill>
                <a:latin typeface="Hiragino Sans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2430" y="3218688"/>
            <a:ext cx="172593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6576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Hiragino Sans"/>
              </a:rPr>
              <a:t>ステージ別 件数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114800"/>
            <a:ext cx="777240" cy="960120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877056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Hiragino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11149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④提案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754880"/>
            <a:ext cx="777240" cy="320040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517136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Hiragino San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511149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⑤アポ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754880"/>
            <a:ext cx="777240" cy="320040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4517136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Hiragino San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511149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⑥内見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754880"/>
            <a:ext cx="777240" cy="320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517136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Hiragino San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1149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⑦クロ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047488"/>
            <a:ext cx="777240" cy="27432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4809744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Hiragino Sans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511149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⑧成約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追客システムの使い方  ｜  KHD 05物件調達・03事業運営  ｜  BtoC共通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WHO DOES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何が全自動で、何があなたの仕事か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境界をはっきりさせる。あなたの手は最小限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39319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🤖 全自動（もう触らない）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● タスク生成（行→タスク）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● KPIダッシュボード更新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39896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● 完了タスクの集計＝追客数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06824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● 成約/失注でタスククローズ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7375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● 履歴・最終接触日の記録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828800"/>
            <a:ext cx="5486400" cy="393192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828800"/>
            <a:ext cx="5486400" cy="548640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874519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🙋 あなた（3つだけ）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697480"/>
            <a:ext cx="4892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697480"/>
            <a:ext cx="731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69748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1. 新しい客を1行足す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520440"/>
            <a:ext cx="4892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520440"/>
            <a:ext cx="731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52044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2. 次アクション＋期限を書く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343400"/>
            <a:ext cx="48920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343400"/>
            <a:ext cx="731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34340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3. 追客したらタスクを完了にする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54406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※ 文面まで残したくなったら「Gmail軸」を後付け可能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GET STARTED ｜ 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Hiragino Sans"/>
              </a:rPr>
              <a:t>5分・1回だけのセットアップで、ずっと自動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6583680" cy="640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Hiragino Sans"/>
              </a:rPr>
              <a:t>スプシ → 拡張機能 → Apps Script を開く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97480"/>
            <a:ext cx="6583680" cy="640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640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Hiragino Sans"/>
              </a:rPr>
              <a:t>Drive「05_追客GAS_貼付用.gs.txt」を全文コピペ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74720"/>
            <a:ext cx="6583680" cy="640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Hiragino Sans"/>
              </a:rPr>
              <a:t>サービス＋から「Tasks API」を追加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51960"/>
            <a:ext cx="6583680" cy="640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5196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Hiragino Sans"/>
              </a:rPr>
              <a:t>関数 setupTriggers を実行して承認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920240"/>
            <a:ext cx="3611880" cy="3291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あなたの仕事は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92608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iragino Sans"/>
              </a:rPr>
              <a:t>書いて、閉じる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0332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2D8D6"/>
                </a:solidFill>
                <a:latin typeface="Hiragino Sans"/>
              </a:rPr>
              <a:t>それだけ。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3434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Hiragino Sans"/>
              </a:rPr>
              <a:t>追客の数が、毎週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Hiragino Sans"/>
              </a:rPr>
              <a:t>自動でKPIに積み上がる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94360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533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Hiragino Sans"/>
              </a:rPr>
              <a:t>詰まったらエラーを貼ってください。伴走します。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
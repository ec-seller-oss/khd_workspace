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50800" cy="59436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0584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AA2E26"/>
                </a:solidFill>
                <a:latin typeface="Hiragino Sans"/>
              </a:rPr>
              <a:t>AI医療コンサル（KHD）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55448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>
                <a:solidFill>
                  <a:srgbClr val="1A1A1A"/>
                </a:solidFill>
                <a:latin typeface="Hiragino Sans"/>
              </a:rPr>
              <a:t>クリニックの「人手不足 × IT苦手 × バラバラなツール」を、</a:t>
            </a:r>
          </a:p>
          <a:p>
            <a:pPr algn="l">
              <a:lnSpc>
                <a:spcPct val="112000"/>
              </a:lnSpc>
            </a:pPr>
            <a:r>
              <a:rPr sz="3000" b="1">
                <a:solidFill>
                  <a:srgbClr val="1A1A1A"/>
                </a:solidFill>
                <a:latin typeface="Hiragino Sans"/>
              </a:rPr>
              <a:t>AIで小さく解く。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38328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Hiragino Sans"/>
              </a:rPr>
              <a:t>院ごとに課題を診断し、刺さる1つから。0円ではじめて、効いた分だけ広げます。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06240"/>
            <a:ext cx="10515600" cy="10972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4206240"/>
            <a:ext cx="91440" cy="10972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1005840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提案だけで終わらせません。AIで「実物」を0円で作って、動かしてお見せします。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17920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E6E6E"/>
                </a:solidFill>
                <a:latin typeface="Hiragino Sans"/>
              </a:rPr>
              <a:t>ご提案先：＿＿＿＿＿＿＿＿ クリニック 御中　／　KHD ｜ AI医療コンサル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KHD ｜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いま起きていること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iragino Sans"/>
              </a:rPr>
              <a:t>どのクリニックも、だいたい同じ所でつまずく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フェーズは違っても、負担の「型」は共通しています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3621024" cy="14173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91440" cy="14173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93392"/>
            <a:ext cx="32552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① 受付・電話の波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468880"/>
            <a:ext cx="32095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問い合わせ・予約・順番の電話でスタッフの手が止まる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6824" y="1828800"/>
            <a:ext cx="3621024" cy="14173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828800"/>
            <a:ext cx="91440" cy="14173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993392"/>
            <a:ext cx="32552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② 入力・転記の二度手間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468880"/>
            <a:ext cx="32095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紙→電子カルテへ書き写し。同じことを二度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0728" y="1828800"/>
            <a:ext cx="3621024" cy="14173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1828800"/>
            <a:ext cx="91440" cy="14173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1993392"/>
            <a:ext cx="32552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③ 集患・認知が弱い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468880"/>
            <a:ext cx="32095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新患が増えない。HP・SNSに手が回らない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520440"/>
            <a:ext cx="3621024" cy="14173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520440"/>
            <a:ext cx="91440" cy="14173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85032"/>
            <a:ext cx="32552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④ 立地・開業の判断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160520"/>
            <a:ext cx="32095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開業・分院、「ここで食えるか」が読めない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06824" y="3520440"/>
            <a:ext cx="3621024" cy="14173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06824" y="3520440"/>
            <a:ext cx="91440" cy="14173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5424" y="3685032"/>
            <a:ext cx="32552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⑤ 承継・補助金の情報不足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4160520"/>
            <a:ext cx="32095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承継やIT補助金、何が使えるか分からない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06824" y="3520440"/>
            <a:ext cx="6967728" cy="1417320"/>
          </a:xfrm>
          <a:prstGeom prst="rect">
            <a:avLst/>
          </a:prstGeom>
          <a:solidFill>
            <a:srgbClr val="F4E4E2"/>
          </a:solidFill>
          <a:ln w="1270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06824" y="3520440"/>
            <a:ext cx="91440" cy="14173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3520440"/>
            <a:ext cx="6675120" cy="1417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8C241D"/>
                </a:solidFill>
                <a:latin typeface="Hiragino Sans"/>
              </a:rPr>
              <a:t>でも、院内に「DX担当者」はいない。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8C241D"/>
                </a:solidFill>
                <a:latin typeface="Hiragino Sans"/>
              </a:rPr>
              <a:t>業者は高い・縦割り・自社製品売り＝院の課題は二の次。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KHD ｜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我々の立ち位置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iragino Sans"/>
              </a:rPr>
              <a:t>ここに、ぽっかり空いた「隙間」がある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院の現実と、既存業者のあいだ。そこに中立で入る。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486400" cy="1874519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659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院の現実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468880"/>
            <a:ext cx="5029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・院長は診療で多忙、DXに手が回らない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・院内にIT/DX担当者がいない（紙・電話文化）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・何から手をつけるか分からない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828800"/>
            <a:ext cx="5486400" cy="1874519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82880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9659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既存の業者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468880"/>
            <a:ext cx="50292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・電カル/予約会社は高額・縦割り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・「自社製品を買って」が出発点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1A1A1A"/>
                </a:solidFill>
                <a:latin typeface="Hiragino Sans"/>
              </a:rPr>
              <a:t>・院ごとの課題に合わせてくれない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23360"/>
            <a:ext cx="11183112" cy="1554480"/>
          </a:xfrm>
          <a:prstGeom prst="rect">
            <a:avLst/>
          </a:prstGeom>
          <a:solidFill>
            <a:srgbClr val="E1F5EE"/>
          </a:solidFill>
          <a:ln w="19050">
            <a:solidFill>
              <a:srgbClr val="0F6E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023360"/>
            <a:ext cx="109728" cy="1554480"/>
          </a:xfrm>
          <a:prstGeom prst="rect">
            <a:avLst/>
          </a:prstGeom>
          <a:solidFill>
            <a:srgbClr val="0F6E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052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F6E56"/>
                </a:solidFill>
                <a:latin typeface="Hiragino Sans"/>
              </a:rPr>
              <a:t>その「あいだ」に、中立で入る。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8" y="4617720"/>
            <a:ext cx="106070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特定ツールを売らず、課題を診断して「刺さる1つ」から。AIで実物を0円で作り、効いた分だけ成果報酬。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1A1A1A"/>
                </a:solidFill>
                <a:latin typeface="Hiragino Sans"/>
              </a:rPr>
              <a:t>御用聞きでなく、院が少し楽になることだけを一緒に積み上げます。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KHD ｜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進め方（当社の型）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iragino Sans"/>
              </a:rPr>
              <a:t>進め方は、いつも同じ「型」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この5ステップを、院ごとの課題に当てはめるだけ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03120"/>
            <a:ext cx="210312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03120"/>
            <a:ext cx="2103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80160" y="2286000"/>
            <a:ext cx="548640" cy="548640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28600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iragino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1A1A1A"/>
                </a:solidFill>
                <a:latin typeface="Hiragino Sans"/>
              </a:rPr>
              <a:t>無料診断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611880"/>
            <a:ext cx="18836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課題を一緒に棚卸し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87752" y="283464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A2E26"/>
                </a:solidFill>
                <a:latin typeface="Hiragino Sans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70632" y="2103120"/>
            <a:ext cx="210312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70632" y="2103120"/>
            <a:ext cx="2103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47872" y="2286000"/>
            <a:ext cx="548640" cy="548640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228600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iragino Sans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2072" y="301752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1A1A1A"/>
                </a:solidFill>
                <a:latin typeface="Hiragino Sans"/>
              </a:rPr>
              <a:t>刺さる1つを選ぶ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3611880"/>
            <a:ext cx="18836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効果が大きい所から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283464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A2E26"/>
                </a:solidFill>
                <a:latin typeface="Hiragino Sans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38344" y="2103120"/>
            <a:ext cx="210312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38344" y="2103120"/>
            <a:ext cx="2103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815584" y="2286000"/>
            <a:ext cx="548640" cy="548640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15584" y="228600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iragino Sans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9784" y="301752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1A1A1A"/>
                </a:solidFill>
                <a:latin typeface="Hiragino Sans"/>
              </a:rPr>
              <a:t>0円で小さく試す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8072" y="3611880"/>
            <a:ext cx="18836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AIで実物を作って動かす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23176" y="283464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A2E26"/>
                </a:solidFill>
                <a:latin typeface="Hiragino Sans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06056" y="2103120"/>
            <a:ext cx="210312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306056" y="2103120"/>
            <a:ext cx="2103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083296" y="2286000"/>
            <a:ext cx="548640" cy="548640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83296" y="228600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iragino Sans"/>
              </a:rPr>
              <a:t>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7496" y="301752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1A1A1A"/>
                </a:solidFill>
                <a:latin typeface="Hiragino Sans"/>
              </a:rPr>
              <a:t>数値で測る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15784" y="3611880"/>
            <a:ext cx="18836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導入前後を比べる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90888" y="2834640"/>
            <a:ext cx="274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AA2E26"/>
                </a:solidFill>
                <a:latin typeface="Hiragino Sans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73768" y="2103120"/>
            <a:ext cx="210312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573768" y="2103120"/>
            <a:ext cx="2103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351008" y="2286000"/>
            <a:ext cx="548640" cy="548640"/>
          </a:xfrm>
          <a:prstGeom prst="ellipse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351008" y="228600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iragino Sans"/>
              </a:rPr>
              <a:t>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65208" y="3017520"/>
            <a:ext cx="1920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350" b="1">
                <a:solidFill>
                  <a:srgbClr val="1A1A1A"/>
                </a:solidFill>
                <a:latin typeface="Hiragino Sans"/>
              </a:rPr>
              <a:t>効いた所を拡大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83496" y="3611880"/>
            <a:ext cx="188366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>
                <a:solidFill>
                  <a:srgbClr val="6E6E6E"/>
                </a:solidFill>
                <a:latin typeface="Hiragino Sans"/>
              </a:rPr>
              <a:t>合わなければ見直す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4617720"/>
            <a:ext cx="11183112" cy="82296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" y="4617720"/>
            <a:ext cx="91440" cy="8229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9808" y="4617720"/>
            <a:ext cx="10789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※「刺さる1つ」は院ごとに違う。公式LINEとは限りません。まず診断ありき。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KHD ｜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打ち手の引き出し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iragino Sans"/>
              </a:rPr>
              <a:t>課題に合わせて選ぶ ── ソリューション・メニュー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全部やるのでなく、課題に合うものから1つ。LINEはこの中の1つ。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28800"/>
          <a:ext cx="11183112" cy="3200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6976872"/>
              </a:tblGrid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院の課題</a:t>
                      </a:r>
                    </a:p>
                  </a:txBody>
                  <a:tcPr anchor="ctr" marL="91440" marR="54864" marT="27432" marB="27432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主な打ち手（ソリューション）</a:t>
                      </a:r>
                    </a:p>
                  </a:txBody>
                  <a:tcPr anchor="ctr" marL="91440" marR="54864" marT="27432" marB="27432">
                    <a:solidFill>
                      <a:srgbClr val="AA2E2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受付・問い合わせ・電話の負担</a:t>
                      </a:r>
                    </a:p>
                  </a:txBody>
                  <a:tcPr anchor="ctr" marL="91440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公式LINE（FAQ自動応答／Web問診／予約／お知らせ・リマインド）</a:t>
                      </a:r>
                    </a:p>
                  </a:txBody>
                  <a:tcPr anchor="ctr" marL="91440" marR="54864" marT="27432" marB="27432">
                    <a:solidFill>
                      <a:srgbClr val="F1ECE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電子カルテの入力・転記の負担</a:t>
                      </a:r>
                    </a:p>
                  </a:txBody>
                  <a:tcPr anchor="ctr" marL="91440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Stream Deck・AI入力／伝達・音声の自動抽出・入力連携</a:t>
                      </a:r>
                    </a:p>
                  </a:txBody>
                  <a:tcPr anchor="ctr" marL="91440" marR="54864" marT="27432" marB="27432">
                    <a:solidFill>
                      <a:srgbClr val="F9F6E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集患・認知が弱い</a:t>
                      </a:r>
                    </a:p>
                  </a:txBody>
                  <a:tcPr anchor="ctr" marL="91440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オウンドメディア・HP・SNS × AI（発信の量産）</a:t>
                      </a:r>
                    </a:p>
                  </a:txBody>
                  <a:tcPr anchor="ctr" marL="91440" marR="54864" marT="27432" marB="27432">
                    <a:solidFill>
                      <a:srgbClr val="F1ECE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開業・分院・立地の判断</a:t>
                      </a:r>
                    </a:p>
                  </a:txBody>
                  <a:tcPr anchor="ctr" marL="91440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診療圏調査（AIで高速・量産。ここで食えるかを数値化）</a:t>
                      </a:r>
                    </a:p>
                  </a:txBody>
                  <a:tcPr anchor="ctr" marL="91440" marR="54864" marT="27432" marB="27432">
                    <a:solidFill>
                      <a:srgbClr val="F9F6E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承継・M&amp;A・補助金</a:t>
                      </a:r>
                    </a:p>
                  </a:txBody>
                  <a:tcPr anchor="ctr" marL="91440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テナント承継コンサル＋IT導入補助金の活用支援</a:t>
                      </a:r>
                    </a:p>
                  </a:txBody>
                  <a:tcPr anchor="ctr" marL="91440" marR="54864" marT="27432" marB="27432">
                    <a:solidFill>
                      <a:srgbClr val="F1ECE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2120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C241D"/>
                </a:solidFill>
                <a:latin typeface="Hiragino Sans"/>
              </a:rPr>
              <a:t>→ 今回ご縁のあった院では「公式LINE」が刺さりましたが、御院では別の打ち手が主役になるかもしれません。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KHD ｜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実物を作って、見せる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iragino Sans"/>
              </a:rPr>
              <a:t>「提案」で終わらせない ── 例：公式LINE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AIで実物を0円で作って動かせる。これは数ある打ち手の一例です。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7955279" y="1783080"/>
            <a:ext cx="3749039" cy="4297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965960"/>
            <a:ext cx="1808642" cy="39319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955279" y="5989320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E6E6E"/>
                </a:solidFill>
                <a:latin typeface="Hiragino Sans"/>
              </a:rPr>
              <a:t>実装例：京橋クリニックの公式LINE（本番稼働）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74519"/>
            <a:ext cx="7223760" cy="9601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874519"/>
            <a:ext cx="91440" cy="9601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993391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提案だけでなく「実物」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377439"/>
            <a:ext cx="6766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他社は資料止まり。我々はAIで動く実物を0円で作る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935223"/>
            <a:ext cx="7223760" cy="9601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935223"/>
            <a:ext cx="91440" cy="9601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054095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0円・中立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3438143"/>
            <a:ext cx="6766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初期/月額0円（OSS×無料枠）。特定ツールを売らない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3995927"/>
            <a:ext cx="7223760" cy="9601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3995927"/>
            <a:ext cx="91440" cy="9601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14799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現場目線で作る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4498847"/>
            <a:ext cx="6766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スタッフの不安に配慮。仕事を奪わず、面倒を引き受ける助手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5056631"/>
            <a:ext cx="7223760" cy="9601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2920" y="5056631"/>
            <a:ext cx="91440" cy="9601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175503"/>
            <a:ext cx="6858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8C241D"/>
                </a:solidFill>
                <a:latin typeface="Hiragino Sans"/>
              </a:rPr>
              <a:t>これは「一例」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5559551"/>
            <a:ext cx="67665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他院では、刺さる課題に応じて別の打ち手が主役に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KHD ｜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LINEだけじゃない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iragino Sans"/>
              </a:rPr>
              <a:t>院のフェーズで、主役は変わる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開業前／運営中／承継 ── それぞれに打ち手があります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3621024" cy="31089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3621024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33467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Hiragino Sans"/>
              </a:rPr>
              <a:t>開業・分院を考える院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43200"/>
            <a:ext cx="325526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8C241D"/>
                </a:solidFill>
                <a:latin typeface="Hiragino Sans"/>
              </a:rPr>
              <a:t>診療圏調査（AI量産）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316382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「ここで本当に食えるか」を、年齢・男女別の受療率からAIで高速レポート化。出店判断の精度を上げる。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8536" y="1920240"/>
            <a:ext cx="3621024" cy="31089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88536" y="1920240"/>
            <a:ext cx="3621024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25696" y="2011680"/>
            <a:ext cx="33467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Hiragino Sans"/>
              </a:rPr>
              <a:t>運営中で忙しい院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1416" y="2743200"/>
            <a:ext cx="325526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8C241D"/>
                </a:solidFill>
                <a:latin typeface="Hiragino Sans"/>
              </a:rPr>
              <a:t>業務のAI効率化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3429000"/>
            <a:ext cx="316382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受付（公式LINE）・電カル入力（Stream Deck/音声）・発信（オウンドメディア）を、課題に合わせて。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74152" y="1920240"/>
            <a:ext cx="3621024" cy="31089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74152" y="1920240"/>
            <a:ext cx="3621024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2" y="2011680"/>
            <a:ext cx="3346704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Hiragino Sans"/>
              </a:rPr>
              <a:t>承継・出口を考える院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2" y="2743200"/>
            <a:ext cx="325526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8C241D"/>
                </a:solidFill>
                <a:latin typeface="Hiragino Sans"/>
              </a:rPr>
              <a:t>承継コンサル＋補助金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3429000"/>
            <a:ext cx="316382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テナント承継・居抜きの座組み。IT導入補助金で導入コストを圧縮。次の一手まで伴走。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21208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8C241D"/>
                </a:solidFill>
                <a:latin typeface="Hiragino Sans"/>
              </a:rPr>
              <a:t>※ 一度きりでなく、院の成長に合わせて長くご一緒できるのが、AI医療コンサルの形です。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KHD ｜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効果の測り方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iragino Sans"/>
              </a:rPr>
              <a:t>効果は、一緒に「数字」で確かめる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打ち手ごとに、無理なく測れる指標だけを選びます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828800"/>
          <a:ext cx="11183112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06240"/>
                <a:gridCol w="6976872"/>
              </a:tblGrid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見る指標（例）</a:t>
                      </a:r>
                    </a:p>
                  </a:txBody>
                  <a:tcPr anchor="ctr" marL="91440" marR="54864" marT="27432" marB="27432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Hiragino Sans"/>
                        </a:rPr>
                        <a:t>どう良くなるか</a:t>
                      </a:r>
                    </a:p>
                  </a:txBody>
                  <a:tcPr anchor="ctr" marL="91440" marR="54864" marT="27432" marB="27432">
                    <a:solidFill>
                      <a:srgbClr val="AA2E2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受付の電話本数 / 日</a:t>
                      </a:r>
                    </a:p>
                  </a:txBody>
                  <a:tcPr anchor="ctr" marL="91440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自動応答が一次対応 → 件数が減る</a:t>
                      </a:r>
                    </a:p>
                  </a:txBody>
                  <a:tcPr anchor="ctr" marL="91440" marR="54864" marT="27432" marB="27432">
                    <a:solidFill>
                      <a:srgbClr val="F1ECE1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入力・転記の時間</a:t>
                      </a:r>
                    </a:p>
                  </a:txBody>
                  <a:tcPr anchor="ctr" marL="91440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Web問診・AI入力 → 二度手間が減る</a:t>
                      </a:r>
                    </a:p>
                  </a:txBody>
                  <a:tcPr anchor="ctr" marL="91440" marR="54864" marT="27432" marB="27432">
                    <a:solidFill>
                      <a:srgbClr val="F9F6E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新患数 / 問い合わせ数</a:t>
                      </a:r>
                    </a:p>
                  </a:txBody>
                  <a:tcPr anchor="ctr" marL="91440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発信（HP・SNS）→ 認知・来院が増える</a:t>
                      </a:r>
                    </a:p>
                  </a:txBody>
                  <a:tcPr anchor="ctr" marL="91440" marR="54864" marT="27432" marB="27432">
                    <a:solidFill>
                      <a:srgbClr val="F1ECE1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定期受診の来院率</a:t>
                      </a:r>
                    </a:p>
                  </a:txBody>
                  <a:tcPr anchor="ctr" marL="91440" marR="54864" marT="27432" marB="27432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リマインド → 取りこぼし防止で上がる</a:t>
                      </a:r>
                    </a:p>
                  </a:txBody>
                  <a:tcPr anchor="ctr" marL="91440" marR="54864" marT="27432" marB="27432">
                    <a:solidFill>
                      <a:srgbClr val="F9F6E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1A1A1A"/>
                          </a:solidFill>
                          <a:latin typeface="Hiragino Sans"/>
                        </a:rPr>
                        <a:t>月末の残業</a:t>
                      </a:r>
                    </a:p>
                  </a:txBody>
                  <a:tcPr anchor="ctr" marL="91440" marR="54864" marT="27432" marB="27432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3A3A3A"/>
                          </a:solidFill>
                          <a:latin typeface="Hiragino Sans"/>
                        </a:rPr>
                        <a:t>業務平準化 → 月末の山が減る</a:t>
                      </a:r>
                    </a:p>
                  </a:txBody>
                  <a:tcPr anchor="ctr" marL="91440" marR="54864" marT="27432" marB="27432">
                    <a:solidFill>
                      <a:srgbClr val="F1ECE1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02920" y="5120640"/>
            <a:ext cx="11183112" cy="64008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5120640"/>
            <a:ext cx="9144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5120640"/>
            <a:ext cx="107899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50" b="1">
                <a:solidFill>
                  <a:srgbClr val="8C241D"/>
                </a:solidFill>
                <a:latin typeface="Hiragino Sans"/>
              </a:rPr>
              <a:t>どの指標を見るかは、スタッフの皆さまと相談して決めます。評価のためでなく「楽になったか」を確かめるためです。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6E6E6E"/>
                </a:solidFill>
                <a:latin typeface="Hiragino Sans"/>
              </a:rPr>
              <a:t>KHD ｜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AA2E26"/>
                </a:solidFill>
                <a:latin typeface="Hiragino Sans"/>
              </a:rPr>
              <a:t>選ばれる理由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Hiragino Sans"/>
              </a:rPr>
              <a:t>なぜ、KHDのAI医療コンサルか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11064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6E6E6E"/>
                </a:solidFill>
                <a:latin typeface="Hiragino Sans"/>
              </a:rPr>
              <a:t>売り込みでなく、信頼を積み上げる関係を目指します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3621024" cy="12801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91440" cy="12801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965960"/>
            <a:ext cx="3255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中立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395728"/>
            <a:ext cx="32095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特定ツールを売らない。院の課題から最適な打ち手を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06824" y="1828800"/>
            <a:ext cx="3621024" cy="12801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06824" y="1828800"/>
            <a:ext cx="91440" cy="12801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35424" y="1965960"/>
            <a:ext cx="3255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0円・成果報酬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2395728"/>
            <a:ext cx="32095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初期/月額0円ではじめ、効いた分だけの成果報酬も可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0728" y="1828800"/>
            <a:ext cx="3621024" cy="12801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0728" y="1828800"/>
            <a:ext cx="91440" cy="12801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1965960"/>
            <a:ext cx="3255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AIで速く・柔軟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2395728"/>
            <a:ext cx="32095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従来20〜250万のものを0円〜。その場で直せる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337560"/>
            <a:ext cx="3621024" cy="12801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337560"/>
            <a:ext cx="91440" cy="12801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74720"/>
            <a:ext cx="3255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現場目線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904488"/>
            <a:ext cx="32095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スタッフの不安に配慮。仕事を奪わず、面倒を引き受ける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06824" y="3337560"/>
            <a:ext cx="3621024" cy="12801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06824" y="3337560"/>
            <a:ext cx="91440" cy="12801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35424" y="3474720"/>
            <a:ext cx="3255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実物で見せる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3904488"/>
            <a:ext cx="32095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資料でなく、動く実物を作って判断材料にできる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10728" y="3337560"/>
            <a:ext cx="3621024" cy="12801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10728" y="3337560"/>
            <a:ext cx="91440" cy="12801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8" y="3474720"/>
            <a:ext cx="3255264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GIVE先行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57616" y="3904488"/>
            <a:ext cx="320954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1A1A1A"/>
                </a:solidFill>
                <a:latin typeface="Hiragino Sans"/>
              </a:rPr>
              <a:t>売り込まず、まず役に立つ。信頼の対価として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A2E26"/>
                </a:solidFill>
                <a:latin typeface="Hiragino Sans"/>
              </a:rPr>
              <a:t>はじめ方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123444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A1A1A"/>
                </a:solidFill>
                <a:latin typeface="Hiragino Sans"/>
              </a:rPr>
              <a:t>まずは「無料診断」から。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5740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6E6E6E"/>
                </a:solidFill>
                <a:latin typeface="Hiragino Sans"/>
              </a:rPr>
              <a:t>いきなり契約ではありません。課題を一緒に棚卸しして、刺さる1つを見つけます。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788920"/>
            <a:ext cx="3611880" cy="2011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788920"/>
            <a:ext cx="361188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898648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iragino Sans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566160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Hiragino Sans"/>
              </a:rPr>
              <a:t>無料診断（約30分）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069080"/>
            <a:ext cx="3154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6E6E6E"/>
                </a:solidFill>
                <a:latin typeface="Hiragino Sans"/>
              </a:rPr>
              <a:t>院の課題を一緒に棚卸し。優先順位をつける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54296" y="2788920"/>
            <a:ext cx="3611880" cy="2011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54296" y="2788920"/>
            <a:ext cx="361188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4296" y="2898648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iragino Sans"/>
              </a:rP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1456" y="3566160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Hiragino Sans"/>
              </a:rPr>
              <a:t>刺さる1つを0円で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82896" y="4069080"/>
            <a:ext cx="3154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6E6E6E"/>
                </a:solidFill>
                <a:latin typeface="Hiragino Sans"/>
              </a:rPr>
              <a:t>AIで実物を作って試す。負担なく小さく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85632" y="2788920"/>
            <a:ext cx="3611880" cy="2011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85632" y="2788920"/>
            <a:ext cx="3611880" cy="6400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2898648"/>
            <a:ext cx="3611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Hiragino Sans"/>
              </a:rPr>
              <a:t>STEP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22792" y="3566160"/>
            <a:ext cx="33375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A1A1A"/>
                </a:solidFill>
                <a:latin typeface="Hiragino Sans"/>
              </a:rPr>
              <a:t>測って、広げる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14232" y="4069080"/>
            <a:ext cx="3154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50" b="0">
                <a:solidFill>
                  <a:srgbClr val="6E6E6E"/>
                </a:solidFill>
                <a:latin typeface="Hiragino Sans"/>
              </a:rPr>
              <a:t>効いた所だけ拡大。合わなければ見直す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166360"/>
            <a:ext cx="10515600" cy="82296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5166360"/>
            <a:ext cx="91440" cy="8229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5166360"/>
            <a:ext cx="100584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8C241D"/>
                </a:solidFill>
                <a:latin typeface="Hiragino Sans"/>
              </a:rPr>
              <a:t>御院に合うかどうか、一緒に確かめながら。まず小さく、いつでも見直せます。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
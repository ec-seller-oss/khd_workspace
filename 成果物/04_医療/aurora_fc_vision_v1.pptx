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AURORA ｜ 訪問マッサージ事業 立ち上げ構想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96596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1A1A1A"/>
                </a:solidFill>
                <a:latin typeface="Hiragino Sans"/>
              </a:rPr>
              <a:t>在宅に、医療の手を。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8803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AA2E26"/>
                </a:solidFill>
                <a:latin typeface="Hiragino Sans"/>
              </a:rPr>
              <a:t>船橋から始める、訪問マッサージ事業。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E6E6E"/>
                </a:solidFill>
                <a:latin typeface="Hiragino Sans"/>
              </a:rPr>
              <a:t>通院が難しい高齢の方のもとへ、こちらから出向く。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E6E6E"/>
                </a:solidFill>
                <a:latin typeface="Hiragino Sans"/>
              </a:rPr>
              <a:t>その第一歩を、一緒に踏み出してくれる仲間を探しています。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035040"/>
            <a:ext cx="10515600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KHD（株式会社）  ｜  代表  菊池 研太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オーロラ訪問マッサージ  ｜  KHD 事業立ち上げ構想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WHO WE 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私たちは何者か ── KHDと、代表・菊池研太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「どんな人と、どんな会社で働くのか」をまず正直にお伝えします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109728" cy="2194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4767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Hiragino Sans"/>
              </a:rPr>
              <a:t>不動産デベロッパー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4688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AA2E26"/>
                </a:solidFill>
                <a:latin typeface="Hiragino Sans"/>
              </a:rPr>
              <a:t>現場で稼いできた実績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898648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仕入れ〜加工〜売却を一人称で回す事業家。数字とリスクで判断し、机上論で終わらせない。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9164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691640"/>
            <a:ext cx="109728" cy="2194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194767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Hiragino Sans"/>
              </a:rPr>
              <a:t>医療×事業の知見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24688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AA2E26"/>
                </a:solidFill>
                <a:latin typeface="Hiragino Sans"/>
              </a:rPr>
              <a:t>クリニック承継・医療コンサル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2898648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医療クリニックの承継・開業支援を手がける。医療保険・在宅医療の世界観を理解している。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5196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251960"/>
            <a:ext cx="109728" cy="2194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50799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Hiragino Sans"/>
              </a:rPr>
              <a:t>仕組み化・AI活用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0292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AA2E26"/>
                </a:solidFill>
                <a:latin typeface="Hiragino Sans"/>
              </a:rPr>
              <a:t>少人数でも回る設計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458968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AIと仕組みで雑務を圧縮し、人は人にしかできない仕事に集中させる。立ち上げを軽くする。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25196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4251960"/>
            <a:ext cx="109728" cy="2194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450799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Hiragino Sans"/>
              </a:rPr>
              <a:t>相手目線・誠実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9128" y="50292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AA2E26"/>
                </a:solidFill>
                <a:latin typeface="Hiragino Sans"/>
              </a:rPr>
              <a:t>売り込まない商売人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9128" y="5458968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妻と幼い子を持つ一人の生活者。長く安心して働ける組織を、信頼を土台に創りたい。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オーロラ訪問マッサージ  ｜  KHD 事業立ち上げ構想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WHY THIS BUSINESS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なぜ今、訪問マッサージ事業なのか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「儲かりそうだから」ではなく、伸びる必然と、やる意味の両方があるから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6766560" cy="13258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91440" cy="13258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47672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8C241D"/>
                </a:solidFill>
                <a:latin typeface="Hiragino Sans"/>
              </a:rPr>
              <a:t>① 需要が伸び続ける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04872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後期高齢者は増え続け、通院が難しい在宅の方が増えていく。訪問のニーズは構造的に右肩上がり。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46120"/>
            <a:ext cx="6766560" cy="13258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246120"/>
            <a:ext cx="91440" cy="13258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10712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8C241D"/>
                </a:solidFill>
                <a:latin typeface="Hiragino Sans"/>
              </a:rPr>
              <a:t>② 医療保険ベースの安定収益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867912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医療保険適用の訪問マッサージは、単価が制度で支えられ、景気に左右されにくい安定したストック型。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709160"/>
            <a:ext cx="6766560" cy="13258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709160"/>
            <a:ext cx="91440" cy="13258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873752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8C241D"/>
                </a:solidFill>
                <a:latin typeface="Hiragino Sans"/>
              </a:rPr>
              <a:t>③ 社会的に意味がある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330952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「動けないから諦める」をなくす。手を必要としている人のもとへ、こちらから出向く仕事。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1783080"/>
            <a:ext cx="4142232" cy="42519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2103120"/>
            <a:ext cx="41422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2D8D6"/>
                </a:solidFill>
                <a:latin typeface="Hiragino Sans"/>
              </a:rPr>
              <a:t>つまり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606040"/>
            <a:ext cx="414223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Hiragino Sans"/>
              </a:rPr>
              <a:t>伸びる市場 ×</a:t>
            </a:r>
          </a:p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Hiragino Sans"/>
              </a:rPr>
              <a:t>安定収益 ×</a:t>
            </a:r>
          </a:p>
          <a:p>
            <a:pPr algn="ctr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Hiragino Sans"/>
              </a:rPr>
              <a:t>社会的意義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4343400"/>
            <a:ext cx="3502152" cy="15240"/>
          </a:xfrm>
          <a:prstGeom prst="rect">
            <a:avLst/>
          </a:prstGeom>
          <a:solidFill>
            <a:srgbClr val="D98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4572000"/>
            <a:ext cx="41422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Hiragino Sans"/>
              </a:rPr>
              <a:t>この3つが揃う事業は</a:t>
            </a:r>
          </a:p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Hiragino Sans"/>
              </a:rPr>
              <a:t>そう多くありません。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オーロラ訪問マッサージ  ｜  KHD 事業立ち上げ構想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WHY AURORA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なぜ“自前ゼロから”ではなく、オーロラの仕組みを使うのか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立ち上げの遠回り・失敗を避け、現場の価値提供に最短で集中するため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783080"/>
          <a:ext cx="11183112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4206240"/>
                <a:gridCol w="4233672"/>
              </a:tblGrid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論点</a:t>
                      </a:r>
                    </a:p>
                  </a:txBody>
                  <a:tcPr anchor="ctr" marL="109728" marR="91440" marT="54864" marB="54864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ゼロから自前で立ち上げ</a:t>
                      </a:r>
                    </a:p>
                  </a:txBody>
                  <a:tcPr anchor="ctr" marL="109728" marR="91440" marT="54864" marB="54864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オーロラの仕組みを活用</a:t>
                      </a:r>
                    </a:p>
                  </a:txBody>
                  <a:tcPr anchor="ctr" marL="109728" marR="91440" marT="54864" marB="54864">
                    <a:solidFill>
                      <a:srgbClr val="8C241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Hiragino Sans"/>
                        </a:rPr>
                        <a:t>立ち上げ速度</a:t>
                      </a:r>
                    </a:p>
                  </a:txBody>
                  <a:tcPr anchor="ctr" marL="109728" marR="91440" marT="54864" marB="54864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A3A3A"/>
                          </a:solidFill>
                          <a:latin typeface="Hiragino Sans"/>
                        </a:rPr>
                        <a:t>制度理解・体制づくりに時間</a:t>
                      </a:r>
                    </a:p>
                  </a:txBody>
                  <a:tcPr anchor="ctr" marL="109728" marR="91440" marT="54864" marB="54864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AA2E26"/>
                          </a:solidFill>
                          <a:latin typeface="Hiragino Sans"/>
                        </a:rPr>
                        <a:t>確立した型に乗って最短で開始</a:t>
                      </a:r>
                    </a:p>
                  </a:txBody>
                  <a:tcPr anchor="ctr" marL="109728" marR="91440" marT="54864" marB="54864">
                    <a:solidFill>
                      <a:srgbClr val="F4E4E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Hiragino Sans"/>
                        </a:rPr>
                        <a:t>レセプト・制度対応</a:t>
                      </a:r>
                    </a:p>
                  </a:txBody>
                  <a:tcPr anchor="ctr" marL="109728" marR="91440" marT="54864" marB="54864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A3A3A"/>
                          </a:solidFill>
                          <a:latin typeface="Hiragino Sans"/>
                        </a:rPr>
                        <a:t>手探りで算定ミスのリスク</a:t>
                      </a:r>
                    </a:p>
                  </a:txBody>
                  <a:tcPr anchor="ctr" marL="109728" marR="91440" marT="54864" marB="54864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AA2E26"/>
                          </a:solidFill>
                          <a:latin typeface="Hiragino Sans"/>
                        </a:rPr>
                        <a:t>実績あるオペレーションで安心</a:t>
                      </a:r>
                    </a:p>
                  </a:txBody>
                  <a:tcPr anchor="ctr" marL="109728" marR="91440" marT="54864" marB="54864">
                    <a:solidFill>
                      <a:srgbClr val="F4E4E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Hiragino Sans"/>
                        </a:rPr>
                        <a:t>集客・患者獲得</a:t>
                      </a:r>
                    </a:p>
                  </a:txBody>
                  <a:tcPr anchor="ctr" marL="109728" marR="91440" marT="54864" marB="54864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A3A3A"/>
                          </a:solidFill>
                          <a:latin typeface="Hiragino Sans"/>
                        </a:rPr>
                        <a:t>ケアマネ営業もゼロから</a:t>
                      </a:r>
                    </a:p>
                  </a:txBody>
                  <a:tcPr anchor="ctr" marL="109728" marR="91440" marT="54864" marB="54864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AA2E26"/>
                          </a:solidFill>
                          <a:latin typeface="Hiragino Sans"/>
                        </a:rPr>
                        <a:t>立ち上げ支援・ノウハウあり</a:t>
                      </a:r>
                    </a:p>
                  </a:txBody>
                  <a:tcPr anchor="ctr" marL="109728" marR="91440" marT="54864" marB="54864">
                    <a:solidFill>
                      <a:srgbClr val="F4E4E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Hiragino Sans"/>
                        </a:rPr>
                        <a:t>私たちが集中すべき所</a:t>
                      </a:r>
                    </a:p>
                  </a:txBody>
                  <a:tcPr anchor="ctr" marL="109728" marR="91440" marT="54864" marB="54864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A3A3A"/>
                          </a:solidFill>
                          <a:latin typeface="Hiragino Sans"/>
                        </a:rPr>
                        <a:t>事務に追われ現場が手薄に</a:t>
                      </a:r>
                    </a:p>
                  </a:txBody>
                  <a:tcPr anchor="ctr" marL="109728" marR="91440" marT="54864" marB="54864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AA2E26"/>
                          </a:solidFill>
                          <a:latin typeface="Hiragino Sans"/>
                        </a:rPr>
                        <a:t>良い施術と信頼づくりに集中</a:t>
                      </a:r>
                    </a:p>
                  </a:txBody>
                  <a:tcPr anchor="ctr" marL="109728" marR="91440" marT="54864" marB="54864">
                    <a:solidFill>
                      <a:srgbClr val="F4E4E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2920" y="5120640"/>
            <a:ext cx="11183112" cy="96012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120640"/>
            <a:ext cx="91440" cy="9601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3036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8C241D"/>
                </a:solidFill>
                <a:latin typeface="Hiragino Sans"/>
              </a:rPr>
              <a:t>仕組みは借りる。でも、現場の信頼と質は自分たちで創る。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5099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Hiragino Sans"/>
              </a:rPr>
              <a:t>フランチャイズに“やってもらう”のではなく、土台を借りて、私たちの色で地域一番の訪問チームを育てる発想です。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オーロラ訪問マッサージ  ｜  KHD 事業立ち上げ構想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OUR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どこで、どう始めるか ── 船橋を拠点にした事業構想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広げる前に、まず一拠点で“地域で一番頼られる訪問チーム”を創る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212080" cy="12801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91440" cy="12801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2103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6E6E6E"/>
                </a:solidFill>
                <a:latin typeface="Hiragino Sans"/>
              </a:rPr>
              <a:t>船橋市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892808"/>
            <a:ext cx="3108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AA2E26"/>
                </a:solidFill>
                <a:latin typeface="Hiragino Sans"/>
              </a:rPr>
              <a:t>テリトリー承認済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2532888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E6E6E"/>
                </a:solidFill>
                <a:latin typeface="Hiragino Sans"/>
              </a:rPr>
              <a:t>事業を始められる地域として確保済み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200400"/>
            <a:ext cx="5212080" cy="12801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00400"/>
            <a:ext cx="91440" cy="12801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383280"/>
            <a:ext cx="2103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6E6E6E"/>
                </a:solidFill>
                <a:latin typeface="Hiragino Sans"/>
              </a:rPr>
              <a:t>後期高齢者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310128"/>
            <a:ext cx="3108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AA2E26"/>
                </a:solidFill>
                <a:latin typeface="Hiragino Sans"/>
              </a:rPr>
              <a:t>8万人超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168" y="3950208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E6E6E"/>
                </a:solidFill>
                <a:latin typeface="Hiragino Sans"/>
              </a:rPr>
              <a:t>通院困難な在宅ニーズが厚いエリア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617720"/>
            <a:ext cx="5212080" cy="12801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617720"/>
            <a:ext cx="91440" cy="12801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800600"/>
            <a:ext cx="2103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6E6E6E"/>
                </a:solidFill>
                <a:latin typeface="Hiragino Sans"/>
              </a:rPr>
              <a:t>起点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727448"/>
            <a:ext cx="3108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AA2E26"/>
                </a:solidFill>
                <a:latin typeface="Hiragino Sans"/>
              </a:rPr>
              <a:t>3駅エリア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7168" y="5367528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E6E6E"/>
                </a:solidFill>
                <a:latin typeface="Hiragino Sans"/>
              </a:rPr>
              <a:t>無理に広げず、まず手の届く範囲から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1783080"/>
            <a:ext cx="5696712" cy="4251960"/>
          </a:xfrm>
          <a:prstGeom prst="rect">
            <a:avLst/>
          </a:prstGeom>
          <a:solidFill>
            <a:srgbClr val="ECE8DF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9659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8C241D"/>
                </a:solidFill>
                <a:latin typeface="Hiragino Sans"/>
              </a:rPr>
              <a:t>立ち上げのステップ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468880"/>
            <a:ext cx="1143000" cy="457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505456"/>
            <a:ext cx="1143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iragino Sans"/>
              </a:rPr>
              <a:t>STEP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24688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船橋1拠点で立ち上げ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8" y="2852928"/>
            <a:ext cx="3931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E6E6E"/>
                </a:solidFill>
                <a:latin typeface="Hiragino Sans"/>
              </a:rPr>
              <a:t>良い施術 × ケアマネ・施設との信頼で、地域の患者基盤を固める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611880"/>
            <a:ext cx="1143000" cy="457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3648456"/>
            <a:ext cx="1143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iragino Sans"/>
              </a:rPr>
              <a:t>STEP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36118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チーム化・育成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62088" y="3995928"/>
            <a:ext cx="3931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E6E6E"/>
                </a:solidFill>
                <a:latin typeface="Hiragino Sans"/>
              </a:rPr>
              <a:t>施術者を増やし、運営を仕組み化。立ち上げメンバーは中核へ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754880"/>
            <a:ext cx="1143000" cy="457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4791456"/>
            <a:ext cx="1143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iragino Sans"/>
              </a:rPr>
              <a:t>STEP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47548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Hiragino Sans"/>
              </a:rPr>
              <a:t>近隣エリアへ展開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62088" y="5138928"/>
            <a:ext cx="3931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E6E6E"/>
                </a:solidFill>
                <a:latin typeface="Hiragino Sans"/>
              </a:rPr>
              <a:t>1拠点の型ができたら、無理のない範囲で面を広げる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オーロラ訪問マッサージ  ｜  KHD 事業立ち上げ構想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OUR CREED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私たちの仕事観 ── 信頼を土台に、長く続ける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短期で刈り取る商売はしない。患者にも、仲間にも、誠実であり続ける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3611880" cy="32918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6E6E6E"/>
                </a:solidFill>
                <a:latin typeface="Hiragino Sans"/>
              </a:rPr>
              <a:t>患者さんへ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900" b="1" i="0">
                <a:solidFill>
                  <a:srgbClr val="8C241D"/>
                </a:solidFill>
                <a:latin typeface="Hiragino Sans"/>
              </a:rPr>
              <a:t>売り込まない・盛らない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3474720"/>
            <a:ext cx="2514600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57599"/>
            <a:ext cx="2971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必要な施術を、必要なだけ。数字のために過剰な訪問はしない。信頼が次の紹介を生む。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4256" y="1783080"/>
            <a:ext cx="3611880" cy="32918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78308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6" y="2057400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6E6E6E"/>
                </a:solidFill>
                <a:latin typeface="Hiragino Sans"/>
              </a:rPr>
              <a:t>仲間へ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560320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900" b="1" i="0">
                <a:solidFill>
                  <a:srgbClr val="8C241D"/>
                </a:solidFill>
                <a:latin typeface="Hiragino Sans"/>
              </a:rPr>
              <a:t>無理をさせない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82896" y="3474720"/>
            <a:ext cx="2514600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54296" y="3657599"/>
            <a:ext cx="2971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短期の数字で人をすり潰さない。家族との時間も大事にしながら、長く働ける環境をつくる。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65592" y="1783080"/>
            <a:ext cx="3611880" cy="32918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65592" y="178308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5592" y="2057400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6E6E6E"/>
                </a:solidFill>
                <a:latin typeface="Hiragino Sans"/>
              </a:rPr>
              <a:t>地域へ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2560320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900" b="1" i="0">
                <a:solidFill>
                  <a:srgbClr val="8C241D"/>
                </a:solidFill>
                <a:latin typeface="Hiragino Sans"/>
              </a:rPr>
              <a:t>ケアマネ・施設と誠実に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14232" y="3474720"/>
            <a:ext cx="2514600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85632" y="3657599"/>
            <a:ext cx="2971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目先の囲い込みより、地域で一番信頼される存在に。それが結局いちばん強い集客になる。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349240"/>
            <a:ext cx="11183112" cy="73152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486400"/>
            <a:ext cx="10607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8C241D"/>
                </a:solidFill>
                <a:latin typeface="Hiragino Sans"/>
              </a:rPr>
              <a:t>信頼が先、収益は結果。── これは不動産でも医療でも、私が一貫して大事にしてきた軸です。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オーロラ訪問マッサージ  ｜  KHD 事業立ち上げ構想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WHO WE NEED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一緒に第一歩を踏み出す、仲間を探しています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立ち上げは「誰とやるか」が9割。だから、正直にお話しします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577840" cy="42519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57784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9339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8C241D"/>
                </a:solidFill>
                <a:latin typeface="Hiragino Sans"/>
              </a:rPr>
              <a:t>こんな方と創りたい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45059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国家資格を持ち、訪問の現場を任せられる方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63824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45536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施術だけでなく、ケアマネ・施設との関係づくりも一緒に考えられる方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58768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84048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「立ち上げ」をゼロイチで創るおもしろさに、わくわくできる方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5371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535424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目先の数字より、患者・地域の信頼を大事にできる方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48656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230368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将来、拠点長・幹部として中核を担う意志のある方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1783080"/>
            <a:ext cx="5330952" cy="42519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103120"/>
            <a:ext cx="53309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2D8D6"/>
                </a:solidFill>
                <a:latin typeface="Hiragino Sans"/>
              </a:rPr>
              <a:t>正直に言うと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606040"/>
            <a:ext cx="49377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FFFFFF"/>
                </a:solidFill>
                <a:latin typeface="Hiragino Sans"/>
              </a:rPr>
              <a:t>この事業を本気でやる確信は、</a:t>
            </a:r>
          </a:p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FFFFFF"/>
                </a:solidFill>
                <a:latin typeface="Hiragino Sans"/>
              </a:rPr>
              <a:t>“いい人に出会えるか”に</a:t>
            </a:r>
          </a:p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FFFFFF"/>
                </a:solidFill>
                <a:latin typeface="Hiragino Sans"/>
              </a:rPr>
              <a:t>かかっています。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4343400"/>
            <a:ext cx="4507992" cy="15240"/>
          </a:xfrm>
          <a:prstGeom prst="rect">
            <a:avLst/>
          </a:prstGeom>
          <a:solidFill>
            <a:srgbClr val="D98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572000"/>
            <a:ext cx="49377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Hiragino Sans"/>
              </a:rPr>
              <a:t>だから今日は、採用の合否を決める場ではなく、</a:t>
            </a:r>
          </a:p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Hiragino Sans"/>
              </a:rPr>
              <a:t>お互いに「この人と組めるか」を確かめる場にしたい。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オーロラ訪問マッサージ  ｜  KHD 事業立ち上げ構想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HOW WE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働き方と、処遇の考え方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細かい条件は対話で。でも考え方は最初に揃えておきたい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486400" cy="18288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109728" cy="18288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011680"/>
            <a:ext cx="731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AA2E26"/>
                </a:solidFill>
                <a:latin typeface="Hiragino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039112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Hiragino Sans"/>
              </a:rPr>
              <a:t>立ち上げメンバーへの還元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2560320"/>
            <a:ext cx="4160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事業が育てば、その価値は一緒に創った人に返す。立ち上げの貢献は処遇・ポジションで報いる。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783080"/>
            <a:ext cx="5486400" cy="18288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783080"/>
            <a:ext cx="109728" cy="18288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3408" y="2011680"/>
            <a:ext cx="731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AA2E26"/>
                </a:solidFill>
                <a:latin typeface="Hiragino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2039112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Hiragino Sans"/>
              </a:rPr>
              <a:t>成長に応じた役割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6368" y="2560320"/>
            <a:ext cx="4160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施術者 → リーダー → 拠点長・幹部。本人の意志と実力に応じて、任せる範囲を広げていく。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977640"/>
            <a:ext cx="5486400" cy="18288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977640"/>
            <a:ext cx="109728" cy="18288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4206240"/>
            <a:ext cx="731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AA2E26"/>
                </a:solidFill>
                <a:latin typeface="Hiragino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233672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Hiragino Sans"/>
              </a:rPr>
              <a:t>無理をさせない設計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" y="4754880"/>
            <a:ext cx="4160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短期の数字で人をすり減らさない。AI・仕組みで雑務を減らし、現場と生活の両立を守る。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977640"/>
            <a:ext cx="5486400" cy="18288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3977640"/>
            <a:ext cx="109728" cy="18288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8" y="4206240"/>
            <a:ext cx="731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AA2E26"/>
                </a:solidFill>
                <a:latin typeface="Hiragino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4233672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Hiragino Sans"/>
              </a:rPr>
              <a:t>条件はフェアに、対話で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8" y="4754880"/>
            <a:ext cx="4160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数字ありきの押し付けはしない。お互いが納得できる形を、これから一緒に決めていきたい。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6E6E"/>
                </a:solidFill>
                <a:latin typeface="Hiragino Sans"/>
              </a:rPr>
              <a:t>※ 給与・雇用形態などの具体条件は、お互いの希望をすり合わせながら決めていきます。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オーロラ訪問マッサージ  ｜  KHD 事業立ち上げ構想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3年後、こうなっていたい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大きく広げることより、地域で一番信頼されることを先に取りに行く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3611880" cy="35661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3611880" cy="7772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75104"/>
            <a:ext cx="3611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Hiragino Sans"/>
              </a:rPr>
              <a:t>1年目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8C241D"/>
                </a:solidFill>
                <a:latin typeface="Hiragino Sans"/>
              </a:rPr>
              <a:t>船橋で確かな一歩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3611880"/>
            <a:ext cx="2514600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794760"/>
            <a:ext cx="2971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良い施術と信頼で、地域のケアマネ・施設から「あそこに頼めば安心」と言われる拠点に。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4256" y="1828800"/>
            <a:ext cx="3611880" cy="35661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828800"/>
            <a:ext cx="3611880" cy="7772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6" y="1975104"/>
            <a:ext cx="3611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Hiragino Sans"/>
              </a:rPr>
              <a:t>2年目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834640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8C241D"/>
                </a:solidFill>
                <a:latin typeface="Hiragino Sans"/>
              </a:rPr>
              <a:t>チームとして回る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82896" y="3611880"/>
            <a:ext cx="2514600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54296" y="3794760"/>
            <a:ext cx="2971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施術者が増え、運営が仕組みで回る。立ち上げメンバーが後輩を育てる中核に。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65592" y="1828800"/>
            <a:ext cx="3611880" cy="35661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65592" y="1828800"/>
            <a:ext cx="3611880" cy="7772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5592" y="1975104"/>
            <a:ext cx="3611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Hiragino Sans"/>
              </a:rPr>
              <a:t>3年目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2834640"/>
            <a:ext cx="3063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8C241D"/>
                </a:solidFill>
                <a:latin typeface="Hiragino Sans"/>
              </a:rPr>
              <a:t>面で支える存在へ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14232" y="3611880"/>
            <a:ext cx="2514600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85632" y="3794760"/>
            <a:ext cx="2971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船橋を起点に近隣エリアへ。地域の在宅高齢者を面で支える訪問チームへ成長。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AA2E26"/>
                </a:solidFill>
                <a:latin typeface="Hiragino Sans"/>
              </a:rPr>
              <a:t>まずは、お互いを知るところから。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8288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Hiragino Sans"/>
              </a:rPr>
              <a:t>良ければ、一緒に第一歩を。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8803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6E6E"/>
                </a:solidFill>
                <a:latin typeface="Hiragino Sans"/>
              </a:rPr>
              <a:t>今日この場は、合否を決める面接ではありません。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6E6E"/>
                </a:solidFill>
                <a:latin typeface="Hiragino Sans"/>
              </a:rPr>
              <a:t>あなたの経験と思いを聞かせてください。そして、私たちの構想に正直な意見をください。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14800"/>
            <a:ext cx="3611880" cy="16916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411480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315968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8C241D"/>
                </a:solidFill>
                <a:latin typeface="Hiragino Sans"/>
              </a:rPr>
              <a:t>✓ 売り込みません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480060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あなたを口説き落とす場ではなく、合うかを確かめ合う場にします。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54296" y="4114800"/>
            <a:ext cx="3611880" cy="16916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54296" y="411480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28616" y="4315968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8C241D"/>
                </a:solidFill>
                <a:latin typeface="Hiragino Sans"/>
              </a:rPr>
              <a:t>✓ 正直にお話しします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6904" y="480060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良いことも、これからの課題も、包み隠さずお伝えします。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85632" y="4114800"/>
            <a:ext cx="3611880" cy="16916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85632" y="411480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59952" y="4315968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8C241D"/>
                </a:solidFill>
                <a:latin typeface="Hiragino Sans"/>
              </a:rPr>
              <a:t>✓ 一緒に決めます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480060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働き方も条件も、お互いが納得できる形を対話で決めます。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Hiragino Sans"/>
              </a:rPr>
              <a:t>KHD（株式会社）  ｜  代表  菊池 研太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
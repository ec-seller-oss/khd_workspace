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_mass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0"/>
            <a:ext cx="5650992" cy="3796760"/>
          </a:xfrm>
          <a:prstGeom prst="rect">
            <a:avLst/>
          </a:prstGeom>
          <a:ln w="50800">
            <a:solidFill>
              <a:srgbClr val="FFFFFF"/>
            </a:solidFill>
          </a:ln>
          <a:effectLst/>
        </p:spPr>
      </p:pic>
      <p:sp>
        <p:nvSpPr>
          <p:cNvPr id="3" name="Rectangle 2"/>
          <p:cNvSpPr/>
          <p:nvPr/>
        </p:nvSpPr>
        <p:spPr>
          <a:xfrm>
            <a:off x="0" y="0"/>
            <a:ext cx="6583680" cy="6858000"/>
          </a:xfrm>
          <a:prstGeom prst="rect">
            <a:avLst/>
          </a:prstGeom>
          <a:solidFill>
            <a:srgbClr val="F9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188720"/>
            <a:ext cx="5669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AA2E26"/>
                </a:solidFill>
                <a:latin typeface="Hiragino Sans"/>
              </a:rPr>
              <a:t>KHD ｜ 船橋・訪問マッサージ事業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627632"/>
            <a:ext cx="137160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828800"/>
            <a:ext cx="5852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 i="0">
                <a:solidFill>
                  <a:srgbClr val="1A1A1A"/>
                </a:solidFill>
                <a:latin typeface="Hiragino Sans"/>
              </a:rPr>
              <a:t>在宅に、医療の手を。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971800"/>
            <a:ext cx="5669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1A1A1A"/>
                </a:solidFill>
                <a:latin typeface="Hiragino Sans"/>
              </a:rPr>
              <a:t>船橋エリアで、訪問マッサージの新しい拠点を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1A1A1A"/>
                </a:solidFill>
                <a:latin typeface="Hiragino Sans"/>
              </a:rPr>
              <a:t>立ち上げます。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4983480"/>
            <a:ext cx="5394960" cy="100584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38928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AA2E26"/>
                </a:solidFill>
                <a:latin typeface="Hiragino Sans"/>
              </a:rPr>
              <a:t>面談用資料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44068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Hiragino Sans"/>
              </a:rPr>
              <a:t>KHD 代表  菊池 研太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Hiragino Sans"/>
              </a:rPr>
              <a:t>KHD ｜ 船橋・訪問マッサージ事業 立ち上げ構想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74552" y="6473952"/>
            <a:ext cx="457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E6E6E"/>
                </a:solidFill>
                <a:latin typeface="Hiragino San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AA2E26"/>
                </a:solidFill>
                <a:latin typeface="Hiragino Sans"/>
              </a:rPr>
              <a:t>WHAT WE BUILD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Hiragino Sans"/>
              </a:rPr>
              <a:t>立ち上げる体制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16736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6E6E6E"/>
                </a:solidFill>
                <a:latin typeface="Hiragino Sans"/>
              </a:rPr>
              <a:t>細かい説明は省きます。要は、実績ある仕組み × 承認済みエリア × 経営は私が回す、の3つです。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965960"/>
            <a:ext cx="6583680" cy="105156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65960"/>
            <a:ext cx="146304" cy="105156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075688"/>
            <a:ext cx="14630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 i="0">
                <a:solidFill>
                  <a:srgbClr val="AA2E26"/>
                </a:solidFill>
                <a:latin typeface="Hiragino Sans"/>
              </a:rPr>
              <a:t>仕組み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20" y="2057400"/>
            <a:ext cx="46634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1A1A1A"/>
                </a:solidFill>
                <a:latin typeface="Hiragino Sans"/>
              </a:rPr>
              <a:t>オーロラの訪問マッサージFCの仕組みを活用。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1A1A1A"/>
                </a:solidFill>
                <a:latin typeface="Hiragino Sans"/>
              </a:rPr>
              <a:t>医療保険×在宅のオペレーションは確立済み。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182112"/>
            <a:ext cx="6583680" cy="105156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182112"/>
            <a:ext cx="146304" cy="105156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91840"/>
            <a:ext cx="14630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 i="0">
                <a:solidFill>
                  <a:srgbClr val="AA2E26"/>
                </a:solidFill>
                <a:latin typeface="Hiragino Sans"/>
              </a:rPr>
              <a:t>エリア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31720" y="3273552"/>
            <a:ext cx="46634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1A1A1A"/>
                </a:solidFill>
                <a:latin typeface="Hiragino Sans"/>
              </a:rPr>
              <a:t>船橋市はテリトリー承認済み。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1A1A1A"/>
                </a:solidFill>
                <a:latin typeface="Hiragino Sans"/>
              </a:rPr>
              <a:t>後期高齢者8万人超／3駅圏の需要を狙える。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398264"/>
            <a:ext cx="6583680" cy="105156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4398264"/>
            <a:ext cx="146304" cy="105156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507992"/>
            <a:ext cx="14630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 i="0">
                <a:solidFill>
                  <a:srgbClr val="AA2E26"/>
                </a:solidFill>
                <a:latin typeface="Hiragino Sans"/>
              </a:rPr>
              <a:t>経営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31720" y="4489704"/>
            <a:ext cx="46634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1A1A1A"/>
                </a:solidFill>
                <a:latin typeface="Hiragino Sans"/>
              </a:rPr>
              <a:t>集客・ケアマネ連携・資金・事務はKHDが担う。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1A1A1A"/>
                </a:solidFill>
                <a:latin typeface="Hiragino Sans"/>
              </a:rPr>
              <a:t>現場が施術に集中できる土台をつくる。</a:t>
            </a:r>
          </a:p>
        </p:txBody>
      </p:sp>
      <p:pic>
        <p:nvPicPr>
          <p:cNvPr id="18" name="Picture 17" descr="p_offic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0" y="2103120"/>
            <a:ext cx="4023360" cy="3313355"/>
          </a:xfrm>
          <a:prstGeom prst="rect">
            <a:avLst/>
          </a:prstGeom>
          <a:ln w="50800">
            <a:solidFill>
              <a:srgbClr val="FFFFFF"/>
            </a:solidFill>
          </a:ln>
          <a:effectLst/>
        </p:spPr>
      </p:pic>
      <p:sp>
        <p:nvSpPr>
          <p:cNvPr id="19" name="TextBox 18"/>
          <p:cNvSpPr txBox="1"/>
          <p:nvPr/>
        </p:nvSpPr>
        <p:spPr>
          <a:xfrm>
            <a:off x="7543800" y="5489627"/>
            <a:ext cx="4023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 i="0">
                <a:solidFill>
                  <a:srgbClr val="6E6E6E"/>
                </a:solidFill>
                <a:latin typeface="Hiragino Sans"/>
              </a:rPr>
              <a:t>船橋に構える事業拠点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Hiragino Sans"/>
              </a:rPr>
              <a:t>KHD ｜ 船橋・訪問マッサージ事業 立ち上げ構想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74552" y="6473952"/>
            <a:ext cx="457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E6E6E"/>
                </a:solidFill>
                <a:latin typeface="Hiragino San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AA2E26"/>
                </a:solidFill>
                <a:latin typeface="Hiragino Sans"/>
              </a:rPr>
              <a:t>HOW WE TEAM UP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Hiragino Sans"/>
              </a:rPr>
              <a:t>お任せしたいこと、私が引き受けること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16736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6E6E6E"/>
                </a:solidFill>
                <a:latin typeface="Hiragino Sans"/>
              </a:rPr>
              <a:t>現場の質はプロに敵いません。だから役割を分けて、お互いの強みで長く続く拠点をつくりたい。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2011680"/>
            <a:ext cx="5349240" cy="3200400"/>
          </a:xfrm>
          <a:prstGeom prst="rect">
            <a:avLst/>
          </a:prstGeom>
          <a:solidFill>
            <a:srgbClr val="FFFFFF"/>
          </a:solidFill>
          <a:ln w="1524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2011680"/>
            <a:ext cx="5349240" cy="64008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121408"/>
            <a:ext cx="5029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Hiragino Sans"/>
              </a:rPr>
              <a:t>現場 ──  あなたにお任せしたい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880360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AA2E26"/>
                </a:solidFill>
                <a:latin typeface="Hiragino Sans"/>
              </a:rPr>
              <a:t>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852928"/>
            <a:ext cx="4480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Hiragino Sans"/>
              </a:rPr>
              <a:t>施術の質・臨床判断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538728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AA2E26"/>
                </a:solidFill>
                <a:latin typeface="Hiragino Sans"/>
              </a:rPr>
              <a:t>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511296"/>
            <a:ext cx="4480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Hiragino Sans"/>
              </a:rPr>
              <a:t>患者さんとの信頼関係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197096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AA2E26"/>
                </a:solidFill>
                <a:latin typeface="Hiragino Sans"/>
              </a:rPr>
              <a:t>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4169663"/>
            <a:ext cx="4480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Hiragino Sans"/>
              </a:rPr>
              <a:t>現場のオペレーション最適化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80060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1">
                <a:solidFill>
                  <a:srgbClr val="6E6E6E"/>
                </a:solidFill>
                <a:latin typeface="Hiragino Sans"/>
              </a:rPr>
              <a:t>プロの領域は、信頼してお任せします。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2011680"/>
            <a:ext cx="5349240" cy="3200400"/>
          </a:xfrm>
          <a:prstGeom prst="rect">
            <a:avLst/>
          </a:prstGeom>
          <a:solidFill>
            <a:srgbClr val="F1ECE1"/>
          </a:solidFill>
          <a:ln w="1524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2011680"/>
            <a:ext cx="5349240" cy="64008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73952" y="2121408"/>
            <a:ext cx="5029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Hiragino Sans"/>
              </a:rPr>
              <a:t>経営 ──  私が引き受ける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65392" y="2880360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Hiragino Sans"/>
              </a:rPr>
              <a:t>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31152" y="2852928"/>
            <a:ext cx="4480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Hiragino Sans"/>
              </a:rPr>
              <a:t>集客導線・ケアマネ連携の仕組み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65392" y="3538728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Hiragino Sans"/>
              </a:rPr>
              <a:t>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31152" y="3511296"/>
            <a:ext cx="4480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Hiragino Sans"/>
              </a:rPr>
              <a:t>資金・制度・許認可まわり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65392" y="4197096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Hiragino Sans"/>
              </a:rPr>
              <a:t>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31152" y="4169663"/>
            <a:ext cx="4480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Hiragino Sans"/>
              </a:rPr>
              <a:t>事務・バックオフィス全般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73952" y="480060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1">
                <a:solidFill>
                  <a:srgbClr val="6E6E6E"/>
                </a:solidFill>
                <a:latin typeface="Hiragino Sans"/>
              </a:rPr>
              <a:t>テリトリー・資金・仕組みは、私の責任で用意します。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5440680"/>
            <a:ext cx="11064240" cy="640080"/>
          </a:xfrm>
          <a:prstGeom prst="rect">
            <a:avLst/>
          </a:prstGeom>
          <a:solidFill>
            <a:srgbClr val="F4E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6928" y="5440680"/>
            <a:ext cx="110642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8C241D"/>
                </a:solidFill>
                <a:latin typeface="Hiragino Sans"/>
              </a:rPr>
              <a:t>現場のプロ  ×  経営の仕組み  ──  どちらが欠けても続かない。だから組みたい。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Hiragino Sans"/>
              </a:rPr>
              <a:t>KHD ｜ 船橋・訪問マッサージ事業 立ち上げ構想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74552" y="6473952"/>
            <a:ext cx="457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E6E6E"/>
                </a:solidFill>
                <a:latin typeface="Hiragino San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AA2E26"/>
                </a:solidFill>
                <a:latin typeface="Hiragino Sans"/>
              </a:rPr>
              <a:t>HOW WE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Hiragino Sans"/>
              </a:rPr>
              <a:t>働き方と、大切にしたい考え方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16736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6E6E6E"/>
                </a:solidFill>
                <a:latin typeface="Hiragino Sans"/>
              </a:rPr>
              <a:t>条件の細部は対話で決めたい。でも“考え方”だけは最初に揃えておきたいです。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2011680"/>
            <a:ext cx="6400800" cy="356616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2194560"/>
            <a:ext cx="5943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AA2E26"/>
                </a:solidFill>
                <a:latin typeface="Hiragino Sans"/>
              </a:rPr>
              <a:t>事業の芯にしたい考え方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606040"/>
            <a:ext cx="5943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1A1A1A"/>
                </a:solidFill>
                <a:latin typeface="Hiragino Sans"/>
              </a:rPr>
              <a:t>売り込まない。相手目線でGIVEし、</a:t>
            </a:r>
          </a:p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1A1A1A"/>
                </a:solidFill>
                <a:latin typeface="Hiragino Sans"/>
              </a:rPr>
              <a:t>信頼の対価としていただく。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977639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AA2E26"/>
                </a:solidFill>
                <a:latin typeface="Hiragino Sans"/>
              </a:rPr>
              <a:t>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959352"/>
            <a:ext cx="5486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Hiragino Sans"/>
              </a:rPr>
              <a:t>患者さん・ケアマネさんに、まず誠実であること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489704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AA2E26"/>
                </a:solidFill>
                <a:latin typeface="Hiragino Sans"/>
              </a:rPr>
              <a:t>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471416"/>
            <a:ext cx="5486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Hiragino Sans"/>
              </a:rPr>
              <a:t>数を追うより、地域で長く信頼される拠点にすること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001768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AA2E26"/>
                </a:solidFill>
                <a:latin typeface="Hiragino Sans"/>
              </a:rPr>
              <a:t>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4983480"/>
            <a:ext cx="5486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Hiragino Sans"/>
              </a:rPr>
              <a:t>働く人が、正当に報われる仕組みにすること</a:t>
            </a:r>
          </a:p>
        </p:txBody>
      </p:sp>
      <p:pic>
        <p:nvPicPr>
          <p:cNvPr id="15" name="Picture 14" descr="p_bik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2011680"/>
            <a:ext cx="4297680" cy="2313232"/>
          </a:xfrm>
          <a:prstGeom prst="rect">
            <a:avLst/>
          </a:prstGeom>
          <a:ln w="50800">
            <a:solidFill>
              <a:srgbClr val="FFFFFF"/>
            </a:solidFill>
          </a:ln>
          <a:effectLst/>
        </p:spPr>
      </p:pic>
      <p:sp>
        <p:nvSpPr>
          <p:cNvPr id="16" name="TextBox 15"/>
          <p:cNvSpPr txBox="1"/>
          <p:nvPr/>
        </p:nvSpPr>
        <p:spPr>
          <a:xfrm>
            <a:off x="7315200" y="4434840"/>
            <a:ext cx="4297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AA2E26"/>
                </a:solidFill>
                <a:latin typeface="Hiragino Sans"/>
              </a:rPr>
              <a:t>処遇は、対話で決めます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4800600"/>
            <a:ext cx="42976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1A1A1A"/>
                </a:solidFill>
                <a:latin typeface="Hiragino Sans"/>
              </a:rPr>
              <a:t>経験・役割に正当に報いる前提で、</a:t>
            </a:r>
          </a:p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1A1A1A"/>
                </a:solidFill>
                <a:latin typeface="Hiragino Sans"/>
              </a:rPr>
              <a:t>お互い納得できる形を一緒に決めたい。</a:t>
            </a:r>
          </a:p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1A1A1A"/>
                </a:solidFill>
                <a:latin typeface="Hiragino Sans"/>
              </a:rPr>
              <a:t>固定の枠に当てはめるつもりはありません。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Hiragino Sans"/>
              </a:rPr>
              <a:t>KHD ｜ 船橋・訪問マッサージ事業 立ち上げ構想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74552" y="6473952"/>
            <a:ext cx="457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E6E6E"/>
                </a:solidFill>
                <a:latin typeface="Hiragino San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AA2E26"/>
                </a:solidFill>
                <a:latin typeface="Hiragino Sans"/>
              </a:rPr>
              <a:t>A DAY WITH US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Hiragino Sans"/>
              </a:rPr>
              <a:t>船橋で働く、1日のイメージ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16736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6E6E6E"/>
                </a:solidFill>
                <a:latin typeface="Hiragino Sans"/>
              </a:rPr>
              <a:t>数字はこれから一緒に詰めます。今わかっている範囲で、正直にお伝えします。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965960"/>
            <a:ext cx="3566160" cy="3246120"/>
          </a:xfrm>
          <a:prstGeom prst="rect">
            <a:avLst/>
          </a:prstGeom>
          <a:solidFill>
            <a:srgbClr val="FFFFFF"/>
          </a:solidFill>
          <a:ln w="1524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65960"/>
            <a:ext cx="3566160" cy="566928"/>
          </a:xfrm>
          <a:prstGeom prst="rect">
            <a:avLst/>
          </a:prstGeom>
          <a:solidFill>
            <a:srgbClr val="F1E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128016" cy="566928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2020824"/>
            <a:ext cx="3200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i="0">
                <a:solidFill>
                  <a:srgbClr val="8C241D"/>
                </a:solidFill>
                <a:latin typeface="Hiragino Sans"/>
              </a:rPr>
              <a:t>1日の流れ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743200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AA2E26"/>
                </a:solidFill>
                <a:latin typeface="Hiragino Sans"/>
              </a:rPr>
              <a:t>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2724912"/>
            <a:ext cx="2788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1A1A1A"/>
                </a:solidFill>
                <a:latin typeface="Hiragino Sans"/>
              </a:rPr>
              <a:t>在宅・施設へ訪問（1件20〜30分の施術）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200400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AA2E26"/>
                </a:solidFill>
                <a:latin typeface="Hiragino Sans"/>
              </a:rPr>
              <a:t>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3182112"/>
            <a:ext cx="2788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1A1A1A"/>
                </a:solidFill>
                <a:latin typeface="Hiragino Sans"/>
              </a:rPr>
              <a:t>移動は電動自転車／バイク中心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657600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AA2E26"/>
                </a:solidFill>
                <a:latin typeface="Hiragino Sans"/>
              </a:rPr>
              <a:t>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" y="3639312"/>
            <a:ext cx="2788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1A1A1A"/>
                </a:solidFill>
                <a:latin typeface="Hiragino Sans"/>
              </a:rPr>
              <a:t>無理なく回れる件数で設計。</a:t>
            </a:r>
          </a:p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1A1A1A"/>
                </a:solidFill>
                <a:latin typeface="Hiragino Sans"/>
              </a:rPr>
              <a:t>詰め込んで数は追いません。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15968" y="1965960"/>
            <a:ext cx="3566160" cy="3246120"/>
          </a:xfrm>
          <a:prstGeom prst="rect">
            <a:avLst/>
          </a:prstGeom>
          <a:solidFill>
            <a:srgbClr val="FFFFFF"/>
          </a:solidFill>
          <a:ln w="1524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15968" y="1965960"/>
            <a:ext cx="3566160" cy="566928"/>
          </a:xfrm>
          <a:prstGeom prst="rect">
            <a:avLst/>
          </a:prstGeom>
          <a:solidFill>
            <a:srgbClr val="F1E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15968" y="1965960"/>
            <a:ext cx="128016" cy="566928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90288" y="2020824"/>
            <a:ext cx="3200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i="0">
                <a:solidFill>
                  <a:srgbClr val="8C241D"/>
                </a:solidFill>
                <a:latin typeface="Hiragino Sans"/>
              </a:rPr>
              <a:t>立ち上がりの支え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2743200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AA2E26"/>
                </a:solidFill>
                <a:latin typeface="Hiragino Sans"/>
              </a:rPr>
              <a:t>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64607" y="2724912"/>
            <a:ext cx="2788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1A1A1A"/>
                </a:solidFill>
                <a:latin typeface="Hiragino Sans"/>
              </a:rPr>
              <a:t>本部：研修・有資格者の紹介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3200400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AA2E26"/>
                </a:solidFill>
                <a:latin typeface="Hiragino Sans"/>
              </a:rPr>
              <a:t>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64607" y="3182112"/>
            <a:ext cx="2788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1A1A1A"/>
                </a:solidFill>
                <a:latin typeface="Hiragino Sans"/>
              </a:rPr>
              <a:t>保険請求（レセプト）は本部が代行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3657600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AA2E26"/>
                </a:solidFill>
                <a:latin typeface="Hiragino Sans"/>
              </a:rPr>
              <a:t>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64607" y="3639312"/>
            <a:ext cx="2788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1A1A1A"/>
                </a:solidFill>
                <a:latin typeface="Hiragino Sans"/>
              </a:rPr>
              <a:t>集客・ケアマネ連携・事務はKHDが担当。</a:t>
            </a:r>
          </a:p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1A1A1A"/>
                </a:solidFill>
                <a:latin typeface="Hiragino Sans"/>
              </a:rPr>
              <a:t>利用者の導線は医療ネットワークで作る。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65008" y="1965960"/>
            <a:ext cx="3566160" cy="3246120"/>
          </a:xfrm>
          <a:prstGeom prst="rect">
            <a:avLst/>
          </a:prstGeom>
          <a:solidFill>
            <a:srgbClr val="FFFFFF"/>
          </a:solidFill>
          <a:ln w="1524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65008" y="1965960"/>
            <a:ext cx="3566160" cy="566928"/>
          </a:xfrm>
          <a:prstGeom prst="rect">
            <a:avLst/>
          </a:prstGeom>
          <a:solidFill>
            <a:srgbClr val="F1E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65008" y="1965960"/>
            <a:ext cx="128016" cy="566928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39328" y="2020824"/>
            <a:ext cx="3200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i="0">
                <a:solidFill>
                  <a:srgbClr val="8C241D"/>
                </a:solidFill>
                <a:latin typeface="Hiragino Sans"/>
              </a:rPr>
              <a:t>これからの道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2743200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AA2E26"/>
                </a:solidFill>
                <a:latin typeface="Hiragino Sans"/>
              </a:rPr>
              <a:t>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13648" y="2724912"/>
            <a:ext cx="2788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1A1A1A"/>
                </a:solidFill>
                <a:latin typeface="Hiragino Sans"/>
              </a:rPr>
              <a:t>施術者 → 現場のまとめ役 → 拠点長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3200400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AA2E26"/>
                </a:solidFill>
                <a:latin typeface="Hiragino Sans"/>
              </a:rPr>
              <a:t>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13648" y="3182112"/>
            <a:ext cx="2788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1A1A1A"/>
                </a:solidFill>
                <a:latin typeface="Hiragino Sans"/>
              </a:rPr>
              <a:t>伸びたら若手をまとめる立場を。</a:t>
            </a:r>
          </a:p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1A1A1A"/>
                </a:solidFill>
                <a:latin typeface="Hiragino Sans"/>
              </a:rPr>
              <a:t>その分、報酬も上げていく。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4041648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AA2E26"/>
                </a:solidFill>
                <a:latin typeface="Hiragino Sans"/>
              </a:rPr>
              <a:t>●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13648" y="4023360"/>
            <a:ext cx="2788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1A1A1A"/>
                </a:solidFill>
                <a:latin typeface="Hiragino Sans"/>
              </a:rPr>
              <a:t>立ち上げの貢献は、処遇で返します。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5440680"/>
            <a:ext cx="11064240" cy="640080"/>
          </a:xfrm>
          <a:prstGeom prst="rect">
            <a:avLst/>
          </a:prstGeom>
          <a:solidFill>
            <a:srgbClr val="F4E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66928" y="5440680"/>
            <a:ext cx="110642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8C241D"/>
                </a:solidFill>
                <a:latin typeface="Hiragino Sans"/>
              </a:rPr>
              <a:t>無理に数を追わない。長く続けられるペースと報酬を、一緒に決めます。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Hiragino Sans"/>
              </a:rPr>
              <a:t>KHD ｜ 船橋・訪問マッサージ事業 立ち上げ構想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274552" y="6473952"/>
            <a:ext cx="457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E6E6E"/>
                </a:solidFill>
                <a:latin typeface="Hiragino San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_te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0"/>
            <a:ext cx="5788152" cy="3302443"/>
          </a:xfrm>
          <a:prstGeom prst="rect">
            <a:avLst/>
          </a:prstGeom>
          <a:ln w="50800">
            <a:solidFill>
              <a:srgbClr val="FFFFFF"/>
            </a:solidFill>
          </a:ln>
          <a:effectLst/>
        </p:spPr>
      </p:pic>
      <p:sp>
        <p:nvSpPr>
          <p:cNvPr id="3" name="Rectangle 2"/>
          <p:cNvSpPr/>
          <p:nvPr/>
        </p:nvSpPr>
        <p:spPr>
          <a:xfrm>
            <a:off x="0" y="0"/>
            <a:ext cx="6446520" cy="6858000"/>
          </a:xfrm>
          <a:prstGeom prst="rect">
            <a:avLst/>
          </a:prstGeom>
          <a:solidFill>
            <a:srgbClr val="F9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AA2E26"/>
                </a:solidFill>
                <a:latin typeface="Hiragino Sans"/>
              </a:rPr>
              <a:t>FROM HERE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37160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965960"/>
            <a:ext cx="576072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 i="0">
                <a:solidFill>
                  <a:srgbClr val="1A1A1A"/>
                </a:solidFill>
                <a:latin typeface="Hiragino Sans"/>
              </a:rPr>
              <a:t>まずは、お互いを</a:t>
            </a:r>
          </a:p>
          <a:p>
            <a:pPr algn="l">
              <a:lnSpc>
                <a:spcPct val="110000"/>
              </a:lnSpc>
            </a:pPr>
            <a:r>
              <a:rPr sz="3400" b="1" i="0">
                <a:solidFill>
                  <a:srgbClr val="1A1A1A"/>
                </a:solidFill>
                <a:latin typeface="Hiragino Sans"/>
              </a:rPr>
              <a:t>知るところから。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794760"/>
            <a:ext cx="55778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1A1A1A"/>
                </a:solidFill>
                <a:latin typeface="Hiragino Sans"/>
              </a:rPr>
              <a:t>今日は口説く場ではありません。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1A1A1A"/>
                </a:solidFill>
                <a:latin typeface="Hiragino Sans"/>
              </a:rPr>
              <a:t>お互いに見極める場だと思っています。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1A1A1A"/>
                </a:solidFill>
                <a:latin typeface="Hiragino Sans"/>
              </a:rPr>
              <a:t>気になる点は、何でも遠慮なく聞いてください。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5440680"/>
            <a:ext cx="5394960" cy="73152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596128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Hiragino Sans"/>
              </a:rPr>
              <a:t>KHD 代表  菊池 研太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Hiragino Sans"/>
              </a:rPr>
              <a:t>KHD ｜ 船橋・訪問マッサージ事業 立ち上げ構想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74552" y="6473952"/>
            <a:ext cx="457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E6E6E"/>
                </a:solidFill>
                <a:latin typeface="Hiragino Sans"/>
              </a:rP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
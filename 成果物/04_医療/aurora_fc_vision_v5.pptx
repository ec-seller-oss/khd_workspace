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6E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_mass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7960" y="0"/>
            <a:ext cx="5650992" cy="3796760"/>
          </a:xfrm>
          <a:prstGeom prst="rect">
            <a:avLst/>
          </a:prstGeom>
          <a:ln w="50800">
            <a:solidFill>
              <a:srgbClr val="FFFFFF"/>
            </a:solidFill>
          </a:ln>
          <a:effectLst/>
        </p:spPr>
      </p:pic>
      <p:sp>
        <p:nvSpPr>
          <p:cNvPr id="3" name="Rectangle 2"/>
          <p:cNvSpPr/>
          <p:nvPr/>
        </p:nvSpPr>
        <p:spPr>
          <a:xfrm>
            <a:off x="0" y="0"/>
            <a:ext cx="6583680" cy="6858000"/>
          </a:xfrm>
          <a:prstGeom prst="rect">
            <a:avLst/>
          </a:prstGeom>
          <a:solidFill>
            <a:srgbClr val="F9F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188720"/>
            <a:ext cx="5669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AA2E26"/>
                </a:solidFill>
                <a:latin typeface="Hiragino Sans"/>
              </a:rPr>
              <a:t>KHD ｜ 船橋・訪問マッサージ事業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627632"/>
            <a:ext cx="1371600" cy="3810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828800"/>
            <a:ext cx="58521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000" b="1" i="0">
                <a:solidFill>
                  <a:srgbClr val="1A1A1A"/>
                </a:solidFill>
                <a:latin typeface="Hiragino Sans"/>
              </a:rPr>
              <a:t>在宅に、医療の手を。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2971800"/>
            <a:ext cx="56692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1A1A1A"/>
                </a:solidFill>
                <a:latin typeface="Hiragino Sans"/>
              </a:rPr>
              <a:t>船橋エリアで、訪問マッサージの新しい拠点を</a:t>
            </a:r>
          </a:p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1A1A1A"/>
                </a:solidFill>
                <a:latin typeface="Hiragino Sans"/>
              </a:rPr>
              <a:t>立ち上げます。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713232" y="4983480"/>
            <a:ext cx="5394960" cy="1005840"/>
          </a:xfrm>
          <a:prstGeom prst="rect">
            <a:avLst/>
          </a:prstGeom>
          <a:solidFill>
            <a:srgbClr val="F1ECE1"/>
          </a:solidFill>
          <a:ln w="1270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138928"/>
            <a:ext cx="2743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AA2E26"/>
                </a:solidFill>
                <a:latin typeface="Hiragino Sans"/>
              </a:rPr>
              <a:t>面談用資料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44068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1A1A1A"/>
                </a:solidFill>
                <a:latin typeface="Hiragino Sans"/>
              </a:rPr>
              <a:t>KHD 代表  菊池 研太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6400800"/>
            <a:ext cx="11274552" cy="15240"/>
          </a:xfrm>
          <a:prstGeom prst="rect">
            <a:avLst/>
          </a:prstGeom>
          <a:solidFill>
            <a:srgbClr val="DAD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6473952"/>
            <a:ext cx="9144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6E6E6E"/>
                </a:solidFill>
                <a:latin typeface="Hiragino Sans"/>
              </a:rPr>
              <a:t>KHD ｜ 船橋・訪問マッサージ事業 立ち上げ構想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74552" y="6473952"/>
            <a:ext cx="4572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 i="0">
                <a:solidFill>
                  <a:srgbClr val="6E6E6E"/>
                </a:solidFill>
                <a:latin typeface="Hiragino Sans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AA2E26"/>
                </a:solidFill>
                <a:latin typeface="Hiragino Sans"/>
              </a:rPr>
              <a:t>WHAT WE BUILD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713232"/>
            <a:ext cx="1554480" cy="3810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10642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300" b="1" i="0">
                <a:solidFill>
                  <a:srgbClr val="1A1A1A"/>
                </a:solidFill>
                <a:latin typeface="Hiragino Sans"/>
              </a:rPr>
              <a:t>立ち上げる体制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316736"/>
            <a:ext cx="11064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 i="0">
                <a:solidFill>
                  <a:srgbClr val="6E6E6E"/>
                </a:solidFill>
                <a:latin typeface="Hiragino Sans"/>
              </a:rPr>
              <a:t>細かい説明は省きます。要は、実績ある仕組み × 承認済みエリア × 経営は私が回す、の3つです。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965960"/>
            <a:ext cx="6583680" cy="1051560"/>
          </a:xfrm>
          <a:prstGeom prst="rect">
            <a:avLst/>
          </a:prstGeom>
          <a:solidFill>
            <a:srgbClr val="F1ECE1"/>
          </a:solidFill>
          <a:ln w="1270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1965960"/>
            <a:ext cx="146304" cy="105156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075688"/>
            <a:ext cx="146304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1" i="0">
                <a:solidFill>
                  <a:srgbClr val="AA2E26"/>
                </a:solidFill>
                <a:latin typeface="Hiragino Sans"/>
              </a:rPr>
              <a:t>仕組み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31720" y="2057400"/>
            <a:ext cx="466344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 i="0">
                <a:solidFill>
                  <a:srgbClr val="1A1A1A"/>
                </a:solidFill>
                <a:latin typeface="Hiragino Sans"/>
              </a:rPr>
              <a:t>オーロラの訪問マッサージFCの仕組みを活用。</a:t>
            </a:r>
          </a:p>
          <a:p>
            <a:pPr algn="l">
              <a:lnSpc>
                <a:spcPct val="112000"/>
              </a:lnSpc>
            </a:pPr>
            <a:r>
              <a:rPr sz="1250" b="0" i="0">
                <a:solidFill>
                  <a:srgbClr val="1A1A1A"/>
                </a:solidFill>
                <a:latin typeface="Hiragino Sans"/>
              </a:rPr>
              <a:t>医療保険×在宅のオペレーションは確立済み。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3182112"/>
            <a:ext cx="6583680" cy="1051560"/>
          </a:xfrm>
          <a:prstGeom prst="rect">
            <a:avLst/>
          </a:prstGeom>
          <a:solidFill>
            <a:srgbClr val="F1ECE1"/>
          </a:solidFill>
          <a:ln w="1270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66928" y="3182112"/>
            <a:ext cx="146304" cy="105156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3291840"/>
            <a:ext cx="146304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1" i="0">
                <a:solidFill>
                  <a:srgbClr val="AA2E26"/>
                </a:solidFill>
                <a:latin typeface="Hiragino Sans"/>
              </a:rPr>
              <a:t>エリア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31720" y="3273552"/>
            <a:ext cx="466344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 i="0">
                <a:solidFill>
                  <a:srgbClr val="1A1A1A"/>
                </a:solidFill>
                <a:latin typeface="Hiragino Sans"/>
              </a:rPr>
              <a:t>船橋市はテリトリー承認済み。</a:t>
            </a:r>
          </a:p>
          <a:p>
            <a:pPr algn="l">
              <a:lnSpc>
                <a:spcPct val="112000"/>
              </a:lnSpc>
            </a:pPr>
            <a:r>
              <a:rPr sz="1250" b="0" i="0">
                <a:solidFill>
                  <a:srgbClr val="1A1A1A"/>
                </a:solidFill>
                <a:latin typeface="Hiragino Sans"/>
              </a:rPr>
              <a:t>後期高齢者8万人超／3駅圏の需要を狙える。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4398264"/>
            <a:ext cx="6583680" cy="1051560"/>
          </a:xfrm>
          <a:prstGeom prst="rect">
            <a:avLst/>
          </a:prstGeom>
          <a:solidFill>
            <a:srgbClr val="F1ECE1"/>
          </a:solidFill>
          <a:ln w="1270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66928" y="4398264"/>
            <a:ext cx="146304" cy="105156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4507992"/>
            <a:ext cx="146304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1" i="0">
                <a:solidFill>
                  <a:srgbClr val="AA2E26"/>
                </a:solidFill>
                <a:latin typeface="Hiragino Sans"/>
              </a:rPr>
              <a:t>経営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31720" y="4489704"/>
            <a:ext cx="466344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 i="0">
                <a:solidFill>
                  <a:srgbClr val="1A1A1A"/>
                </a:solidFill>
                <a:latin typeface="Hiragino Sans"/>
              </a:rPr>
              <a:t>集客・ケアマネ連携・資金・事務はKHDが担う。</a:t>
            </a:r>
          </a:p>
          <a:p>
            <a:pPr algn="l">
              <a:lnSpc>
                <a:spcPct val="112000"/>
              </a:lnSpc>
            </a:pPr>
            <a:r>
              <a:rPr sz="1250" b="0" i="0">
                <a:solidFill>
                  <a:srgbClr val="1A1A1A"/>
                </a:solidFill>
                <a:latin typeface="Hiragino Sans"/>
              </a:rPr>
              <a:t>現場が施術に集中できる土台をつくる。</a:t>
            </a:r>
          </a:p>
        </p:txBody>
      </p:sp>
      <p:pic>
        <p:nvPicPr>
          <p:cNvPr id="18" name="Picture 17" descr="p_offic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43800" y="2103120"/>
            <a:ext cx="4023360" cy="3313355"/>
          </a:xfrm>
          <a:prstGeom prst="rect">
            <a:avLst/>
          </a:prstGeom>
          <a:ln w="50800">
            <a:solidFill>
              <a:srgbClr val="FFFFFF"/>
            </a:solidFill>
          </a:ln>
          <a:effectLst/>
        </p:spPr>
      </p:pic>
      <p:sp>
        <p:nvSpPr>
          <p:cNvPr id="19" name="TextBox 18"/>
          <p:cNvSpPr txBox="1"/>
          <p:nvPr/>
        </p:nvSpPr>
        <p:spPr>
          <a:xfrm>
            <a:off x="7543800" y="5489627"/>
            <a:ext cx="40233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0" i="0">
                <a:solidFill>
                  <a:srgbClr val="6E6E6E"/>
                </a:solidFill>
                <a:latin typeface="Hiragino Sans"/>
              </a:rPr>
              <a:t>船橋に構える事業拠点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6400800"/>
            <a:ext cx="11274552" cy="15240"/>
          </a:xfrm>
          <a:prstGeom prst="rect">
            <a:avLst/>
          </a:prstGeom>
          <a:solidFill>
            <a:srgbClr val="DAD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6473952"/>
            <a:ext cx="9144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6E6E6E"/>
                </a:solidFill>
                <a:latin typeface="Hiragino Sans"/>
              </a:rPr>
              <a:t>KHD ｜ 船橋・訪問マッサージ事業 立ち上げ構想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274552" y="6473952"/>
            <a:ext cx="4572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 i="0">
                <a:solidFill>
                  <a:srgbClr val="6E6E6E"/>
                </a:solidFill>
                <a:latin typeface="Hiragino Sans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AA2E26"/>
                </a:solidFill>
                <a:latin typeface="Hiragino Sans"/>
              </a:rPr>
              <a:t>HOW WE TEAM UP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713232"/>
            <a:ext cx="1554480" cy="3810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10642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300" b="1" i="0">
                <a:solidFill>
                  <a:srgbClr val="1A1A1A"/>
                </a:solidFill>
                <a:latin typeface="Hiragino Sans"/>
              </a:rPr>
              <a:t>お任せしたいこと、私が引き受けること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316736"/>
            <a:ext cx="11064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 i="0">
                <a:solidFill>
                  <a:srgbClr val="6E6E6E"/>
                </a:solidFill>
                <a:latin typeface="Hiragino Sans"/>
              </a:rPr>
              <a:t>現場の質はプロに敵いません。だから役割を分けて、お互いの強みで長く続く拠点をつくりたい。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2011680"/>
            <a:ext cx="5349240" cy="3200400"/>
          </a:xfrm>
          <a:prstGeom prst="rect">
            <a:avLst/>
          </a:prstGeom>
          <a:solidFill>
            <a:srgbClr val="FFFFFF"/>
          </a:solidFill>
          <a:ln w="1524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2011680"/>
            <a:ext cx="5349240" cy="64008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121408"/>
            <a:ext cx="50292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Hiragino Sans"/>
              </a:rPr>
              <a:t>現場 ──  あなたにお任せしたい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880360"/>
            <a:ext cx="365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AA2E26"/>
                </a:solidFill>
                <a:latin typeface="Hiragino Sans"/>
              </a:rPr>
              <a:t>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2852928"/>
            <a:ext cx="44805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1A1A1A"/>
                </a:solidFill>
                <a:latin typeface="Hiragino Sans"/>
              </a:rPr>
              <a:t>施術の質・臨床判断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3538728"/>
            <a:ext cx="365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AA2E26"/>
                </a:solidFill>
                <a:latin typeface="Hiragino Sans"/>
              </a:rPr>
              <a:t>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3511296"/>
            <a:ext cx="44805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1A1A1A"/>
                </a:solidFill>
                <a:latin typeface="Hiragino Sans"/>
              </a:rPr>
              <a:t>患者さんとの信頼関係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4197096"/>
            <a:ext cx="365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AA2E26"/>
                </a:solidFill>
                <a:latin typeface="Hiragino Sans"/>
              </a:rPr>
              <a:t>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" y="4169663"/>
            <a:ext cx="44805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1A1A1A"/>
                </a:solidFill>
                <a:latin typeface="Hiragino Sans"/>
              </a:rPr>
              <a:t>現場のオペレーション最適化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800600"/>
            <a:ext cx="4937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 i="1">
                <a:solidFill>
                  <a:srgbClr val="6E6E6E"/>
                </a:solidFill>
                <a:latin typeface="Hiragino Sans"/>
              </a:rPr>
              <a:t>プロの領域は、信頼してお任せします。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63640" y="2011680"/>
            <a:ext cx="5349240" cy="3200400"/>
          </a:xfrm>
          <a:prstGeom prst="rect">
            <a:avLst/>
          </a:prstGeom>
          <a:solidFill>
            <a:srgbClr val="F1ECE1"/>
          </a:solidFill>
          <a:ln w="1524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63640" y="2011680"/>
            <a:ext cx="5349240" cy="64008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73952" y="2121408"/>
            <a:ext cx="50292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Hiragino Sans"/>
              </a:rPr>
              <a:t>経営 ──  私が引き受ける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65392" y="2880360"/>
            <a:ext cx="365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Hiragino Sans"/>
              </a:rPr>
              <a:t>●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31152" y="2852928"/>
            <a:ext cx="44805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1A1A1A"/>
                </a:solidFill>
                <a:latin typeface="Hiragino Sans"/>
              </a:rPr>
              <a:t>集客導線・ケアマネ連携の仕組み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65392" y="3538728"/>
            <a:ext cx="365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Hiragino Sans"/>
              </a:rPr>
              <a:t>●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31152" y="3511296"/>
            <a:ext cx="44805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1A1A1A"/>
                </a:solidFill>
                <a:latin typeface="Hiragino Sans"/>
              </a:rPr>
              <a:t>資金・制度・許認可まわり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65392" y="4197096"/>
            <a:ext cx="365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Hiragino Sans"/>
              </a:rPr>
              <a:t>●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31152" y="4169663"/>
            <a:ext cx="44805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1A1A1A"/>
                </a:solidFill>
                <a:latin typeface="Hiragino Sans"/>
              </a:rPr>
              <a:t>事務・バックオフィス全般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73952" y="4800600"/>
            <a:ext cx="5029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 i="1">
                <a:solidFill>
                  <a:srgbClr val="6E6E6E"/>
                </a:solidFill>
                <a:latin typeface="Hiragino Sans"/>
              </a:rPr>
              <a:t>テリトリー・資金・仕組みは、私の責任で用意します。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66928" y="5440680"/>
            <a:ext cx="11064240" cy="640080"/>
          </a:xfrm>
          <a:prstGeom prst="rect">
            <a:avLst/>
          </a:prstGeom>
          <a:solidFill>
            <a:srgbClr val="F4E4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66928" y="5440680"/>
            <a:ext cx="1106424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 i="0">
                <a:solidFill>
                  <a:srgbClr val="8C241D"/>
                </a:solidFill>
                <a:latin typeface="Hiragino Sans"/>
              </a:rPr>
              <a:t>現場のプロ  ×  経営の仕組み  ──  どちらが欠けても続かない。だから組みたい。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" y="6400800"/>
            <a:ext cx="11274552" cy="15240"/>
          </a:xfrm>
          <a:prstGeom prst="rect">
            <a:avLst/>
          </a:prstGeom>
          <a:solidFill>
            <a:srgbClr val="DAD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7200" y="6473952"/>
            <a:ext cx="9144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6E6E6E"/>
                </a:solidFill>
                <a:latin typeface="Hiragino Sans"/>
              </a:rPr>
              <a:t>KHD ｜ 船橋・訪問マッサージ事業 立ち上げ構想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274552" y="6473952"/>
            <a:ext cx="4572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 i="0">
                <a:solidFill>
                  <a:srgbClr val="6E6E6E"/>
                </a:solidFill>
                <a:latin typeface="Hiragino Sans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AA2E26"/>
                </a:solidFill>
                <a:latin typeface="Hiragino Sans"/>
              </a:rPr>
              <a:t>HOW WE WORK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713232"/>
            <a:ext cx="1554480" cy="3810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10642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300" b="1" i="0">
                <a:solidFill>
                  <a:srgbClr val="1A1A1A"/>
                </a:solidFill>
                <a:latin typeface="Hiragino Sans"/>
              </a:rPr>
              <a:t>働き方と、大切にしたい考え方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316736"/>
            <a:ext cx="11064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 i="0">
                <a:solidFill>
                  <a:srgbClr val="6E6E6E"/>
                </a:solidFill>
                <a:latin typeface="Hiragino Sans"/>
              </a:rPr>
              <a:t>条件の細部は対話で決めたい。でも“考え方”だけは最初に揃えておきたいです。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2011680"/>
            <a:ext cx="6400800" cy="3566160"/>
          </a:xfrm>
          <a:prstGeom prst="rect">
            <a:avLst/>
          </a:prstGeom>
          <a:solidFill>
            <a:srgbClr val="F1ECE1"/>
          </a:solidFill>
          <a:ln w="1270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2194560"/>
            <a:ext cx="5943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AA2E26"/>
                </a:solidFill>
                <a:latin typeface="Hiragino Sans"/>
              </a:rPr>
              <a:t>事業の芯にしたい考え方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" y="2606040"/>
            <a:ext cx="59436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 i="0">
                <a:solidFill>
                  <a:srgbClr val="1A1A1A"/>
                </a:solidFill>
                <a:latin typeface="Hiragino Sans"/>
              </a:rPr>
              <a:t>売り込まない。相手目線でGIVEし、</a:t>
            </a:r>
          </a:p>
          <a:p>
            <a:pPr algn="l">
              <a:lnSpc>
                <a:spcPct val="115000"/>
              </a:lnSpc>
            </a:pPr>
            <a:r>
              <a:rPr sz="1900" b="1" i="0">
                <a:solidFill>
                  <a:srgbClr val="1A1A1A"/>
                </a:solidFill>
                <a:latin typeface="Hiragino Sans"/>
              </a:rPr>
              <a:t>信頼の対価としていただく。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977639"/>
            <a:ext cx="365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AA2E26"/>
                </a:solidFill>
                <a:latin typeface="Hiragino Sans"/>
              </a:rPr>
              <a:t>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3959352"/>
            <a:ext cx="5486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  <a:latin typeface="Hiragino Sans"/>
              </a:rPr>
              <a:t>患者さん・ケアマネさんに、まず誠実であること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4489704"/>
            <a:ext cx="365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AA2E26"/>
                </a:solidFill>
                <a:latin typeface="Hiragino Sans"/>
              </a:rPr>
              <a:t>—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4471416"/>
            <a:ext cx="5486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  <a:latin typeface="Hiragino Sans"/>
              </a:rPr>
              <a:t>数を追うより、地域で長く信頼される拠点にすること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5001768"/>
            <a:ext cx="365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AA2E26"/>
                </a:solidFill>
                <a:latin typeface="Hiragino Sans"/>
              </a:rPr>
              <a:t>—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" y="4983480"/>
            <a:ext cx="5486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  <a:latin typeface="Hiragino Sans"/>
              </a:rPr>
              <a:t>働く人が、正当に報われる仕組みにすること</a:t>
            </a:r>
          </a:p>
        </p:txBody>
      </p:sp>
      <p:pic>
        <p:nvPicPr>
          <p:cNvPr id="15" name="Picture 14" descr="p_bik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2011680"/>
            <a:ext cx="4297680" cy="2313232"/>
          </a:xfrm>
          <a:prstGeom prst="rect">
            <a:avLst/>
          </a:prstGeom>
          <a:ln w="50800">
            <a:solidFill>
              <a:srgbClr val="FFFFFF"/>
            </a:solidFill>
          </a:ln>
          <a:effectLst/>
        </p:spPr>
      </p:pic>
      <p:sp>
        <p:nvSpPr>
          <p:cNvPr id="16" name="TextBox 15"/>
          <p:cNvSpPr txBox="1"/>
          <p:nvPr/>
        </p:nvSpPr>
        <p:spPr>
          <a:xfrm>
            <a:off x="7315200" y="4434840"/>
            <a:ext cx="4297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AA2E26"/>
                </a:solidFill>
                <a:latin typeface="Hiragino Sans"/>
              </a:rPr>
              <a:t>処遇は、対話で決めます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0" y="4800600"/>
            <a:ext cx="429768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1A1A1A"/>
                </a:solidFill>
                <a:latin typeface="Hiragino Sans"/>
              </a:rPr>
              <a:t>経験・役割に正当に報いる前提で、</a:t>
            </a:r>
          </a:p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1A1A1A"/>
                </a:solidFill>
                <a:latin typeface="Hiragino Sans"/>
              </a:rPr>
              <a:t>お互い納得できる形を一緒に決めたい。</a:t>
            </a:r>
          </a:p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1A1A1A"/>
                </a:solidFill>
                <a:latin typeface="Hiragino Sans"/>
              </a:rPr>
              <a:t>固定の枠に当てはめるつもりはありません。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6400800"/>
            <a:ext cx="11274552" cy="15240"/>
          </a:xfrm>
          <a:prstGeom prst="rect">
            <a:avLst/>
          </a:prstGeom>
          <a:solidFill>
            <a:srgbClr val="DAD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6473952"/>
            <a:ext cx="9144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6E6E6E"/>
                </a:solidFill>
                <a:latin typeface="Hiragino Sans"/>
              </a:rPr>
              <a:t>KHD ｜ 船橋・訪問マッサージ事業 立ち上げ構想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274552" y="6473952"/>
            <a:ext cx="4572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 i="0">
                <a:solidFill>
                  <a:srgbClr val="6E6E6E"/>
                </a:solidFill>
                <a:latin typeface="Hiragino Sans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AA2E26"/>
                </a:solidFill>
                <a:latin typeface="Hiragino Sans"/>
              </a:rPr>
              <a:t>A DAY WITH US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713232"/>
            <a:ext cx="1554480" cy="3810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10642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300" b="1" i="0">
                <a:solidFill>
                  <a:srgbClr val="1A1A1A"/>
                </a:solidFill>
                <a:latin typeface="Hiragino Sans"/>
              </a:rPr>
              <a:t>船橋で働く、1日のイメージ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316736"/>
            <a:ext cx="11064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 i="0">
                <a:solidFill>
                  <a:srgbClr val="6E6E6E"/>
                </a:solidFill>
                <a:latin typeface="Hiragino Sans"/>
              </a:rPr>
              <a:t>数字はこれから一緒に詰めます。今わかっている範囲で、正直にお伝えします。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965960"/>
            <a:ext cx="3566160" cy="3246120"/>
          </a:xfrm>
          <a:prstGeom prst="rect">
            <a:avLst/>
          </a:prstGeom>
          <a:solidFill>
            <a:srgbClr val="FFFFFF"/>
          </a:solidFill>
          <a:ln w="1524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1965960"/>
            <a:ext cx="3566160" cy="566928"/>
          </a:xfrm>
          <a:prstGeom prst="rect">
            <a:avLst/>
          </a:prstGeom>
          <a:solidFill>
            <a:srgbClr val="F1EC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6928" y="1965960"/>
            <a:ext cx="128016" cy="566928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7" y="2020824"/>
            <a:ext cx="32004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 i="0">
                <a:solidFill>
                  <a:srgbClr val="8C241D"/>
                </a:solidFill>
                <a:latin typeface="Hiragino Sans"/>
              </a:rPr>
              <a:t>1日の流れ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743200"/>
            <a:ext cx="274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AA2E26"/>
                </a:solidFill>
                <a:latin typeface="Hiragino Sans"/>
              </a:rPr>
              <a:t>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" y="2724912"/>
            <a:ext cx="278892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 i="0">
                <a:solidFill>
                  <a:srgbClr val="1A1A1A"/>
                </a:solidFill>
                <a:latin typeface="Hiragino Sans"/>
              </a:rPr>
              <a:t>在宅・施設へ訪問（1件20〜30分の施術）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200400"/>
            <a:ext cx="274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AA2E26"/>
                </a:solidFill>
                <a:latin typeface="Hiragino Sans"/>
              </a:rPr>
              <a:t>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5568" y="3182112"/>
            <a:ext cx="278892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 i="0">
                <a:solidFill>
                  <a:srgbClr val="1A1A1A"/>
                </a:solidFill>
                <a:latin typeface="Hiragino Sans"/>
              </a:rPr>
              <a:t>移動は電動自転車／バイク中心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3657600"/>
            <a:ext cx="274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AA2E26"/>
                </a:solidFill>
                <a:latin typeface="Hiragino Sans"/>
              </a:rPr>
              <a:t>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5568" y="3639312"/>
            <a:ext cx="278892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 i="0">
                <a:solidFill>
                  <a:srgbClr val="1A1A1A"/>
                </a:solidFill>
                <a:latin typeface="Hiragino Sans"/>
              </a:rPr>
              <a:t>無理なく回れる件数で設計。</a:t>
            </a:r>
          </a:p>
          <a:p>
            <a:pPr algn="l">
              <a:lnSpc>
                <a:spcPct val="112000"/>
              </a:lnSpc>
            </a:pPr>
            <a:r>
              <a:rPr sz="1150" b="0" i="0">
                <a:solidFill>
                  <a:srgbClr val="1A1A1A"/>
                </a:solidFill>
                <a:latin typeface="Hiragino Sans"/>
              </a:rPr>
              <a:t>詰め込んで数は追いません。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15968" y="1965960"/>
            <a:ext cx="3566160" cy="3246120"/>
          </a:xfrm>
          <a:prstGeom prst="rect">
            <a:avLst/>
          </a:prstGeom>
          <a:solidFill>
            <a:srgbClr val="FFFFFF"/>
          </a:solidFill>
          <a:ln w="1524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15968" y="1965960"/>
            <a:ext cx="3566160" cy="566928"/>
          </a:xfrm>
          <a:prstGeom prst="rect">
            <a:avLst/>
          </a:prstGeom>
          <a:solidFill>
            <a:srgbClr val="F1EC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315968" y="1965960"/>
            <a:ext cx="128016" cy="566928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90288" y="2020824"/>
            <a:ext cx="32004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 i="0">
                <a:solidFill>
                  <a:srgbClr val="8C241D"/>
                </a:solidFill>
                <a:latin typeface="Hiragino Sans"/>
              </a:rPr>
              <a:t>立ち上がりの支え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2743200"/>
            <a:ext cx="274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AA2E26"/>
                </a:solidFill>
                <a:latin typeface="Hiragino Sans"/>
              </a:rPr>
              <a:t>●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64607" y="2724912"/>
            <a:ext cx="278892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 i="0">
                <a:solidFill>
                  <a:srgbClr val="1A1A1A"/>
                </a:solidFill>
                <a:latin typeface="Hiragino Sans"/>
              </a:rPr>
              <a:t>本部：研修・有資格者の紹介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0" y="3200400"/>
            <a:ext cx="274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AA2E26"/>
                </a:solidFill>
                <a:latin typeface="Hiragino Sans"/>
              </a:rPr>
              <a:t>●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864607" y="3182112"/>
            <a:ext cx="278892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 i="0">
                <a:solidFill>
                  <a:srgbClr val="1A1A1A"/>
                </a:solidFill>
                <a:latin typeface="Hiragino Sans"/>
              </a:rPr>
              <a:t>保険請求（レセプト）は本部が代行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0" y="3657600"/>
            <a:ext cx="274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AA2E26"/>
                </a:solidFill>
                <a:latin typeface="Hiragino Sans"/>
              </a:rPr>
              <a:t>●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864607" y="3639312"/>
            <a:ext cx="278892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 i="0">
                <a:solidFill>
                  <a:srgbClr val="1A1A1A"/>
                </a:solidFill>
                <a:latin typeface="Hiragino Sans"/>
              </a:rPr>
              <a:t>集客・ケアマネ連携・事務はKHDが担当。</a:t>
            </a:r>
          </a:p>
          <a:p>
            <a:pPr algn="l">
              <a:lnSpc>
                <a:spcPct val="112000"/>
              </a:lnSpc>
            </a:pPr>
            <a:r>
              <a:rPr sz="1150" b="0" i="0">
                <a:solidFill>
                  <a:srgbClr val="1A1A1A"/>
                </a:solidFill>
                <a:latin typeface="Hiragino Sans"/>
              </a:rPr>
              <a:t>利用者の導線は医療ネットワークで作る。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065008" y="1965960"/>
            <a:ext cx="3566160" cy="3246120"/>
          </a:xfrm>
          <a:prstGeom prst="rect">
            <a:avLst/>
          </a:prstGeom>
          <a:solidFill>
            <a:srgbClr val="FFFFFF"/>
          </a:solidFill>
          <a:ln w="1524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065008" y="1965960"/>
            <a:ext cx="3566160" cy="566928"/>
          </a:xfrm>
          <a:prstGeom prst="rect">
            <a:avLst/>
          </a:prstGeom>
          <a:solidFill>
            <a:srgbClr val="F1EC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065008" y="1965960"/>
            <a:ext cx="128016" cy="566928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339328" y="2020824"/>
            <a:ext cx="32004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 i="0">
                <a:solidFill>
                  <a:srgbClr val="8C241D"/>
                </a:solidFill>
                <a:latin typeface="Hiragino Sans"/>
              </a:rPr>
              <a:t>これからの道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21040" y="2743200"/>
            <a:ext cx="274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AA2E26"/>
                </a:solidFill>
                <a:latin typeface="Hiragino Sans"/>
              </a:rPr>
              <a:t>●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613648" y="2724912"/>
            <a:ext cx="278892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 i="0">
                <a:solidFill>
                  <a:srgbClr val="1A1A1A"/>
                </a:solidFill>
                <a:latin typeface="Hiragino Sans"/>
              </a:rPr>
              <a:t>施術者 → 現場のまとめ役 → 拠点長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21040" y="3200400"/>
            <a:ext cx="274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AA2E26"/>
                </a:solidFill>
                <a:latin typeface="Hiragino Sans"/>
              </a:rPr>
              <a:t>●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613648" y="3182112"/>
            <a:ext cx="278892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 i="0">
                <a:solidFill>
                  <a:srgbClr val="1A1A1A"/>
                </a:solidFill>
                <a:latin typeface="Hiragino Sans"/>
              </a:rPr>
              <a:t>伸びたら若手をまとめる立場を。</a:t>
            </a:r>
          </a:p>
          <a:p>
            <a:pPr algn="l">
              <a:lnSpc>
                <a:spcPct val="112000"/>
              </a:lnSpc>
            </a:pPr>
            <a:r>
              <a:rPr sz="1150" b="0" i="0">
                <a:solidFill>
                  <a:srgbClr val="1A1A1A"/>
                </a:solidFill>
                <a:latin typeface="Hiragino Sans"/>
              </a:rPr>
              <a:t>その分、報酬も上げていく。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21040" y="4041648"/>
            <a:ext cx="274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AA2E26"/>
                </a:solidFill>
                <a:latin typeface="Hiragino Sans"/>
              </a:rPr>
              <a:t>●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613648" y="4023360"/>
            <a:ext cx="278892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 i="0">
                <a:solidFill>
                  <a:srgbClr val="1A1A1A"/>
                </a:solidFill>
                <a:latin typeface="Hiragino Sans"/>
              </a:rPr>
              <a:t>立ち上げの貢献は、処遇で返します。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66928" y="5440680"/>
            <a:ext cx="11064240" cy="640080"/>
          </a:xfrm>
          <a:prstGeom prst="rect">
            <a:avLst/>
          </a:prstGeom>
          <a:solidFill>
            <a:srgbClr val="F4E4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66928" y="5440680"/>
            <a:ext cx="1106424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 i="0">
                <a:solidFill>
                  <a:srgbClr val="8C241D"/>
                </a:solidFill>
                <a:latin typeface="Hiragino Sans"/>
              </a:rPr>
              <a:t>無理に数を追わない。長く続けられるペースと報酬を、一緒に決めます。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57200" y="6400800"/>
            <a:ext cx="11274552" cy="15240"/>
          </a:xfrm>
          <a:prstGeom prst="rect">
            <a:avLst/>
          </a:prstGeom>
          <a:solidFill>
            <a:srgbClr val="DAD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57200" y="6473952"/>
            <a:ext cx="9144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6E6E6E"/>
                </a:solidFill>
                <a:latin typeface="Hiragino Sans"/>
              </a:rPr>
              <a:t>KHD ｜ 船橋・訪問マッサージ事業 立ち上げ構想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274552" y="6473952"/>
            <a:ext cx="4572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 i="0">
                <a:solidFill>
                  <a:srgbClr val="6E6E6E"/>
                </a:solidFill>
                <a:latin typeface="Hiragino Sans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AA2E26"/>
                </a:solidFill>
                <a:latin typeface="Hiragino Sans"/>
              </a:rPr>
              <a:t>HOW YOU EARN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713232"/>
            <a:ext cx="1554480" cy="3810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10642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300" b="1" i="0">
                <a:solidFill>
                  <a:srgbClr val="1A1A1A"/>
                </a:solidFill>
                <a:latin typeface="Hiragino Sans"/>
              </a:rPr>
              <a:t>報酬の考え方（数字も正直に）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316736"/>
            <a:ext cx="11064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 i="0">
                <a:solidFill>
                  <a:srgbClr val="6E6E6E"/>
                </a:solidFill>
                <a:latin typeface="Hiragino Sans"/>
              </a:rPr>
              <a:t>本部の標準モデルと、板橋店の実例をベースにお話しします。最終的な条件は対話で。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874519"/>
            <a:ext cx="5349240" cy="3383280"/>
          </a:xfrm>
          <a:prstGeom prst="rect">
            <a:avLst/>
          </a:prstGeom>
          <a:solidFill>
            <a:srgbClr val="FFFFFF"/>
          </a:solidFill>
          <a:ln w="1524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1874519"/>
            <a:ext cx="5349240" cy="566928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56816"/>
            <a:ext cx="50292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Hiragino Sans"/>
              </a:rPr>
              <a:t>働き方は選べる（ご希望を優先）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606040"/>
            <a:ext cx="274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AA2E26"/>
                </a:solidFill>
                <a:latin typeface="Hiragino Sans"/>
              </a:rPr>
              <a:t>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578608"/>
            <a:ext cx="46634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1A1A1A"/>
                </a:solidFill>
                <a:latin typeface="Hiragino Sans"/>
              </a:rPr>
              <a:t>① 業務委託（歩合）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2880360"/>
            <a:ext cx="46634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6E6E6E"/>
                </a:solidFill>
                <a:latin typeface="Hiragino Sans"/>
              </a:rPr>
              <a:t>件数に応じて 月20〜50万円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364992"/>
            <a:ext cx="274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AA2E26"/>
                </a:solidFill>
                <a:latin typeface="Hiragino Sans"/>
              </a:rPr>
              <a:t>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3337560"/>
            <a:ext cx="46634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1A1A1A"/>
                </a:solidFill>
                <a:latin typeface="Hiragino Sans"/>
              </a:rPr>
              <a:t>② パート（あマ指）＝安定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3639312"/>
            <a:ext cx="46634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6E6E6E"/>
                </a:solidFill>
                <a:latin typeface="Hiragino Sans"/>
              </a:rPr>
              <a:t>板橋店でも「パートが回しやすい」と好評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4123944"/>
            <a:ext cx="274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AA2E26"/>
                </a:solidFill>
                <a:latin typeface="Hiragino Sans"/>
              </a:rPr>
              <a:t>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4096511"/>
            <a:ext cx="46634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1A1A1A"/>
                </a:solidFill>
                <a:latin typeface="Hiragino Sans"/>
              </a:rPr>
              <a:t>③ 固定＋歩合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4398264"/>
            <a:ext cx="46634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6E6E6E"/>
                </a:solidFill>
                <a:latin typeface="Hiragino Sans"/>
              </a:rPr>
              <a:t>生活の土台＋頑張りを上乗せ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4937760"/>
            <a:ext cx="5029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1">
                <a:solidFill>
                  <a:srgbClr val="8C241D"/>
                </a:solidFill>
                <a:latin typeface="Hiragino Sans"/>
              </a:rPr>
              <a:t>※立ち上げ初期は無理に歩合一本にしない（板橋オーナー談）。安定する形から。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63640" y="1874519"/>
            <a:ext cx="5349240" cy="3383280"/>
          </a:xfrm>
          <a:prstGeom prst="rect">
            <a:avLst/>
          </a:prstGeom>
          <a:solidFill>
            <a:srgbClr val="F1ECE1"/>
          </a:solidFill>
          <a:ln w="1524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63640" y="1874519"/>
            <a:ext cx="5349240" cy="566928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73952" y="1956816"/>
            <a:ext cx="50292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Hiragino Sans"/>
              </a:rPr>
              <a:t>数字のベース（正直に）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10528" y="2651760"/>
            <a:ext cx="274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AA2E26"/>
                </a:solidFill>
                <a:latin typeface="Hiragino Sans"/>
              </a:rPr>
              <a:t>●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03136" y="2624328"/>
            <a:ext cx="47091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 i="0">
                <a:solidFill>
                  <a:srgbClr val="1A1A1A"/>
                </a:solidFill>
                <a:latin typeface="Hiragino Sans"/>
              </a:rPr>
              <a:t>施術単価：1件20分で 4,000〜4,500円（医療保険）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10528" y="3200400"/>
            <a:ext cx="274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AA2E26"/>
                </a:solidFill>
                <a:latin typeface="Hiragino Sans"/>
              </a:rPr>
              <a:t>●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03136" y="3172968"/>
            <a:ext cx="47091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 i="0">
                <a:solidFill>
                  <a:srgbClr val="1A1A1A"/>
                </a:solidFill>
                <a:latin typeface="Hiragino Sans"/>
              </a:rPr>
              <a:t>1日の訪問：標準11件前後（船橋は移動で調整）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10528" y="3749039"/>
            <a:ext cx="274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AA2E26"/>
                </a:solidFill>
                <a:latin typeface="Hiragino Sans"/>
              </a:rPr>
              <a:t>●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03136" y="3721607"/>
            <a:ext cx="47091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 i="0">
                <a:solidFill>
                  <a:srgbClr val="1A1A1A"/>
                </a:solidFill>
                <a:latin typeface="Hiragino Sans"/>
              </a:rPr>
              <a:t>1人で月80〜100万円の売上＝伸ばせば報酬も伸びる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10528" y="4297679"/>
            <a:ext cx="274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AA2E26"/>
                </a:solidFill>
                <a:latin typeface="Hiragino Sans"/>
              </a:rPr>
              <a:t>●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03136" y="4270247"/>
            <a:ext cx="47091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 i="0">
                <a:solidFill>
                  <a:srgbClr val="1A1A1A"/>
                </a:solidFill>
                <a:latin typeface="Hiragino Sans"/>
              </a:rPr>
              <a:t>集客・ケアマネ営業・レセプト・事務はKHDが担当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73952" y="4937760"/>
            <a:ext cx="5029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1">
                <a:solidFill>
                  <a:srgbClr val="6E6E6E"/>
                </a:solidFill>
                <a:latin typeface="Hiragino Sans"/>
              </a:rPr>
              <a:t>※具体の歩合率・時給は対話で。実績・役割に正当に報いる前提です。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66928" y="5440680"/>
            <a:ext cx="11064240" cy="640080"/>
          </a:xfrm>
          <a:prstGeom prst="rect">
            <a:avLst/>
          </a:prstGeom>
          <a:solidFill>
            <a:srgbClr val="F4E4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66928" y="5440680"/>
            <a:ext cx="1106424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 i="0">
                <a:solidFill>
                  <a:srgbClr val="8C241D"/>
                </a:solidFill>
                <a:latin typeface="Hiragino Sans"/>
              </a:rPr>
              <a:t>板橋店は開業3ヶ月で黒字化。KHDは医師ネットワークで利用者導線が強く、立ち上がりをさらに速くできる。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57200" y="6400800"/>
            <a:ext cx="11274552" cy="15240"/>
          </a:xfrm>
          <a:prstGeom prst="rect">
            <a:avLst/>
          </a:prstGeom>
          <a:solidFill>
            <a:srgbClr val="DAD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57200" y="6473952"/>
            <a:ext cx="9144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6E6E6E"/>
                </a:solidFill>
                <a:latin typeface="Hiragino Sans"/>
              </a:rPr>
              <a:t>KHD ｜ 船橋・訪問マッサージ事業 立ち上げ構想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274552" y="6473952"/>
            <a:ext cx="4572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 i="0">
                <a:solidFill>
                  <a:srgbClr val="6E6E6E"/>
                </a:solidFill>
                <a:latin typeface="Hiragino Sans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6E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_team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0"/>
            <a:ext cx="5788152" cy="3302443"/>
          </a:xfrm>
          <a:prstGeom prst="rect">
            <a:avLst/>
          </a:prstGeom>
          <a:ln w="50800">
            <a:solidFill>
              <a:srgbClr val="FFFFFF"/>
            </a:solidFill>
          </a:ln>
          <a:effectLst/>
        </p:spPr>
      </p:pic>
      <p:sp>
        <p:nvSpPr>
          <p:cNvPr id="3" name="Rectangle 2"/>
          <p:cNvSpPr/>
          <p:nvPr/>
        </p:nvSpPr>
        <p:spPr>
          <a:xfrm>
            <a:off x="0" y="0"/>
            <a:ext cx="6446520" cy="6858000"/>
          </a:xfrm>
          <a:prstGeom prst="rect">
            <a:avLst/>
          </a:prstGeom>
          <a:solidFill>
            <a:srgbClr val="F9F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37160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AA2E26"/>
                </a:solidFill>
                <a:latin typeface="Hiragino Sans"/>
              </a:rPr>
              <a:t>FROM HERE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737360"/>
            <a:ext cx="1371600" cy="3810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965960"/>
            <a:ext cx="576072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400" b="1" i="0">
                <a:solidFill>
                  <a:srgbClr val="1A1A1A"/>
                </a:solidFill>
                <a:latin typeface="Hiragino Sans"/>
              </a:rPr>
              <a:t>まずは、お互いを</a:t>
            </a:r>
          </a:p>
          <a:p>
            <a:pPr algn="l">
              <a:lnSpc>
                <a:spcPct val="110000"/>
              </a:lnSpc>
            </a:pPr>
            <a:r>
              <a:rPr sz="3400" b="1" i="0">
                <a:solidFill>
                  <a:srgbClr val="1A1A1A"/>
                </a:solidFill>
                <a:latin typeface="Hiragino Sans"/>
              </a:rPr>
              <a:t>知るところから。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3794760"/>
            <a:ext cx="557784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1A1A1A"/>
                </a:solidFill>
                <a:latin typeface="Hiragino Sans"/>
              </a:rPr>
              <a:t>今日は口説く場ではありません。</a:t>
            </a:r>
          </a:p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1A1A1A"/>
                </a:solidFill>
                <a:latin typeface="Hiragino Sans"/>
              </a:rPr>
              <a:t>お互いに見極める場だと思っています。</a:t>
            </a:r>
          </a:p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1A1A1A"/>
                </a:solidFill>
                <a:latin typeface="Hiragino Sans"/>
              </a:rPr>
              <a:t>気になる点は、何でも遠慮なく聞いてください。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713232" y="5440680"/>
            <a:ext cx="5394960" cy="731520"/>
          </a:xfrm>
          <a:prstGeom prst="rect">
            <a:avLst/>
          </a:prstGeom>
          <a:solidFill>
            <a:srgbClr val="F1ECE1"/>
          </a:solidFill>
          <a:ln w="1270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596128"/>
            <a:ext cx="50292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1A1A1A"/>
                </a:solidFill>
                <a:latin typeface="Hiragino Sans"/>
              </a:rPr>
              <a:t>KHD 代表  菊池 研太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6400800"/>
            <a:ext cx="11274552" cy="15240"/>
          </a:xfrm>
          <a:prstGeom prst="rect">
            <a:avLst/>
          </a:prstGeom>
          <a:solidFill>
            <a:srgbClr val="DAD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6473952"/>
            <a:ext cx="9144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6E6E6E"/>
                </a:solidFill>
                <a:latin typeface="Hiragino Sans"/>
              </a:rPr>
              <a:t>KHD ｜ 船橋・訪問マッサージ事業 立ち上げ構想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74552" y="6473952"/>
            <a:ext cx="4572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 i="0">
                <a:solidFill>
                  <a:srgbClr val="6E6E6E"/>
                </a:solidFill>
                <a:latin typeface="Hiragino Sans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AA2E26"/>
                </a:solidFill>
                <a:latin typeface="Hiragino Sans"/>
              </a:rPr>
              <a:t>WHAT WE'D LIKE TO ASK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713232"/>
            <a:ext cx="1554480" cy="3810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10642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300" b="1" i="0">
                <a:solidFill>
                  <a:srgbClr val="1A1A1A"/>
                </a:solidFill>
                <a:latin typeface="Hiragino Sans"/>
              </a:rPr>
              <a:t>本日、伺いたいこと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316736"/>
            <a:ext cx="11064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 i="0">
                <a:solidFill>
                  <a:srgbClr val="6E6E6E"/>
                </a:solidFill>
                <a:latin typeface="Hiragino Sans"/>
              </a:rPr>
              <a:t>面談で伺いたいことです。気になる点は遠慮なく逆質問してください。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627632"/>
          <a:ext cx="11274552" cy="44805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57200"/>
                <a:gridCol w="3063240"/>
                <a:gridCol w="7754112"/>
              </a:tblGrid>
              <a:tr h="365760"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Hiragino Sans"/>
                        </a:rPr>
                        <a:t>#</a:t>
                      </a:r>
                    </a:p>
                  </a:txBody>
                  <a:tcPr anchor="ctr" marL="73152" marR="54864" marT="27432" marB="27432">
                    <a:solidFill>
                      <a:srgbClr val="8C241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Hiragino Sans"/>
                        </a:rPr>
                        <a:t>項目</a:t>
                      </a:r>
                    </a:p>
                  </a:txBody>
                  <a:tcPr anchor="ctr" marL="73152" marR="54864" marT="27432" marB="27432">
                    <a:solidFill>
                      <a:srgbClr val="8C241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Hiragino Sans"/>
                        </a:rPr>
                        <a:t>質問（具体の聞き方）</a:t>
                      </a:r>
                    </a:p>
                  </a:txBody>
                  <a:tcPr anchor="ctr" marL="73152" marR="54864" marT="27432" marB="27432">
                    <a:solidFill>
                      <a:srgbClr val="8C241D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8C241D"/>
                          </a:solidFill>
                          <a:latin typeface="Hiragino Sans"/>
                        </a:rPr>
                        <a:t>1</a:t>
                      </a:r>
                    </a:p>
                  </a:txBody>
                  <a:tcPr anchor="ctr" marL="73152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1A1A1A"/>
                          </a:solidFill>
                          <a:latin typeface="Hiragino Sans"/>
                        </a:rPr>
                        <a:t>転職理由</a:t>
                      </a:r>
                    </a:p>
                  </a:txBody>
                  <a:tcPr anchor="ctr" marL="73152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  <a:latin typeface="Hiragino Sans"/>
                        </a:rPr>
                        <a:t>「今の治療院、何がきっかけで次を考え始めたんですか？」</a:t>
                      </a:r>
                    </a:p>
                  </a:txBody>
                  <a:tcPr anchor="ctr" marL="73152" marR="54864" marT="27432" marB="27432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8C241D"/>
                          </a:solidFill>
                          <a:latin typeface="Hiragino Sans"/>
                        </a:rPr>
                        <a:t>2</a:t>
                      </a:r>
                    </a:p>
                  </a:txBody>
                  <a:tcPr anchor="ctr" marL="73152" marR="54864" marT="27432" marB="27432">
                    <a:solidFill>
                      <a:srgbClr val="F1ECE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1A1A1A"/>
                          </a:solidFill>
                          <a:latin typeface="Hiragino Sans"/>
                        </a:rPr>
                        <a:t>希望条件（給与・稼働・歩合）</a:t>
                      </a:r>
                    </a:p>
                  </a:txBody>
                  <a:tcPr anchor="ctr" marL="73152" marR="54864" marT="27432" marB="27432">
                    <a:solidFill>
                      <a:srgbClr val="F1ECE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  <a:latin typeface="Hiragino Sans"/>
                        </a:rPr>
                        <a:t>「働き方のイメージはありますか？週何日くらい、報酬の考え方は？」</a:t>
                      </a:r>
                    </a:p>
                  </a:txBody>
                  <a:tcPr anchor="ctr" marL="73152" marR="54864" marT="27432" marB="27432">
                    <a:solidFill>
                      <a:srgbClr val="F1ECE1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8C241D"/>
                          </a:solidFill>
                          <a:latin typeface="Hiragino Sans"/>
                        </a:rPr>
                        <a:t>3</a:t>
                      </a:r>
                    </a:p>
                  </a:txBody>
                  <a:tcPr anchor="ctr" marL="73152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1A1A1A"/>
                          </a:solidFill>
                          <a:latin typeface="Hiragino Sans"/>
                        </a:rPr>
                        <a:t>訪問件数の実績</a:t>
                      </a:r>
                    </a:p>
                  </a:txBody>
                  <a:tcPr anchor="ctr" marL="73152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  <a:latin typeface="Hiragino Sans"/>
                        </a:rPr>
                        <a:t>「履歴書の“1日30人以上”は、店舗に来てもらう来店型ですか？それともご自宅を1軒ずつ回る訪問型ですか？訪問だと1日何軒が現実的でしたか？」</a:t>
                      </a:r>
                    </a:p>
                  </a:txBody>
                  <a:tcPr anchor="ctr" marL="73152" marR="54864" marT="27432" marB="27432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8C241D"/>
                          </a:solidFill>
                          <a:latin typeface="Hiragino Sans"/>
                        </a:rPr>
                        <a:t>4</a:t>
                      </a:r>
                    </a:p>
                  </a:txBody>
                  <a:tcPr anchor="ctr" marL="73152" marR="54864" marT="27432" marB="27432">
                    <a:solidFill>
                      <a:srgbClr val="F1ECE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1A1A1A"/>
                          </a:solidFill>
                          <a:latin typeface="Hiragino Sans"/>
                        </a:rPr>
                        <a:t>集客力（ケアマネ営業）</a:t>
                      </a:r>
                    </a:p>
                  </a:txBody>
                  <a:tcPr anchor="ctr" marL="73152" marR="54864" marT="27432" marB="27432">
                    <a:solidFill>
                      <a:srgbClr val="F1ECE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  <a:latin typeface="Hiragino Sans"/>
                        </a:rPr>
                        <a:t>「ケアマネさんや施設への営業は、ご自身でやられてましたか？どんな風に？」</a:t>
                      </a:r>
                    </a:p>
                  </a:txBody>
                  <a:tcPr anchor="ctr" marL="73152" marR="54864" marT="27432" marB="27432">
                    <a:solidFill>
                      <a:srgbClr val="F1ECE1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8C241D"/>
                          </a:solidFill>
                          <a:latin typeface="Hiragino Sans"/>
                        </a:rPr>
                        <a:t>5</a:t>
                      </a:r>
                    </a:p>
                  </a:txBody>
                  <a:tcPr anchor="ctr" marL="73152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1A1A1A"/>
                          </a:solidFill>
                          <a:latin typeface="Hiragino Sans"/>
                        </a:rPr>
                        <a:t>いつから動けるか</a:t>
                      </a:r>
                    </a:p>
                  </a:txBody>
                  <a:tcPr anchor="ctr" marL="73152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  <a:latin typeface="Hiragino Sans"/>
                        </a:rPr>
                        <a:t>「もし一緒にやるとなったら、いつ頃から動けそうですか？」</a:t>
                      </a:r>
                    </a:p>
                  </a:txBody>
                  <a:tcPr anchor="ctr" marL="73152" marR="54864" marT="27432" marB="27432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8C241D"/>
                          </a:solidFill>
                          <a:latin typeface="Hiragino Sans"/>
                        </a:rPr>
                        <a:t>6</a:t>
                      </a:r>
                    </a:p>
                  </a:txBody>
                  <a:tcPr anchor="ctr" marL="73152" marR="54864" marT="27432" marB="27432">
                    <a:solidFill>
                      <a:srgbClr val="F1ECE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1A1A1A"/>
                          </a:solidFill>
                          <a:latin typeface="Hiragino Sans"/>
                        </a:rPr>
                        <a:t>現職の状況</a:t>
                      </a:r>
                    </a:p>
                  </a:txBody>
                  <a:tcPr anchor="ctr" marL="73152" marR="54864" marT="27432" marB="27432">
                    <a:solidFill>
                      <a:srgbClr val="F1ECE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  <a:latin typeface="Hiragino Sans"/>
                        </a:rPr>
                        <a:t>「今もお勤めされてますよね。転職は具体的に動かれている段階ですか？」</a:t>
                      </a:r>
                    </a:p>
                  </a:txBody>
                  <a:tcPr anchor="ctr" marL="73152" marR="54864" marT="27432" marB="27432">
                    <a:solidFill>
                      <a:srgbClr val="F1ECE1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8C241D"/>
                          </a:solidFill>
                          <a:latin typeface="Hiragino Sans"/>
                        </a:rPr>
                        <a:t>7</a:t>
                      </a:r>
                    </a:p>
                  </a:txBody>
                  <a:tcPr anchor="ctr" marL="73152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1A1A1A"/>
                          </a:solidFill>
                          <a:latin typeface="Hiragino Sans"/>
                        </a:rPr>
                        <a:t>マネジメント経験・将来の役割</a:t>
                      </a:r>
                    </a:p>
                  </a:txBody>
                  <a:tcPr anchor="ctr" marL="73152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  <a:latin typeface="Hiragino Sans"/>
                        </a:rPr>
                        <a:t>「マネジメント経験はありますか？事業が伸びたら若手施術者をまとめる立場をお願いしたく、その分報酬も上がります。そういう将来像に興味はありますか？」</a:t>
                      </a:r>
                    </a:p>
                  </a:txBody>
                  <a:tcPr anchor="ctr" marL="73152" marR="54864" marT="27432" marB="27432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8C241D"/>
                          </a:solidFill>
                          <a:latin typeface="Hiragino Sans"/>
                        </a:rPr>
                        <a:t>8</a:t>
                      </a:r>
                    </a:p>
                  </a:txBody>
                  <a:tcPr anchor="ctr" marL="73152" marR="54864" marT="27432" marB="27432">
                    <a:solidFill>
                      <a:srgbClr val="F1ECE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1A1A1A"/>
                          </a:solidFill>
                          <a:latin typeface="Hiragino Sans"/>
                        </a:rPr>
                        <a:t>体力・長期の稼働</a:t>
                      </a:r>
                    </a:p>
                  </a:txBody>
                  <a:tcPr anchor="ctr" marL="73152" marR="54864" marT="27432" marB="27432">
                    <a:solidFill>
                      <a:srgbClr val="F1ECE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  <a:latin typeface="Hiragino Sans"/>
                        </a:rPr>
                        <a:t>「訪問は移動も多いですが、稼働ペースは今後どのくらいで考えてますか？」</a:t>
                      </a:r>
                    </a:p>
                  </a:txBody>
                  <a:tcPr anchor="ctr" marL="73152" marR="54864" marT="27432" marB="27432">
                    <a:solidFill>
                      <a:srgbClr val="F1ECE1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8C241D"/>
                          </a:solidFill>
                          <a:latin typeface="Hiragino Sans"/>
                        </a:rPr>
                        <a:t>9</a:t>
                      </a:r>
                    </a:p>
                  </a:txBody>
                  <a:tcPr anchor="ctr" marL="73152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1A1A1A"/>
                          </a:solidFill>
                          <a:latin typeface="Hiragino Sans"/>
                        </a:rPr>
                        <a:t>現職との兼ね合い</a:t>
                      </a:r>
                    </a:p>
                  </a:txBody>
                  <a:tcPr anchor="ctr" marL="73152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  <a:latin typeface="Hiragino Sans"/>
                        </a:rPr>
                        <a:t>「エリアが近いですが、現職との関係で気をつける点はありますか？」</a:t>
                      </a:r>
                    </a:p>
                  </a:txBody>
                  <a:tcPr anchor="ctr" marL="73152" marR="54864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457200" y="6400800"/>
            <a:ext cx="11274552" cy="15240"/>
          </a:xfrm>
          <a:prstGeom prst="rect">
            <a:avLst/>
          </a:prstGeom>
          <a:solidFill>
            <a:srgbClr val="DAD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473952"/>
            <a:ext cx="9144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6E6E6E"/>
                </a:solidFill>
                <a:latin typeface="Hiragino Sans"/>
              </a:rPr>
              <a:t>KHD ｜ 船橋・訪問マッサージ事業 立ち上げ構想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74552" y="6473952"/>
            <a:ext cx="4572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 i="0">
                <a:solidFill>
                  <a:srgbClr val="6E6E6E"/>
                </a:solidFill>
                <a:latin typeface="Hiragino Sans"/>
              </a:rPr>
              <a:t>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
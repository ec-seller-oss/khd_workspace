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AI × CLINIC DX ｜ 京橋クリニック様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3716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iragino Sans"/>
              </a:rPr>
              <a:t>現場の負担を減らして、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574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AA2E26"/>
                </a:solidFill>
                <a:latin typeface="Hiragino Sans"/>
              </a:rPr>
              <a:t>院に 年約200万円 残す。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電話・問診・書類・レセプトをAIとLINEで自動化。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御院の持ち出しはゼロから始められます。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86200"/>
            <a:ext cx="2240280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886200"/>
            <a:ext cx="2240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3250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Hiragino Sans"/>
              </a:rPr>
              <a:t>初期費用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88536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300" b="1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3886200"/>
            <a:ext cx="2240280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7832" y="3886200"/>
            <a:ext cx="2240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403250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Hiragino Sans"/>
              </a:rPr>
              <a:t>月額基本料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4288536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300" b="1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32704" y="3886200"/>
            <a:ext cx="2240280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32704" y="3886200"/>
            <a:ext cx="22402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4032504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E6E"/>
                </a:solidFill>
                <a:latin typeface="Hiragino Sans"/>
              </a:rPr>
              <a:t>成果報酬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4288536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300" b="1">
                <a:solidFill>
                  <a:srgbClr val="AA2E26"/>
                </a:solidFill>
                <a:latin typeface="Hiragino Sans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6858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8C241D"/>
                </a:solidFill>
                <a:latin typeface="Hiragino Sans"/>
              </a:rPr>
              <a:t>成果報酬は最初の6ヶ月だけ。7ヶ月目以降は 月5万円の保守のみ（月1回の運用相談込み）。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8C241D"/>
                </a:solidFill>
                <a:latin typeface="Hiragino Sans"/>
              </a:rPr>
              <a:t>効果が出なければ費用は0円。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280160"/>
            <a:ext cx="3840480" cy="3017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280160"/>
            <a:ext cx="3840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600200"/>
            <a:ext cx="3383280" cy="2114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55279" y="43891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Hiragino Sans"/>
              </a:rPr>
              <a:t>実際の画面：カルテ→紹介状を数秒で下書き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4892040"/>
            <a:ext cx="384048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4892040"/>
            <a:ext cx="38404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501091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AA2E26"/>
                </a:solidFill>
                <a:latin typeface="Hiragino Sans"/>
              </a:rPr>
              <a:t>導入の流れ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321808"/>
            <a:ext cx="3520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無料の業務診断（30分） → 御院専用レポート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1A1A1A"/>
                </a:solidFill>
                <a:latin typeface="Hiragino Sans"/>
              </a:rPr>
              <a:t>→ 数字をご確認のうえ、導入のご判断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テナントアシスト・ウイン株式会社 ｜ 菊池 研太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クリニックDX「My AI」  ｜  テナントアシスト・ウイン株式会社  菊池 研太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御院でも、起きていませんか？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現場の4大負担 ── どれか1つでも当てはまれば、削減余地があります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09728" cy="2103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" y="2011680"/>
            <a:ext cx="1051560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011680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電話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39112"/>
            <a:ext cx="3794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Hiragino Sans"/>
              </a:rPr>
              <a:t>鳴り止まない電話で受付がパンク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262432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AA2E26"/>
                </a:solidFill>
                <a:latin typeface="Hiragino Sans"/>
              </a:rPr>
              <a:t>月1,200件超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26440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Hiragino Sans"/>
              </a:rPr>
              <a:t>→ AI音声が一次対応・営業電話ブロック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783080"/>
            <a:ext cx="548640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783080"/>
            <a:ext cx="109728" cy="2103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93408" y="2011680"/>
            <a:ext cx="1051560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011680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問診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039112"/>
            <a:ext cx="3794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Hiragino Sans"/>
              </a:rPr>
              <a:t>紙の問診票を毎日手入力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262432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AA2E26"/>
                </a:solidFill>
                <a:latin typeface="Hiragino Sans"/>
              </a:rPr>
              <a:t>受付業務の山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326440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Hiragino Sans"/>
              </a:rPr>
              <a:t>→ LINEで来院前にスマホ問診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548640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109728" cy="2103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" y="4434840"/>
            <a:ext cx="1051560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434840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書類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62272"/>
            <a:ext cx="3794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Hiragino Sans"/>
              </a:rPr>
              <a:t>紹介状・診断書で診療後も残業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504748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AA2E26"/>
                </a:solidFill>
                <a:latin typeface="Hiragino Sans"/>
              </a:rPr>
              <a:t>診察時間の半分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" y="568756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Hiragino Sans"/>
              </a:rPr>
              <a:t>→ AIがカルテから数秒で下書き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06240"/>
            <a:ext cx="5486400" cy="2103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206240"/>
            <a:ext cx="109728" cy="2103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93408" y="4434840"/>
            <a:ext cx="1051560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4434840"/>
            <a:ext cx="1051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</a:rPr>
              <a:t>レセプト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462272"/>
            <a:ext cx="3794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  <a:latin typeface="Hiragino Sans"/>
              </a:rPr>
              <a:t>月初の点検が毎月重い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504748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AA2E26"/>
                </a:solidFill>
                <a:latin typeface="Hiragino Sans"/>
              </a:rPr>
              <a:t>月10〜20時間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5687568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Hiragino Sans"/>
              </a:rPr>
              <a:t>→ AIが算定漏れを自動チェック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クリニックDX「My AI」  ｜  テナントアシスト・ウイン株式会社  菊池 研太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使うほど、院にお金が残る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標準モデル（事務3名・月24万円削減）。当日、御院の実数で計算し直してお出しします</a:t>
            </a:r>
          </a:p>
        </p:txBody>
      </p:sp>
      <p:pic>
        <p:nvPicPr>
          <p:cNvPr id="9" name="Picture 8" descr="_saving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0"/>
            <a:ext cx="7680960" cy="41546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21040" y="1691640"/>
            <a:ext cx="3429000" cy="2011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1051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御院に残る効果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1762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1〜6ヶ月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7627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8C241D"/>
                </a:solidFill>
                <a:latin typeface="Hiragino Sans"/>
              </a:rPr>
              <a:t>月 14.4万円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877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7ヶ月目〜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58775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8C241D"/>
                </a:solidFill>
                <a:latin typeface="Hiragino Sans"/>
              </a:rPr>
              <a:t>月 19万円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99923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Hiragino Sans"/>
              </a:rPr>
              <a:t>12ヶ月 累計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99923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8C241D"/>
                </a:solidFill>
                <a:latin typeface="Hiragino Sans"/>
              </a:rPr>
              <a:t>約 200万円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931920"/>
            <a:ext cx="34290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3931920"/>
            <a:ext cx="34290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06908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安心の設計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4434840"/>
            <a:ext cx="3026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効果が出なければ 費用0円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837176"/>
            <a:ext cx="3026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測定の手間は全部こちらが巻き取る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239512"/>
            <a:ext cx="3026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患者情報の扱いは最初に書面ルール化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5641848"/>
            <a:ext cx="3026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ロックインなし・30日前通知で解約可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クリニックDX「My AI」  ｜  テナントアシスト・ウイン株式会社  菊池 研太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進め方 ── 効果を確認してから、導入へ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費用が発生するのは効果が数字で確認できた後。判断材料はすべて先にお渡しします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697480" cy="3017520"/>
          </a:xfrm>
          <a:prstGeom prst="rect">
            <a:avLst/>
          </a:prstGeom>
          <a:solidFill>
            <a:srgbClr val="F4E4E2"/>
          </a:solidFill>
          <a:ln w="254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26974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9280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>
                <a:solidFill>
                  <a:srgbClr val="8C241D"/>
                </a:solidFill>
                <a:latin typeface="Hiragino Sans"/>
              </a:rPr>
              <a:t>無料の業務診断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受付・事務の業務の流れを30分ほど伺います。診療の妨げにならない形で行います。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71800"/>
            <a:ext cx="228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2E26"/>
                </a:solidFill>
                <a:latin typeface="Hiragino Sans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83080"/>
            <a:ext cx="2697480" cy="3017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783080"/>
            <a:ext cx="2697480" cy="64008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189280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Hiragino Sans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606040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>
                <a:solidFill>
                  <a:srgbClr val="1A1A1A"/>
                </a:solidFill>
                <a:latin typeface="Hiragino Sans"/>
              </a:rPr>
              <a:t>御院専用レポート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38328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削減できる業務と金額を試算した報告書を無料でお渡しします。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2971800"/>
            <a:ext cx="228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2E26"/>
                </a:solidFill>
                <a:latin typeface="Hiragino Sans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1783080"/>
            <a:ext cx="2697480" cy="3017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0216" y="1783080"/>
            <a:ext cx="2697480" cy="64008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189280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Hiragino Sans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2606040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>
                <a:solidFill>
                  <a:srgbClr val="1A1A1A"/>
                </a:solidFill>
                <a:latin typeface="Hiragino Sans"/>
              </a:rPr>
              <a:t>段階導入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338328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効果の大きい業務から少しずつ。スタッフ説明会・3ヶ月伴走付き。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2971800"/>
            <a:ext cx="228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2E26"/>
                </a:solidFill>
                <a:latin typeface="Hiragino Sans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98864" y="1783080"/>
            <a:ext cx="2697480" cy="3017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98864" y="1783080"/>
            <a:ext cx="2697480" cy="64008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98864" y="189280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Hiragino Sans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1744" y="2606040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50" b="1">
                <a:solidFill>
                  <a:srgbClr val="1A1A1A"/>
                </a:solidFill>
                <a:latin typeface="Hiragino Sans"/>
              </a:rPr>
              <a:t>効果測定・精算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4" y="338328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測定は当方が実施（御院の手間なし）。確認できた削減分の40%のみ精算。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7492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07492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費用が発生するのは、導入して、効果が数字で確認できた後だけ。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6869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✓ 成果報酬40%は最初の6ヶ月だけ（以降は月5万の保守のみ）　✓ IT導入補助金サポート　✓ 3ヶ月伴走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クリニックDX「My AI」  ｜  テナントアシスト・ウイン株式会社  菊池 研太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731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E6E6E"/>
                </a:solidFill>
                <a:latin typeface="Hiragino Sans"/>
              </a:rP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PRICING &amp; 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料金とサポート ── 不安になりがちな点は、先に設計に入れています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別料金・追加請求はありません。下記すべて込みの料金です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4206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42062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料金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初期費用・月額基本料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286000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8C241D"/>
                </a:solidFill>
                <a:latin typeface="Hiragino Sans"/>
              </a:rPr>
              <a:t>0円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60904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成果報酬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660904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8C241D"/>
                </a:solidFill>
                <a:latin typeface="Hiragino Sans"/>
              </a:rPr>
              <a:t>削減額の40%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35808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成果報酬の期間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035808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8C241D"/>
                </a:solidFill>
                <a:latin typeface="Hiragino Sans"/>
              </a:rPr>
              <a:t>最初の6ヶ月のみ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10712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7ヶ月目以降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410712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8C241D"/>
                </a:solidFill>
                <a:latin typeface="Hiragino Sans"/>
              </a:rPr>
              <a:t>月5万円（保守のみ）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8561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A1A1A"/>
                </a:solidFill>
                <a:latin typeface="Hiragino Sans"/>
              </a:rPr>
              <a:t>効果が出なかった場合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785616"/>
            <a:ext cx="1645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8C241D"/>
                </a:solidFill>
                <a:latin typeface="Hiragino Sans"/>
              </a:rPr>
              <a:t>費用0円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89120"/>
            <a:ext cx="4206240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07992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AA2E26"/>
                </a:solidFill>
                <a:latin typeface="Hiragino Sans"/>
              </a:rPr>
              <a:t>保守（月5万円）に含むもの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846320"/>
            <a:ext cx="3749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・月1回の運用ミーティング・改善相談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212080"/>
            <a:ext cx="3749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・AIツールのアップデート対応・軽微な改修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77840"/>
            <a:ext cx="3749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iragino Sans"/>
              </a:rPr>
              <a:t>・スタッフからの問い合わせ窓口（チャット）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1783080"/>
            <a:ext cx="6720840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3480" y="1783080"/>
            <a:ext cx="6720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192024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料金に含まれるサポート（先回りの設計）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304288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0408" y="230428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無料の業務診断＋御院専用レポート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322576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導入判断の材料は、費用が発生する前にすべてお渡し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843784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0408" y="284378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効果測定は当方が実施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862072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「2週間時間を計って」等のお願いは一切しません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3832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0408" y="338328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測定ルールの事前書面合意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40156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同等の患者数帯で比較・人員変更月は除外。後から揉めない設計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3922776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50408" y="392277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患者情報の取り扱いルール書面化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941064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目的外利用なし・3省2ガイドライン準拠。導入前に取り決め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462272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0408" y="446227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スタッフ説明会＋3ヶ月伴走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48056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現場が使いこなせるまで。マニュアルも当方で用意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001768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0408" y="500176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IT導入補助金の申請支援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5020056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使える補助金があれば、申請までお手伝い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5541264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50408" y="554126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Hiragino Sans"/>
              </a:rPr>
              <a:t>ロックインなし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559552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E6E6E"/>
                </a:solidFill>
                <a:latin typeface="Hiragino Sans"/>
              </a:rPr>
              <a:t>最低期間以降は30日前通知で解約可。データはお返しします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
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E8A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6583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1">
                <a:solidFill>
                  <a:srgbClr val="E8A800"/>
                </a:solidFill>
                <a:latin typeface="Hiragino Sans"/>
              </a:rPr>
              <a:t>AIで、人を増やさず診療の質を上げる。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667512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200" b="1" i="0">
                <a:solidFill>
                  <a:srgbClr val="FFFFFF"/>
                </a:solidFill>
                <a:latin typeface="Hiragino Sans"/>
              </a:rPr>
              <a:t>クリニックのAI・LINE導入</a:t>
            </a:r>
          </a:p>
          <a:p>
            <a:pPr algn="l">
              <a:lnSpc>
                <a:spcPct val="105000"/>
              </a:lnSpc>
            </a:pPr>
            <a:r>
              <a:rPr sz="4200" b="1" i="0">
                <a:solidFill>
                  <a:srgbClr val="FFFFFF"/>
                </a:solidFill>
                <a:latin typeface="Hiragino Sans"/>
              </a:rPr>
              <a:t>まるごとおまかせ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3200400"/>
            <a:ext cx="6675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CCD6E0"/>
                </a:solidFill>
                <a:latin typeface="Hiragino Sans"/>
              </a:rPr>
              <a:t>独自カスタマイズの「マイAI」×「Lステップ」×AI音声(IVR)で実現する、</a:t>
            </a:r>
          </a:p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CCD6E0"/>
                </a:solidFill>
                <a:latin typeface="Hiragino Sans"/>
              </a:rPr>
              <a:t>初期費用0円・完全成果報酬型のクリニックDX。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4297680"/>
            <a:ext cx="2103120" cy="1234440"/>
          </a:xfrm>
          <a:prstGeom prst="rect">
            <a:avLst/>
          </a:prstGeom>
          <a:solidFill>
            <a:srgbClr val="1A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4297680"/>
            <a:ext cx="2103120" cy="54864"/>
          </a:xfrm>
          <a:prstGeom prst="rect">
            <a:avLst/>
          </a:prstGeom>
          <a:solidFill>
            <a:srgbClr val="E8A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462272"/>
            <a:ext cx="2103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>
                <a:solidFill>
                  <a:srgbClr val="CCD6E0"/>
                </a:solidFill>
                <a:latin typeface="Hiragino Sans"/>
              </a:rPr>
              <a:t>初期費用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754880"/>
            <a:ext cx="2103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400" b="1" i="0">
                <a:solidFill>
                  <a:srgbClr val="E8A800"/>
                </a:solidFill>
                <a:latin typeface="Hiragino Sans"/>
              </a:rPr>
              <a:t>0円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72384" y="4297680"/>
            <a:ext cx="2103120" cy="1234440"/>
          </a:xfrm>
          <a:prstGeom prst="rect">
            <a:avLst/>
          </a:prstGeom>
          <a:solidFill>
            <a:srgbClr val="1A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072384" y="4297680"/>
            <a:ext cx="2103120" cy="54864"/>
          </a:xfrm>
          <a:prstGeom prst="rect">
            <a:avLst/>
          </a:prstGeom>
          <a:solidFill>
            <a:srgbClr val="E8A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72384" y="4462272"/>
            <a:ext cx="2103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>
                <a:solidFill>
                  <a:srgbClr val="CCD6E0"/>
                </a:solidFill>
                <a:latin typeface="Hiragino Sans"/>
              </a:rPr>
              <a:t>月額基本料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72384" y="4754880"/>
            <a:ext cx="2103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400" b="1" i="0">
                <a:solidFill>
                  <a:srgbClr val="E8A800"/>
                </a:solidFill>
                <a:latin typeface="Hiragino Sans"/>
              </a:rPr>
              <a:t>0円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21808" y="4297680"/>
            <a:ext cx="2103120" cy="1234440"/>
          </a:xfrm>
          <a:prstGeom prst="rect">
            <a:avLst/>
          </a:prstGeom>
          <a:solidFill>
            <a:srgbClr val="1A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321808" y="4297680"/>
            <a:ext cx="2103120" cy="54864"/>
          </a:xfrm>
          <a:prstGeom prst="rect">
            <a:avLst/>
          </a:prstGeom>
          <a:solidFill>
            <a:srgbClr val="E8A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21808" y="4462272"/>
            <a:ext cx="2103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>
                <a:solidFill>
                  <a:srgbClr val="CCD6E0"/>
                </a:solidFill>
                <a:latin typeface="Hiragino Sans"/>
              </a:rPr>
              <a:t>成果報酬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21808" y="4754880"/>
            <a:ext cx="2103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400" b="1" i="0">
                <a:solidFill>
                  <a:srgbClr val="E8A800"/>
                </a:solidFill>
                <a:latin typeface="Hiragino Sans"/>
              </a:rPr>
              <a:t>30%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806440"/>
            <a:ext cx="6675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9FB4C4"/>
                </a:solidFill>
                <a:latin typeface="Hiragino Sans"/>
              </a:rPr>
              <a:t>成果報酬は「実際に人件費相当額を削減できた分」だけ／医療現場の実証データに基づく設計／IT導入補助金サポート対応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26679" y="2011680"/>
            <a:ext cx="4069080" cy="2926080"/>
          </a:xfrm>
          <a:prstGeom prst="rect">
            <a:avLst/>
          </a:prstGeom>
          <a:solidFill>
            <a:srgbClr val="1A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26679" y="2011680"/>
            <a:ext cx="4069080" cy="54864"/>
          </a:xfrm>
          <a:prstGeom prst="rect">
            <a:avLst/>
          </a:prstGeom>
          <a:solidFill>
            <a:srgbClr val="E8A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891271" y="2194560"/>
            <a:ext cx="3739896" cy="384048"/>
          </a:xfrm>
          <a:prstGeom prst="rect">
            <a:avLst/>
          </a:prstGeom>
          <a:solidFill>
            <a:srgbClr val="24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19287" y="2203704"/>
            <a:ext cx="36118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 i="0">
                <a:solidFill>
                  <a:srgbClr val="E8A800"/>
                </a:solidFill>
                <a:latin typeface="Hiragino Sans"/>
              </a:rPr>
              <a:t>マイAI ｜ 紹介状ジェネレーター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891271" y="2688336"/>
            <a:ext cx="3739896" cy="457200"/>
          </a:xfrm>
          <a:prstGeom prst="rect">
            <a:avLst/>
          </a:prstGeom>
          <a:solidFill>
            <a:srgbClr val="102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0999" y="2706624"/>
            <a:ext cx="36118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CCD6E0"/>
                </a:solidFill>
                <a:latin typeface="Hiragino Sans"/>
              </a:rPr>
              <a:t>カルテから抽出中… 患者ID / 主訴 / 既往歴 / 処方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891271" y="3255264"/>
            <a:ext cx="3739896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37575" y="3328416"/>
            <a:ext cx="3520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0C7A73"/>
                </a:solidFill>
                <a:latin typeface="Hiragino Sans"/>
              </a:rPr>
              <a:t>AI生成プレビュー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37575" y="3602736"/>
            <a:ext cx="346557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5B6B7B"/>
                </a:solidFill>
                <a:latin typeface="Hiragino Sans"/>
              </a:rPr>
              <a:t>──────────────────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37575" y="3858768"/>
            <a:ext cx="346557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5B6B7B"/>
                </a:solidFill>
                <a:latin typeface="Hiragino Sans"/>
              </a:rPr>
              <a:t>拝啓  時下ますますご清栄のことと…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37575" y="4114800"/>
            <a:ext cx="346557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5B6B7B"/>
                </a:solidFill>
                <a:latin typeface="Hiragino Sans"/>
              </a:rPr>
              <a:t>下記の患者をご紹介申し上げます。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37575" y="4370832"/>
            <a:ext cx="346557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5B6B7B"/>
                </a:solidFill>
                <a:latin typeface="Hiragino Sans"/>
              </a:rPr>
              <a:t>診断: ＿＿＿  /  所見: ＿＿＿＿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37575" y="4626864"/>
            <a:ext cx="346557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5B6B7B"/>
                </a:solidFill>
                <a:latin typeface="Hiragino Sans"/>
              </a:rPr>
              <a:t>──────────────────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891271" y="4389120"/>
            <a:ext cx="3739896" cy="384048"/>
          </a:xfrm>
          <a:prstGeom prst="rect">
            <a:avLst/>
          </a:prstGeom>
          <a:solidFill>
            <a:srgbClr val="E8A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891271" y="4389120"/>
            <a:ext cx="373989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  <a:latin typeface="Hiragino Sans"/>
              </a:rPr>
              <a:t>⚡ 8分 → 数秒で下書き完了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26679" y="5029200"/>
            <a:ext cx="4069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 i="0">
                <a:solidFill>
                  <a:srgbClr val="9FB4C4"/>
                </a:solidFill>
                <a:latin typeface="Hiragino Sans"/>
              </a:rPr>
              <a:t>実際のMyAI画面：カルテ → 紹介状を数秒で自動下書き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" y="6400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0">
                <a:solidFill>
                  <a:srgbClr val="9FB4C4"/>
                </a:solidFill>
                <a:latin typeface="Hiragino Sans"/>
              </a:rPr>
              <a:t>菊池ホールディングス（KHD）  |  @khd_medical01  |  ※マイAIは仮称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A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537960"/>
            <a:ext cx="9144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CCD6E0"/>
                </a:solidFill>
                <a:latin typeface="Hiragino Sans"/>
              </a:rPr>
              <a:t>クリニックDX「My AI」  |  AI医療コンサル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Hiragino Sans"/>
              </a:rPr>
              <a:t>現場はもう限界では？ ── 御院でも起きていませんか？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13232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CCD6E0"/>
                </a:solidFill>
                <a:latin typeface="Hiragino Sans"/>
              </a:rPr>
              <a:t>ネット上の生の声が示す、クリニックのリアルな4大お悩み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71600"/>
            <a:ext cx="5486400" cy="2212848"/>
          </a:xfrm>
          <a:prstGeom prst="rect">
            <a:avLst/>
          </a:prstGeom>
          <a:solidFill>
            <a:srgbClr val="1A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371600"/>
            <a:ext cx="109728" cy="2212848"/>
          </a:xfrm>
          <a:prstGeom prst="rect">
            <a:avLst/>
          </a:prstGeom>
          <a:solidFill>
            <a:srgbClr val="FF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554480"/>
            <a:ext cx="914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FF6666"/>
                </a:solidFill>
                <a:latin typeface="Hiragino San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1627632"/>
            <a:ext cx="4343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Hiragino Sans"/>
              </a:rPr>
              <a:t>採用しても、定着しない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2304288"/>
            <a:ext cx="49377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E8A800"/>
                </a:solidFill>
                <a:latin typeface="Hiragino Sans"/>
              </a:rPr>
              <a:t>70万〜150万円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" y="2944368"/>
            <a:ext cx="4937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CCD6E0"/>
                </a:solidFill>
                <a:latin typeface="Hiragino Sans"/>
              </a:rPr>
              <a:t>医療事務の採用単価。保険制度の複雑さで即戦力にならず早期離職の悪循環。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1371600"/>
            <a:ext cx="5486400" cy="2212848"/>
          </a:xfrm>
          <a:prstGeom prst="rect">
            <a:avLst/>
          </a:prstGeom>
          <a:solidFill>
            <a:srgbClr val="1A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0" y="1371600"/>
            <a:ext cx="109728" cy="2212848"/>
          </a:xfrm>
          <a:prstGeom prst="rect">
            <a:avLst/>
          </a:prstGeom>
          <a:solidFill>
            <a:srgbClr val="FF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0" y="1554480"/>
            <a:ext cx="914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FF6666"/>
                </a:solidFill>
                <a:latin typeface="Hiragino San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60920" y="1627632"/>
            <a:ext cx="4343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Hiragino Sans"/>
              </a:rPr>
              <a:t>カルテ入力で患者と目が合わない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93408" y="2304288"/>
            <a:ext cx="49377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E8A800"/>
                </a:solidFill>
                <a:latin typeface="Hiragino Sans"/>
              </a:rPr>
              <a:t>診察時間の半分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11696" y="2944368"/>
            <a:ext cx="4937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CCD6E0"/>
                </a:solidFill>
                <a:latin typeface="Hiragino Sans"/>
              </a:rPr>
              <a:t>が電子カルテ入力。診療後も紹介状・診断書作成で2時間超の残業。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950208"/>
            <a:ext cx="5486400" cy="2212848"/>
          </a:xfrm>
          <a:prstGeom prst="rect">
            <a:avLst/>
          </a:prstGeom>
          <a:solidFill>
            <a:srgbClr val="1A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3950208"/>
            <a:ext cx="109728" cy="2212848"/>
          </a:xfrm>
          <a:prstGeom prst="rect">
            <a:avLst/>
          </a:prstGeom>
          <a:solidFill>
            <a:srgbClr val="FF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133088"/>
            <a:ext cx="914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FF6666"/>
                </a:solidFill>
                <a:latin typeface="Hiragino Sans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4206240"/>
            <a:ext cx="4343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Hiragino Sans"/>
              </a:rPr>
              <a:t>月初10日のレセプトが毎月重い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5528" y="4882896"/>
            <a:ext cx="49377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E8A800"/>
                </a:solidFill>
                <a:latin typeface="Hiragino Sans"/>
              </a:rPr>
              <a:t>月10〜20時間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3816" y="5522976"/>
            <a:ext cx="4937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CCD6E0"/>
                </a:solidFill>
                <a:latin typeface="Hiragino Sans"/>
              </a:rPr>
              <a:t>の残業が常態化。目視チェックによる算定漏れの不安も重なる。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3950208"/>
            <a:ext cx="5486400" cy="2212848"/>
          </a:xfrm>
          <a:prstGeom prst="rect">
            <a:avLst/>
          </a:prstGeom>
          <a:solidFill>
            <a:srgbClr val="1A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0800" y="3950208"/>
            <a:ext cx="109728" cy="2212848"/>
          </a:xfrm>
          <a:prstGeom prst="rect">
            <a:avLst/>
          </a:prstGeom>
          <a:solidFill>
            <a:srgbClr val="FF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75120" y="4133088"/>
            <a:ext cx="914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FF6666"/>
                </a:solidFill>
                <a:latin typeface="Hiragino Sans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60920" y="4206240"/>
            <a:ext cx="4343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Hiragino Sans"/>
              </a:rPr>
              <a:t>鳴り止まない電話で受付がパンク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93408" y="4882896"/>
            <a:ext cx="49377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E8A800"/>
                </a:solidFill>
                <a:latin typeface="Hiragino Sans"/>
              </a:rPr>
              <a:t>月1,200件超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11696" y="5522976"/>
            <a:ext cx="4937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CCD6E0"/>
                </a:solidFill>
                <a:latin typeface="Hiragino Sans"/>
              </a:rPr>
              <a:t>の電話対応。「今空いてますか？」で目の前の患者対応が滞る。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A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537960"/>
            <a:ext cx="9144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CCD6E0"/>
                </a:solidFill>
                <a:latin typeface="Hiragino Sans"/>
              </a:rPr>
              <a:t>クリニックDX「My AI」  |  AI医療コンサル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Hiragino Sans"/>
              </a:rPr>
              <a:t>既存の業務をどう変えるか？ ── 完全自動化マップ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13232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CCD6E0"/>
                </a:solidFill>
                <a:latin typeface="Hiragino Sans"/>
              </a:rPr>
              <a:t>医者の悩み（左）を、AI商品（右）がどう解決するか。クリニック全体を1つのエコシステムで最適化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371600"/>
          <a:ext cx="11183112" cy="46634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8800"/>
                <a:gridCol w="3520440"/>
                <a:gridCol w="3703320"/>
                <a:gridCol w="2130552"/>
              </a:tblGrid>
              <a:tr h="9326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Hiragino Sans"/>
                        </a:rPr>
                        <a:t>業務領域</a:t>
                      </a:r>
                    </a:p>
                  </a:txBody>
                  <a:tcPr anchor="ctr" marL="91440" marR="73152" marT="45720" marB="45720">
                    <a:solidFill>
                      <a:srgbClr val="1A2E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Hiragino Sans"/>
                        </a:rPr>
                        <a:t>現状のアナログ業務</a:t>
                      </a:r>
                    </a:p>
                  </a:txBody>
                  <a:tcPr anchor="ctr" marL="91440" marR="73152" marT="45720" marB="45720">
                    <a:solidFill>
                      <a:srgbClr val="1A2E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Hiragino Sans"/>
                        </a:rPr>
                        <a:t>マイAI・Lステップ・IVR導入後</a:t>
                      </a:r>
                    </a:p>
                  </a:txBody>
                  <a:tcPr anchor="ctr" marL="91440" marR="73152" marT="45720" marB="45720">
                    <a:solidFill>
                      <a:srgbClr val="1A2E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D1B2A"/>
                          </a:solidFill>
                          <a:latin typeface="Hiragino Sans"/>
                        </a:rPr>
                        <a:t>削減効果</a:t>
                      </a:r>
                    </a:p>
                  </a:txBody>
                  <a:tcPr anchor="ctr" marL="91440" marR="73152" marT="45720" marB="45720">
                    <a:solidFill>
                      <a:srgbClr val="E8A800"/>
                    </a:solidFill>
                  </a:tcPr>
                </a:tc>
              </a:tr>
              <a:tr h="932688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Hiragino Sans"/>
                        </a:rPr>
                        <a:t>問診・予約</a:t>
                      </a:r>
                    </a:p>
                  </a:txBody>
                  <a:tcPr anchor="ctr" marL="91440" marR="73152" marT="45720" marB="45720">
                    <a:solidFill>
                      <a:srgbClr val="1A2E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CCD6E0"/>
                          </a:solidFill>
                          <a:latin typeface="Hiragino Sans"/>
                        </a:rPr>
                        <a:t>電話受付＋紙問診をカルテへ手入力</a:t>
                      </a:r>
                    </a:p>
                  </a:txBody>
                  <a:tcPr anchor="ctr" marL="91440" marR="73152" marT="45720" marB="45720">
                    <a:solidFill>
                      <a:srgbClr val="1A2E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CCD6E0"/>
                          </a:solidFill>
                          <a:latin typeface="Hiragino Sans"/>
                        </a:rPr>
                        <a:t>Lステップで来院前にスマホ上で完結</a:t>
                      </a:r>
                    </a:p>
                  </a:txBody>
                  <a:tcPr anchor="ctr" marL="91440" marR="73152" marT="45720" marB="45720">
                    <a:solidFill>
                      <a:srgbClr val="1A2E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E8A800"/>
                          </a:solidFill>
                          <a:latin typeface="Hiragino Sans"/>
                        </a:rPr>
                        <a:t>問診業務 40〜70%減</a:t>
                      </a:r>
                    </a:p>
                  </a:txBody>
                  <a:tcPr anchor="ctr" marL="91440" marR="73152" marT="45720" marB="45720">
                    <a:solidFill>
                      <a:srgbClr val="2E2812"/>
                    </a:solidFill>
                  </a:tcPr>
                </a:tc>
              </a:tr>
              <a:tr h="932688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Hiragino Sans"/>
                        </a:rPr>
                        <a:t>電話対応</a:t>
                      </a:r>
                    </a:p>
                  </a:txBody>
                  <a:tcPr anchor="ctr" marL="91440" marR="73152" marT="45720" marB="45720">
                    <a:solidFill>
                      <a:srgbClr val="1224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CCD6E0"/>
                          </a:solidFill>
                          <a:latin typeface="Hiragino Sans"/>
                        </a:rPr>
                        <a:t>全件スタッフが受話</a:t>
                      </a:r>
                    </a:p>
                  </a:txBody>
                  <a:tcPr anchor="ctr" marL="91440" marR="73152" marT="45720" marB="45720">
                    <a:solidFill>
                      <a:srgbClr val="1224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CCD6E0"/>
                          </a:solidFill>
                          <a:latin typeface="Hiragino Sans"/>
                        </a:rPr>
                        <a:t>AI音声(IVR)が一次対応・LINE誘導</a:t>
                      </a:r>
                    </a:p>
                  </a:txBody>
                  <a:tcPr anchor="ctr" marL="91440" marR="73152" marT="45720" marB="45720">
                    <a:solidFill>
                      <a:srgbClr val="1224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E8A800"/>
                          </a:solidFill>
                          <a:latin typeface="Hiragino Sans"/>
                        </a:rPr>
                        <a:t>電話件数 最大40〜80%減</a:t>
                      </a:r>
                    </a:p>
                  </a:txBody>
                  <a:tcPr anchor="ctr" marL="91440" marR="73152" marT="45720" marB="45720">
                    <a:solidFill>
                      <a:srgbClr val="2E2812"/>
                    </a:solidFill>
                  </a:tcPr>
                </a:tc>
              </a:tr>
              <a:tr h="932688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Hiragino Sans"/>
                        </a:rPr>
                        <a:t>書類作成</a:t>
                      </a:r>
                    </a:p>
                  </a:txBody>
                  <a:tcPr anchor="ctr" marL="91440" marR="73152" marT="45720" marB="45720">
                    <a:solidFill>
                      <a:srgbClr val="1A2E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CCD6E0"/>
                          </a:solidFill>
                          <a:latin typeface="Hiragino Sans"/>
                        </a:rPr>
                        <a:t>過去カルテを探しつつ手作業</a:t>
                      </a:r>
                    </a:p>
                  </a:txBody>
                  <a:tcPr anchor="ctr" marL="91440" marR="73152" marT="45720" marB="45720">
                    <a:solidFill>
                      <a:srgbClr val="1A2E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CCD6E0"/>
                          </a:solidFill>
                          <a:latin typeface="Hiragino Sans"/>
                        </a:rPr>
                        <a:t>自院学習「マイAI」が下書き自動生成</a:t>
                      </a:r>
                    </a:p>
                  </a:txBody>
                  <a:tcPr anchor="ctr" marL="91440" marR="73152" marT="45720" marB="45720">
                    <a:solidFill>
                      <a:srgbClr val="1A2E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E8A800"/>
                          </a:solidFill>
                          <a:latin typeface="Hiragino Sans"/>
                        </a:rPr>
                        <a:t>書類時間 月30h以上減</a:t>
                      </a:r>
                    </a:p>
                  </a:txBody>
                  <a:tcPr anchor="ctr" marL="91440" marR="73152" marT="45720" marB="45720">
                    <a:solidFill>
                      <a:srgbClr val="2E2812"/>
                    </a:solidFill>
                  </a:tcPr>
                </a:tc>
              </a:tr>
              <a:tr h="932688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Hiragino Sans"/>
                        </a:rPr>
                        <a:t>レセプト点検</a:t>
                      </a:r>
                    </a:p>
                  </a:txBody>
                  <a:tcPr anchor="ctr" marL="91440" marR="73152" marT="45720" marB="45720">
                    <a:solidFill>
                      <a:srgbClr val="1224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CCD6E0"/>
                          </a:solidFill>
                          <a:latin typeface="Hiragino Sans"/>
                        </a:rPr>
                        <a:t>月末月初に目視で残業</a:t>
                      </a:r>
                    </a:p>
                  </a:txBody>
                  <a:tcPr anchor="ctr" marL="91440" marR="73152" marT="45720" marB="45720">
                    <a:solidFill>
                      <a:srgbClr val="1224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CCD6E0"/>
                          </a:solidFill>
                          <a:latin typeface="Hiragino Sans"/>
                        </a:rPr>
                        <a:t>AIが4,000ルールで算定漏れ自動チェック</a:t>
                      </a:r>
                    </a:p>
                  </a:txBody>
                  <a:tcPr anchor="ctr" marL="91440" marR="73152" marT="45720" marB="45720">
                    <a:solidFill>
                      <a:srgbClr val="1224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E8A800"/>
                          </a:solidFill>
                          <a:latin typeface="Hiragino Sans"/>
                        </a:rPr>
                        <a:t>点検時間 最大1/20</a:t>
                      </a:r>
                    </a:p>
                  </a:txBody>
                  <a:tcPr anchor="ctr" marL="91440" marR="73152" marT="45720" marB="45720">
                    <a:solidFill>
                      <a:srgbClr val="2E281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A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537960"/>
            <a:ext cx="9144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CCD6E0"/>
                </a:solidFill>
                <a:latin typeface="Hiragino Sans"/>
              </a:rPr>
              <a:t>クリニックDX「My AI」  |  AI医療コンサル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Hiragino Sans"/>
              </a:rPr>
              <a:t>"使う場面"が見える ── 実際のMyAI画面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13232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CCD6E0"/>
                </a:solidFill>
                <a:latin typeface="Hiragino Sans"/>
              </a:rPr>
              <a:t>院長・スタッフ・患者、それぞれの画面で業務が変わる（画面はデモ・数値は例示）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71600"/>
            <a:ext cx="5120640" cy="4434840"/>
          </a:xfrm>
          <a:prstGeom prst="rect">
            <a:avLst/>
          </a:prstGeom>
          <a:solidFill>
            <a:srgbClr val="1A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371600"/>
            <a:ext cx="5120640" cy="54864"/>
          </a:xfrm>
          <a:prstGeom prst="rect">
            <a:avLst/>
          </a:prstGeom>
          <a:solidFill>
            <a:srgbClr val="E8A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67512" y="1554480"/>
            <a:ext cx="4791456" cy="384048"/>
          </a:xfrm>
          <a:prstGeom prst="rect">
            <a:avLst/>
          </a:prstGeom>
          <a:solidFill>
            <a:srgbClr val="24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" y="1563624"/>
            <a:ext cx="46634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 i="0">
                <a:solidFill>
                  <a:srgbClr val="E8A800"/>
                </a:solidFill>
                <a:latin typeface="Hiragino Sans"/>
              </a:rPr>
              <a:t>マイAI ｜ 紹介状ジェネレーター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7512" y="2048256"/>
            <a:ext cx="4791456" cy="457200"/>
          </a:xfrm>
          <a:prstGeom prst="rect">
            <a:avLst/>
          </a:prstGeom>
          <a:solidFill>
            <a:srgbClr val="102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066544"/>
            <a:ext cx="466344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 i="0">
                <a:solidFill>
                  <a:srgbClr val="CCD6E0"/>
                </a:solidFill>
                <a:latin typeface="Hiragino Sans"/>
              </a:rPr>
              <a:t>カルテから抽出中… 患者ID / 主訴 / 既往歴 / 処方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67512" y="2615184"/>
            <a:ext cx="4791456" cy="2514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" y="2688336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0C7A73"/>
                </a:solidFill>
                <a:latin typeface="Hiragino Sans"/>
              </a:rPr>
              <a:t>AI生成プレビュー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" y="2962656"/>
            <a:ext cx="451713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5B6B7B"/>
                </a:solidFill>
                <a:latin typeface="Hiragino Sans"/>
              </a:rPr>
              <a:t>──────────────────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" y="3218688"/>
            <a:ext cx="451713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5B6B7B"/>
                </a:solidFill>
                <a:latin typeface="Hiragino Sans"/>
              </a:rPr>
              <a:t>拝啓  時下ますますご清栄のことと…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" y="3474720"/>
            <a:ext cx="451713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5B6B7B"/>
                </a:solidFill>
                <a:latin typeface="Hiragino Sans"/>
              </a:rPr>
              <a:t>下記の患者をご紹介申し上げます。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" y="3730752"/>
            <a:ext cx="451713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5B6B7B"/>
                </a:solidFill>
                <a:latin typeface="Hiragino Sans"/>
              </a:rPr>
              <a:t>診断: ＿＿＿  /  所見: ＿＿＿＿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6" y="3986784"/>
            <a:ext cx="451713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5B6B7B"/>
                </a:solidFill>
                <a:latin typeface="Hiragino Sans"/>
              </a:rPr>
              <a:t>──────────────────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7512" y="5257800"/>
            <a:ext cx="4791456" cy="384048"/>
          </a:xfrm>
          <a:prstGeom prst="rect">
            <a:avLst/>
          </a:prstGeom>
          <a:solidFill>
            <a:srgbClr val="E8A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" y="5257800"/>
            <a:ext cx="479145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  <a:latin typeface="Hiragino Sans"/>
              </a:rPr>
              <a:t>⚡ 8分 → 数秒で下書き完了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5486400"/>
            <a:ext cx="5120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E8A800"/>
                </a:solidFill>
                <a:latin typeface="Hiragino Sans"/>
              </a:rPr>
              <a:t>① 書類アシスト｜カルテ→紹介状を数秒で下書き（院長の画面）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897880" y="1371600"/>
            <a:ext cx="5788152" cy="2697480"/>
          </a:xfrm>
          <a:prstGeom prst="rect">
            <a:avLst/>
          </a:prstGeom>
          <a:solidFill>
            <a:srgbClr val="1A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897880" y="1371600"/>
            <a:ext cx="5788152" cy="54864"/>
          </a:xfrm>
          <a:prstGeom prst="rect">
            <a:avLst/>
          </a:prstGeom>
          <a:solidFill>
            <a:srgbClr val="E8A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26480" y="1536192"/>
            <a:ext cx="542239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E8A800"/>
                </a:solidFill>
                <a:latin typeface="Hiragino Sans"/>
              </a:rPr>
              <a:t>📊 削減効果ダッシュボード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72200" y="2423161"/>
            <a:ext cx="502920" cy="960119"/>
          </a:xfrm>
          <a:prstGeom prst="rect">
            <a:avLst/>
          </a:prstGeom>
          <a:solidFill>
            <a:srgbClr val="4A9E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80760" y="2167129"/>
            <a:ext cx="6858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Hiragino Sans"/>
              </a:rPr>
              <a:t>70%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35040" y="3419856"/>
            <a:ext cx="7772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 i="0">
                <a:solidFill>
                  <a:srgbClr val="CCD6E0"/>
                </a:solidFill>
                <a:latin typeface="Hiragino Sans"/>
              </a:rPr>
              <a:t>問診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086600" y="2628900"/>
            <a:ext cx="502920" cy="754380"/>
          </a:xfrm>
          <a:prstGeom prst="rect">
            <a:avLst/>
          </a:prstGeom>
          <a:solidFill>
            <a:srgbClr val="4A9E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95160" y="2372868"/>
            <a:ext cx="6858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Hiragino Sans"/>
              </a:rPr>
              <a:t>55%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0" y="3419856"/>
            <a:ext cx="7772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 i="0">
                <a:solidFill>
                  <a:srgbClr val="CCD6E0"/>
                </a:solidFill>
                <a:latin typeface="Hiragino Sans"/>
              </a:rPr>
              <a:t>電話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01000" y="2532888"/>
            <a:ext cx="502920" cy="850392"/>
          </a:xfrm>
          <a:prstGeom prst="rect">
            <a:avLst/>
          </a:prstGeom>
          <a:solidFill>
            <a:srgbClr val="4A9E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09560" y="2276856"/>
            <a:ext cx="6858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Hiragino Sans"/>
              </a:rPr>
              <a:t>62%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63840" y="3419856"/>
            <a:ext cx="7772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 i="0">
                <a:solidFill>
                  <a:srgbClr val="CCD6E0"/>
                </a:solidFill>
                <a:latin typeface="Hiragino Sans"/>
              </a:rPr>
              <a:t>書類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915400" y="2148840"/>
            <a:ext cx="502920" cy="1234440"/>
          </a:xfrm>
          <a:prstGeom prst="rect">
            <a:avLst/>
          </a:prstGeom>
          <a:solidFill>
            <a:srgbClr val="E8A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823960" y="1892808"/>
            <a:ext cx="6858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Hiragino Sans"/>
              </a:rPr>
              <a:t>90%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78240" y="3419856"/>
            <a:ext cx="7772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 i="0">
                <a:solidFill>
                  <a:srgbClr val="CCD6E0"/>
                </a:solidFill>
                <a:latin typeface="Hiragino Sans"/>
              </a:rPr>
              <a:t>レセプト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97880" y="4114800"/>
            <a:ext cx="578815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E8A800"/>
                </a:solidFill>
                <a:latin typeface="Hiragino Sans"/>
              </a:rPr>
              <a:t>② 成果ダッシュボード｜削減効果を可視化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897880" y="4526280"/>
            <a:ext cx="5788152" cy="1280160"/>
          </a:xfrm>
          <a:prstGeom prst="rect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007608" y="4636008"/>
            <a:ext cx="5568696" cy="1060704"/>
          </a:xfrm>
          <a:prstGeom prst="rect">
            <a:avLst/>
          </a:prstGeom>
          <a:solidFill>
            <a:srgbClr val="E9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53912" y="4709160"/>
            <a:ext cx="533095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067A35"/>
                </a:solidFill>
                <a:latin typeface="Hiragino Sans"/>
              </a:rPr>
              <a:t>LINE 問診・予約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56248" y="5074920"/>
            <a:ext cx="4873752" cy="365760"/>
          </a:xfrm>
          <a:prstGeom prst="rect">
            <a:avLst/>
          </a:prstGeom>
          <a:solidFill>
            <a:srgbClr val="9AE5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647688" y="5093208"/>
            <a:ext cx="4690872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 i="0">
                <a:solidFill>
                  <a:srgbClr val="1A2B3A"/>
                </a:solidFill>
                <a:latin typeface="Hiragino Sans"/>
              </a:rPr>
              <a:t>来院前にスマホで問診✓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153912" y="5513832"/>
            <a:ext cx="4873752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245352" y="5532120"/>
            <a:ext cx="4690872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 i="0">
                <a:solidFill>
                  <a:srgbClr val="1A2B3A"/>
                </a:solidFill>
                <a:latin typeface="Hiragino Sans"/>
              </a:rPr>
              <a:t>予約日をお選びください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556248" y="5952744"/>
            <a:ext cx="4873752" cy="365760"/>
          </a:xfrm>
          <a:prstGeom prst="rect">
            <a:avLst/>
          </a:prstGeom>
          <a:solidFill>
            <a:srgbClr val="9AE5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647688" y="5971032"/>
            <a:ext cx="4690872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 i="0">
                <a:solidFill>
                  <a:srgbClr val="1A2B3A"/>
                </a:solidFill>
                <a:latin typeface="Hiragino Sans"/>
              </a:rPr>
              <a:t>○/○ 10:00 で予約完了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897880" y="5486400"/>
            <a:ext cx="578815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E8A800"/>
                </a:solidFill>
                <a:latin typeface="Hiragino Sans"/>
              </a:rPr>
              <a:t>③ LINE問診・予約｜Lステップ連携（患者スマホ）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A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537960"/>
            <a:ext cx="9144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CCD6E0"/>
                </a:solidFill>
                <a:latin typeface="Hiragino Sans"/>
              </a:rPr>
              <a:t>クリニックDX「My AI」  |  AI医療コンサル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Hiragino Sans"/>
              </a:rPr>
              <a:t>「本当に自院でも変わるのか？」を証明する実証データ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13232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CCD6E0"/>
                </a:solidFill>
                <a:latin typeface="Hiragino Sans"/>
              </a:rPr>
              <a:t>※当社実績ではなく、公開されている医療機関の導入実績です（出典明記）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71600"/>
            <a:ext cx="3611880" cy="4617720"/>
          </a:xfrm>
          <a:prstGeom prst="rect">
            <a:avLst/>
          </a:prstGeom>
          <a:solidFill>
            <a:srgbClr val="1A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371600"/>
            <a:ext cx="3611880" cy="54864"/>
          </a:xfrm>
          <a:prstGeom prst="rect">
            <a:avLst/>
          </a:prstGeom>
          <a:solidFill>
            <a:srgbClr val="E8A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536192"/>
            <a:ext cx="3611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 i="0">
                <a:solidFill>
                  <a:srgbClr val="E8A800"/>
                </a:solidFill>
                <a:latin typeface="Hiragino Sans"/>
              </a:rPr>
              <a:t>問診・予約のDX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938528"/>
            <a:ext cx="3611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 i="0">
                <a:solidFill>
                  <a:srgbClr val="CCD6E0"/>
                </a:solidFill>
                <a:latin typeface="Hiragino Sans"/>
              </a:rPr>
              <a:t>内科クリニック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2286000"/>
            <a:ext cx="3246120" cy="731520"/>
          </a:xfrm>
          <a:prstGeom prst="rect">
            <a:avLst/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5528" y="2322576"/>
            <a:ext cx="1097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 i="0">
                <a:solidFill>
                  <a:srgbClr val="FF6666"/>
                </a:solidFill>
                <a:latin typeface="Hiragino Sans"/>
              </a:rPr>
              <a:t>Before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8" y="2542032"/>
            <a:ext cx="302666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FFFFFF"/>
                </a:solidFill>
                <a:latin typeface="Hiragino Sans"/>
              </a:rPr>
              <a:t>電話の嵐＋紙問診の手入力で受付過多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3090672"/>
            <a:ext cx="3246120" cy="731520"/>
          </a:xfrm>
          <a:prstGeom prst="rect">
            <a:avLst/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528" y="3127248"/>
            <a:ext cx="1097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 i="0">
                <a:solidFill>
                  <a:srgbClr val="4A9ECB"/>
                </a:solidFill>
                <a:latin typeface="Hiragino Sans"/>
              </a:rPr>
              <a:t>After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8" y="3346704"/>
            <a:ext cx="302666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FFFFFF"/>
                </a:solidFill>
                <a:latin typeface="Hiragino Sans"/>
              </a:rPr>
              <a:t>Lステップで来院前にスマホ問診完了。電話を一次自動対応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3913632"/>
            <a:ext cx="3246120" cy="1600200"/>
          </a:xfrm>
          <a:prstGeom prst="rect">
            <a:avLst/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3913632"/>
            <a:ext cx="73152" cy="1600200"/>
          </a:xfrm>
          <a:prstGeom prst="rect">
            <a:avLst/>
          </a:prstGeom>
          <a:solidFill>
            <a:srgbClr val="E8A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" y="3950208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E8A800"/>
                </a:solidFill>
                <a:latin typeface="Hiragino Sans"/>
              </a:rPr>
              <a:t>成果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" y="4242816"/>
            <a:ext cx="30632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Hiragino Sans"/>
              </a:rPr>
              <a:t>● 初月にLINE予約 350件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" y="4636008"/>
            <a:ext cx="30632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Hiragino Sans"/>
              </a:rPr>
              <a:t>● 受付問診 70%削減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" y="5029200"/>
            <a:ext cx="30632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Hiragino Sans"/>
              </a:rPr>
              <a:t>● 月商 約1,500万円規模を押上げ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5577840"/>
            <a:ext cx="3611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0" i="0">
                <a:solidFill>
                  <a:srgbClr val="CCD6E0"/>
                </a:solidFill>
                <a:latin typeface="Hiragino Sans"/>
              </a:rPr>
              <a:t>出典: Lステップ公開事例「そのだ内科」ほか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34256" y="1371600"/>
            <a:ext cx="3611880" cy="4617720"/>
          </a:xfrm>
          <a:prstGeom prst="rect">
            <a:avLst/>
          </a:prstGeom>
          <a:solidFill>
            <a:srgbClr val="1A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34256" y="1371600"/>
            <a:ext cx="3611880" cy="54864"/>
          </a:xfrm>
          <a:prstGeom prst="rect">
            <a:avLst/>
          </a:prstGeom>
          <a:solidFill>
            <a:srgbClr val="E8A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34256" y="1536192"/>
            <a:ext cx="3611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 i="0">
                <a:solidFill>
                  <a:srgbClr val="E8A800"/>
                </a:solidFill>
                <a:latin typeface="Hiragino Sans"/>
              </a:rPr>
              <a:t>書類作成のDX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34256" y="1938528"/>
            <a:ext cx="3611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 i="0">
                <a:solidFill>
                  <a:srgbClr val="CCD6E0"/>
                </a:solidFill>
                <a:latin typeface="Hiragino Sans"/>
              </a:rPr>
              <a:t>病院・総合クリニック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17136" y="2286000"/>
            <a:ext cx="3246120" cy="731520"/>
          </a:xfrm>
          <a:prstGeom prst="rect">
            <a:avLst/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26864" y="2322576"/>
            <a:ext cx="1097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 i="0">
                <a:solidFill>
                  <a:srgbClr val="FF6666"/>
                </a:solidFill>
                <a:latin typeface="Hiragino Sans"/>
              </a:rPr>
              <a:t>Before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26864" y="2542032"/>
            <a:ext cx="302666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FFFFFF"/>
                </a:solidFill>
                <a:latin typeface="Hiragino Sans"/>
              </a:rPr>
              <a:t>紹介状・退院サマリ作成に医師が忙殺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17136" y="3090672"/>
            <a:ext cx="3246120" cy="731520"/>
          </a:xfrm>
          <a:prstGeom prst="rect">
            <a:avLst/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26864" y="3127248"/>
            <a:ext cx="1097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 i="0">
                <a:solidFill>
                  <a:srgbClr val="4A9ECB"/>
                </a:solidFill>
                <a:latin typeface="Hiragino Sans"/>
              </a:rPr>
              <a:t>After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26864" y="3346704"/>
            <a:ext cx="302666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FFFFFF"/>
                </a:solidFill>
                <a:latin typeface="Hiragino Sans"/>
              </a:rPr>
              <a:t>自院データを学習した生成AIが下書き自動生成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17136" y="3913632"/>
            <a:ext cx="3246120" cy="1600200"/>
          </a:xfrm>
          <a:prstGeom prst="rect">
            <a:avLst/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517136" y="3913632"/>
            <a:ext cx="73152" cy="1600200"/>
          </a:xfrm>
          <a:prstGeom prst="rect">
            <a:avLst/>
          </a:prstGeom>
          <a:solidFill>
            <a:srgbClr val="E8A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663440" y="3950208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E8A800"/>
                </a:solidFill>
                <a:latin typeface="Hiragino Sans"/>
              </a:rPr>
              <a:t>成果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63440" y="4242816"/>
            <a:ext cx="30632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Hiragino Sans"/>
              </a:rPr>
              <a:t>● 診断書 月400件を 50%削減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63440" y="4636008"/>
            <a:ext cx="30632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Hiragino Sans"/>
              </a:rPr>
              <a:t>● 退院サマリ 28分→8分(7割減)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63440" y="5029200"/>
            <a:ext cx="30632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Hiragino Sans"/>
              </a:rPr>
              <a:t>● 医師業務 月30h以上削減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334256" y="5577840"/>
            <a:ext cx="3611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0" i="0">
                <a:solidFill>
                  <a:srgbClr val="CCD6E0"/>
                </a:solidFill>
                <a:latin typeface="Hiragino Sans"/>
              </a:rPr>
              <a:t>出典: 新古賀/名古屋医療C/戸畑共立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165592" y="1371600"/>
            <a:ext cx="3611880" cy="4617720"/>
          </a:xfrm>
          <a:prstGeom prst="rect">
            <a:avLst/>
          </a:prstGeom>
          <a:solidFill>
            <a:srgbClr val="1A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165592" y="1371600"/>
            <a:ext cx="3611880" cy="54864"/>
          </a:xfrm>
          <a:prstGeom prst="rect">
            <a:avLst/>
          </a:prstGeom>
          <a:solidFill>
            <a:srgbClr val="E8A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165592" y="1536192"/>
            <a:ext cx="3611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 i="0">
                <a:solidFill>
                  <a:srgbClr val="E8A800"/>
                </a:solidFill>
                <a:latin typeface="Hiragino Sans"/>
              </a:rPr>
              <a:t>電話業務のDX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65592" y="1938528"/>
            <a:ext cx="3611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 i="0">
                <a:solidFill>
                  <a:srgbClr val="CCD6E0"/>
                </a:solidFill>
                <a:latin typeface="Hiragino Sans"/>
              </a:rPr>
              <a:t>地域密着クリニック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348472" y="2286000"/>
            <a:ext cx="3246120" cy="731520"/>
          </a:xfrm>
          <a:prstGeom prst="rect">
            <a:avLst/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458200" y="2322576"/>
            <a:ext cx="1097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 i="0">
                <a:solidFill>
                  <a:srgbClr val="FF6666"/>
                </a:solidFill>
                <a:latin typeface="Hiragino Sans"/>
              </a:rPr>
              <a:t>Before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58200" y="2542032"/>
            <a:ext cx="302666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FFFFFF"/>
                </a:solidFill>
                <a:latin typeface="Hiragino Sans"/>
              </a:rPr>
              <a:t>インフル予約・時間外問合せで電話過多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348472" y="3090672"/>
            <a:ext cx="3246120" cy="731520"/>
          </a:xfrm>
          <a:prstGeom prst="rect">
            <a:avLst/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458200" y="3127248"/>
            <a:ext cx="1097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 i="0">
                <a:solidFill>
                  <a:srgbClr val="4A9ECB"/>
                </a:solidFill>
                <a:latin typeface="Hiragino Sans"/>
              </a:rPr>
              <a:t>After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58200" y="3346704"/>
            <a:ext cx="302666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FFFFFF"/>
                </a:solidFill>
                <a:latin typeface="Hiragino Sans"/>
              </a:rPr>
              <a:t>AI音声が一次対応、営業電話を自動ブロック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348472" y="3913632"/>
            <a:ext cx="3246120" cy="1600200"/>
          </a:xfrm>
          <a:prstGeom prst="rect">
            <a:avLst/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8348472" y="3913632"/>
            <a:ext cx="73152" cy="1600200"/>
          </a:xfrm>
          <a:prstGeom prst="rect">
            <a:avLst/>
          </a:prstGeom>
          <a:solidFill>
            <a:srgbClr val="E8A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494776" y="3950208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E8A800"/>
                </a:solidFill>
                <a:latin typeface="Hiragino Sans"/>
              </a:rPr>
              <a:t>成果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494776" y="4242816"/>
            <a:ext cx="30632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Hiragino Sans"/>
              </a:rPr>
              <a:t>● 月1,200件の電話を自動化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494776" y="4636008"/>
            <a:ext cx="30632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Hiragino Sans"/>
              </a:rPr>
              <a:t>● うち約400件(40%)を削減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494776" y="5029200"/>
            <a:ext cx="30632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Hiragino Sans"/>
              </a:rPr>
              <a:t>● 対応時間 全体70%削減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165592" y="5577840"/>
            <a:ext cx="3611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0" i="0">
                <a:solidFill>
                  <a:srgbClr val="CCD6E0"/>
                </a:solidFill>
                <a:latin typeface="Hiragino Sans"/>
              </a:rPr>
              <a:t>出典: IVRy 公開導入事例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A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537960"/>
            <a:ext cx="9144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CCD6E0"/>
                </a:solidFill>
                <a:latin typeface="Hiragino Sans"/>
              </a:rPr>
              <a:t>クリニックDX「My AI」  |  AI医療コンサル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Hiragino Sans"/>
              </a:rPr>
              <a:t>御院の規模なら、いくら残る？ ── 削減効果の早見表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13232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CCD6E0"/>
                </a:solidFill>
                <a:latin typeface="Hiragino Sans"/>
              </a:rPr>
              <a:t>1モデルではなく、自院を当てはめられる規模別シミュレーション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371600"/>
          <a:ext cx="10725912" cy="23774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108960"/>
                <a:gridCol w="2286000"/>
                <a:gridCol w="2377440"/>
                <a:gridCol w="2953512"/>
              </a:tblGrid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Hiragino Sans"/>
                        </a:rPr>
                        <a:t>院の規模</a:t>
                      </a:r>
                    </a:p>
                  </a:txBody>
                  <a:tcPr anchor="ctr" marL="91440" marR="73152" marT="45720" marB="45720">
                    <a:solidFill>
                      <a:srgbClr val="1A2E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Hiragino Sans"/>
                        </a:rPr>
                        <a:t>月の削減額</a:t>
                      </a:r>
                    </a:p>
                  </a:txBody>
                  <a:tcPr anchor="ctr" marL="91440" marR="73152" marT="45720" marB="45720">
                    <a:solidFill>
                      <a:srgbClr val="1A2E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Hiragino Sans"/>
                        </a:rPr>
                        <a:t>成果報酬(30%)</a:t>
                      </a:r>
                    </a:p>
                  </a:txBody>
                  <a:tcPr anchor="ctr" marL="91440" marR="73152" marT="45720" marB="45720">
                    <a:solidFill>
                      <a:srgbClr val="1A2E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D1B2A"/>
                          </a:solidFill>
                          <a:latin typeface="Hiragino Sans"/>
                        </a:rPr>
                        <a:t>院に残る効果（年額）</a:t>
                      </a:r>
                    </a:p>
                  </a:txBody>
                  <a:tcPr anchor="ctr" marL="91440" marR="73152" marT="45720" marB="45720">
                    <a:solidFill>
                      <a:srgbClr val="E8A800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Hiragino Sans"/>
                        </a:rPr>
                        <a:t>医師1・事務2</a:t>
                      </a:r>
                    </a:p>
                  </a:txBody>
                  <a:tcPr anchor="ctr" marL="91440" marR="73152" marT="45720" marB="45720">
                    <a:solidFill>
                      <a:srgbClr val="1A2E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CCD6E0"/>
                          </a:solidFill>
                          <a:latin typeface="Hiragino Sans"/>
                        </a:rPr>
                        <a:t>約16万円</a:t>
                      </a:r>
                    </a:p>
                  </a:txBody>
                  <a:tcPr anchor="ctr" marL="91440" marR="73152" marT="45720" marB="45720">
                    <a:solidFill>
                      <a:srgbClr val="1A2E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CCD6E0"/>
                          </a:solidFill>
                          <a:latin typeface="Hiragino Sans"/>
                        </a:rPr>
                        <a:t>4.8万円</a:t>
                      </a:r>
                    </a:p>
                  </a:txBody>
                  <a:tcPr anchor="ctr" marL="91440" marR="73152" marT="45720" marB="45720">
                    <a:solidFill>
                      <a:srgbClr val="1A2E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E8A800"/>
                          </a:solidFill>
                          <a:latin typeface="Hiragino Sans"/>
                        </a:rPr>
                        <a:t>約134万円</a:t>
                      </a:r>
                    </a:p>
                  </a:txBody>
                  <a:tcPr anchor="ctr" marL="91440" marR="73152" marT="45720" marB="45720">
                    <a:solidFill>
                      <a:srgbClr val="2E2812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Hiragino Sans"/>
                        </a:rPr>
                        <a:t>医師1・事務3（標準）</a:t>
                      </a:r>
                    </a:p>
                  </a:txBody>
                  <a:tcPr anchor="ctr" marL="91440" marR="73152" marT="45720" marB="45720">
                    <a:solidFill>
                      <a:srgbClr val="1224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CCD6E0"/>
                          </a:solidFill>
                          <a:latin typeface="Hiragino Sans"/>
                        </a:rPr>
                        <a:t>約24万円</a:t>
                      </a:r>
                    </a:p>
                  </a:txBody>
                  <a:tcPr anchor="ctr" marL="91440" marR="73152" marT="45720" marB="45720">
                    <a:solidFill>
                      <a:srgbClr val="1224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CCD6E0"/>
                          </a:solidFill>
                          <a:latin typeface="Hiragino Sans"/>
                        </a:rPr>
                        <a:t>7.2万円</a:t>
                      </a:r>
                    </a:p>
                  </a:txBody>
                  <a:tcPr anchor="ctr" marL="91440" marR="73152" marT="45720" marB="45720">
                    <a:solidFill>
                      <a:srgbClr val="1224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E8A800"/>
                          </a:solidFill>
                          <a:latin typeface="Hiragino Sans"/>
                        </a:rPr>
                        <a:t>約202万円</a:t>
                      </a:r>
                    </a:p>
                  </a:txBody>
                  <a:tcPr anchor="ctr" marL="91440" marR="73152" marT="45720" marB="45720">
                    <a:solidFill>
                      <a:srgbClr val="2E2812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Hiragino Sans"/>
                        </a:rPr>
                        <a:t>医師2・事務5</a:t>
                      </a:r>
                    </a:p>
                  </a:txBody>
                  <a:tcPr anchor="ctr" marL="91440" marR="73152" marT="45720" marB="45720">
                    <a:solidFill>
                      <a:srgbClr val="1A2E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CCD6E0"/>
                          </a:solidFill>
                          <a:latin typeface="Hiragino Sans"/>
                        </a:rPr>
                        <a:t>約40万円</a:t>
                      </a:r>
                    </a:p>
                  </a:txBody>
                  <a:tcPr anchor="ctr" marL="91440" marR="73152" marT="45720" marB="45720">
                    <a:solidFill>
                      <a:srgbClr val="1A2E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CCD6E0"/>
                          </a:solidFill>
                          <a:latin typeface="Hiragino Sans"/>
                        </a:rPr>
                        <a:t>12万円</a:t>
                      </a:r>
                    </a:p>
                  </a:txBody>
                  <a:tcPr anchor="ctr" marL="91440" marR="73152" marT="45720" marB="45720">
                    <a:solidFill>
                      <a:srgbClr val="1A2E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E8A800"/>
                          </a:solidFill>
                          <a:latin typeface="Hiragino Sans"/>
                        </a:rPr>
                        <a:t>約336万円</a:t>
                      </a:r>
                    </a:p>
                  </a:txBody>
                  <a:tcPr anchor="ctr" marL="91440" marR="73152" marT="45720" marB="45720">
                    <a:solidFill>
                      <a:srgbClr val="2E2812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731520" y="4069080"/>
            <a:ext cx="10725912" cy="2011680"/>
          </a:xfrm>
          <a:prstGeom prst="rect">
            <a:avLst/>
          </a:prstGeom>
          <a:solidFill>
            <a:srgbClr val="1A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224528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E8A800"/>
                </a:solidFill>
                <a:latin typeface="Hiragino Sans"/>
              </a:rPr>
              <a:t>標準モデルの内訳（医師1・事務3 ／ 事務人件費 月83万円・総480時間・時間単価 約1,729円）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663440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Hiragino Sans"/>
              </a:rPr>
              <a:t>問診 −42h ＋ レセプト −45h ＋ 電話 −40h ＋ 書類 −12h ＝ 月139時間削減（フルタイム約1名分の余力創出）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102352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6FC68C"/>
                </a:solidFill>
                <a:latin typeface="Hiragino Sans"/>
              </a:rPr>
              <a:t>→ 月139h × 1,729円 ＝ 月 約24万円削減 → 年 約288万円。成果報酬を引いて、院に残る効果は 約202万円/年。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596128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  <a:latin typeface="Hiragino Sans"/>
              </a:rPr>
              <a:t>※「うちは事務3人だから…年200万か」と、その場で自院に当てはめられます。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A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537960"/>
            <a:ext cx="9144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CCD6E0"/>
                </a:solidFill>
                <a:latin typeface="Hiragino Sans"/>
              </a:rPr>
              <a:t>クリニックDX「My AI」  |  AI医療コンサル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Hiragino Sans"/>
              </a:rPr>
              <a:t>他社に頼むと「先行投資リスク」を抱える ── 業界価格の真実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13232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CCD6E0"/>
                </a:solidFill>
                <a:latin typeface="Hiragino Sans"/>
              </a:rPr>
              <a:t>他社は効果が出なくても固定費が発生。当サービスだけ唯一のノーリスク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1325880"/>
          <a:ext cx="11365992" cy="4800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83080"/>
                <a:gridCol w="2148840"/>
                <a:gridCol w="2148840"/>
                <a:gridCol w="2148840"/>
                <a:gridCol w="3136392"/>
              </a:tblGrid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Hiragino Sans"/>
                        </a:rPr>
                        <a:t>比較項目</a:t>
                      </a:r>
                    </a:p>
                  </a:txBody>
                  <a:tcPr anchor="ctr" marL="91440" marR="73152" marT="45720" marB="45720">
                    <a:solidFill>
                      <a:srgbClr val="1A2E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Hiragino Sans"/>
                        </a:rPr>
                        <a:t>一般ITベンダー</a:t>
                      </a:r>
                    </a:p>
                  </a:txBody>
                  <a:tcPr anchor="ctr" marL="91440" marR="73152" marT="45720" marB="45720">
                    <a:solidFill>
                      <a:srgbClr val="1A2E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Hiragino Sans"/>
                        </a:rPr>
                        <a:t>大手DXコンサル</a:t>
                      </a:r>
                    </a:p>
                  </a:txBody>
                  <a:tcPr anchor="ctr" marL="91440" marR="73152" marT="45720" marB="45720">
                    <a:solidFill>
                      <a:srgbClr val="1A2E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Hiragino Sans"/>
                        </a:rPr>
                        <a:t>Lステップ構築代行</a:t>
                      </a:r>
                    </a:p>
                  </a:txBody>
                  <a:tcPr anchor="ctr" marL="91440" marR="73152" marT="45720" marB="45720">
                    <a:solidFill>
                      <a:srgbClr val="1A2E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0D1B2A"/>
                          </a:solidFill>
                          <a:latin typeface="Hiragino Sans"/>
                        </a:rPr>
                        <a:t>当サービス（中立伴走）</a:t>
                      </a:r>
                    </a:p>
                  </a:txBody>
                  <a:tcPr anchor="ctr" marL="91440" marR="73152" marT="45720" marB="45720">
                    <a:solidFill>
                      <a:srgbClr val="E8A800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Hiragino Sans"/>
                        </a:rPr>
                        <a:t>提供内容</a:t>
                      </a:r>
                    </a:p>
                  </a:txBody>
                  <a:tcPr anchor="ctr" marL="91440" marR="73152" marT="45720" marB="45720">
                    <a:solidFill>
                      <a:srgbClr val="1A2E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CD6E0"/>
                          </a:solidFill>
                          <a:latin typeface="Hiragino Sans"/>
                        </a:rPr>
                        <a:t>自社アプリ単体販売</a:t>
                      </a:r>
                    </a:p>
                  </a:txBody>
                  <a:tcPr anchor="ctr" marL="91440" marR="73152" marT="45720" marB="45720">
                    <a:solidFill>
                      <a:srgbClr val="1A2E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CD6E0"/>
                          </a:solidFill>
                          <a:latin typeface="Hiragino Sans"/>
                        </a:rPr>
                        <a:t>業務分析・高額導入支援</a:t>
                      </a:r>
                    </a:p>
                  </a:txBody>
                  <a:tcPr anchor="ctr" marL="91440" marR="73152" marT="45720" marB="45720">
                    <a:solidFill>
                      <a:srgbClr val="1A2E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CD6E0"/>
                          </a:solidFill>
                          <a:latin typeface="Hiragino Sans"/>
                        </a:rPr>
                        <a:t>LINE・Lステップ構築</a:t>
                      </a:r>
                    </a:p>
                  </a:txBody>
                  <a:tcPr anchor="ctr" marL="91440" marR="73152" marT="45720" marB="45720">
                    <a:solidFill>
                      <a:srgbClr val="1A2E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E8A800"/>
                          </a:solidFill>
                          <a:latin typeface="Hiragino Sans"/>
                        </a:rPr>
                        <a:t>Lステップ×マイAI 全体最適化</a:t>
                      </a:r>
                    </a:p>
                  </a:txBody>
                  <a:tcPr anchor="ctr" marL="91440" marR="73152" marT="45720" marB="45720">
                    <a:solidFill>
                      <a:srgbClr val="2E2812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Hiragino Sans"/>
                        </a:rPr>
                        <a:t>初期費用</a:t>
                      </a:r>
                    </a:p>
                  </a:txBody>
                  <a:tcPr anchor="ctr" marL="91440" marR="73152" marT="45720" marB="45720">
                    <a:solidFill>
                      <a:srgbClr val="1224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CD6E0"/>
                          </a:solidFill>
                          <a:latin typeface="Hiragino Sans"/>
                        </a:rPr>
                        <a:t>20万〜数十万</a:t>
                      </a:r>
                    </a:p>
                  </a:txBody>
                  <a:tcPr anchor="ctr" marL="91440" marR="73152" marT="45720" marB="45720">
                    <a:solidFill>
                      <a:srgbClr val="1224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CD6E0"/>
                          </a:solidFill>
                          <a:latin typeface="Hiragino Sans"/>
                        </a:rPr>
                        <a:t>100〜300万</a:t>
                      </a:r>
                    </a:p>
                  </a:txBody>
                  <a:tcPr anchor="ctr" marL="91440" marR="73152" marT="45720" marB="45720">
                    <a:solidFill>
                      <a:srgbClr val="1224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CD6E0"/>
                          </a:solidFill>
                          <a:latin typeface="Hiragino Sans"/>
                        </a:rPr>
                        <a:t>50〜100万超</a:t>
                      </a:r>
                    </a:p>
                  </a:txBody>
                  <a:tcPr anchor="ctr" marL="91440" marR="73152" marT="45720" marB="45720">
                    <a:solidFill>
                      <a:srgbClr val="1224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E8A800"/>
                          </a:solidFill>
                          <a:latin typeface="Hiragino Sans"/>
                        </a:rPr>
                        <a:t>0円</a:t>
                      </a:r>
                    </a:p>
                  </a:txBody>
                  <a:tcPr anchor="ctr" marL="91440" marR="73152" marT="45720" marB="45720">
                    <a:solidFill>
                      <a:srgbClr val="2E2812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Hiragino Sans"/>
                        </a:rPr>
                        <a:t>月額費用</a:t>
                      </a:r>
                    </a:p>
                  </a:txBody>
                  <a:tcPr anchor="ctr" marL="91440" marR="73152" marT="45720" marB="45720">
                    <a:solidFill>
                      <a:srgbClr val="1A2E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CD6E0"/>
                          </a:solidFill>
                          <a:latin typeface="Hiragino Sans"/>
                        </a:rPr>
                        <a:t>1.5〜5万(固定)</a:t>
                      </a:r>
                    </a:p>
                  </a:txBody>
                  <a:tcPr anchor="ctr" marL="91440" marR="73152" marT="45720" marB="45720">
                    <a:solidFill>
                      <a:srgbClr val="1A2E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CD6E0"/>
                          </a:solidFill>
                          <a:latin typeface="Hiragino Sans"/>
                        </a:rPr>
                        <a:t>50〜300万(固定)</a:t>
                      </a:r>
                    </a:p>
                  </a:txBody>
                  <a:tcPr anchor="ctr" marL="91440" marR="73152" marT="45720" marB="45720">
                    <a:solidFill>
                      <a:srgbClr val="1A2E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CD6E0"/>
                          </a:solidFill>
                          <a:latin typeface="Hiragino Sans"/>
                        </a:rPr>
                        <a:t>5〜20万(固定)</a:t>
                      </a:r>
                    </a:p>
                  </a:txBody>
                  <a:tcPr anchor="ctr" marL="91440" marR="73152" marT="45720" marB="45720">
                    <a:solidFill>
                      <a:srgbClr val="1A2E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E8A800"/>
                          </a:solidFill>
                          <a:latin typeface="Hiragino Sans"/>
                        </a:rPr>
                        <a:t>0円（基本料なし）</a:t>
                      </a:r>
                    </a:p>
                  </a:txBody>
                  <a:tcPr anchor="ctr" marL="91440" marR="73152" marT="45720" marB="45720">
                    <a:solidFill>
                      <a:srgbClr val="2E2812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Hiragino Sans"/>
                        </a:rPr>
                        <a:t>報酬体系</a:t>
                      </a:r>
                    </a:p>
                  </a:txBody>
                  <a:tcPr anchor="ctr" marL="91440" marR="73152" marT="45720" marB="45720">
                    <a:solidFill>
                      <a:srgbClr val="1224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CD6E0"/>
                          </a:solidFill>
                          <a:latin typeface="Hiragino Sans"/>
                        </a:rPr>
                        <a:t>稼働問わず固定</a:t>
                      </a:r>
                    </a:p>
                  </a:txBody>
                  <a:tcPr anchor="ctr" marL="91440" marR="73152" marT="45720" marB="45720">
                    <a:solidFill>
                      <a:srgbClr val="1224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CD6E0"/>
                          </a:solidFill>
                          <a:latin typeface="Hiragino Sans"/>
                        </a:rPr>
                        <a:t>稼働ベース固定</a:t>
                      </a:r>
                    </a:p>
                  </a:txBody>
                  <a:tcPr anchor="ctr" marL="91440" marR="73152" marT="45720" marB="45720">
                    <a:solidFill>
                      <a:srgbClr val="1224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CD6E0"/>
                          </a:solidFill>
                          <a:latin typeface="Hiragino Sans"/>
                        </a:rPr>
                        <a:t>固定保守料</a:t>
                      </a:r>
                    </a:p>
                  </a:txBody>
                  <a:tcPr anchor="ctr" marL="91440" marR="73152" marT="45720" marB="45720">
                    <a:solidFill>
                      <a:srgbClr val="1224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E8A800"/>
                          </a:solidFill>
                          <a:latin typeface="Hiragino Sans"/>
                        </a:rPr>
                        <a:t>削減人件費の30%のみ</a:t>
                      </a:r>
                    </a:p>
                  </a:txBody>
                  <a:tcPr anchor="ctr" marL="91440" marR="73152" marT="45720" marB="45720">
                    <a:solidFill>
                      <a:srgbClr val="2E2812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Hiragino Sans"/>
                        </a:rPr>
                        <a:t>運用定着</a:t>
                      </a:r>
                    </a:p>
                  </a:txBody>
                  <a:tcPr anchor="ctr" marL="91440" marR="73152" marT="45720" marB="45720">
                    <a:solidFill>
                      <a:srgbClr val="1A2E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CD6E0"/>
                          </a:solidFill>
                          <a:latin typeface="Hiragino Sans"/>
                        </a:rPr>
                        <a:t>自力運用</a:t>
                      </a:r>
                    </a:p>
                  </a:txBody>
                  <a:tcPr anchor="ctr" marL="91440" marR="73152" marT="45720" marB="45720">
                    <a:solidFill>
                      <a:srgbClr val="1A2E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CD6E0"/>
                          </a:solidFill>
                          <a:latin typeface="Hiragino Sans"/>
                        </a:rPr>
                        <a:t>別料金で高額</a:t>
                      </a:r>
                    </a:p>
                  </a:txBody>
                  <a:tcPr anchor="ctr" marL="91440" marR="73152" marT="45720" marB="45720">
                    <a:solidFill>
                      <a:srgbClr val="1A2E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CD6E0"/>
                          </a:solidFill>
                          <a:latin typeface="Hiragino Sans"/>
                        </a:rPr>
                        <a:t>現場運用に不慣れ</a:t>
                      </a:r>
                    </a:p>
                  </a:txBody>
                  <a:tcPr anchor="ctr" marL="91440" marR="73152" marT="45720" marB="45720">
                    <a:solidFill>
                      <a:srgbClr val="1A2E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E8A800"/>
                          </a:solidFill>
                          <a:latin typeface="Hiragino Sans"/>
                        </a:rPr>
                        <a:t>3ヶ月伴走</a:t>
                      </a:r>
                    </a:p>
                  </a:txBody>
                  <a:tcPr anchor="ctr" marL="91440" marR="73152" marT="45720" marB="45720">
                    <a:solidFill>
                      <a:srgbClr val="2E2812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Hiragino Sans"/>
                        </a:rPr>
                        <a:t>院側のリスク</a:t>
                      </a:r>
                    </a:p>
                  </a:txBody>
                  <a:tcPr anchor="ctr" marL="91440" marR="73152" marT="45720" marB="45720">
                    <a:solidFill>
                      <a:srgbClr val="1224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CD6E0"/>
                          </a:solidFill>
                          <a:latin typeface="Hiragino Sans"/>
                        </a:rPr>
                        <a:t>高</a:t>
                      </a:r>
                    </a:p>
                  </a:txBody>
                  <a:tcPr anchor="ctr" marL="91440" marR="73152" marT="45720" marB="45720">
                    <a:solidFill>
                      <a:srgbClr val="1224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CD6E0"/>
                          </a:solidFill>
                          <a:latin typeface="Hiragino Sans"/>
                        </a:rPr>
                        <a:t>極めて高</a:t>
                      </a:r>
                    </a:p>
                  </a:txBody>
                  <a:tcPr anchor="ctr" marL="91440" marR="73152" marT="45720" marB="45720">
                    <a:solidFill>
                      <a:srgbClr val="1224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CD6E0"/>
                          </a:solidFill>
                          <a:latin typeface="Hiragino Sans"/>
                        </a:rPr>
                        <a:t>中</a:t>
                      </a:r>
                    </a:p>
                  </a:txBody>
                  <a:tcPr anchor="ctr" marL="91440" marR="73152" marT="45720" marB="45720">
                    <a:solidFill>
                      <a:srgbClr val="1224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E8A800"/>
                          </a:solidFill>
                          <a:latin typeface="Hiragino Sans"/>
                        </a:rPr>
                        <a:t>ゼロ（効果0なら0円）</a:t>
                      </a:r>
                    </a:p>
                  </a:txBody>
                  <a:tcPr anchor="ctr" marL="91440" marR="73152" marT="45720" marB="45720">
                    <a:solidFill>
                      <a:srgbClr val="2E281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A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537960"/>
            <a:ext cx="9144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CCD6E0"/>
                </a:solidFill>
                <a:latin typeface="Hiragino Sans"/>
              </a:rPr>
              <a:t>クリニックDX「My AI」  |  AI医療コンサル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Hiragino Sans"/>
              </a:rPr>
              <a:t>「うちでも本当に測定できる？」── リスクゼロの3ステップ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13232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CCD6E0"/>
                </a:solidFill>
                <a:latin typeface="Hiragino Sans"/>
              </a:rPr>
              <a:t>成果報酬への最大の懸念=「測定の手間」は、コンサル側が巻き取ります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71600"/>
            <a:ext cx="3611880" cy="4663440"/>
          </a:xfrm>
          <a:prstGeom prst="rect">
            <a:avLst/>
          </a:prstGeom>
          <a:solidFill>
            <a:srgbClr val="1A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371600"/>
            <a:ext cx="3611880" cy="822960"/>
          </a:xfrm>
          <a:prstGeom prst="rect">
            <a:avLst/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371600"/>
            <a:ext cx="3611880" cy="54864"/>
          </a:xfrm>
          <a:prstGeom prst="rect">
            <a:avLst/>
          </a:prstGeom>
          <a:solidFill>
            <a:srgbClr val="E8A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481328"/>
            <a:ext cx="3611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 i="0">
                <a:solidFill>
                  <a:srgbClr val="E8A800"/>
                </a:solidFill>
                <a:latin typeface="Hiragino Sans"/>
              </a:rPr>
              <a:t>STEP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883664"/>
            <a:ext cx="36118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 i="0">
                <a:solidFill>
                  <a:srgbClr val="CCD6E0"/>
                </a:solidFill>
                <a:latin typeface="Hiragino Sans"/>
              </a:rPr>
              <a:t>貴院の負担ゼロ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377440"/>
            <a:ext cx="3154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Hiragino Sans"/>
              </a:rPr>
              <a:t>事前の無料コンサル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944368"/>
            <a:ext cx="306324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CCD6E0"/>
                </a:solidFill>
                <a:latin typeface="Hiragino Sans"/>
              </a:rPr>
              <a:t>当方が競合分析と類似事例を持ち込み、業務フローとボトルネックを洗い出し。</a:t>
            </a:r>
          </a:p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CCD6E0"/>
                </a:solidFill>
                <a:latin typeface="Hiragino Sans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CCD6E0"/>
                </a:solidFill>
                <a:latin typeface="Hiragino Sans"/>
              </a:rPr>
              <a:t>※「2週間時間を計測」等の煩雑な作業は一切要求しません。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34256" y="1371600"/>
            <a:ext cx="3611880" cy="4663440"/>
          </a:xfrm>
          <a:prstGeom prst="rect">
            <a:avLst/>
          </a:prstGeom>
          <a:solidFill>
            <a:srgbClr val="1A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34256" y="1371600"/>
            <a:ext cx="3611880" cy="822960"/>
          </a:xfrm>
          <a:prstGeom prst="rect">
            <a:avLst/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34256" y="1371600"/>
            <a:ext cx="3611880" cy="54864"/>
          </a:xfrm>
          <a:prstGeom prst="rect">
            <a:avLst/>
          </a:prstGeom>
          <a:solidFill>
            <a:srgbClr val="E8A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34256" y="1481328"/>
            <a:ext cx="3611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 i="0">
                <a:solidFill>
                  <a:srgbClr val="E8A800"/>
                </a:solidFill>
                <a:latin typeface="Hiragino Sans"/>
              </a:rPr>
              <a:t>STEP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34256" y="1883664"/>
            <a:ext cx="36118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 i="0">
                <a:solidFill>
                  <a:srgbClr val="CCD6E0"/>
                </a:solidFill>
                <a:latin typeface="Hiragino Sans"/>
              </a:rPr>
              <a:t>双方納得の透明基準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62856" y="2377440"/>
            <a:ext cx="3154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Hiragino Sans"/>
              </a:rPr>
              <a:t>フェアな測定ルール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08576" y="2944368"/>
            <a:ext cx="306324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CCD6E0"/>
                </a:solidFill>
                <a:latin typeface="Hiragino Sans"/>
              </a:rPr>
              <a:t>導入前後で同等の患者数帯に基づき削減時間を算出。人員変更月は除外。</a:t>
            </a:r>
          </a:p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CCD6E0"/>
                </a:solidFill>
                <a:latin typeface="Hiragino Sans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CCD6E0"/>
                </a:solidFill>
                <a:latin typeface="Hiragino Sans"/>
              </a:rPr>
              <a:t>※最低契約期間以降は30日前通知で解約可。ロックインなし。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65592" y="1371600"/>
            <a:ext cx="3611880" cy="4663440"/>
          </a:xfrm>
          <a:prstGeom prst="rect">
            <a:avLst/>
          </a:prstGeom>
          <a:solidFill>
            <a:srgbClr val="1A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65592" y="1371600"/>
            <a:ext cx="3611880" cy="822960"/>
          </a:xfrm>
          <a:prstGeom prst="rect">
            <a:avLst/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165592" y="1371600"/>
            <a:ext cx="3611880" cy="54864"/>
          </a:xfrm>
          <a:prstGeom prst="rect">
            <a:avLst/>
          </a:prstGeom>
          <a:solidFill>
            <a:srgbClr val="E8A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65592" y="1481328"/>
            <a:ext cx="3611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 i="0">
                <a:solidFill>
                  <a:srgbClr val="E8A800"/>
                </a:solidFill>
                <a:latin typeface="Hiragino Sans"/>
              </a:rPr>
              <a:t>STEP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65592" y="1883664"/>
            <a:ext cx="36118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 i="0">
                <a:solidFill>
                  <a:srgbClr val="CCD6E0"/>
                </a:solidFill>
                <a:latin typeface="Hiragino Sans"/>
              </a:rPr>
              <a:t>リスクは私たちが取る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94192" y="2377440"/>
            <a:ext cx="3154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Hiragino Sans"/>
              </a:rPr>
              <a:t>手元に利益が残る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39912" y="2944368"/>
            <a:ext cx="306324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CCD6E0"/>
                </a:solidFill>
                <a:latin typeface="Hiragino Sans"/>
              </a:rPr>
              <a:t>【例：月24万円分を削減】</a:t>
            </a:r>
          </a:p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CCD6E0"/>
                </a:solidFill>
                <a:latin typeface="Hiragino Sans"/>
              </a:rPr>
              <a:t>削減額24万 × 30% ＝ お支払い 7.2万円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394192" y="4480560"/>
            <a:ext cx="3154680" cy="1371600"/>
          </a:xfrm>
          <a:prstGeom prst="rect">
            <a:avLst/>
          </a:prstGeom>
          <a:solidFill>
            <a:srgbClr val="12243A"/>
          </a:solidFill>
          <a:ln w="19050">
            <a:solidFill>
              <a:srgbClr val="E8A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94192" y="4572000"/>
            <a:ext cx="3154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 i="0">
                <a:solidFill>
                  <a:srgbClr val="E8A800"/>
                </a:solidFill>
                <a:latin typeface="Hiragino Sans"/>
              </a:rPr>
              <a:t>貴院に残る効果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94192" y="4846320"/>
            <a:ext cx="3154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 i="0">
                <a:solidFill>
                  <a:srgbClr val="E8A800"/>
                </a:solidFill>
                <a:latin typeface="Hiragino Sans"/>
              </a:rPr>
              <a:t>月 16.8万円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39912" y="5440680"/>
            <a:ext cx="3063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CCD6E0"/>
                </a:solidFill>
                <a:latin typeface="Hiragino Sans"/>
              </a:rPr>
              <a:t>（年 約200万円）／効果0なら支払い0円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A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537960"/>
            <a:ext cx="9144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CCD6E0"/>
                </a:solidFill>
                <a:latin typeface="Hiragino Sans"/>
              </a:rPr>
              <a:t>クリニックDX「My AI」  |  AI医療コンサル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Hiragino Sans"/>
              </a:rPr>
              <a:t>なぜ私たちは「完全成果報酬」で伴走できるのか？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13232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CCD6E0"/>
                </a:solidFill>
                <a:latin typeface="Hiragino Sans"/>
              </a:rPr>
              <a:t>「なぜ他社は固定費で、御社は成果報酬でやれるのか？」への答え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71600"/>
            <a:ext cx="5486400" cy="2212848"/>
          </a:xfrm>
          <a:prstGeom prst="rect">
            <a:avLst/>
          </a:prstGeom>
          <a:solidFill>
            <a:srgbClr val="1A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371600"/>
            <a:ext cx="5486400" cy="54864"/>
          </a:xfrm>
          <a:prstGeom prst="rect">
            <a:avLst/>
          </a:prstGeom>
          <a:solidFill>
            <a:srgbClr val="E8A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645920"/>
            <a:ext cx="822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 i="0">
                <a:solidFill>
                  <a:srgbClr val="E8A800"/>
                </a:solidFill>
                <a:latin typeface="Hiragino San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1645920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Hiragino Sans"/>
              </a:rPr>
              <a:t>中立選定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214884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E8A800"/>
                </a:solidFill>
                <a:latin typeface="Hiragino Sans"/>
              </a:rPr>
              <a:t>特定メーカーに縛られない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651760"/>
            <a:ext cx="48463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CCD6E0"/>
                </a:solidFill>
                <a:latin typeface="Hiragino Sans"/>
              </a:rPr>
              <a:t>自社ツールの売り込みではない。Lステップ/マイAI/IVRから貴院の診療科・規模に最適な組合せを厳選。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1371600"/>
            <a:ext cx="5486400" cy="2212848"/>
          </a:xfrm>
          <a:prstGeom prst="rect">
            <a:avLst/>
          </a:prstGeom>
          <a:solidFill>
            <a:srgbClr val="1A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0" y="1371600"/>
            <a:ext cx="5486400" cy="54864"/>
          </a:xfrm>
          <a:prstGeom prst="rect">
            <a:avLst/>
          </a:prstGeom>
          <a:solidFill>
            <a:srgbClr val="E8A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20840" y="1645920"/>
            <a:ext cx="822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 i="0">
                <a:solidFill>
                  <a:srgbClr val="E8A800"/>
                </a:solidFill>
                <a:latin typeface="Hiragino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0" y="1645920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Hiragino Sans"/>
              </a:rPr>
              <a:t>実践ノウハウ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0" y="214884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E8A800"/>
                </a:solidFill>
                <a:latin typeface="Hiragino Sans"/>
              </a:rPr>
              <a:t>自社で泥臭く運用した知見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2651760"/>
            <a:ext cx="48463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CCD6E0"/>
                </a:solidFill>
                <a:latin typeface="Hiragino Sans"/>
              </a:rPr>
              <a:t>ツールは「設計」より「運用」でつまずく。自社実践で現場の抵抗感・エラー回避まで熟知。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950208"/>
            <a:ext cx="5486400" cy="2212848"/>
          </a:xfrm>
          <a:prstGeom prst="rect">
            <a:avLst/>
          </a:prstGeom>
          <a:solidFill>
            <a:srgbClr val="1A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3950208"/>
            <a:ext cx="5486400" cy="54864"/>
          </a:xfrm>
          <a:prstGeom prst="rect">
            <a:avLst/>
          </a:prstGeom>
          <a:solidFill>
            <a:srgbClr val="E8A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4224528"/>
            <a:ext cx="822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 i="0">
                <a:solidFill>
                  <a:srgbClr val="E8A800"/>
                </a:solidFill>
                <a:latin typeface="Hiragino Sans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91640" y="4224528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Hiragino Sans"/>
              </a:rPr>
              <a:t>一気通貫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91640" y="4727448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E8A800"/>
                </a:solidFill>
                <a:latin typeface="Hiragino Sans"/>
              </a:rPr>
              <a:t>補助金申請＋定着まで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5230368"/>
            <a:ext cx="48463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CCD6E0"/>
                </a:solidFill>
                <a:latin typeface="Hiragino Sans"/>
              </a:rPr>
              <a:t>IT導入補助金・医療情報化支援基金の活用を支援し初期コスト最小化。使いこなすまで3ヶ月伴走。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3950208"/>
            <a:ext cx="5486400" cy="2212848"/>
          </a:xfrm>
          <a:prstGeom prst="rect">
            <a:avLst/>
          </a:prstGeom>
          <a:solidFill>
            <a:srgbClr val="1A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0800" y="3950208"/>
            <a:ext cx="5486400" cy="54864"/>
          </a:xfrm>
          <a:prstGeom prst="rect">
            <a:avLst/>
          </a:prstGeom>
          <a:solidFill>
            <a:srgbClr val="E8A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20840" y="4224528"/>
            <a:ext cx="822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 i="0">
                <a:solidFill>
                  <a:srgbClr val="E8A800"/>
                </a:solidFill>
                <a:latin typeface="Hiragino Sans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89520" y="4224528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Hiragino Sans"/>
              </a:rPr>
              <a:t>リスクゼロ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0" y="4727448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E8A800"/>
                </a:solidFill>
                <a:latin typeface="Hiragino Sans"/>
              </a:rPr>
              <a:t>自信があるからこその設計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66560" y="5230368"/>
            <a:ext cx="48463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CCD6E0"/>
                </a:solidFill>
                <a:latin typeface="Hiragino Sans"/>
              </a:rPr>
              <a:t>事前分析で「本当に削減できる」確証と成功事例があるから、院にリスクを負わせないモデルが成立。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E8A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 i="0">
                <a:solidFill>
                  <a:srgbClr val="FFFFFF"/>
                </a:solidFill>
                <a:latin typeface="Hiragino Sans"/>
              </a:rPr>
              <a:t>リスクゼロで、次世代のクリニック運営を始めませんか？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41732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CCD6E0"/>
                </a:solidFill>
                <a:latin typeface="Hiragino Sans"/>
              </a:rPr>
              <a:t>押し売りは一切なし。単なる問い合わせでなく、1時間の無料コンサルセッションとしてご利用ください。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240280"/>
            <a:ext cx="6126480" cy="868680"/>
          </a:xfrm>
          <a:prstGeom prst="rect">
            <a:avLst/>
          </a:prstGeom>
          <a:solidFill>
            <a:srgbClr val="1A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240280"/>
            <a:ext cx="54864" cy="868680"/>
          </a:xfrm>
          <a:prstGeom prst="rect">
            <a:avLst/>
          </a:prstGeom>
          <a:solidFill>
            <a:srgbClr val="E8A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359152"/>
            <a:ext cx="5760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E8A800"/>
                </a:solidFill>
                <a:latin typeface="Hiragino Sans"/>
              </a:rPr>
              <a:t>✓ ネット上の競合分析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697480"/>
            <a:ext cx="5760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CCD6E0"/>
                </a:solidFill>
                <a:latin typeface="Hiragino Sans"/>
              </a:rPr>
              <a:t>貴院周辺クリニックのデジタル対応状況を分析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3246120"/>
            <a:ext cx="6126480" cy="868680"/>
          </a:xfrm>
          <a:prstGeom prst="rect">
            <a:avLst/>
          </a:prstGeom>
          <a:solidFill>
            <a:srgbClr val="1A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3246120"/>
            <a:ext cx="54864" cy="868680"/>
          </a:xfrm>
          <a:prstGeom prst="rect">
            <a:avLst/>
          </a:prstGeom>
          <a:solidFill>
            <a:srgbClr val="E8A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3364992"/>
            <a:ext cx="5760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E8A800"/>
                </a:solidFill>
                <a:latin typeface="Hiragino Sans"/>
              </a:rPr>
              <a:t>✓ 現状フローの整理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703320"/>
            <a:ext cx="5760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CCD6E0"/>
                </a:solidFill>
                <a:latin typeface="Hiragino Sans"/>
              </a:rPr>
              <a:t>電話の多さ・書類の手間などボトルネックをその場で特定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4343400"/>
            <a:ext cx="6126480" cy="1691640"/>
          </a:xfrm>
          <a:prstGeom prst="rect">
            <a:avLst/>
          </a:prstGeom>
          <a:solidFill>
            <a:srgbClr val="1A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4480560"/>
            <a:ext cx="5760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E8A800"/>
                </a:solidFill>
                <a:latin typeface="Hiragino Sans"/>
              </a:rPr>
              <a:t>お申込み（その場でQR／用紙）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4892040"/>
            <a:ext cx="5669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Hiragino Sans"/>
              </a:rPr>
              <a:t>▢  クリニック名 ／ ご担当者名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5257800"/>
            <a:ext cx="5669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Hiragino Sans"/>
              </a:rPr>
              <a:t>▢  電話番号 ／ メールアドレス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5623560"/>
            <a:ext cx="5669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Hiragino Sans"/>
              </a:rPr>
              <a:t>▢  ご希望の面談日時（オンライン対応可）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223760" y="2240280"/>
            <a:ext cx="4160520" cy="3794760"/>
          </a:xfrm>
          <a:prstGeom prst="rect">
            <a:avLst/>
          </a:prstGeom>
          <a:solidFill>
            <a:srgbClr val="1A2E44"/>
          </a:solidFill>
          <a:ln w="25400">
            <a:solidFill>
              <a:srgbClr val="E8A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23760" y="2468880"/>
            <a:ext cx="4160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i="0">
                <a:solidFill>
                  <a:srgbClr val="E8A800"/>
                </a:solidFill>
                <a:latin typeface="Hiragino Sans"/>
              </a:rPr>
              <a:t>★ 参加特典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3063240"/>
            <a:ext cx="41605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2200" b="1" i="0">
                <a:solidFill>
                  <a:srgbClr val="FFFFFF"/>
                </a:solidFill>
                <a:latin typeface="Hiragino Sans"/>
              </a:rPr>
              <a:t>貴院専用</a:t>
            </a:r>
          </a:p>
          <a:p>
            <a:pPr algn="ctr">
              <a:lnSpc>
                <a:spcPct val="110000"/>
              </a:lnSpc>
            </a:pPr>
            <a:r>
              <a:rPr sz="2200" b="1" i="0">
                <a:solidFill>
                  <a:srgbClr val="FFFFFF"/>
                </a:solidFill>
                <a:latin typeface="Hiragino Sans"/>
              </a:rPr>
              <a:t>業務削減シミュレーション</a:t>
            </a:r>
          </a:p>
          <a:p>
            <a:pPr algn="ctr">
              <a:lnSpc>
                <a:spcPct val="110000"/>
              </a:lnSpc>
            </a:pPr>
            <a:r>
              <a:rPr sz="2200" b="1" i="0">
                <a:solidFill>
                  <a:srgbClr val="FFFFFF"/>
                </a:solidFill>
                <a:latin typeface="Hiragino Sans"/>
              </a:rPr>
              <a:t>報告書（診断書）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0" y="4663440"/>
            <a:ext cx="4160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 i="0">
                <a:solidFill>
                  <a:srgbClr val="CCD6E0"/>
                </a:solidFill>
                <a:latin typeface="Hiragino Sans"/>
              </a:rPr>
              <a:t>を無料で作成・プレゼント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23760" y="5349240"/>
            <a:ext cx="4160520" cy="502920"/>
          </a:xfrm>
          <a:prstGeom prst="rect">
            <a:avLst/>
          </a:prstGeom>
          <a:solidFill>
            <a:srgbClr val="E8A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23760" y="5349240"/>
            <a:ext cx="41605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  <a:latin typeface="Hiragino Sans"/>
              </a:rPr>
              <a:t>今回は丁寧に伴走するため【限定 ◯ 名】様まで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
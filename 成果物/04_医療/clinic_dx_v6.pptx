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AI × CLINIC 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057400"/>
            <a:ext cx="6766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Hiragino Sans"/>
              </a:rPr>
              <a:t>クリニックのAI・LINE導入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88920"/>
            <a:ext cx="6766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AA2E26"/>
                </a:solidFill>
                <a:latin typeface="Hiragino Sans"/>
              </a:rPr>
              <a:t>まるごとおまかせ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6675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6E"/>
                </a:solidFill>
                <a:latin typeface="Hiragino Sans"/>
              </a:rPr>
              <a:t>独自カスタマイズの「マイAI」×「Lステップ」×AI音声(IVR)で実現する、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6E"/>
                </a:solidFill>
                <a:latin typeface="Hiragino Sans"/>
              </a:rPr>
              <a:t>初期費用0円・完全成果報酬型のクリニックDX。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09160"/>
            <a:ext cx="210312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7091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73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E6E6E"/>
                </a:solidFill>
                <a:latin typeface="Hiragino Sans"/>
              </a:rPr>
              <a:t>初期費用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48072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AA2E26"/>
                </a:solidFill>
                <a:latin typeface="Hiragino Sans"/>
              </a:rPr>
              <a:t>0円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72384" y="4709160"/>
            <a:ext cx="210312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72384" y="47091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4873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E6E6E"/>
                </a:solidFill>
                <a:latin typeface="Hiragino Sans"/>
              </a:rPr>
              <a:t>月額基本料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5148072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AA2E26"/>
                </a:solidFill>
                <a:latin typeface="Hiragino Sans"/>
              </a:rPr>
              <a:t>0円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1808" y="4709160"/>
            <a:ext cx="210312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1808" y="47091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4873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E6E6E"/>
                </a:solidFill>
                <a:latin typeface="Hiragino Sans"/>
              </a:rPr>
              <a:t>成果報酬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5148072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AA2E26"/>
                </a:solidFill>
                <a:latin typeface="Hiragino Sans"/>
              </a:rPr>
              <a:t>30%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199632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Hiragino Sans"/>
              </a:rPr>
              <a:t>チームてっかん  ｜  菊池 研太  ｜  @khd_medical01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1554480"/>
            <a:ext cx="4114800" cy="3154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6679" y="1554480"/>
            <a:ext cx="41148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creen1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920240"/>
            <a:ext cx="3657600" cy="228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26679" y="482803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実際のMyAI画面：カルテ → 紹介状を数秒で自動下書き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現場はもう限界では？ ── 御院でも起きていませんか？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ネット上の生の声が示す、クリニックのリアルな4大お悩み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2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4767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採用しても、定着しない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0604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70万〜150万円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2461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医療事務の採用単価。保険制度の複雑さで即戦力にならず早期離職の悪循環。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87452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94767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カルテ入力で患者と目が合わない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260604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診察時間の半分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32461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が電子カルテ入力。診療後も紹介状・診断書作成で2時間超の残業。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3484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0799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月初10日のレセプトが毎月重い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516636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月10〜20時間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58064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の残業が常態化。目視チェックによる算定漏れの不安も重なる。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25196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43484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50799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鳴り止まない電話で受付がパンク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516636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月1,200件超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58064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の電話対応。「今空いてますか？」で目の前の患者対応が滞る。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既存の業務をどう変えるか？ ── 完全自動化マップ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医者の悩み（左）を、AI商品（右）がどう解決するか。クリニック全体を1つのエコシステムで最適化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91640"/>
          <a:ext cx="11183112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3520440"/>
                <a:gridCol w="3703320"/>
                <a:gridCol w="2130552"/>
              </a:tblGrid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業務領域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現状のアナログ業務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マイAI・Lステップ・IVR導入後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削減効果</a:t>
                      </a:r>
                    </a:p>
                  </a:txBody>
                  <a:tcPr anchor="ctr" marL="91440" marR="73152" marT="45720" marB="45720">
                    <a:solidFill>
                      <a:srgbClr val="8C241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問診・予約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電話受付＋紙問診をカルテへ手入力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Lステップで来院前にスマホ上で完結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問診業務 40〜70%減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電話対応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全件スタッフが受話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AI音声(IVR)が一次対応・LINE誘導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電話件数 最大40〜80%減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書類作成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過去カルテを探しつつ手作業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自院学習「マイAI」が下書き自動生成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書類時間 月30h以上減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レセプト点検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月末月初に目視で残業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AIが4,000ルールで算定漏れ自動チェック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点検時間 最大1/20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"使う場面"が見える ── 実際のMyAI画面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院長・スタッフ・患者、それぞれの画面で業務が変わる（画面はデモ・数値は例示）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212080" cy="4297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2120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1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4754880" cy="2971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4406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① 書類アシスト｜カルテ→紹介状を数秒で下書き（院長の画面）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691640"/>
            <a:ext cx="5788152" cy="25146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1691640"/>
            <a:ext cx="5788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2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938528"/>
            <a:ext cx="3611880" cy="22574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97880" y="4261104"/>
            <a:ext cx="5788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② 成果ダッシュボード｜削減効果を可視化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4663440"/>
            <a:ext cx="5788152" cy="13258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4663440"/>
            <a:ext cx="5788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reen3_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773168"/>
            <a:ext cx="548640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95160" y="4663440"/>
            <a:ext cx="4572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③ LINE問診・予約｜Lステップ連携（患者スマホ）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「本当に自院でも変わるのか？」を証明する実証データ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※当社実績ではなく、公開されている医療機関の導入実績です（出典明記）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問診・予約のDX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585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E6E6E"/>
                </a:solidFill>
                <a:latin typeface="Hiragino Sans"/>
              </a:rPr>
              <a:t>内科クリニック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06040"/>
            <a:ext cx="3246120" cy="6858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63347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843784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電話の嵐＋紙問診の手入力で受付過多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364992"/>
            <a:ext cx="3246120" cy="685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392424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602735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Lステップで来院前にスマホ問診完了。電話を一次自動対応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42232"/>
            <a:ext cx="3246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42232"/>
            <a:ext cx="73152" cy="1508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78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A2E26"/>
                </a:solidFill>
                <a:latin typeface="Hiragino Sans"/>
              </a:rPr>
              <a:t>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47141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初月にLINE予約 350件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83717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受付問診 70%削減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520293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月商 約1,500万円規模を押上げ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150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出典: Lステップ公開事例「そのだ内科」ほか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4256" y="16916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34256" y="185623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書類作成のDX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6" y="22585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E6E6E"/>
                </a:solidFill>
                <a:latin typeface="Hiragino Sans"/>
              </a:rPr>
              <a:t>病院・総合クリニック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17136" y="2606040"/>
            <a:ext cx="3246120" cy="6858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263347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Before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2843784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紹介状・退院サマリ作成に医師が忙殺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17136" y="3364992"/>
            <a:ext cx="3246120" cy="685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6864" y="3392424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After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6864" y="3602735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自院データを学習した生成AIが下書き自動生成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17136" y="4142232"/>
            <a:ext cx="3246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17136" y="4142232"/>
            <a:ext cx="73152" cy="1508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8" y="4178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A2E26"/>
                </a:solidFill>
                <a:latin typeface="Hiragino Sans"/>
              </a:rPr>
              <a:t>成果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447141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診断書 月400件を 50%削減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1728" y="483717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退院サマリ 28分→8分(7割減)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1728" y="520293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医師業務 月30h以上削減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6" y="57150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出典: 新古賀/名古屋医療C/戸畑共立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65592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65592" y="16916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65592" y="185623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電話業務のDX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5592" y="22585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E6E6E"/>
                </a:solidFill>
                <a:latin typeface="Hiragino Sans"/>
              </a:rPr>
              <a:t>地域密着クリニック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48472" y="2606040"/>
            <a:ext cx="3246120" cy="6858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263347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Before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2843784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インフル予約・時間外問合せで電話過多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48472" y="3364992"/>
            <a:ext cx="3246120" cy="685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3392424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After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AI音声が一次対応、営業電話を自動ブロック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48472" y="4142232"/>
            <a:ext cx="3246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48472" y="4142232"/>
            <a:ext cx="73152" cy="1508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13064" y="4178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A2E26"/>
                </a:solidFill>
                <a:latin typeface="Hiragino Sans"/>
              </a:rPr>
              <a:t>成果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13064" y="447141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月1,200件の電話を自動化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13064" y="483717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うち約400件(40%)を削減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13064" y="520293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対応時間 全体70%削減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65592" y="57150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出典: IVRy 公開導入事例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御院の規模なら、いくら残る？ ── 削減効果の早見表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1モデルではなく、自院を当てはめられる規模別シミュレーション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10725912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2286000"/>
                <a:gridCol w="2377440"/>
                <a:gridCol w="2953512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院の規模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月の削減額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成果報酬(30%)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院に残る効果（年額）</a:t>
                      </a:r>
                    </a:p>
                  </a:txBody>
                  <a:tcPr anchor="ctr" marL="91440" marR="73152" marT="45720" marB="45720">
                    <a:solidFill>
                      <a:srgbClr val="8C241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Hiragino Sans"/>
                        </a:rPr>
                        <a:t>医師1・事務2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約16万円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4.8万円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A2E26"/>
                          </a:solidFill>
                          <a:latin typeface="Hiragino Sans"/>
                        </a:rPr>
                        <a:t>約134万円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Hiragino Sans"/>
                        </a:rPr>
                        <a:t>医師1・事務3（標準）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約24万円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7.2万円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A2E26"/>
                          </a:solidFill>
                          <a:latin typeface="Hiragino Sans"/>
                        </a:rPr>
                        <a:t>約202万円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Hiragino Sans"/>
                        </a:rPr>
                        <a:t>医師2・事務5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約40万円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12万円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A2E26"/>
                          </a:solidFill>
                          <a:latin typeface="Hiragino Sans"/>
                        </a:rPr>
                        <a:t>約336万円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4297680"/>
            <a:ext cx="10725912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6227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AA2E26"/>
                </a:solidFill>
                <a:latin typeface="Hiragino Sans"/>
              </a:rPr>
              <a:t>標準モデルの内訳（医師1・事務3 ／ 事務人件費 月83万円・総480時間・時間単価 約1,729円）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01184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問診 −42h ＋ レセプト −45h ＋ 電話 −40h ＋ 書類 −12h ＝ 月139時間削減（フルタイム約1名分の余力創出）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0096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8C241D"/>
                </a:solidFill>
                <a:latin typeface="Hiragino Sans"/>
              </a:rPr>
              <a:t>→ 月139h × 1,729円 ＝ 月 約24万円削減 → 年 約288万円。成果報酬を引いて、院に残る効果は 約202万円/年。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79008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※「うちは事務3人だから…年200万か」と、その場で自院に当てはめられます。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WHY RISK-ZERO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他社に頼むと「先行投資リスク」を抱える ── 業界価格の真実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他社は効果が出なくても固定費が発生。当サービスだけ唯一のノーリスク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645920"/>
          <a:ext cx="11365992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2148840"/>
                <a:gridCol w="2148840"/>
                <a:gridCol w="2148840"/>
                <a:gridCol w="3136392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比較項目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一般ITベンダー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大手DXコンサル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Lステップ構築代行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当サービス（中立伴走）</a:t>
                      </a:r>
                    </a:p>
                  </a:txBody>
                  <a:tcPr anchor="ctr" marL="91440" marR="73152" marT="45720" marB="45720">
                    <a:solidFill>
                      <a:srgbClr val="8C241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提供内容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自社アプリ単体販売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業務分析・高額導入支援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LINE・Lステップ構築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A2E26"/>
                          </a:solidFill>
                          <a:latin typeface="Hiragino Sans"/>
                        </a:rPr>
                        <a:t>Lステップ×マイAI 全体最適化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初期費用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20万〜数十万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100〜300万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50〜100万超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A2E26"/>
                          </a:solidFill>
                          <a:latin typeface="Hiragino Sans"/>
                        </a:rPr>
                        <a:t>0円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月額費用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1.5〜5万(固定)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50〜300万(固定)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5〜20万(固定)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A2E26"/>
                          </a:solidFill>
                          <a:latin typeface="Hiragino Sans"/>
                        </a:rPr>
                        <a:t>0円（基本料なし）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報酬体系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稼働問わず固定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稼働ベース固定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固定保守料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A2E26"/>
                          </a:solidFill>
                          <a:latin typeface="Hiragino Sans"/>
                        </a:rPr>
                        <a:t>削減人件費の30%のみ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運用定着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自力運用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別料金で高額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現場運用に不慣れ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A2E26"/>
                          </a:solidFill>
                          <a:latin typeface="Hiragino Sans"/>
                        </a:rPr>
                        <a:t>3ヶ月伴走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院側のリスク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高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極めて高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中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A2E26"/>
                          </a:solidFill>
                          <a:latin typeface="Hiragino Sans"/>
                        </a:rPr>
                        <a:t>ゼロ（効果0なら0円）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「うちでも本当に測定できる？」── リスクゼロの3ステップ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成果報酬への最大の懸念=「測定の手間」は、コンサル側が巻き取ります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3611880" cy="7772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8541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2D8D6"/>
                </a:solidFill>
                <a:latin typeface="Hiragino Sans"/>
              </a:rPr>
              <a:t>貴院の負担ゼロ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Hiragino Sans"/>
              </a:rPr>
              <a:t>事前の無料コンサル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3063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当方が競合分析と類似事例を持ち込み、業務フローとボトルネックを洗い出し。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※「2週間時間を計測」等の煩雑な作業は一切要求しません。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691640"/>
            <a:ext cx="3611880" cy="7772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17830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18541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2D8D6"/>
                </a:solidFill>
                <a:latin typeface="Hiragino Sans"/>
              </a:rPr>
              <a:t>双方納得の透明基準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5176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Hiragino Sans"/>
              </a:rPr>
              <a:t>フェアな測定ルール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200400"/>
            <a:ext cx="3063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導入前後で同等の患者数帯に基づき削減時間を算出。人員変更月は除外。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※最低契約期間以降は30日前通知で解約可。ロックインなし。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5592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65592" y="1691640"/>
            <a:ext cx="3611880" cy="7772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17830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18541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2D8D6"/>
                </a:solidFill>
                <a:latin typeface="Hiragino Sans"/>
              </a:rPr>
              <a:t>リスクは私たちが取る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65176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Hiragino Sans"/>
              </a:rPr>
              <a:t>手元に利益が残る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3200400"/>
            <a:ext cx="3063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【例：月24万円分を削減】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削減額24万 × 30% ＝ お支払い 7.2万円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94192" y="4617720"/>
            <a:ext cx="3154680" cy="1280160"/>
          </a:xfrm>
          <a:prstGeom prst="rect">
            <a:avLst/>
          </a:prstGeom>
          <a:solidFill>
            <a:srgbClr val="F4E4E2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4709160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AA2E26"/>
                </a:solidFill>
                <a:latin typeface="Hiragino Sans"/>
              </a:rPr>
              <a:t>貴院に残る効果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9834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AA2E26"/>
                </a:solidFill>
                <a:latin typeface="Hiragino Sans"/>
              </a:rPr>
              <a:t>月 16.8万円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557784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Hiragino Sans"/>
              </a:rPr>
              <a:t>（年 約200万円）／効果0なら支払い0円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OUR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なぜ私たちは「完全成果報酬」で伴走できるのか？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「なぜ他社は固定費で、御社は成果報酬でやれるのか？」への答え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659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中立選定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4688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特定メーカーに縛られない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自社ツールの売り込みではない。Lステップ/マイAI/IVRから貴院の診療科・規模に最適な組合せを厳選。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96596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9659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実践ノウハウ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688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自社で泥臭く運用した知見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97180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ツールは「設計」より「運用」でつまずく。自社実践で現場の抵抗感・エラー回避まで熟知。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2628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5262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一気通貫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0292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補助金申請＋定着まで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IT導入補助金・医療情報化支援基金の活用を支援し初期コスト最小化。使いこなすまで3ヶ月伴走。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25196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52628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5262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リスクゼロ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0292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自信があるからこその設計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53212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事前分析で「本当に削減できる」確証と成功事例があるから、院にリスクを負わせないモデルが成立。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ご相談はお気軽に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Hiragino Sans"/>
              </a:rPr>
              <a:t>リスクゼロで、次世代のクリニック運営を始めませんか？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E6E6E"/>
                </a:solidFill>
                <a:latin typeface="Hiragino Sans"/>
              </a:rPr>
              <a:t>押し売りは一切なし。単なる問い合わせでなく、1時間の無料コンサルセッションとしてご利用ください。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60320"/>
            <a:ext cx="612648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60320"/>
            <a:ext cx="54864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✓ ネット上の競合分析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9923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貴院周辺クリニックのデジタル対応状況を分析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20440"/>
            <a:ext cx="612648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520440"/>
            <a:ext cx="54864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30168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✓ 現状フローの整理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5935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電話の多さ・書類の手間などボトルネックをその場で特定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72000"/>
            <a:ext cx="6126480" cy="16002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お申込み（その場でQR／用紙）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02352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▢  クリニック名 ／ ご担当者名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449824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▢  電話番号 ／ メールアドレス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797296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▢  ご希望の面談日時（オンライン対応可）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2560320"/>
            <a:ext cx="4160520" cy="36118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78892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iragino Sans"/>
              </a:rPr>
              <a:t>★ 参加特典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337560"/>
            <a:ext cx="4160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貴院専用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業務削減シミュレーション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報告書（診断書）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8920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2D8D6"/>
                </a:solidFill>
                <a:latin typeface="Hiragino Sans"/>
              </a:rPr>
              <a:t>を無料で作成・プレゼント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5486400"/>
            <a:ext cx="3611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5486400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AA2E26"/>
                </a:solidFill>
                <a:latin typeface="Hiragino Sans"/>
              </a:rPr>
              <a:t>今回は丁寧に伴走するため【限定 ◯ 名】様まで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
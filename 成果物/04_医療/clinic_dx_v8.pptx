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7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AI × CLINIC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クリニックのAI・LINE導入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72384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72384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21808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1" dirty="0" err="1">
                <a:solidFill>
                  <a:srgbClr val="1A1A1A"/>
                </a:solidFill>
                <a:latin typeface="Hiragino Sans"/>
              </a:rPr>
              <a:t>テナントアシスト・ウイン株式会社</a:t>
            </a:r>
            <a:r>
              <a:rPr sz="1300" b="1" i="0" dirty="0">
                <a:solidFill>
                  <a:srgbClr val="1A1A1A"/>
                </a:solidFill>
                <a:latin typeface="Hiragino Sans"/>
              </a:rPr>
              <a:t>｜  菊池 研太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554480"/>
            <a:ext cx="4114800" cy="3154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1554480"/>
            <a:ext cx="4114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657600" cy="228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26679" y="4828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A3F071-3853-5517-52A8-E5F383997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376" y="5217656"/>
            <a:ext cx="1576336" cy="157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70万〜150万円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247474"/>
              </p:ext>
            </p:extLst>
          </p:nvPr>
        </p:nvGraphicFramePr>
        <p:xfrm>
          <a:off x="502920" y="169164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2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2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  <a:endParaRPr sz="1300" b="1" dirty="0">
                        <a:solidFill>
                          <a:srgbClr val="FFFFFF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  <a:endParaRPr sz="1300" b="1" dirty="0">
                        <a:solidFill>
                          <a:srgbClr val="FFFFFF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8C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3A3A3A"/>
                          </a:solidFill>
                          <a:latin typeface="Hiragino Sans"/>
                        </a:rPr>
                        <a:t>電話受付＋紙問診をカルテへ手入力</a:t>
                      </a:r>
                      <a:endParaRPr sz="1250" b="0" dirty="0">
                        <a:solidFill>
                          <a:srgbClr val="3A3A3A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3A3A3A"/>
                          </a:solidFill>
                          <a:latin typeface="Hiragino Sans"/>
                        </a:rPr>
                        <a:t>Lステップで来院前にスマホ上で完結</a:t>
                      </a:r>
                      <a:endParaRPr sz="1250" b="0" dirty="0">
                        <a:solidFill>
                          <a:srgbClr val="3A3A3A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問診業務</a:t>
                      </a:r>
                      <a:r>
                        <a:rPr sz="16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 40〜70%減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電話件数</a:t>
                      </a:r>
                      <a:r>
                        <a:rPr sz="16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 最大40〜80%減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書類時間</a:t>
                      </a:r>
                      <a:r>
                        <a:rPr sz="16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 月30h以上減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点検時間</a:t>
                      </a:r>
                      <a:r>
                        <a:rPr sz="16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 最大1/20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21208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212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93" y="1994456"/>
            <a:ext cx="5184775" cy="32404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440680"/>
            <a:ext cx="5440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AA2E26"/>
                </a:solidFill>
                <a:latin typeface="Hiragino Sans"/>
              </a:rPr>
              <a:t>① </a:t>
            </a:r>
            <a:r>
              <a:rPr sz="1400" b="1" i="0" dirty="0" err="1">
                <a:solidFill>
                  <a:srgbClr val="AA2E26"/>
                </a:solidFill>
                <a:latin typeface="Hiragino Sans"/>
              </a:rPr>
              <a:t>書類アシスト｜カルテ→紹介状を数秒で下書き（院長の画面</a:t>
            </a:r>
            <a:r>
              <a:rPr sz="1400" b="1" i="0" dirty="0">
                <a:solidFill>
                  <a:srgbClr val="AA2E26"/>
                </a:solidFill>
                <a:latin typeface="Hiragino Sans"/>
              </a:rPr>
              <a:t>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91640"/>
            <a:ext cx="5788152" cy="2514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7880" y="16916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873" y="1756624"/>
            <a:ext cx="3902927" cy="24393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2276" y="4261104"/>
            <a:ext cx="578815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AA2E26"/>
                </a:solidFill>
                <a:latin typeface="Hiragino Sans"/>
              </a:rPr>
              <a:t>② </a:t>
            </a:r>
            <a:r>
              <a:rPr sz="1600" b="1" i="0" dirty="0" err="1">
                <a:solidFill>
                  <a:srgbClr val="AA2E26"/>
                </a:solidFill>
                <a:latin typeface="Hiragino Sans"/>
              </a:rPr>
              <a:t>成果ダッシュボード｜削減効果を可視化</a:t>
            </a:r>
            <a:endParaRPr sz="1600" b="1" i="0" dirty="0">
              <a:solidFill>
                <a:srgbClr val="AA2E26"/>
              </a:solidFill>
              <a:latin typeface="Hiragino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4663440"/>
            <a:ext cx="578815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46634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4773168"/>
            <a:ext cx="626428" cy="12528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02244" y="5157102"/>
            <a:ext cx="506666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 dirty="0">
                <a:solidFill>
                  <a:srgbClr val="AA2E26"/>
                </a:solidFill>
                <a:latin typeface="Hiragino Sans"/>
              </a:rPr>
              <a:t>③ </a:t>
            </a:r>
            <a:r>
              <a:rPr sz="1600" b="1" i="0" dirty="0" err="1">
                <a:solidFill>
                  <a:srgbClr val="AA2E26"/>
                </a:solidFill>
                <a:latin typeface="Hiragino Sans"/>
              </a:rPr>
              <a:t>LINE問診・予約｜Lステップ連携（患者スマホ</a:t>
            </a:r>
            <a:r>
              <a:rPr sz="1600" b="1" i="0" dirty="0">
                <a:solidFill>
                  <a:srgbClr val="AA2E26"/>
                </a:solidFill>
                <a:latin typeface="Hiragino Sans"/>
              </a:rPr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34256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34256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書類作成のDX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26864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17136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81728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65592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65592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電話業務のDX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8472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2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48472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13064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marR="73152" anchor="ctr">
                    <a:solidFill>
                      <a:srgbClr val="8C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297680"/>
            <a:ext cx="10725912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009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RISK-ZERO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当サービスだけ、唯一のノーリスク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他社は効果が出なくても固定費が発生。御院の持ち出しは“ゼロ”から始められる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6930"/>
              </p:ext>
            </p:extLst>
          </p:nvPr>
        </p:nvGraphicFramePr>
        <p:xfrm>
          <a:off x="502920" y="1645920"/>
          <a:ext cx="1118311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1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marR="73152" anchor="ctr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一般IT・DX業者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marR="73152" anchor="ctr">
                    <a:solidFill>
                      <a:srgbClr val="AA2E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Lステップ×マイAI</a:t>
                      </a:r>
                      <a:r>
                        <a:rPr sz="1250" b="1" dirty="0">
                          <a:solidFill>
                            <a:srgbClr val="AA2E26"/>
                          </a:solidFill>
                          <a:latin typeface="Hiragino Sans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AA2E26"/>
                          </a:solidFill>
                          <a:latin typeface="Hiragino Sans"/>
                        </a:rPr>
                        <a:t>全体最適化</a:t>
                      </a:r>
                      <a:endParaRPr sz="1250" b="1" dirty="0">
                        <a:solidFill>
                          <a:srgbClr val="AA2E26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自社アプリ販売／高額導入支援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3A3A3A"/>
                          </a:solidFill>
                          <a:latin typeface="Hiragino Sans"/>
                        </a:rPr>
                        <a:t>20万〜300万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AA2E26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1.5〜300万（固定）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5〜20万（固定）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AA2E26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稼働問わず固定課金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3ヶ月伴走で定着まで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自力運用 or 別料金で高額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marR="73152" anchor="ctr">
                    <a:solidFill>
                      <a:srgbClr val="F1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marR="73152" anchor="ctr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高〜極めて高</a:t>
                      </a: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3A3A3A"/>
                          </a:solidFill>
                          <a:latin typeface="Hiragino Sans"/>
                        </a:rPr>
                        <a:t>中</a:t>
                      </a:r>
                      <a:endParaRPr sz="1250" b="0" dirty="0">
                        <a:solidFill>
                          <a:srgbClr val="3A3A3A"/>
                        </a:solidFill>
                        <a:latin typeface="Hiragino Sans"/>
                      </a:endParaRPr>
                    </a:p>
                  </a:txBody>
                  <a:tcPr marR="73152" anchor="ctr">
                    <a:solidFill>
                      <a:srgbClr val="F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8000"/>
              </a:lnSpc>
            </a:pPr>
            <a:endParaRPr sz="1150" b="0" i="0">
              <a:solidFill>
                <a:srgbClr val="6E6E6E"/>
              </a:solidFill>
              <a:latin typeface="Hiragino Sans"/>
            </a:endParaRP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8000"/>
              </a:lnSpc>
            </a:pPr>
            <a:endParaRPr sz="1150" b="0" i="0">
              <a:solidFill>
                <a:srgbClr val="6E6E6E"/>
              </a:solidFill>
              <a:latin typeface="Hiragino Sans"/>
            </a:endParaRP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65592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898648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3429000"/>
            <a:ext cx="3154680" cy="123444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3502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75818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AA2E26"/>
                </a:solidFill>
                <a:latin typeface="Hiragino Sans"/>
              </a:rPr>
              <a:t>月 16.8万円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325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Hiragino Sans"/>
              </a:rPr>
              <a:t>（年 約200万円）／効果0なら支払い0円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つまり ── 御院の持ち出しはゼロ。効果が出た“分だけ”、私たちはいただく。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6869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✓ IT導入補助金サポート　　✓ ロックインなし（30日前通知で解約可）　　✓ 使いこなすまで3ヶ月伴走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中立選定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一気通貫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リスクゼロ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SECURITY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ご安心ください ── 患者情報・セキュリティ・運用の不安に先回り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医療現場の不安に、導入前から“運用ルール”で答えを用意します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患者情報の扱い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目的外利用なし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院内データはクローズドに扱い、目的外利用なし。匿名化・最小限の原則を前提に設計し、運用ルールを最初に書面で取り決めます。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9476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9659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アクセス管理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誰が・いつ・何を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役割別の権限と利用ログを整備。最終的な運用ルールは院長が決定。「ブラックボックスにしない」が原則。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0799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スタッフ負担を最小化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2920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段階導入＋伴走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一気に変えない。優先業務から段階導入し、使いこなすまで3ヶ月伴走。マニュアル＋チャットで現場を支えます。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450799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52628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やめたい時はやめられる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02920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ロックインなし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最低契約期間以降は30日前通知で解約可。成果ゼロなら費用ゼロ。囲い込みはしません。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ご相談はお気軽に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126480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 err="1">
                <a:solidFill>
                  <a:srgbClr val="AA2E26"/>
                </a:solidFill>
                <a:latin typeface="Hiragino Sans"/>
              </a:rPr>
              <a:t>お申込み（その場でQR／用紙</a:t>
            </a:r>
            <a:r>
              <a:rPr sz="1400" b="1" i="0" dirty="0">
                <a:solidFill>
                  <a:srgbClr val="AA2E26"/>
                </a:solidFill>
                <a:latin typeface="Hiragino Sans"/>
              </a:rPr>
              <a:t>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9824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160520" cy="3611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2D8D6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79" y="5584195"/>
            <a:ext cx="3611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AA2E26"/>
                </a:solidFill>
                <a:latin typeface="Hiragino Sans"/>
              </a:rPr>
              <a:t>今回は丁寧に伴走するため【限定</a:t>
            </a:r>
            <a:r>
              <a:rPr sz="1100" b="1" i="0" dirty="0">
                <a:solidFill>
                  <a:srgbClr val="AA2E26"/>
                </a:solidFill>
                <a:latin typeface="Hiragino Sans"/>
              </a:rPr>
              <a:t> </a:t>
            </a:r>
            <a:r>
              <a:rPr lang="en-US" altLang="ja-JP" sz="1100" b="1" i="0" dirty="0">
                <a:solidFill>
                  <a:srgbClr val="AA2E26"/>
                </a:solidFill>
                <a:latin typeface="Hiragino Sans"/>
              </a:rPr>
              <a:t>5</a:t>
            </a:r>
            <a:r>
              <a:rPr sz="1100" b="1" i="0" dirty="0">
                <a:solidFill>
                  <a:srgbClr val="AA2E26"/>
                </a:solidFill>
                <a:latin typeface="Hiragino Sans"/>
              </a:rPr>
              <a:t> </a:t>
            </a:r>
            <a:r>
              <a:rPr sz="1100" b="1" i="0" dirty="0" err="1">
                <a:solidFill>
                  <a:srgbClr val="AA2E26"/>
                </a:solidFill>
                <a:latin typeface="Hiragino Sans"/>
              </a:rPr>
              <a:t>名】様まで</a:t>
            </a:r>
            <a:endParaRPr sz="1100" b="1" i="0" dirty="0">
              <a:solidFill>
                <a:srgbClr val="AA2E26"/>
              </a:solidFill>
              <a:latin typeface="Hiragino Sans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286CF60E-4AE3-9A7C-BEEE-92920176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698" y="4676598"/>
            <a:ext cx="1359427" cy="1359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7724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GIVE①   経営の見える化シート　|　先生専用の「1枚」を無料でお作りします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28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クリニックDX「My AI」  ｜  AI医療コンサル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5730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5F8A"/>
                </a:solidFill>
              </a:rPr>
              <a:t>クリニックも店舗も「見える化」すれば、次の一手が変わる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3474720" cy="347472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😰 先生が抱えるお悩み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💸  来月の資金繰りが不安…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20482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📊  売上はあるのに手元現金が少ない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4323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🔢  損益分岐点（何人来れば黒字か）が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816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　　わからない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📋  決算書を見ても経営判断に使えない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584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⏰  月次確認を税理士に任せていて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39684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3557"/>
                </a:solidFill>
              </a:rPr>
              <a:t>　　自分では把握できていない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280160"/>
            <a:ext cx="3474720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1280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📐 見える化ダッシュボード（サンプル）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40" y="1682496"/>
            <a:ext cx="2015337" cy="347472"/>
          </a:xfrm>
          <a:prstGeom prst="rect">
            <a:avLst/>
          </a:prstGeom>
          <a:solidFill>
            <a:srgbClr val="FFF9C4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🟡  月初現金（入力）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7724" y="1682496"/>
            <a:ext cx="1250899" cy="347472"/>
          </a:xfrm>
          <a:prstGeom prst="rect">
            <a:avLst/>
          </a:prstGeom>
          <a:solidFill>
            <a:srgbClr val="FFF9C4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¥ 2,850,000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2066544"/>
            <a:ext cx="2015337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⬜  来月予測売上（自動）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7724" y="2066544"/>
            <a:ext cx="1250899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¥ 4,200,000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40" y="2450592"/>
            <a:ext cx="2015337" cy="347472"/>
          </a:xfrm>
          <a:prstGeom prst="rect">
            <a:avLst/>
          </a:prstGeom>
          <a:solidFill>
            <a:srgbClr val="E3F2FD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🟦  BEP来客数（自動）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7724" y="2450592"/>
            <a:ext cx="1250899" cy="347472"/>
          </a:xfrm>
          <a:prstGeom prst="rect">
            <a:avLst/>
          </a:prstGeom>
          <a:solidFill>
            <a:srgbClr val="E3F2FD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38 人/日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40" y="2834640"/>
            <a:ext cx="2015337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⬜  固定費合計（自動）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27724" y="2834640"/>
            <a:ext cx="1250899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¥ 1,680,000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3218688"/>
            <a:ext cx="2015337" cy="347472"/>
          </a:xfrm>
          <a:prstGeom prst="rect">
            <a:avLst/>
          </a:prstGeom>
          <a:solidFill>
            <a:srgbClr val="E8F5E9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🟢  月次損益（自動）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27724" y="3218688"/>
            <a:ext cx="1250899" cy="347472"/>
          </a:xfrm>
          <a:prstGeom prst="rect">
            <a:avLst/>
          </a:prstGeom>
          <a:solidFill>
            <a:srgbClr val="E8F5E9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+ ¥ 520,000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40" y="3602736"/>
            <a:ext cx="2015337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⬜  FL比率（自動）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27724" y="3602736"/>
            <a:ext cx="1250899" cy="347472"/>
          </a:xfrm>
          <a:prstGeom prst="rect">
            <a:avLst/>
          </a:prstGeom>
          <a:solidFill>
            <a:srgbClr val="ECEFF1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57.3%（適正）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40" y="3986784"/>
            <a:ext cx="2015337" cy="347472"/>
          </a:xfrm>
          <a:prstGeom prst="rect">
            <a:avLst/>
          </a:prstGeom>
          <a:solidFill>
            <a:srgbClr val="E3F2FD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C3557"/>
                </a:solidFill>
              </a:rPr>
              <a:t>🟦  資金繰り着地（自動）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27724" y="3986784"/>
            <a:ext cx="1250899" cy="347472"/>
          </a:xfrm>
          <a:prstGeom prst="rect">
            <a:avLst/>
          </a:prstGeom>
          <a:solidFill>
            <a:srgbClr val="E3F2FD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50" b="1">
                <a:solidFill>
                  <a:srgbClr val="1C3557"/>
                </a:solidFill>
              </a:rPr>
              <a:t>¥ 3,370,000 →安全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A2E26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1280160"/>
            <a:ext cx="3474720" cy="347472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280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✅ GIVEで先生が手に入るもの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168249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📍  月初現金を入れるだけで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19751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    売上見込・資金繰り・損益が全自動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22677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2560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🏥  クリニック専用にカスタマイズ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28529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    （保険診療単価・外来数をベース）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8392" y="31455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8392" y="34381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📈  来月の資金ショートを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37307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    2〜3ヶ月前から予知できる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4023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8392" y="431596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💡  銀行に見せられる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8392" y="46085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</a:rPr>
              <a:t>    経営計画書の素材にもなる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A2E26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617720"/>
            <a:ext cx="2859754" cy="50292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M0  無料GIVE
先生専用シートを1回無料で作成・お見せします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663440"/>
            <a:ext cx="276831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M0  無料GIVE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4873752"/>
            <a:ext cx="276831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先生専用シートを1回無料で作成・お見せします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1506" y="4617720"/>
            <a:ext cx="2859754" cy="50292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M1  構築サポート
20〜40万（買い切り）導入・移行をフルサポート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7226" y="4663440"/>
            <a:ext cx="276831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M1  構築サポート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7226" y="4873752"/>
            <a:ext cx="276831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20〜40万（買い切り）導入・移行をフルサポート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12" y="4617720"/>
            <a:ext cx="2859754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M2  月次伴走
3〜5万/月（定額）月初に一緒に数字を読む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0132" y="4663440"/>
            <a:ext cx="276831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M2  月次伴走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0132" y="4873752"/>
            <a:ext cx="276831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9C4"/>
                </a:solidFill>
              </a:rPr>
              <a:t>3〜5万/月（定額）月初に一緒に数字を読む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27318" y="4617720"/>
            <a:ext cx="2859754" cy="5029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C3557"/>
                </a:solidFill>
              </a:rPr>
              <a:t>M3  フルカスタム
50万〜  銀行提出書類・AI連携まで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3038" y="4663440"/>
            <a:ext cx="276831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3557"/>
                </a:solidFill>
              </a:rPr>
              <a:t>M3  フルカスタム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3038" y="4873752"/>
            <a:ext cx="276831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3557"/>
                </a:solidFill>
              </a:rPr>
              <a:t>50万〜  銀行提出書類・AI連携まで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825" cy="2926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" y="6601968"/>
            <a:ext cx="118230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★ 本商品は医療コンサルの「おまけ」ではなく、先生の経営と資金繰りを守る「本命GIVE」です。  ｜  KHD 04_コンサル（テナントアシスト・ウイン）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1049</Words>
  <Application>Microsoft Macintosh PowerPoint</Application>
  <PresentationFormat>ユーザー設定</PresentationFormat>
  <Paragraphs>240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Hiragino Sans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kikuchi</cp:lastModifiedBy>
  <cp:revision>2</cp:revision>
  <dcterms:created xsi:type="dcterms:W3CDTF">2013-01-27T09:14:16Z</dcterms:created>
  <dcterms:modified xsi:type="dcterms:W3CDTF">2026-05-29T13:52:51Z</dcterms:modified>
  <cp:category/>
</cp:coreProperties>
</file>
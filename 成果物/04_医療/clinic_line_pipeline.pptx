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クリニック公式LINE 立ち上げパイプライン ｜ KHD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クリニック公式LINE 立ち上げパイプライン（8ステップ）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1院で型を確立 → 2院目以降はテンプレ流用で最短化。京橋クリニックで実証済み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2542032" cy="16916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965960"/>
            <a:ext cx="254203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167128"/>
            <a:ext cx="457200" cy="457200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6712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Hiragino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203704"/>
            <a:ext cx="16733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A1A1A"/>
                </a:solidFill>
                <a:latin typeface="Hiragino Sans"/>
              </a:rPr>
              <a:t>アカウント開設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834640"/>
            <a:ext cx="208483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LINE公式＋Messaging API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＋Login＋LIFF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063240" y="2606040"/>
            <a:ext cx="256032" cy="457200"/>
          </a:xfrm>
          <a:prstGeom prst="rightArrow">
            <a:avLst/>
          </a:prstGeom>
          <a:solidFill>
            <a:srgbClr val="C9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55848" y="1965960"/>
            <a:ext cx="2542032" cy="16916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55848" y="1965960"/>
            <a:ext cx="254203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84448" y="2167128"/>
            <a:ext cx="457200" cy="457200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84448" y="216712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Hiragino Sa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3088" y="2203704"/>
            <a:ext cx="16733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A1A1A"/>
                </a:solidFill>
                <a:latin typeface="Hiragino Sans"/>
              </a:rPr>
              <a:t>Harness デプロイ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2834640"/>
            <a:ext cx="208483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Cloudflare無料枠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（Claude Codeで構築）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916168" y="2606040"/>
            <a:ext cx="256032" cy="457200"/>
          </a:xfrm>
          <a:prstGeom prst="rightArrow">
            <a:avLst/>
          </a:prstGeom>
          <a:solidFill>
            <a:srgbClr val="C9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08776" y="1965960"/>
            <a:ext cx="2542032" cy="16916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08776" y="1965960"/>
            <a:ext cx="254203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37376" y="2167128"/>
            <a:ext cx="457200" cy="457200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6" y="216712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Hiragino San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6016" y="2203704"/>
            <a:ext cx="16733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A1A1A"/>
                </a:solidFill>
                <a:latin typeface="Hiragino Sans"/>
              </a:rPr>
              <a:t>リッチメニュー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8" y="2834640"/>
            <a:ext cx="208483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6タイルを設置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（PNGテンプレ）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769096" y="2606040"/>
            <a:ext cx="256032" cy="457200"/>
          </a:xfrm>
          <a:prstGeom prst="rightArrow">
            <a:avLst/>
          </a:prstGeom>
          <a:solidFill>
            <a:srgbClr val="C9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61704" y="1965960"/>
            <a:ext cx="2542032" cy="16916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61704" y="1965960"/>
            <a:ext cx="254203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290304" y="2167128"/>
            <a:ext cx="457200" cy="457200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90304" y="216712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Hiragino Sans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38944" y="2203704"/>
            <a:ext cx="16733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A1A1A"/>
                </a:solidFill>
                <a:latin typeface="Hiragino Sans"/>
              </a:rPr>
              <a:t>FAQ自動応答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17736" y="2834640"/>
            <a:ext cx="208483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16ルール＋医療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エスカレーション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3931920"/>
            <a:ext cx="2542032" cy="16916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3931920"/>
            <a:ext cx="254203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1520" y="4133088"/>
            <a:ext cx="457200" cy="457200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13308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Hiragino Sans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4169664"/>
            <a:ext cx="16733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A1A1A"/>
                </a:solidFill>
                <a:latin typeface="Hiragino Sans"/>
              </a:rPr>
              <a:t>挨拶・イントロ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" y="4800600"/>
            <a:ext cx="208483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友だち追加時の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自動メッセージ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3063240" y="4572000"/>
            <a:ext cx="256032" cy="457200"/>
          </a:xfrm>
          <a:prstGeom prst="rightArrow">
            <a:avLst/>
          </a:prstGeom>
          <a:solidFill>
            <a:srgbClr val="C9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355848" y="3931920"/>
            <a:ext cx="2542032" cy="16916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55848" y="3931920"/>
            <a:ext cx="254203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584448" y="4133088"/>
            <a:ext cx="457200" cy="457200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84448" y="413308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Hiragino Sans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33088" y="4169664"/>
            <a:ext cx="16733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A1A1A"/>
                </a:solidFill>
                <a:latin typeface="Hiragino Sans"/>
              </a:rPr>
              <a:t>フォーム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11880" y="4800600"/>
            <a:ext cx="208483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Web問診／予約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（LIFF）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5916168" y="4572000"/>
            <a:ext cx="256032" cy="457200"/>
          </a:xfrm>
          <a:prstGeom prst="rightArrow">
            <a:avLst/>
          </a:prstGeom>
          <a:solidFill>
            <a:srgbClr val="C9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08776" y="3931920"/>
            <a:ext cx="2542032" cy="16916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08776" y="3931920"/>
            <a:ext cx="254203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437376" y="4133088"/>
            <a:ext cx="457200" cy="457200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37376" y="413308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Hiragino Sans"/>
              </a:rPr>
              <a:t>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86016" y="4169664"/>
            <a:ext cx="16733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A1A1A"/>
                </a:solidFill>
                <a:latin typeface="Hiragino Sans"/>
              </a:rPr>
              <a:t>タグ＋リマインド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64808" y="4800600"/>
            <a:ext cx="208483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CPAP等の対象に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定期配信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8769096" y="4572000"/>
            <a:ext cx="256032" cy="457200"/>
          </a:xfrm>
          <a:prstGeom prst="rightArrow">
            <a:avLst/>
          </a:prstGeom>
          <a:solidFill>
            <a:srgbClr val="C9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061704" y="3931920"/>
            <a:ext cx="2542032" cy="1691640"/>
          </a:xfrm>
          <a:prstGeom prst="rect">
            <a:avLst/>
          </a:prstGeom>
          <a:solidFill>
            <a:srgbClr val="F4E4E2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061704" y="3931920"/>
            <a:ext cx="254203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290304" y="4133088"/>
            <a:ext cx="457200" cy="457200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90304" y="413308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Hiragino Sans"/>
              </a:rPr>
              <a:t>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38944" y="4169664"/>
            <a:ext cx="16733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A1A1A"/>
                </a:solidFill>
                <a:latin typeface="Hiragino Sans"/>
              </a:rPr>
              <a:t>院の実態反映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17736" y="4800600"/>
            <a:ext cx="208483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固有値・受付方式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で仕上げ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8C241D"/>
                </a:solidFill>
                <a:latin typeface="Hiragino Sans"/>
              </a:rPr>
              <a:t>赤い⑧だけが院ごとに変わる中心。①〜⑦は型として次の院へそのまま流用できる。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クリニック公式LINE 立ち上げパイプライン ｜ KHD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REUSABLE vs CUSTOM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次の院でそのまま使う所 ／ 院ごとに変える所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比較表で「再利用ポイント」を固定 → 横展開のたびに作り直さない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783080"/>
          <a:ext cx="11183111" cy="411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5120640"/>
                <a:gridCol w="4050791"/>
              </a:tblGrid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工程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汎用（テンプレ流用・次もそのまま）</a:t>
                      </a:r>
                    </a:p>
                  </a:txBody>
                  <a:tcPr anchor="ctr" marL="91440" marR="73152" marT="36576" marB="36576">
                    <a:solidFill>
                      <a:srgbClr val="8C241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院ごとにカスタマイズ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基盤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6E56"/>
                          </a:solidFill>
                          <a:latin typeface="Hiragino Sans"/>
                        </a:rPr>
                        <a:t>Harnessデプロイ手順・MCP/API投入の型</a:t>
                      </a:r>
                    </a:p>
                  </a:txBody>
                  <a:tcPr anchor="ctr" marL="91440" marR="73152" marT="36576" marB="36576"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アカウント名・各チャネルID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リッチメニュー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6E56"/>
                          </a:solidFill>
                          <a:latin typeface="Hiragino Sans"/>
                        </a:rPr>
                        <a:t>6タイルの構成・PNG雛形</a:t>
                      </a:r>
                    </a:p>
                  </a:txBody>
                  <a:tcPr anchor="ctr" marL="91440" marR="73152" marT="36576" marB="36576"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タイル文言（予約制／当日受付制で変わる）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FAQ自動応答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6E56"/>
                          </a:solidFill>
                          <a:latin typeface="Hiragino Sans"/>
                        </a:rPr>
                        <a:t>16ルールの構造・医療エスカレーション設計</a:t>
                      </a:r>
                    </a:p>
                  </a:txBody>
                  <a:tcPr anchor="ctr" marL="91440" marR="73152" marT="36576" marB="36576"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診療時間／電話／住所／休診／診療科目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フォーム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6E56"/>
                          </a:solidFill>
                          <a:latin typeface="Hiragino Sans"/>
                        </a:rPr>
                        <a:t>Web問診・予約フォームの型</a:t>
                      </a:r>
                    </a:p>
                  </a:txBody>
                  <a:tcPr anchor="ctr" marL="91440" marR="73152" marT="36576" marB="36576"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予約制の有無で転用（例：予約→健診申込）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リマインド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6E56"/>
                          </a:solidFill>
                          <a:latin typeface="Hiragino Sans"/>
                        </a:rPr>
                        <a:t>タグ＋セグメント配信の仕組み</a:t>
                      </a:r>
                    </a:p>
                  </a:txBody>
                  <a:tcPr anchor="ctr" marL="91440" marR="73152" marT="36576" marB="36576"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対象疾患・頻度（例：CPAP月次）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挨拶・イントロ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6E56"/>
                          </a:solidFill>
                          <a:latin typeface="Hiragino Sans"/>
                        </a:rPr>
                        <a:t>文面テンプレ（{formUrl}差込）</a:t>
                      </a:r>
                    </a:p>
                  </a:txBody>
                  <a:tcPr anchor="ctr" marL="91440" marR="73152" marT="36576" marB="36576"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院名・受付方式の表現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03504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6E56"/>
                </a:solidFill>
                <a:latin typeface="Hiragino Sans"/>
              </a:rPr>
              <a:t>緑＝汎用テンプレ（次の院でも流用）／右＝院別の差し替えだけ。これが横展開の生産性。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クリニック公式LINE 立ち上げパイプライン ｜ KHD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CASE: 京橋クリニック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実例 ── 京橋クリニックでの院別カスタマイズ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「院の実態に合わせる」⑧の中身。次の院でもこの粒度でヒアリング→反映する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11183112" cy="950976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91440" cy="950976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84247"/>
            <a:ext cx="2743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8C241D"/>
                </a:solidFill>
                <a:latin typeface="Hiragino Sans"/>
              </a:rPr>
              <a:t>受付方式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965959"/>
            <a:ext cx="78638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予約制ではなく『当日の順番受付制』。→ 予約タイルを廃止せず「健診・各種予約」に転用（健診・化学物質・禁煙外来は予約制）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953511"/>
            <a:ext cx="11183112" cy="950976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953511"/>
            <a:ext cx="91440" cy="950976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63239"/>
            <a:ext cx="2743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8C241D"/>
                </a:solidFill>
                <a:latin typeface="Hiragino Sans"/>
              </a:rPr>
              <a:t>固有値（FAQへ反映）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044951"/>
            <a:ext cx="78638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月火木金 9:30-12:30/14:30-18:00（水は午前 院長不在）・土日祝休／☎03-3563-5011／中央区京橋2-5-22 キムラヤビル2F・京橋駅徒歩1分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032503"/>
            <a:ext cx="11183112" cy="950976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032503"/>
            <a:ext cx="91440" cy="950976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42231"/>
            <a:ext cx="2743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8C241D"/>
                </a:solidFill>
                <a:latin typeface="Hiragino Sans"/>
              </a:rPr>
              <a:t>対象疾患・リマインド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123943"/>
            <a:ext cx="78638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睡眠時無呼吸（CPAP）の定期受診 → 「CPAP定期」タグ＋リマインド配信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111495"/>
            <a:ext cx="11183112" cy="950976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5111495"/>
            <a:ext cx="91440" cy="950976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221223"/>
            <a:ext cx="2743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8C241D"/>
                </a:solidFill>
                <a:latin typeface="Hiragino Sans"/>
              </a:rPr>
              <a:t>院長・診療科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5202935"/>
            <a:ext cx="78638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院長 山崎 明男／一般内科・呼吸器・循環器・消化器・アレルギー・禁煙外来・産業医 ほか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35508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※ 院別カスタムは「公式サイト＋先生ヒアリング」で収集 → ClaudeがAPIで即反映（京橋は所要数分）。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クリニック公式LINE 立ち上げパイプライン ｜ KHD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KPI ── 時短効果の測定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A1A1A"/>
                </a:solidFill>
                <a:latin typeface="Hiragino Sans"/>
              </a:rPr>
              <a:t>医療事務の面談で確定するKPI（想定）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導入前にベースラインを測り、導入後と比較する。指標・対象は現地ヒアリングで調整（変わる前提）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783080"/>
          <a:ext cx="11183112" cy="3931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4206240"/>
                <a:gridCol w="3776472"/>
              </a:tblGrid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iragino Sans"/>
                        </a:rPr>
                        <a:t>KPI（候補）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iragino Sans"/>
                        </a:rPr>
                        <a:t>測り方（導入前ベースライン）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iragino Sans"/>
                        </a:rPr>
                        <a:t>LINEで効く所</a:t>
                      </a:r>
                    </a:p>
                  </a:txBody>
                  <a:tcPr anchor="ctr" marL="91440" marR="73152" marT="36576" marB="36576">
                    <a:solidFill>
                      <a:srgbClr val="AA2E26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Hiragino Sans"/>
                        </a:rPr>
                        <a:t>受付の電話本数 / 日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数日サンプルで着信件数を記録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FAQ自動応答が一次対応→件数減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Hiragino Sans"/>
                        </a:rPr>
                        <a:t>Web問診の事前記入率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来院前の記入数 ÷ 来院数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受付の聞き取り・電カル転記を削減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Hiragino Sans"/>
                        </a:rPr>
                        <a:t>受付の聞き取り・転記 時間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数件をストップウォッチ計測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Web問診で来院前に取得→短縮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Hiragino Sans"/>
                        </a:rPr>
                        <a:t>待ち時間・順番クレーム / 日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受付が件数をメモ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順番をLINEで自動通知→減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Hiragino Sans"/>
                        </a:rPr>
                        <a:t>定期受診の来院率（CPAP等）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対象者の受診 ÷ 対象者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リマインド配信で取りこぼし防止</a:t>
                      </a:r>
                    </a:p>
                  </a:txBody>
                  <a:tcPr anchor="ctr" marL="91440" marR="73152" marT="36576" marB="36576">
                    <a:solidFill>
                      <a:srgbClr val="F1ECE1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Hiragino Sans"/>
                        </a:rPr>
                        <a:t>月末の残業時間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勤怠記録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3A3A"/>
                          </a:solidFill>
                          <a:latin typeface="Hiragino Sans"/>
                        </a:rPr>
                        <a:t>通院の平準化で月末の山を削減</a:t>
                      </a:r>
                    </a:p>
                  </a:txBody>
                  <a:tcPr anchor="ctr" marL="91440" marR="73152" marT="36576" marB="36576">
                    <a:solidFill>
                      <a:srgbClr val="F9F6E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02920" y="5852160"/>
            <a:ext cx="11183112" cy="566928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5852160"/>
            <a:ext cx="91440" cy="56692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5852160"/>
            <a:ext cx="107899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8C241D"/>
                </a:solidFill>
                <a:latin typeface="Hiragino Sans"/>
              </a:rPr>
              <a:t>※ 数値・対象・優先順位は医療事務の面談で確定（現場が無理なく測れる粒度に）。押し付けず「一緒に測る」＝公平・透明に。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
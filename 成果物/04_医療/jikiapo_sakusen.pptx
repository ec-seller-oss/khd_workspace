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次アポ作戦・チーム共有（内部）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軌道修正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次アポの本質 ── ゴールは「先生のYES」。実機デモは主役じゃない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宮崎の指摘で本質に戻す。実機を見せてもYESは取れない。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11183112" cy="1371600"/>
          </a:xfrm>
          <a:prstGeom prst="rect">
            <a:avLst/>
          </a:prstGeom>
          <a:solidFill>
            <a:srgbClr val="F4E4E2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09728" cy="13716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8C241D"/>
                </a:solidFill>
                <a:latin typeface="Hiragino Sans"/>
              </a:rPr>
              <a:t>実機（LINE・Stream Deck）を見せても、YESは貰えない。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4203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Hiragino Sans"/>
              </a:rPr>
              <a:t>次アポの目的＝提案に「YES」を最速でもらう → そのまま納品（設定・運用開始）へ繋げる。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20440"/>
            <a:ext cx="11183112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520440"/>
            <a:ext cx="1118311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576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⚠ 自分（菊池）のズレ ＝ サボり場所が間違っていた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1480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・作り込み・実機準備（楽しい所）に時間をかけ、本丸の「YES取り（クロージング）」と「日程の主導」を宮崎任せにしていた。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・宮崎に握らせて自分が怠っていた＝一番大事な所をサボっていた。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・矯正：次アポは「作って見せる」でなく「YESを取って納品に進める」。日程もクロージングも、菊池が自分で握る。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次アポ作戦・チーム共有（内部）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当日の役割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当日、誰が何をやるか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主役は「実機」でなく「YESを取る会話」。それぞれの持ち場を明確に。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486400" cy="1828800"/>
          </a:xfrm>
          <a:prstGeom prst="rect">
            <a:avLst/>
          </a:prstGeom>
          <a:solidFill>
            <a:srgbClr val="F4E4E2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109728" cy="18288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2996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C241D"/>
                </a:solidFill>
                <a:latin typeface="Hiragino Sans"/>
              </a:rPr>
              <a:t>先生（山崎先生）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65176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YESを出す相手。「まず1つ、やってみよう」を引き出す。決裁者として握る。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5486400" cy="1828800"/>
          </a:xfrm>
          <a:prstGeom prst="rect">
            <a:avLst/>
          </a:prstGeom>
          <a:solidFill>
            <a:srgbClr val="E1F5EE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109728" cy="18288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02996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6E56"/>
                </a:solidFill>
                <a:latin typeface="Hiragino Sans"/>
              </a:rPr>
              <a:t>医療事務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65176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ヒアリング相手。運用の声・ダメ出しをもらう。「使う人」の納得を作る。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77640"/>
            <a:ext cx="5486400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977640"/>
            <a:ext cx="109728" cy="18288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7880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宮崎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80060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技術担当。実機は当日無理→動画/口頭で補足。主役でなく裏方。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977640"/>
            <a:ext cx="5486400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977640"/>
            <a:ext cx="109728" cy="18288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17880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菊池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480060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主導・握り役。日程もクロージングも自分で取る（人任せにしない）。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次アポ作戦・チーム共有（内部）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GET THE YES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次アポで取りに行く「YES」と、その場で決めること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YESが出たら、間髪入れず納品（設定）の日程まで握る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1183112" cy="914400"/>
          </a:xfrm>
          <a:prstGeom prst="rect">
            <a:avLst/>
          </a:prstGeom>
          <a:solidFill>
            <a:srgbClr val="E1F5EE"/>
          </a:solidFill>
          <a:ln w="1905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109728" cy="9144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10607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F6E56"/>
                </a:solidFill>
                <a:latin typeface="Hiragino Sans"/>
              </a:rPr>
              <a:t>取りに行くYES：「まず1つ（再診リマインド or FAQ自動応答）を無料で試す」を、その場で握る。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17520"/>
            <a:ext cx="5486400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017520"/>
            <a:ext cx="91440" cy="11887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145536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① どの1つから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再診リマインド／FAQ、どちらを最初に？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017520"/>
            <a:ext cx="5486400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017520"/>
            <a:ext cx="91440" cy="11887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3145536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② 効果の指標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566160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医療事務と「何を測るか」を1つ決める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480560"/>
            <a:ext cx="5486400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480560"/>
            <a:ext cx="91440" cy="11887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4608576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③ 次回の日程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29200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納品（設定・運用開始）の日をその場で押さえる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480560"/>
            <a:ext cx="5486400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4480560"/>
            <a:ext cx="91440" cy="11887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4608576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④ 進める窓口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029200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誰と進めるか（事務長・担当者）を確定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C241D"/>
                </a:solidFill>
                <a:latin typeface="Hiragino Sans"/>
              </a:rPr>
              <a:t>※「持ち帰って検討」で終わらせない。小さい1つだから、その場でYESを取りに行く。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次アポ作戦・チーム共有（内部）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日程：待たない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宮崎の予定で「待たない」── 菊池が行く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実機が主役でない＝宮崎不在でも菊池が単独で行ける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1183112" cy="1097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2024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1A1A"/>
                </a:solidFill>
                <a:latin typeface="Hiragino Sans"/>
              </a:rPr>
              <a:t>状況：山崎先生の候補（6/25 昼・夜／6/26 昼／7/3 昼・夜）→ 宮崎は全部埋まり。宮崎「待つとどんどん遅れる」。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108960"/>
            <a:ext cx="11183112" cy="1554480"/>
          </a:xfrm>
          <a:prstGeom prst="rect">
            <a:avLst/>
          </a:prstGeom>
          <a:solidFill>
            <a:srgbClr val="F4E4E2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108960"/>
            <a:ext cx="109728" cy="15544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8C241D"/>
                </a:solidFill>
                <a:latin typeface="Hiragino Sans"/>
              </a:rPr>
              <a:t>打ち手：菊池が 6/25 か 6/26 に「単独で」行く。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・実機デモは主役でない → 宮崎不在でも成立。宮崎はStream Deckの動画/説明材料だけ用意。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・宮崎の空き待ちで機を逃さない。YESを取りに行くのは菊池の仕事。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・どうしても日程が合わなければ、その場で新候補を即もらう（持ち帰らない）。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937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C241D"/>
                </a:solidFill>
                <a:latin typeface="Hiragino Sans"/>
              </a:rPr>
              <a:t>→ 今日中に山崎先生へ「6/25 or 6/26 で伺います」と返す。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次アポ作戦・チーム共有（内部）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タスク化 ── 誰が・いつまでに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アポごとに「決めること」を残す。曖昧にしない。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83080"/>
          <a:ext cx="1118311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49440"/>
                <a:gridCol w="2194560"/>
                <a:gridCol w="2039112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タスク</a:t>
                      </a:r>
                    </a:p>
                  </a:txBody>
                  <a:tcPr anchor="ctr" marL="82296" marR="54864" marT="27432" marB="27432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担当</a:t>
                      </a:r>
                    </a:p>
                  </a:txBody>
                  <a:tcPr anchor="ctr" marL="82296" marR="54864" marT="27432" marB="27432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期限</a:t>
                      </a:r>
                    </a:p>
                  </a:txBody>
                  <a:tcPr anchor="ctr" marL="82296" marR="54864" marT="27432" marB="27432">
                    <a:solidFill>
                      <a:srgbClr val="AA2E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山崎先生へ日程確定（6/25 or 6/26で伺う意向＋可否）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菊池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今日中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提案資料9枚・福井A4・実機LINE（問診自動URL）を当日セット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菊池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前日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Stream Deckの動画/説明材料を用意（当日見せられない分）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宮崎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次アポまで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当日：YESを取る → 納品（設定）日程まで握る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菊池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当日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アイコール連携 3点確認（並行・YESには必須でない）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宮崎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随時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固有値・個人情報同意文言・KPIを現地で確定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菊池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当日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06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C241D"/>
                </a:solidFill>
                <a:latin typeface="Hiragino Sans"/>
              </a:rPr>
              <a:t>→ 次回アポ後も、この形（タスク＋担当＋期限＋決めたこと）でチーム共有を回す。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次アポ作戦・チーム共有（内部）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前提整理（チーム共有・必読）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i-CALL とは？ 一般クリニックの受付と、京橋は何が違うか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知らないと提案がブレる。まずチーム全員（福井さん含む）が同じ絵を持つ。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11183112" cy="1097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91440" cy="10972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288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i-CALL（アイコール）＝ 診療の「順番受付・予約」システム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1284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患者さんがスマホ/PC/電話で順番を取り、混雑を確認、順番が近づくと通知（クラウド型・全国1,200施設）。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→ 京橋の医療事務さんが「アイコールで順番取っても来ない」と課題に挙げている＝京橋は実際にこれで「当日の順番受付」をしている（事務の生の声・推測でない）。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2999232"/>
          <a:ext cx="11183112" cy="2148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4206240"/>
                <a:gridCol w="4325112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受付の観点</a:t>
                      </a:r>
                    </a:p>
                  </a:txBody>
                  <a:tcPr anchor="ctr" marL="82296" marR="54864" marT="27432" marB="27432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一般的なクリニック（予約制が多い）</a:t>
                      </a:r>
                    </a:p>
                  </a:txBody>
                  <a:tcPr anchor="ctr" marL="82296" marR="54864" marT="27432" marB="27432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京橋クリニック（当日順番受付制）</a:t>
                      </a:r>
                    </a:p>
                  </a:txBody>
                  <a:tcPr anchor="ctr" marL="82296" marR="54864" marT="27432" marB="27432">
                    <a:solidFill>
                      <a:srgbClr val="8C241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受付の方法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時間を指定して事前に予約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6E56"/>
                          </a:solidFill>
                          <a:latin typeface="Hiragino Sans"/>
                        </a:rPr>
                        <a:t>来院順／WEBで順番を取得（i-CALL）</a:t>
                      </a:r>
                    </a:p>
                  </a:txBody>
                  <a:tcPr anchor="ctr" marL="82296" marR="54864" marT="27432" marB="27432">
                    <a:solidFill>
                      <a:srgbClr val="E1F5E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使う仕組み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予約システム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6E56"/>
                          </a:solidFill>
                          <a:latin typeface="Hiragino Sans"/>
                        </a:rPr>
                        <a:t>順番受付システム（i-CALL）</a:t>
                      </a:r>
                    </a:p>
                  </a:txBody>
                  <a:tcPr anchor="ctr" marL="82296" marR="54864" marT="27432" marB="27432">
                    <a:solidFill>
                      <a:srgbClr val="E1F5E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患者さんの困り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予約が取れない・キャンセル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6E56"/>
                          </a:solidFill>
                          <a:latin typeface="Hiragino Sans"/>
                        </a:rPr>
                        <a:t>順番取っても来ない・待ち時間が不明</a:t>
                      </a:r>
                    </a:p>
                  </a:txBody>
                  <a:tcPr anchor="ctr" marL="82296" marR="54864" marT="27432" marB="27432">
                    <a:solidFill>
                      <a:srgbClr val="E1F5E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公式LINEで足すこと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予約確定・前日リマインド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6E56"/>
                          </a:solidFill>
                          <a:latin typeface="Hiragino Sans"/>
                        </a:rPr>
                        <a:t>順番が近づくと通知・待ち人数の表示</a:t>
                      </a:r>
                    </a:p>
                  </a:txBody>
                  <a:tcPr anchor="ctr" marL="82296" marR="54864" marT="27432" marB="27432">
                    <a:solidFill>
                      <a:srgbClr val="E1F5EE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02920" y="5321808"/>
            <a:ext cx="11183112" cy="91440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321808"/>
            <a:ext cx="91440" cy="9144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5321808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6E56"/>
                </a:solidFill>
                <a:latin typeface="Hiragino Sans"/>
              </a:rPr>
              <a:t>LINE・電子カルテとの相性：i-CALLは通知に「電話・メール・LINE」対応＋電子カルテ約30社連携（京橋のMedicom含む）。だからLINEとも電カルとも「相性よく」提案できる。※京橋のプランで実際にLINE連携できるか／どの公式LINEに出すかは要確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次アポ作戦・チーム共有（内部）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役割の明確化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i-CALL と 公式LINE ── 置き換える？ 役割を分ける？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結論：技術的には置き換えも可能。でも京橋は「役割を分けて共存」が正解。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83112" cy="658368"/>
          </a:xfrm>
          <a:prstGeom prst="rect">
            <a:avLst/>
          </a:prstGeom>
          <a:solidFill>
            <a:srgbClr val="F4E4E2"/>
          </a:solidFill>
          <a:ln w="1270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91440" cy="65836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83080"/>
            <a:ext cx="106984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置き換えも「できなくはない」。が、京橋は既にi-CALL稼働中＝役割を分けて共存が正解。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06040"/>
            <a:ext cx="5486400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606040"/>
            <a:ext cx="5486400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33472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i-CALL ＝ 順番受付エンジン（受付の心臓部）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200400"/>
            <a:ext cx="50749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役割：採番・順番管理／電話の自動受付／電カル(Medicom)連携／混雑のリアルタイム表示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強み：医療現場で実績1,200施設。止められない受付の核。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2606040"/>
            <a:ext cx="5486400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2606040"/>
            <a:ext cx="5486400" cy="4572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2633472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公式LINE ＝ 患者との接点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3200400"/>
            <a:ext cx="50749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役割：Web問診・予約・FAQ自動応答・お知らせ・リマインド・追客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強み：患者と繋がる・読まれる・無料で柔軟に直せる。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572000"/>
            <a:ext cx="11183112" cy="13716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572000"/>
            <a:ext cx="91440" cy="13716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64515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C241D"/>
                </a:solidFill>
                <a:latin typeface="Hiragino Sans"/>
              </a:rPr>
              <a:t>なぜ「置き換え」でなく「役割分担」か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834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A1A"/>
                </a:solidFill>
                <a:latin typeface="Hiragino Sans"/>
              </a:rPr>
              <a:t>・京橋は既にi-CALL稼働中＝受付の心臓部。引っこ抜く＝受付を止めるリスク＋「まず1つ無料で小さく」に反する。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A1A"/>
                </a:solidFill>
                <a:latin typeface="Hiragino Sans"/>
              </a:rPr>
              <a:t>・我々の今のLINEに「採番・整理券」機能は無い→置き換えるなら新規開発が要る（大工事）。電話受付の高齢者も切ってしまう。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A1A"/>
                </a:solidFill>
                <a:latin typeface="Hiragino Sans"/>
              </a:rPr>
              <a:t>・だから〈i-CALL＝順番の中身／公式LINE＝患者接点〉と分け、「順番通知だけ」をLINEに寄せれば理想（統一）。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01675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8C241D"/>
                </a:solidFill>
                <a:latin typeface="Hiragino Sans"/>
              </a:rPr>
              <a:t>※ 置き換えがアリなのは「i-CALLが無い新規クリニック」や「i-CALL費用を見直す」時。京橋では今やらない。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次アポ作戦・チーム共有（内部）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参考：順番のlive化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アイコール(i-CALL)連携の道筋 ── 菊池の理解用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「順番をLINEで」は、我々が作るより i-CALL のLINE機能を活かすのが筋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2697480" cy="23774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26974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2194560"/>
            <a:ext cx="457200" cy="457200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iragino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A1A1A"/>
                </a:solidFill>
                <a:latin typeface="Hiragino Sans"/>
              </a:rPr>
              <a:t>アイコール＝順番受付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83280"/>
            <a:ext cx="2331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京橋が使う診療予約システム i-CALL。通知は電話/メール/LINEに対応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2" y="2011680"/>
            <a:ext cx="2697480" cy="23774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4992" y="2011680"/>
            <a:ext cx="26974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7872" y="2194560"/>
            <a:ext cx="457200" cy="457200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1945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iragino Sans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78892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A1A1A"/>
                </a:solidFill>
                <a:latin typeface="Hiragino Sans"/>
              </a:rPr>
              <a:t>作るでなく活かす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383280"/>
            <a:ext cx="2331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i-CALLは元々LINE通知できる。順番のlive化は「i-CALL機能を使う」が早い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2011680"/>
            <a:ext cx="2697480" cy="23774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2011680"/>
            <a:ext cx="26974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9944" y="2194560"/>
            <a:ext cx="457200" cy="457200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21945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iragino Sans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78892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A1A1A"/>
                </a:solidFill>
                <a:latin typeface="Hiragino Sans"/>
              </a:rPr>
              <a:t>宮崎が3点確認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3383280"/>
            <a:ext cx="2331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プランにLINE通知あるか／既存の公式LINEに紐付け可か／API有無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89136" y="2011680"/>
            <a:ext cx="2697480" cy="23774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89136" y="2011680"/>
            <a:ext cx="26974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72016" y="2194560"/>
            <a:ext cx="457200" cy="457200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72016" y="21945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iragino Sans"/>
              </a:rP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278892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A1A1A"/>
                </a:solidFill>
                <a:latin typeface="Hiragino Sans"/>
              </a:rPr>
              <a:t>統一 or 住み分け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72016" y="3383280"/>
            <a:ext cx="2331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統一できれば1つのLINEで順番も予約も問診も。無理なら住み分け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6634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8C241D"/>
                </a:solidFill>
                <a:latin typeface="Hiragino Sans"/>
              </a:rPr>
              <a:t>※ これは「将来像」。次アポのYESには必須でない＝先に出しすぎない（売り込みすぎ注意）。中央ビジコムMedicomもi-CALL連携対応で電カル側の整合は取りやすい。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
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A800"/>
                </a:solidFill>
              </a:rPr>
              <a:t>クリニック開業・承継 専門メディア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クリニック開業、</a:t>
            </a:r>
          </a:p>
          <a:p>
            <a:pPr algn="l"/>
            <a:r>
              <a:rPr sz="4600" b="1" i="0">
                <a:solidFill>
                  <a:srgbClr val="FFFFFF"/>
                </a:solidFill>
              </a:rPr>
              <a:t>9割が立地で失敗する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診療圏とテナントの見極め方 ── 開業医が最初に見るべき「立地の数字」3つ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9144000" cy="36576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菊池ホールディングス（KHD）  |  @khd_medical01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A800"/>
                </a:solidFill>
              </a:rPr>
              <a:t>開業は、立地で9割が決まる。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内装でも、設備でも、先生の腕でもなく ── まず立地。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73152" cy="13716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FFFFFF"/>
                </a:solidFill>
              </a:rPr>
              <a:t>探すのは「良い場所」ではない。</a:t>
            </a:r>
          </a:p>
          <a:p>
            <a:pPr algn="l"/>
            <a:r>
              <a:rPr sz="2200" b="1" i="1">
                <a:solidFill>
                  <a:srgbClr val="FFFFFF"/>
                </a:solidFill>
              </a:rPr>
              <a:t>「自分の科目に合う場所」を見抜く。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立地を見抜く 3つの視点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感覚で決めない。数字と事実で見る。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57600" cy="3931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A80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診療圏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推計患者数で</a:t>
            </a:r>
          </a:p>
          <a:p>
            <a:pPr algn="l"/>
            <a:r>
              <a:rPr sz="1400" b="0" i="0">
                <a:solidFill>
                  <a:srgbClr val="CCD6E0"/>
                </a:solidFill>
              </a:rPr>
              <a:t>損益分岐を超えるか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3657600" cy="3931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A800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97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科目との相性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4747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良い物件は存在しない。</a:t>
            </a:r>
          </a:p>
          <a:p>
            <a:pPr algn="l"/>
            <a:r>
              <a:rPr sz="1400" b="0" i="0">
                <a:solidFill>
                  <a:srgbClr val="CCD6E0"/>
                </a:solidFill>
              </a:rPr>
              <a:t>科目で正解が変わる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417320"/>
            <a:ext cx="3657600" cy="39319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417320"/>
            <a:ext cx="365760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6459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8A800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97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テナント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4747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坪単価で選ばない。</a:t>
            </a:r>
          </a:p>
          <a:p>
            <a:pPr algn="l"/>
            <a:r>
              <a:rPr sz="1400" b="0" i="0">
                <a:solidFill>
                  <a:srgbClr val="CCD6E0"/>
                </a:solidFill>
              </a:rPr>
              <a:t>視認性・動線・競合の隙間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視点 1  /  診療圏 = 推計患者数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最初に出すべき、たった1つの数字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0" cy="868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800"/>
                </a:solidFill>
              </a:rPr>
              <a:t>半径◯km以内の人口  ×  科目の受療率  ÷  競合の数  =  推計患者数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【具体例】内科 / 半径2km・人口5万人 × 受療率6% ÷ 競合4院 ≒ 1日あたりの推計患者数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→ この推計が開業後の損益分岐を超えるか。これが最初の関門。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内装やこだわりは、この数字をクリアしてからの話。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順番を逆にすると「立派な箱に患者が来ない」最悪が起きる。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73152" cy="640080"/>
          </a:xfrm>
          <a:prstGeom prst="rect">
            <a:avLst/>
          </a:prstGeom>
          <a:solidFill>
            <a:srgbClr val="4CC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956048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C28C"/>
                </a:solidFill>
              </a:rPr>
              <a:t>💡 この診療圏分析、今はAIで数分。感覚に頼らず、誰でも数字で判断できる時代。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視点 2  /  科目と立地の相性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同じ立地でも、科目で正解が変わる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40680" cy="3291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54864"/>
          </a:xfrm>
          <a:prstGeom prst="rect">
            <a:avLst/>
          </a:prstGeom>
          <a:solidFill>
            <a:srgbClr val="4A9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ECB"/>
                </a:solidFill>
              </a:rPr>
              <a:t>内科・小児科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住宅地の「生活動線」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毎日の買い物や通勤で</a:t>
            </a:r>
          </a:p>
          <a:p>
            <a:pPr algn="l"/>
            <a:r>
              <a:rPr sz="1500" b="0" i="0">
                <a:solidFill>
                  <a:srgbClr val="CCD6E0"/>
                </a:solidFill>
              </a:rPr>
              <a:t>前を通る場所が強い。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5440680" cy="3291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54864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00"/>
                </a:solidFill>
              </a:rPr>
              <a:t>美容・自由診療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ターミナル駅の「視認性」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926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</a:rPr>
              <a:t>わざわざ来てもらう前提。</a:t>
            </a:r>
          </a:p>
          <a:p>
            <a:pPr algn="l"/>
            <a:r>
              <a:rPr sz="1500" b="0" i="0">
                <a:solidFill>
                  <a:srgbClr val="CCD6E0"/>
                </a:solidFill>
              </a:rPr>
              <a:t>目立つ場所が効く。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A800"/>
                </a:solidFill>
              </a:rPr>
              <a:t>「良い物件」は存在しない。あるのは「その科目に合う物件」だけ。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視点 3  /  テナントは坪単価で選ばない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A800"/>
                </a:solidFill>
              </a:rPr>
              <a:t>効くのは ── 視認性・動線・競合との距離。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28016" cy="4572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1階で人目につくか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128016" cy="4572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駅やスーパーの導線上にあるか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128016" cy="4572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近くの競合は土日をやっているか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10972800" cy="1280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73152" cy="1280160"/>
          </a:xfrm>
          <a:prstGeom prst="rect">
            <a:avLst/>
          </a:prstGeom>
          <a:solidFill>
            <a:srgbClr val="FF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家賃が安くても患者が来ない立地は、いちばん高くつく。</a:t>
            </a:r>
          </a:p>
          <a:p>
            <a:pPr algn="l"/>
            <a:r>
              <a:rPr sz="1700" b="1" i="0">
                <a:solidFill>
                  <a:srgbClr val="FFFFFF"/>
                </a:solidFill>
              </a:rPr>
              <a:t>競合が手を抜く時間帯・曜日 ── そこがあなたの患者になる。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クリニック開業支援  |  KHD × 医療メディア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立地は、この3つを「数字と事実」で見る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①  診療圏の推計患者数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②  科目との相性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③  テナントの視認性と競合の隙間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6E0"/>
                </a:solidFill>
              </a:rPr>
              <a:t>感覚で決めない。これだけで失敗確率はぐっと下がる。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10972800" cy="13716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73152" cy="1371600"/>
          </a:xfrm>
          <a:prstGeom prst="rect">
            <a:avLst/>
          </a:prstGeom>
          <a:solidFill>
            <a:srgbClr val="E8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診療圏調査から事業計画、テナント選びまで一緒に組み立てています。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「うちの科目だとどの立地が合う？」 ── 概要欄リンクから気軽にご相談を。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
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50800" cy="5943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京橋クリニック 御中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50876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Hiragino Sans"/>
              </a:rPr>
              <a:t>公式LINE ＋ HP/MEO</a:t>
            </a:r>
          </a:p>
          <a:p>
            <a:pPr algn="l">
              <a:lnSpc>
                <a:spcPct val="112000"/>
              </a:lnSpc>
            </a:pPr>
            <a:r>
              <a:rPr sz="2800" b="1">
                <a:solidFill>
                  <a:srgbClr val="1A1A1A"/>
                </a:solidFill>
                <a:latin typeface="Hiragino Sans"/>
              </a:rPr>
              <a:t>作り込み提案（GO判断用）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290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E6E6E"/>
                </a:solidFill>
                <a:latin typeface="Hiragino Sans"/>
              </a:rPr>
              <a:t>いただいた問診票・面談シート・前回メモをもとに、具体的な作り込みに落とし込みました。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60520"/>
            <a:ext cx="10515600" cy="1097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91440" cy="10972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100584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8C241D"/>
                </a:solidFill>
                <a:latin typeface="Hiragino Sans"/>
              </a:rPr>
              <a:t>このGOをいただけたら、まず「問診票」から作り込みに着手します。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8C241D"/>
                </a:solidFill>
                <a:latin typeface="Hiragino Sans"/>
              </a:rPr>
              <a:t>アイコール（順番受付）はそのまま活かし、LINEは役割を分けて重ねます。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公式LINE＋HP/MEO 作り込み提案（GO判断用）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全体像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Hiragino Sans"/>
              </a:rPr>
              <a:t>3つのレイヤーで、役割を分ける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それぞれの持ち場を分け、重ねる。置き換えない。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1183112" cy="1325880"/>
          </a:xfrm>
          <a:prstGeom prst="rect">
            <a:avLst/>
          </a:prstGeom>
          <a:solidFill>
            <a:srgbClr val="E6F1FB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109728" cy="132588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20823"/>
            <a:ext cx="23774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85FA5"/>
                </a:solidFill>
                <a:latin typeface="Hiragino Sans"/>
              </a:rPr>
              <a:t>集患（入口）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57399"/>
            <a:ext cx="3291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HP ・ MEO（Googleマップ）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57399"/>
            <a:ext cx="4937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患者さんに見つけてもらう。さいとう内科さんの型をTTP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37559"/>
            <a:ext cx="11183112" cy="1325880"/>
          </a:xfrm>
          <a:prstGeom prst="rect">
            <a:avLst/>
          </a:prstGeom>
          <a:solidFill>
            <a:srgbClr val="F4E4E2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37559"/>
            <a:ext cx="109728" cy="1325880"/>
          </a:xfrm>
          <a:prstGeom prst="rect">
            <a:avLst/>
          </a:prstGeom>
          <a:solidFill>
            <a:srgbClr val="8C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83863"/>
            <a:ext cx="23774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患者接点（つなぐ）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520439"/>
            <a:ext cx="3291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公式LINE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20439"/>
            <a:ext cx="4937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問診・次回予約・お知らせ・リマインド・FAQ・追客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800599"/>
            <a:ext cx="11183112" cy="13258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800599"/>
            <a:ext cx="109728" cy="13258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46903"/>
            <a:ext cx="23774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Hiragino Sans"/>
              </a:rPr>
              <a:t>受付（院内）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983479"/>
            <a:ext cx="3291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アイコール（順番受付）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983479"/>
            <a:ext cx="4937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当日の順番・採番・電話受付・混雑表示。受付の心臓部＝そのまま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公式LINE＋HP/MEO 作り込み提案（GO判断用）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導線の分け方（重要）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Hiragino Sans"/>
              </a:rPr>
              <a:t>アイコール と LINE、どう分けるか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順番には触らない。LINEは「その手前と後」を担う。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86400" cy="2834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486400" cy="50292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83664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Sans"/>
              </a:rPr>
              <a:t>アイコール（変えない）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6888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・当日の順番受付・採番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・電話の自動受付（高齢の方）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・混雑・待ち人数の表示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・電子カルテ(Medicom)連携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＝受付の心臓部。そのまま稼働。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828800"/>
            <a:ext cx="5486400" cy="2834640"/>
          </a:xfrm>
          <a:prstGeom prst="rect">
            <a:avLst/>
          </a:prstGeom>
          <a:solidFill>
            <a:srgbClr val="F4E4E2"/>
          </a:solidFill>
          <a:ln w="1270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828800"/>
            <a:ext cx="5486400" cy="5029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883664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Sans"/>
              </a:rPr>
              <a:t>公式LINE（足す）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46888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・来院「前」：Web問診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・来院「後」：次回予約・リマインド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・お知らせ・FAQ自動応答・追客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・離脱しかけの方の掘り起こし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＝順番には触らない。手前と後ろを担う。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892040"/>
            <a:ext cx="11183112" cy="960120"/>
          </a:xfrm>
          <a:prstGeom prst="rect">
            <a:avLst/>
          </a:prstGeom>
          <a:solidFill>
            <a:srgbClr val="E1F5EE"/>
          </a:solidFill>
          <a:ln w="1524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892040"/>
            <a:ext cx="91440" cy="9601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892040"/>
            <a:ext cx="107899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F6E56"/>
                </a:solidFill>
                <a:latin typeface="Hiragino Sans"/>
              </a:rPr>
              <a:t>重なるのは「順番のお知らせ」だけ。将来、アイコールのLINE通知機能で公式LINEに寄せられれば1本化（要確認）。それまでは住み分け。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公式LINE＋HP/MEO 作り込み提案（GO判断用）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① 問診のLINE動線（ここから着手）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Hiragino Sans"/>
              </a:rPr>
              <a:t>友だち追加 → 問診を選んで → スマホで記入 → 受付に届く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来院前に記入完了で、受付の聞き取り・転記・紙が減る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210312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95728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Hiragino Sans"/>
              </a:rPr>
              <a:t>友だち追加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852928"/>
            <a:ext cx="18836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E6E6E"/>
                </a:solidFill>
                <a:latin typeface="Hiragino Sans"/>
              </a:rPr>
              <a:t>QR/リンクから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7752" y="23774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70632" y="1965960"/>
            <a:ext cx="210312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70632" y="19659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2072" y="20574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2395728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Hiragino Sans"/>
              </a:rPr>
              <a:t>問診を選ぶ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852928"/>
            <a:ext cx="18836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E6E6E"/>
                </a:solidFill>
                <a:latin typeface="Hiragino Sans"/>
              </a:rPr>
              <a:t>一般／睡眠時無呼吸／健診／化学物質過敏症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5464" y="23774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38344" y="1965960"/>
            <a:ext cx="210312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38344" y="19659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9784" y="20574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395728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Hiragino Sans"/>
              </a:rPr>
              <a:t>スマホで記入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2" y="2852928"/>
            <a:ext cx="18836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E6E6E"/>
                </a:solidFill>
                <a:latin typeface="Hiragino Sans"/>
              </a:rPr>
              <a:t>来院前に自宅で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6" y="23774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06056" y="1965960"/>
            <a:ext cx="210312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06056" y="19659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97496" y="20574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7496" y="2395728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Hiragino Sans"/>
              </a:rPr>
              <a:t>送信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5784" y="2852928"/>
            <a:ext cx="18836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E6E6E"/>
                </a:solidFill>
                <a:latin typeface="Hiragino Sans"/>
              </a:rPr>
              <a:t>自動でお礼＋タグ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23774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73768" y="1965960"/>
            <a:ext cx="210312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73768" y="19659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65208" y="20574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65208" y="2395728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Hiragino Sans"/>
              </a:rPr>
              <a:t>受付に届く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2852928"/>
            <a:ext cx="18836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>
                <a:solidFill>
                  <a:srgbClr val="6E6E6E"/>
                </a:solidFill>
                <a:latin typeface="Hiragino Sans"/>
              </a:rPr>
              <a:t>一覧で確認・カルテへ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840480"/>
            <a:ext cx="11183112" cy="16002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3840480"/>
            <a:ext cx="91440" cy="1600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393192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いただいた実問診票をベースに（2種類）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29768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・①一般問診票（症状・既往・アレルギー・喫煙飲酒・いびき/無呼吸・ジェネリック希望・当院を何で知ったか 等）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・②ESS／Epworth（睡眠時無呼吸・CPAP用。8つの状況の眠気を4段階→合計11点以上で疑い）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→ 様式は京橋さんのものをそのまま電子化。斉藤内科さん（デジスマ）の「迷わない流れ」を参考に。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公式LINE＋HP/MEO 作り込み提案（GO判断用）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① 問診の中身（実票どおり）＋ おまけの効果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Hiragino Sans"/>
              </a:rPr>
              <a:t>聞いている項目はそのまま。デジタルにするだけ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受付の手間と「紙」を、まとめて減らせる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86400" cy="27432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5486400" cy="5029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83664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一般問診票（そのまま電子化）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68880"/>
            <a:ext cx="5029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症状・発症時期／体温／既往歴・家族歴／アレルギー／喫煙・飲酒／いびき・無呼吸／妊娠（女性）／ジェネリック希望／★当院を何で知ったか（＝集患の分析データに）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828800"/>
            <a:ext cx="5486400" cy="27432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828800"/>
            <a:ext cx="5486400" cy="5029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883664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ESS（睡眠時無呼吸・CPAP）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468880"/>
            <a:ext cx="5029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身長・体重＋8つの状況の眠気を4段階（0〜3）で。合計が自動計算され、11点以上は要注意の目安に。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→ CPAP対象の拾い上げ・定期フォローに直結。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54880"/>
            <a:ext cx="11183112" cy="77724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754880"/>
            <a:ext cx="91440" cy="7772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754880"/>
            <a:ext cx="10789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おまけ：本人確認の「マイナンバー紙コピー」も、事前のデジタル取得で減らせます（事務の声に対応）。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公式LINE＋HP/MEO 作り込み提案（GO判断用）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② LINEの他メニュー（前回メモから）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Hiragino Sans"/>
              </a:rPr>
              <a:t>問診の次に、効く順で広げる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看護師長・事務の皆さまの声をそのまま反映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11183112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3280"/>
                <a:gridCol w="4572000"/>
                <a:gridCol w="3227832"/>
              </a:tblGrid>
              <a:tr h="5225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メニュー</a:t>
                      </a:r>
                    </a:p>
                  </a:txBody>
                  <a:tcPr anchor="ctr" marL="9144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中身</a:t>
                      </a:r>
                    </a:p>
                  </a:txBody>
                  <a:tcPr anchor="ctr" marL="91440" marT="18288" marB="18288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効果</a:t>
                      </a:r>
                    </a:p>
                  </a:txBody>
                  <a:tcPr anchor="ctr" marL="91440" marT="18288" marB="18288">
                    <a:solidFill>
                      <a:srgbClr val="AA2E2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再診リマインド（デフォルトON）</a:t>
                      </a:r>
                    </a:p>
                  </a:txBody>
                  <a:tcPr anchor="ctr" marL="9144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再診・定期の方に来院の目安をお知らせ</a:t>
                      </a:r>
                    </a:p>
                  </a:txBody>
                  <a:tcPr anchor="ctr" marL="9144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取りこぼし防止（看護師長のご意見）</a:t>
                      </a:r>
                    </a:p>
                  </a:txBody>
                  <a:tcPr anchor="ctr" marL="91440" marT="18288" marB="18288">
                    <a:solidFill>
                      <a:srgbClr val="F1ECE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CPAP 次回予約 自動送付</a:t>
                      </a:r>
                    </a:p>
                  </a:txBody>
                  <a:tcPr anchor="ctr" marL="9144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毎回聞けていなかった次回予約を事前設定で自動案内</a:t>
                      </a:r>
                    </a:p>
                  </a:txBody>
                  <a:tcPr anchor="ctr" marL="9144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月末の駆け込み・残業を減らす</a:t>
                      </a:r>
                    </a:p>
                  </a:txBody>
                  <a:tcPr anchor="ctr" marL="91440" marT="18288" marB="18288">
                    <a:solidFill>
                      <a:srgbClr val="F9F6E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再診促し（ザオラル→LINE）</a:t>
                      </a:r>
                    </a:p>
                  </a:txBody>
                  <a:tcPr anchor="ctr" marL="9144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離脱しかけの方へLINEで次回予約導線</a:t>
                      </a:r>
                    </a:p>
                  </a:txBody>
                  <a:tcPr anchor="ctr" marL="9144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事務の架電を減らし、不在でも予約が取れる</a:t>
                      </a:r>
                    </a:p>
                  </a:txBody>
                  <a:tcPr anchor="ctr" marL="91440" marT="18288" marB="18288">
                    <a:solidFill>
                      <a:srgbClr val="F1ECE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化学物質過敏症の問診</a:t>
                      </a:r>
                    </a:p>
                  </a:txBody>
                  <a:tcPr anchor="ctr" marL="9144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専用問診→先生がお電話フォロー</a:t>
                      </a:r>
                    </a:p>
                  </a:txBody>
                  <a:tcPr anchor="ctr" marL="9144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LINEが特に響く層。証明書運用と連動</a:t>
                      </a:r>
                    </a:p>
                  </a:txBody>
                  <a:tcPr anchor="ctr" marL="91440" marT="18288" marB="18288">
                    <a:solidFill>
                      <a:srgbClr val="F9F6E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健診の問診</a:t>
                      </a:r>
                    </a:p>
                  </a:txBody>
                  <a:tcPr anchor="ctr" marL="9144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健診用フォーム</a:t>
                      </a:r>
                    </a:p>
                  </a:txBody>
                  <a:tcPr anchor="ctr" marL="91440" marT="18288" marB="1828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受付の手間を軽く</a:t>
                      </a:r>
                    </a:p>
                  </a:txBody>
                  <a:tcPr anchor="ctr" marL="91440" marT="18288" marB="18288">
                    <a:solidFill>
                      <a:srgbClr val="F1ECE1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次回予約をきちんと取る</a:t>
                      </a:r>
                    </a:p>
                  </a:txBody>
                  <a:tcPr anchor="ctr" marL="9144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LINEで確実に取得・記録</a:t>
                      </a:r>
                    </a:p>
                  </a:txBody>
                  <a:tcPr anchor="ctr" marL="91440" marT="18288" marB="1828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取りこぼし防止＋国へのアピールにも</a:t>
                      </a:r>
                    </a:p>
                  </a:txBody>
                  <a:tcPr anchor="ctr" marL="91440" marT="18288" marB="18288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公式LINE＋HP/MEO 作り込み提案（GO判断用）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③ HP・MEO（集患の入口・b）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Hiragino Sans"/>
              </a:rPr>
              <a:t>さいとう内科さんの「勝ち型」をTTPして内製化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作るだけでなく、見つけてもらう。LINE/問診への入口にも。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14630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91440" cy="146304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39111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85FA5"/>
                </a:solidFill>
                <a:latin typeface="Hiragino Sans"/>
              </a:rPr>
              <a:t>多層の予約導線＋常時CTA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532887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電話／WEB予約／WEB問診／LINEを、画面に常に出す（フローティング）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874519"/>
            <a:ext cx="5486400" cy="14630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874519"/>
            <a:ext cx="91440" cy="146304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2039111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85FA5"/>
                </a:solidFill>
                <a:latin typeface="Hiragino Sans"/>
              </a:rPr>
              <a:t>予約専用ダイヤルを目立たせる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32887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ヘッダーに独立配置。迷わせない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11879"/>
            <a:ext cx="5486400" cy="14630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611879"/>
            <a:ext cx="91440" cy="146304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1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85FA5"/>
                </a:solidFill>
                <a:latin typeface="Hiragino Sans"/>
              </a:rPr>
              <a:t>MEO：NAPを反復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270247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住所・電話・最寄駅(徒歩◯分)を3回以上。診療科をカード化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611879"/>
            <a:ext cx="5486400" cy="14630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611879"/>
            <a:ext cx="91440" cy="146304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3776471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85FA5"/>
                </a:solidFill>
                <a:latin typeface="Hiragino Sans"/>
              </a:rPr>
              <a:t>信頼づくり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70247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院長経歴・提携病院・院長ブログ/通信を月次更新。右下にAIチャットボット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2120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C241D"/>
                </a:solidFill>
                <a:latin typeface="Hiragino Sans"/>
              </a:rPr>
              <a:t>→ HP・MEOは「集患」レーン。LINE・問診と繋いで、見つける→つながる→来院、を一本に。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公式LINE＋HP/MEO 作り込み提案（GO判断用）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作り込みの段取り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Hiragino Sans"/>
              </a:rPr>
              <a:t>フェーズで、無理なく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まず問診。効果を見ながら次へ。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3621024" cy="2286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3621024" cy="5943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56816"/>
            <a:ext cx="334670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</a:rPr>
              <a:t>P1（まず）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32552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8C241D"/>
                </a:solidFill>
                <a:latin typeface="Hiragino Sans"/>
              </a:rPr>
              <a:t>Web問診（一般・ESS）＋ 再診リマインド（ON）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316382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E6E6E"/>
                </a:solidFill>
                <a:latin typeface="Hiragino Sans"/>
              </a:rPr>
              <a:t>テンプレ反映→実物→受付に届くまで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1874519"/>
            <a:ext cx="3621024" cy="2286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1874519"/>
            <a:ext cx="3621024" cy="5943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1956816"/>
            <a:ext cx="334670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</a:rPr>
              <a:t>P2（次に）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606040"/>
            <a:ext cx="32552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8C241D"/>
                </a:solidFill>
                <a:latin typeface="Hiragino Sans"/>
              </a:rPr>
              <a:t>CPAP自動・再診促し・化学物質過敏症・健診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3429000"/>
            <a:ext cx="316382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E6E6E"/>
                </a:solidFill>
                <a:latin typeface="Hiragino Sans"/>
              </a:rPr>
              <a:t>効いた所から順に追加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1874519"/>
            <a:ext cx="3621024" cy="2286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1874519"/>
            <a:ext cx="3621024" cy="5943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956816"/>
            <a:ext cx="334670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</a:rPr>
              <a:t>P3（その後）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2606040"/>
            <a:ext cx="32552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8C241D"/>
                </a:solidFill>
                <a:latin typeface="Hiragino Sans"/>
              </a:rPr>
              <a:t>HP・MEO（集患の入口）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429000"/>
            <a:ext cx="316382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E6E6E"/>
                </a:solidFill>
                <a:latin typeface="Hiragino Sans"/>
              </a:rPr>
              <a:t>さいとう内科TTPで内製化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43400"/>
            <a:ext cx="11183112" cy="109728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343400"/>
            <a:ext cx="91440" cy="10972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343400"/>
            <a:ext cx="107899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8C241D"/>
                </a:solidFill>
                <a:latin typeface="Hiragino Sans"/>
              </a:rPr>
              <a:t>進め方：問診テンプレは新さん（事務窓口）とやり取り。開始日は福井さんと調整。</a:t>
            </a: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8C241D"/>
                </a:solidFill>
                <a:latin typeface="Hiragino Sans"/>
              </a:rPr>
              <a:t>スタートは来週〜。アイコールは止めず、LINEは順番に触らずに重ねます。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公式LINE＋HP/MEO 作り込み提案（GO判断用）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効果の測り方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Hiragino Sans"/>
              </a:rPr>
              <a:t>一緒に「数字」で確かめる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評価のためでなく、楽になったかを見るため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1118311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6793992"/>
              </a:tblGrid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見る指標</a:t>
                      </a:r>
                    </a:p>
                  </a:txBody>
                  <a:tcPr anchor="ctr" marL="109728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どう良くなるか</a:t>
                      </a:r>
                    </a:p>
                  </a:txBody>
                  <a:tcPr anchor="ctr" marL="109728" marT="36576" marB="36576">
                    <a:solidFill>
                      <a:srgbClr val="AA2E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Web問診の事前記入率</a:t>
                      </a:r>
                    </a:p>
                  </a:txBody>
                  <a:tcPr anchor="ctr" marL="109728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来院前に取得→受付の聞き取り・転記・紙が減る</a:t>
                      </a:r>
                    </a:p>
                  </a:txBody>
                  <a:tcPr anchor="ctr" marL="109728" marT="36576" marB="36576">
                    <a:solidFill>
                      <a:srgbClr val="F1ECE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受付の電話本数 / 日</a:t>
                      </a:r>
                    </a:p>
                  </a:txBody>
                  <a:tcPr anchor="ctr" marL="109728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リマインド・FAQで一次対応→件数が減る</a:t>
                      </a:r>
                    </a:p>
                  </a:txBody>
                  <a:tcPr anchor="ctr" marL="109728" marT="36576" marB="36576">
                    <a:solidFill>
                      <a:srgbClr val="F9F6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CPAP定期の来院率</a:t>
                      </a:r>
                    </a:p>
                  </a:txBody>
                  <a:tcPr anchor="ctr" marL="109728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次回予約の自動案内→取りこぼしが減る</a:t>
                      </a:r>
                    </a:p>
                  </a:txBody>
                  <a:tcPr anchor="ctr" marL="109728" marT="36576" marB="36576">
                    <a:solidFill>
                      <a:srgbClr val="F1ECE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月末の残業時間</a:t>
                      </a:r>
                    </a:p>
                  </a:txBody>
                  <a:tcPr anchor="ctr" marL="109728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通院の平準化→月末の山・19時残業が減る</a:t>
                      </a:r>
                    </a:p>
                  </a:txBody>
                  <a:tcPr anchor="ctr" marL="109728" marT="36576" marB="36576">
                    <a:solidFill>
                      <a:srgbClr val="F9F6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新患数 / HP・MEO経由の流入</a:t>
                      </a:r>
                    </a:p>
                  </a:txBody>
                  <a:tcPr anchor="ctr" marL="109728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HP/MEOで見つけてもらう→新患が増える</a:t>
                      </a:r>
                    </a:p>
                  </a:txBody>
                  <a:tcPr anchor="ctr" marL="109728" marT="36576" marB="36576">
                    <a:solidFill>
                      <a:srgbClr val="F1ECE1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5349240"/>
            <a:ext cx="11183112" cy="54864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349240"/>
            <a:ext cx="91440" cy="5486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34924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導入前のいまの数字（電話本数・残業など）を、先に軽く取っておきます（ベースライン）。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公式LINE＋HP/MEO 作り込み提案（GO判断用）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GO判断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Hiragino Sans"/>
              </a:rPr>
              <a:t>この方向で、作り込みに入ってよいか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GOをいただけたら、まず問診から着手します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86400" cy="2468880"/>
          </a:xfrm>
          <a:prstGeom prst="rect">
            <a:avLst/>
          </a:prstGeom>
          <a:solidFill>
            <a:srgbClr val="F4E4E2"/>
          </a:solidFill>
          <a:ln w="1270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91440" cy="24688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385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先に教えてほしい2点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50292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①「最後の1週間」に架電、の運用の意味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（再診促しの設計に効きます）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② サインエコーのLINE導入、とは？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（どんなご要望か、もう少し）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828800"/>
            <a:ext cx="5486400" cy="24688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828800"/>
            <a:ext cx="91440" cy="24688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9385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GOをもらったら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423160"/>
            <a:ext cx="50292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・問診テンプレを反映して、まず問診の実物を作る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・受付に届くところまで通す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・開始日は福井さんと調整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・新さん（事務）と細部をやり取り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26280"/>
            <a:ext cx="11183112" cy="914400"/>
          </a:xfrm>
          <a:prstGeom prst="rect">
            <a:avLst/>
          </a:prstGeom>
          <a:solidFill>
            <a:srgbClr val="E1F5EE"/>
          </a:solidFill>
          <a:ln w="1524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526280"/>
            <a:ext cx="91440" cy="9144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52628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Hiragino Sans"/>
              </a:rPr>
              <a:t>アイコールは活かす。LINEは順番に触らず重ねる。まず問診から、無料で小さく。これでGO、でよろしいですか？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
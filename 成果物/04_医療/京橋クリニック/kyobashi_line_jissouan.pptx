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411480"/>
            <a:ext cx="50800" cy="60350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17320"/>
            <a:ext cx="6583680" cy="411480"/>
          </a:xfrm>
          <a:prstGeom prst="rect">
            <a:avLst/>
          </a:prstGeom>
          <a:noFill/>
        </p:spPr>
        <p:txBody>
          <a:bodyPr wrap="square" anchor="t">
            <a:spAutoFit/>
          </a:bodyPr>
          <a:lstStyle/>
          <a:p>
            <a:pPr algn="l"/>
            <a:r>
              <a:rPr sz="1500" b="1" i="0">
                <a:solidFill>
                  <a:srgbClr val="AA2E26"/>
                </a:solidFill>
                <a:latin typeface="Hiragino Sans"/>
              </a:rPr>
              <a:t>LINE × CLINIC</a:t>
            </a:r>
          </a:p>
        </p:txBody>
      </p:sp>
      <p:sp>
        <p:nvSpPr>
          <p:cNvPr id="4" name="TextBox 3"/>
          <p:cNvSpPr txBox="1"/>
          <p:nvPr/>
        </p:nvSpPr>
        <p:spPr>
          <a:xfrm>
            <a:off x="804672" y="1920240"/>
            <a:ext cx="6766560" cy="822960"/>
          </a:xfrm>
          <a:prstGeom prst="rect">
            <a:avLst/>
          </a:prstGeom>
          <a:noFill/>
        </p:spPr>
        <p:txBody>
          <a:bodyPr wrap="square" anchor="t">
            <a:spAutoFit/>
          </a:bodyPr>
          <a:lstStyle/>
          <a:p>
            <a:pPr algn="l"/>
            <a:r>
              <a:rPr sz="4000" b="1" i="0">
                <a:solidFill>
                  <a:srgbClr val="1A1A1A"/>
                </a:solidFill>
                <a:latin typeface="Hiragino Sans"/>
              </a:rPr>
              <a:t>アンケートの声を、</a:t>
            </a:r>
          </a:p>
        </p:txBody>
      </p:sp>
      <p:sp>
        <p:nvSpPr>
          <p:cNvPr id="5" name="TextBox 4"/>
          <p:cNvSpPr txBox="1"/>
          <p:nvPr/>
        </p:nvSpPr>
        <p:spPr>
          <a:xfrm>
            <a:off x="804672" y="2651760"/>
            <a:ext cx="6766560" cy="822960"/>
          </a:xfrm>
          <a:prstGeom prst="rect">
            <a:avLst/>
          </a:prstGeom>
          <a:noFill/>
        </p:spPr>
        <p:txBody>
          <a:bodyPr wrap="square" anchor="t">
            <a:spAutoFit/>
          </a:bodyPr>
          <a:lstStyle/>
          <a:p>
            <a:pPr algn="l"/>
            <a:r>
              <a:rPr sz="4000" b="1" i="0">
                <a:solidFill>
                  <a:srgbClr val="AA2E26"/>
                </a:solidFill>
                <a:latin typeface="Hiragino Sans"/>
              </a:rPr>
              <a:t>LINEで減らす</a:t>
            </a:r>
          </a:p>
        </p:txBody>
      </p:sp>
      <p:sp>
        <p:nvSpPr>
          <p:cNvPr id="6" name="TextBox 5"/>
          <p:cNvSpPr txBox="1"/>
          <p:nvPr/>
        </p:nvSpPr>
        <p:spPr>
          <a:xfrm>
            <a:off x="822960" y="3566160"/>
            <a:ext cx="6675120" cy="822960"/>
          </a:xfrm>
          <a:prstGeom prst="rect">
            <a:avLst/>
          </a:prstGeom>
          <a:noFill/>
        </p:spPr>
        <p:txBody>
          <a:bodyPr wrap="square" anchor="t">
            <a:spAutoFit/>
          </a:bodyPr>
          <a:lstStyle/>
          <a:p>
            <a:pPr algn="l">
              <a:lnSpc>
                <a:spcPct val="125000"/>
              </a:lnSpc>
            </a:pPr>
            <a:r>
              <a:rPr sz="1350" b="0" i="0">
                <a:solidFill>
                  <a:srgbClr val="6E6E6E"/>
                </a:solidFill>
                <a:latin typeface="Hiragino Sans"/>
              </a:rPr>
              <a:t>医療事務・看護師アンケート（事務3名・看護師3名）が示した</a:t>
            </a:r>
          </a:p>
          <a:p>
            <a:pPr algn="l">
              <a:lnSpc>
                <a:spcPct val="125000"/>
              </a:lnSpc>
            </a:pPr>
            <a:r>
              <a:rPr sz="1350" b="0" i="0">
                <a:solidFill>
                  <a:srgbClr val="6E6E6E"/>
                </a:solidFill>
                <a:latin typeface="Hiragino Sans"/>
              </a:rPr>
              <a:t>残業の主因を、LINE導線で物理的に減らす実装案。初期構築は当社が巻き取り。</a:t>
            </a:r>
          </a:p>
        </p:txBody>
      </p:sp>
      <p:sp>
        <p:nvSpPr>
          <p:cNvPr id="7" name="Rectangle 6"/>
          <p:cNvSpPr/>
          <p:nvPr/>
        </p:nvSpPr>
        <p:spPr>
          <a:xfrm>
            <a:off x="822960" y="4572000"/>
            <a:ext cx="2103120" cy="123444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572000"/>
            <a:ext cx="2103120" cy="54864"/>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718304"/>
            <a:ext cx="2103120" cy="320040"/>
          </a:xfrm>
          <a:prstGeom prst="rect">
            <a:avLst/>
          </a:prstGeom>
          <a:noFill/>
        </p:spPr>
        <p:txBody>
          <a:bodyPr wrap="square" anchor="t">
            <a:spAutoFit/>
          </a:bodyPr>
          <a:lstStyle/>
          <a:p>
            <a:pPr algn="ctr"/>
            <a:r>
              <a:rPr sz="1200" b="0" i="0">
                <a:solidFill>
                  <a:srgbClr val="6E6E6E"/>
                </a:solidFill>
                <a:latin typeface="Hiragino Sans"/>
              </a:rPr>
              <a:t>初期構築</a:t>
            </a:r>
          </a:p>
        </p:txBody>
      </p:sp>
      <p:sp>
        <p:nvSpPr>
          <p:cNvPr id="10" name="TextBox 9"/>
          <p:cNvSpPr txBox="1"/>
          <p:nvPr/>
        </p:nvSpPr>
        <p:spPr>
          <a:xfrm>
            <a:off x="822960" y="5029200"/>
            <a:ext cx="2103120" cy="731520"/>
          </a:xfrm>
          <a:prstGeom prst="rect">
            <a:avLst/>
          </a:prstGeom>
          <a:noFill/>
        </p:spPr>
        <p:txBody>
          <a:bodyPr wrap="square" anchor="t">
            <a:spAutoFit/>
          </a:bodyPr>
          <a:lstStyle/>
          <a:p>
            <a:pPr algn="ctr">
              <a:lnSpc>
                <a:spcPct val="100000"/>
              </a:lnSpc>
            </a:pPr>
            <a:r>
              <a:rPr sz="2600" b="1" i="0">
                <a:solidFill>
                  <a:srgbClr val="AA2E26"/>
                </a:solidFill>
                <a:latin typeface="Hiragino Sans"/>
              </a:rPr>
              <a:t>当社負担</a:t>
            </a:r>
          </a:p>
        </p:txBody>
      </p:sp>
      <p:sp>
        <p:nvSpPr>
          <p:cNvPr id="11" name="Rectangle 10"/>
          <p:cNvSpPr/>
          <p:nvPr/>
        </p:nvSpPr>
        <p:spPr>
          <a:xfrm>
            <a:off x="3072384" y="4572000"/>
            <a:ext cx="2103120" cy="123444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72384" y="4572000"/>
            <a:ext cx="2103120" cy="54864"/>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72384" y="4718304"/>
            <a:ext cx="2103120" cy="320040"/>
          </a:xfrm>
          <a:prstGeom prst="rect">
            <a:avLst/>
          </a:prstGeom>
          <a:noFill/>
        </p:spPr>
        <p:txBody>
          <a:bodyPr wrap="square" anchor="t">
            <a:spAutoFit/>
          </a:bodyPr>
          <a:lstStyle/>
          <a:p>
            <a:pPr algn="ctr"/>
            <a:r>
              <a:rPr sz="1200" b="0" i="0">
                <a:solidFill>
                  <a:srgbClr val="6E6E6E"/>
                </a:solidFill>
                <a:latin typeface="Hiragino Sans"/>
              </a:rPr>
              <a:t>まず試す</a:t>
            </a:r>
          </a:p>
        </p:txBody>
      </p:sp>
      <p:sp>
        <p:nvSpPr>
          <p:cNvPr id="14" name="TextBox 13"/>
          <p:cNvSpPr txBox="1"/>
          <p:nvPr/>
        </p:nvSpPr>
        <p:spPr>
          <a:xfrm>
            <a:off x="3072384" y="5029200"/>
            <a:ext cx="2103120" cy="731520"/>
          </a:xfrm>
          <a:prstGeom prst="rect">
            <a:avLst/>
          </a:prstGeom>
          <a:noFill/>
        </p:spPr>
        <p:txBody>
          <a:bodyPr wrap="square" anchor="t">
            <a:spAutoFit/>
          </a:bodyPr>
          <a:lstStyle/>
          <a:p>
            <a:pPr algn="ctr">
              <a:lnSpc>
                <a:spcPct val="100000"/>
              </a:lnSpc>
            </a:pPr>
            <a:r>
              <a:rPr sz="2000" b="1" i="0">
                <a:solidFill>
                  <a:srgbClr val="AA2E26"/>
                </a:solidFill>
                <a:latin typeface="Hiragino Sans"/>
              </a:rPr>
              <a:t>再診</a:t>
            </a:r>
          </a:p>
          <a:p>
            <a:pPr algn="ctr">
              <a:lnSpc>
                <a:spcPct val="100000"/>
              </a:lnSpc>
            </a:pPr>
            <a:r>
              <a:rPr sz="2000" b="1" i="0">
                <a:solidFill>
                  <a:srgbClr val="AA2E26"/>
                </a:solidFill>
                <a:latin typeface="Hiragino Sans"/>
              </a:rPr>
              <a:t>リマインド</a:t>
            </a:r>
          </a:p>
        </p:txBody>
      </p:sp>
      <p:sp>
        <p:nvSpPr>
          <p:cNvPr id="15" name="Rectangle 14"/>
          <p:cNvSpPr/>
          <p:nvPr/>
        </p:nvSpPr>
        <p:spPr>
          <a:xfrm>
            <a:off x="5321808" y="4572000"/>
            <a:ext cx="2103120" cy="123444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321808" y="4572000"/>
            <a:ext cx="2103120" cy="54864"/>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1808" y="4718304"/>
            <a:ext cx="2103120" cy="320040"/>
          </a:xfrm>
          <a:prstGeom prst="rect">
            <a:avLst/>
          </a:prstGeom>
          <a:noFill/>
        </p:spPr>
        <p:txBody>
          <a:bodyPr wrap="square" anchor="t">
            <a:spAutoFit/>
          </a:bodyPr>
          <a:lstStyle/>
          <a:p>
            <a:pPr algn="ctr"/>
            <a:r>
              <a:rPr sz="1200" b="0" i="0">
                <a:solidFill>
                  <a:srgbClr val="6E6E6E"/>
                </a:solidFill>
                <a:latin typeface="Hiragino Sans"/>
              </a:rPr>
              <a:t>院の手間</a:t>
            </a:r>
          </a:p>
        </p:txBody>
      </p:sp>
      <p:sp>
        <p:nvSpPr>
          <p:cNvPr id="18" name="TextBox 17"/>
          <p:cNvSpPr txBox="1"/>
          <p:nvPr/>
        </p:nvSpPr>
        <p:spPr>
          <a:xfrm>
            <a:off x="5321808" y="5029200"/>
            <a:ext cx="2103120" cy="731520"/>
          </a:xfrm>
          <a:prstGeom prst="rect">
            <a:avLst/>
          </a:prstGeom>
          <a:noFill/>
        </p:spPr>
        <p:txBody>
          <a:bodyPr wrap="square" anchor="t">
            <a:spAutoFit/>
          </a:bodyPr>
          <a:lstStyle/>
          <a:p>
            <a:pPr algn="ctr">
              <a:lnSpc>
                <a:spcPct val="100000"/>
              </a:lnSpc>
            </a:pPr>
            <a:r>
              <a:rPr sz="2600" b="1" i="0">
                <a:solidFill>
                  <a:srgbClr val="AA2E26"/>
                </a:solidFill>
                <a:latin typeface="Hiragino Sans"/>
              </a:rPr>
              <a:t>ゼロ</a:t>
            </a:r>
          </a:p>
        </p:txBody>
      </p:sp>
      <p:sp>
        <p:nvSpPr>
          <p:cNvPr id="19" name="Rectangle 18"/>
          <p:cNvSpPr/>
          <p:nvPr/>
        </p:nvSpPr>
        <p:spPr>
          <a:xfrm>
            <a:off x="822960" y="6126480"/>
            <a:ext cx="10515600"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6236208"/>
            <a:ext cx="10058400" cy="365760"/>
          </a:xfrm>
          <a:prstGeom prst="rect">
            <a:avLst/>
          </a:prstGeom>
          <a:noFill/>
        </p:spPr>
        <p:txBody>
          <a:bodyPr wrap="square" anchor="t">
            <a:spAutoFit/>
          </a:bodyPr>
          <a:lstStyle/>
          <a:p>
            <a:pPr algn="l"/>
            <a:r>
              <a:rPr sz="1300" b="1" i="0">
                <a:solidFill>
                  <a:srgbClr val="1A1A1A"/>
                </a:solidFill>
                <a:latin typeface="Hiragino Sans"/>
              </a:rPr>
              <a:t>チームてっかん  ｜  菊池 研太  ｜  2026.06</a:t>
            </a:r>
          </a:p>
        </p:txBody>
      </p:sp>
      <p:sp>
        <p:nvSpPr>
          <p:cNvPr id="21" name="Rectangle 20"/>
          <p:cNvSpPr/>
          <p:nvPr/>
        </p:nvSpPr>
        <p:spPr>
          <a:xfrm>
            <a:off x="8229600" y="1417320"/>
            <a:ext cx="3291840" cy="420624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39328" y="1527048"/>
            <a:ext cx="3072384" cy="3986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39328" y="1527048"/>
            <a:ext cx="3072384" cy="457200"/>
          </a:xfrm>
          <a:prstGeom prst="rect">
            <a:avLst/>
          </a:prstGeom>
          <a:solidFill>
            <a:srgbClr val="067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85632" y="1527048"/>
            <a:ext cx="2834640" cy="457200"/>
          </a:xfrm>
          <a:prstGeom prst="rect">
            <a:avLst/>
          </a:prstGeom>
          <a:noFill/>
        </p:spPr>
        <p:txBody>
          <a:bodyPr wrap="square" anchor="ctr">
            <a:spAutoFit/>
          </a:bodyPr>
          <a:lstStyle/>
          <a:p>
            <a:pPr algn="l"/>
            <a:r>
              <a:rPr sz="1100" b="1" i="0">
                <a:solidFill>
                  <a:srgbClr val="FFFFFF"/>
                </a:solidFill>
                <a:latin typeface="Hiragino Sans"/>
              </a:rPr>
              <a:t>京橋クリニック</a:t>
            </a:r>
          </a:p>
        </p:txBody>
      </p:sp>
      <p:sp>
        <p:nvSpPr>
          <p:cNvPr id="25" name="Rectangle 24"/>
          <p:cNvSpPr/>
          <p:nvPr/>
        </p:nvSpPr>
        <p:spPr>
          <a:xfrm>
            <a:off x="8961120" y="2130552"/>
            <a:ext cx="2286000" cy="493776"/>
          </a:xfrm>
          <a:prstGeom prst="rect">
            <a:avLst/>
          </a:prstGeom>
          <a:solidFill>
            <a:srgbClr val="9AE5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70848" y="2130552"/>
            <a:ext cx="2066544" cy="493776"/>
          </a:xfrm>
          <a:prstGeom prst="rect">
            <a:avLst/>
          </a:prstGeom>
          <a:noFill/>
        </p:spPr>
        <p:txBody>
          <a:bodyPr wrap="square" anchor="ctr">
            <a:spAutoFit/>
          </a:bodyPr>
          <a:lstStyle/>
          <a:p>
            <a:pPr algn="l">
              <a:lnSpc>
                <a:spcPct val="100000"/>
              </a:lnSpc>
            </a:pPr>
            <a:r>
              <a:rPr sz="900" b="0" i="0">
                <a:solidFill>
                  <a:srgbClr val="1A1A1A"/>
                </a:solidFill>
                <a:latin typeface="Hiragino Sans"/>
              </a:rPr>
              <a:t>そろそろCPAPの定期診察の時期です</a:t>
            </a:r>
          </a:p>
        </p:txBody>
      </p:sp>
      <p:sp>
        <p:nvSpPr>
          <p:cNvPr id="27" name="Rectangle 26"/>
          <p:cNvSpPr/>
          <p:nvPr/>
        </p:nvSpPr>
        <p:spPr>
          <a:xfrm>
            <a:off x="8961120" y="2752344"/>
            <a:ext cx="2286000" cy="310896"/>
          </a:xfrm>
          <a:prstGeom prst="rect">
            <a:avLst/>
          </a:prstGeom>
          <a:solidFill>
            <a:srgbClr val="9AE5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70848" y="2752344"/>
            <a:ext cx="2066544" cy="310896"/>
          </a:xfrm>
          <a:prstGeom prst="rect">
            <a:avLst/>
          </a:prstGeom>
          <a:noFill/>
        </p:spPr>
        <p:txBody>
          <a:bodyPr wrap="square" anchor="ctr">
            <a:spAutoFit/>
          </a:bodyPr>
          <a:lstStyle/>
          <a:p>
            <a:pPr algn="l">
              <a:lnSpc>
                <a:spcPct val="100000"/>
              </a:lnSpc>
            </a:pPr>
            <a:r>
              <a:rPr sz="900" b="0" i="0">
                <a:solidFill>
                  <a:srgbClr val="1A1A1A"/>
                </a:solidFill>
                <a:latin typeface="Hiragino Sans"/>
              </a:rPr>
              <a:t>ご予約はこちらから ▶</a:t>
            </a:r>
          </a:p>
        </p:txBody>
      </p:sp>
      <p:sp>
        <p:nvSpPr>
          <p:cNvPr id="29" name="Rectangle 28"/>
          <p:cNvSpPr/>
          <p:nvPr/>
        </p:nvSpPr>
        <p:spPr>
          <a:xfrm>
            <a:off x="8503920" y="3191256"/>
            <a:ext cx="2286000" cy="493776"/>
          </a:xfrm>
          <a:prstGeom prst="rect">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3648" y="3191256"/>
            <a:ext cx="2066544" cy="493776"/>
          </a:xfrm>
          <a:prstGeom prst="rect">
            <a:avLst/>
          </a:prstGeom>
          <a:noFill/>
        </p:spPr>
        <p:txBody>
          <a:bodyPr wrap="square" anchor="ctr">
            <a:spAutoFit/>
          </a:bodyPr>
          <a:lstStyle/>
          <a:p>
            <a:pPr algn="l">
              <a:lnSpc>
                <a:spcPct val="100000"/>
              </a:lnSpc>
            </a:pPr>
            <a:r>
              <a:rPr sz="900" b="0" i="0">
                <a:solidFill>
                  <a:srgbClr val="1A1A1A"/>
                </a:solidFill>
                <a:latin typeface="Hiragino Sans"/>
              </a:rPr>
              <a:t>6/28(土) 10:00 で予約しました</a:t>
            </a:r>
          </a:p>
        </p:txBody>
      </p:sp>
      <p:sp>
        <p:nvSpPr>
          <p:cNvPr id="31" name="Rectangle 30"/>
          <p:cNvSpPr/>
          <p:nvPr/>
        </p:nvSpPr>
        <p:spPr>
          <a:xfrm>
            <a:off x="8961120" y="3813048"/>
            <a:ext cx="2286000" cy="493776"/>
          </a:xfrm>
          <a:prstGeom prst="rect">
            <a:avLst/>
          </a:prstGeom>
          <a:solidFill>
            <a:srgbClr val="9AE5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70848" y="3813048"/>
            <a:ext cx="2066544" cy="493776"/>
          </a:xfrm>
          <a:prstGeom prst="rect">
            <a:avLst/>
          </a:prstGeom>
          <a:noFill/>
        </p:spPr>
        <p:txBody>
          <a:bodyPr wrap="square" anchor="ctr">
            <a:spAutoFit/>
          </a:bodyPr>
          <a:lstStyle/>
          <a:p>
            <a:pPr algn="l">
              <a:lnSpc>
                <a:spcPct val="100000"/>
              </a:lnSpc>
            </a:pPr>
            <a:r>
              <a:rPr sz="900" b="0" i="0">
                <a:solidFill>
                  <a:srgbClr val="1A1A1A"/>
                </a:solidFill>
                <a:latin typeface="Hiragino Sans"/>
              </a:rPr>
              <a:t>当日の順番が近づくとお知らせします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6400800"/>
            <a:ext cx="11274552"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73952"/>
            <a:ext cx="9144000" cy="292608"/>
          </a:xfrm>
          <a:prstGeom prst="rect">
            <a:avLst/>
          </a:prstGeom>
          <a:noFill/>
        </p:spPr>
        <p:txBody>
          <a:bodyPr wrap="square" anchor="t">
            <a:spAutoFit/>
          </a:bodyPr>
          <a:lstStyle/>
          <a:p>
            <a:pPr algn="l"/>
            <a:r>
              <a:rPr sz="900" b="0" i="0">
                <a:solidFill>
                  <a:srgbClr val="6E6E6E"/>
                </a:solidFill>
                <a:latin typeface="Hiragino Sans"/>
              </a:rPr>
              <a:t>京橋クリニック  ｜  LINE活用 実装案  ｜  AI医療コンサル</a:t>
            </a:r>
          </a:p>
        </p:txBody>
      </p:sp>
      <p:sp>
        <p:nvSpPr>
          <p:cNvPr id="4" name="TextBox 3"/>
          <p:cNvSpPr txBox="1"/>
          <p:nvPr/>
        </p:nvSpPr>
        <p:spPr>
          <a:xfrm>
            <a:off x="548640" y="365760"/>
            <a:ext cx="10972800" cy="365760"/>
          </a:xfrm>
          <a:prstGeom prst="rect">
            <a:avLst/>
          </a:prstGeom>
          <a:noFill/>
        </p:spPr>
        <p:txBody>
          <a:bodyPr wrap="square" anchor="t">
            <a:spAutoFit/>
          </a:bodyPr>
          <a:lstStyle/>
          <a:p>
            <a:pPr algn="l"/>
            <a:r>
              <a:rPr sz="1300" b="1" i="0">
                <a:solidFill>
                  <a:srgbClr val="AA2E26"/>
                </a:solidFill>
                <a:latin typeface="Hiragino Sans"/>
              </a:rPr>
              <a:t>THE VOICE</a:t>
            </a:r>
          </a:p>
        </p:txBody>
      </p:sp>
      <p:sp>
        <p:nvSpPr>
          <p:cNvPr id="5" name="Rectangle 4"/>
          <p:cNvSpPr/>
          <p:nvPr/>
        </p:nvSpPr>
        <p:spPr>
          <a:xfrm>
            <a:off x="566928" y="713232"/>
            <a:ext cx="1554480" cy="381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1064240" cy="502920"/>
          </a:xfrm>
          <a:prstGeom prst="rect">
            <a:avLst/>
          </a:prstGeom>
          <a:noFill/>
        </p:spPr>
        <p:txBody>
          <a:bodyPr wrap="square" anchor="t">
            <a:spAutoFit/>
          </a:bodyPr>
          <a:lstStyle/>
          <a:p>
            <a:pPr algn="l"/>
            <a:r>
              <a:rPr sz="2300" b="1" i="0">
                <a:solidFill>
                  <a:srgbClr val="1A1A1A"/>
                </a:solidFill>
                <a:latin typeface="Hiragino Sans"/>
              </a:rPr>
              <a:t>アンケートが示す、残業の3つの主因</a:t>
            </a:r>
          </a:p>
        </p:txBody>
      </p:sp>
      <p:sp>
        <p:nvSpPr>
          <p:cNvPr id="7" name="TextBox 6"/>
          <p:cNvSpPr txBox="1"/>
          <p:nvPr/>
        </p:nvSpPr>
        <p:spPr>
          <a:xfrm>
            <a:off x="566928" y="1316736"/>
            <a:ext cx="11064240" cy="274320"/>
          </a:xfrm>
          <a:prstGeom prst="rect">
            <a:avLst/>
          </a:prstGeom>
          <a:noFill/>
        </p:spPr>
        <p:txBody>
          <a:bodyPr wrap="square" anchor="t">
            <a:spAutoFit/>
          </a:bodyPr>
          <a:lstStyle/>
          <a:p>
            <a:pPr algn="l"/>
            <a:r>
              <a:rPr sz="1150" b="0" i="0">
                <a:solidFill>
                  <a:srgbClr val="6E6E6E"/>
                </a:solidFill>
                <a:latin typeface="Hiragino Sans"/>
              </a:rPr>
              <a:t>事務3名・看護師3名の生の声（2026年6月実施／対応責任者 福井）</a:t>
            </a:r>
          </a:p>
        </p:txBody>
      </p:sp>
      <p:sp>
        <p:nvSpPr>
          <p:cNvPr id="8" name="Rectangle 7"/>
          <p:cNvSpPr/>
          <p:nvPr/>
        </p:nvSpPr>
        <p:spPr>
          <a:xfrm>
            <a:off x="502920" y="1783080"/>
            <a:ext cx="3611880" cy="393192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83080"/>
            <a:ext cx="3611880" cy="10972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39112"/>
            <a:ext cx="1371600" cy="731520"/>
          </a:xfrm>
          <a:prstGeom prst="rect">
            <a:avLst/>
          </a:prstGeom>
          <a:noFill/>
        </p:spPr>
        <p:txBody>
          <a:bodyPr wrap="square" anchor="t">
            <a:spAutoFit/>
          </a:bodyPr>
          <a:lstStyle/>
          <a:p>
            <a:pPr algn="l"/>
            <a:r>
              <a:rPr sz="3400" b="1" i="0">
                <a:solidFill>
                  <a:srgbClr val="AA2E26"/>
                </a:solidFill>
                <a:latin typeface="Hiragino Sans"/>
              </a:rPr>
              <a:t>01</a:t>
            </a:r>
          </a:p>
        </p:txBody>
      </p:sp>
      <p:sp>
        <p:nvSpPr>
          <p:cNvPr id="11" name="TextBox 10"/>
          <p:cNvSpPr txBox="1"/>
          <p:nvPr/>
        </p:nvSpPr>
        <p:spPr>
          <a:xfrm>
            <a:off x="777240" y="2834640"/>
            <a:ext cx="3063240" cy="1005840"/>
          </a:xfrm>
          <a:prstGeom prst="rect">
            <a:avLst/>
          </a:prstGeom>
          <a:noFill/>
        </p:spPr>
        <p:txBody>
          <a:bodyPr wrap="square" anchor="t">
            <a:spAutoFit/>
          </a:bodyPr>
          <a:lstStyle/>
          <a:p>
            <a:pPr algn="l">
              <a:lnSpc>
                <a:spcPct val="110000"/>
              </a:lnSpc>
            </a:pPr>
            <a:r>
              <a:rPr sz="1600" b="1" i="0">
                <a:solidFill>
                  <a:srgbClr val="1A1A1A"/>
                </a:solidFill>
                <a:latin typeface="Hiragino Sans"/>
              </a:rPr>
              <a:t>順番受付（アイコール）が機能不全</a:t>
            </a:r>
          </a:p>
        </p:txBody>
      </p:sp>
      <p:sp>
        <p:nvSpPr>
          <p:cNvPr id="12" name="Rectangle 11"/>
          <p:cNvSpPr/>
          <p:nvPr/>
        </p:nvSpPr>
        <p:spPr>
          <a:xfrm>
            <a:off x="777240" y="3931920"/>
            <a:ext cx="3063240"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14800"/>
            <a:ext cx="3063240" cy="1463040"/>
          </a:xfrm>
          <a:prstGeom prst="rect">
            <a:avLst/>
          </a:prstGeom>
          <a:noFill/>
        </p:spPr>
        <p:txBody>
          <a:bodyPr wrap="square" anchor="t">
            <a:spAutoFit/>
          </a:bodyPr>
          <a:lstStyle/>
          <a:p>
            <a:pPr algn="l">
              <a:lnSpc>
                <a:spcPct val="125000"/>
              </a:lnSpc>
            </a:pPr>
            <a:r>
              <a:rPr sz="1200" b="0" i="0">
                <a:solidFill>
                  <a:srgbClr val="6E6E6E"/>
                </a:solidFill>
                <a:latin typeface="Hiragino Sans"/>
              </a:rPr>
              <a:t>「順番を取っても受付時間内に来ない」「注意書きを読まない」</a:t>
            </a:r>
          </a:p>
          <a:p>
            <a:pPr algn="l">
              <a:lnSpc>
                <a:spcPct val="125000"/>
              </a:lnSpc>
            </a:pPr>
            <a:r>
              <a:rPr sz="1200" b="0" i="0">
                <a:solidFill>
                  <a:srgbClr val="6E6E6E"/>
                </a:solidFill>
                <a:latin typeface="Hiragino Sans"/>
              </a:rPr>
              <a:t>→ 受付が毎回クレーム対応に追われる。</a:t>
            </a:r>
          </a:p>
        </p:txBody>
      </p:sp>
      <p:sp>
        <p:nvSpPr>
          <p:cNvPr id="14" name="Rectangle 13"/>
          <p:cNvSpPr/>
          <p:nvPr/>
        </p:nvSpPr>
        <p:spPr>
          <a:xfrm>
            <a:off x="4334256" y="1783080"/>
            <a:ext cx="3611880" cy="393192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34256" y="1783080"/>
            <a:ext cx="3611880" cy="10972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08576" y="2039112"/>
            <a:ext cx="1371600" cy="731520"/>
          </a:xfrm>
          <a:prstGeom prst="rect">
            <a:avLst/>
          </a:prstGeom>
          <a:noFill/>
        </p:spPr>
        <p:txBody>
          <a:bodyPr wrap="square" anchor="t">
            <a:spAutoFit/>
          </a:bodyPr>
          <a:lstStyle/>
          <a:p>
            <a:pPr algn="l"/>
            <a:r>
              <a:rPr sz="3400" b="1" i="0">
                <a:solidFill>
                  <a:srgbClr val="AA2E26"/>
                </a:solidFill>
                <a:latin typeface="Hiragino Sans"/>
              </a:rPr>
              <a:t>02</a:t>
            </a:r>
          </a:p>
        </p:txBody>
      </p:sp>
      <p:sp>
        <p:nvSpPr>
          <p:cNvPr id="17" name="TextBox 16"/>
          <p:cNvSpPr txBox="1"/>
          <p:nvPr/>
        </p:nvSpPr>
        <p:spPr>
          <a:xfrm>
            <a:off x="4608576" y="2834640"/>
            <a:ext cx="3063240" cy="1005840"/>
          </a:xfrm>
          <a:prstGeom prst="rect">
            <a:avLst/>
          </a:prstGeom>
          <a:noFill/>
        </p:spPr>
        <p:txBody>
          <a:bodyPr wrap="square" anchor="t">
            <a:spAutoFit/>
          </a:bodyPr>
          <a:lstStyle/>
          <a:p>
            <a:pPr algn="l">
              <a:lnSpc>
                <a:spcPct val="110000"/>
              </a:lnSpc>
            </a:pPr>
            <a:r>
              <a:rPr sz="1600" b="1" i="0">
                <a:solidFill>
                  <a:srgbClr val="1A1A1A"/>
                </a:solidFill>
                <a:latin typeface="Hiragino Sans"/>
              </a:rPr>
              <a:t>CPAPの通院離脱で月末が爆発</a:t>
            </a:r>
          </a:p>
        </p:txBody>
      </p:sp>
      <p:sp>
        <p:nvSpPr>
          <p:cNvPr id="18" name="Rectangle 17"/>
          <p:cNvSpPr/>
          <p:nvPr/>
        </p:nvSpPr>
        <p:spPr>
          <a:xfrm>
            <a:off x="4608576" y="3931920"/>
            <a:ext cx="3063240"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08576" y="4114800"/>
            <a:ext cx="3063240" cy="1463040"/>
          </a:xfrm>
          <a:prstGeom prst="rect">
            <a:avLst/>
          </a:prstGeom>
          <a:noFill/>
        </p:spPr>
        <p:txBody>
          <a:bodyPr wrap="square" anchor="t">
            <a:spAutoFit/>
          </a:bodyPr>
          <a:lstStyle/>
          <a:p>
            <a:pPr algn="l">
              <a:lnSpc>
                <a:spcPct val="125000"/>
              </a:lnSpc>
            </a:pPr>
            <a:r>
              <a:rPr sz="1200" b="0" i="0">
                <a:solidFill>
                  <a:srgbClr val="6E6E6E"/>
                </a:solidFill>
                <a:latin typeface="Hiragino Sans"/>
              </a:rPr>
              <a:t>「毎月来る同意のはずが来ない」</a:t>
            </a:r>
          </a:p>
          <a:p>
            <a:pPr algn="l">
              <a:lnSpc>
                <a:spcPct val="125000"/>
              </a:lnSpc>
            </a:pPr>
            <a:r>
              <a:rPr sz="1200" b="0" i="0">
                <a:solidFill>
                  <a:srgbClr val="6E6E6E"/>
                </a:solidFill>
                <a:latin typeface="Hiragino Sans"/>
              </a:rPr>
              <a:t>→ 月末最終日にまとめて会計 → 残業が大幅に増える。</a:t>
            </a:r>
          </a:p>
        </p:txBody>
      </p:sp>
      <p:sp>
        <p:nvSpPr>
          <p:cNvPr id="20" name="Rectangle 19"/>
          <p:cNvSpPr/>
          <p:nvPr/>
        </p:nvSpPr>
        <p:spPr>
          <a:xfrm>
            <a:off x="8165592" y="1783080"/>
            <a:ext cx="3611880" cy="393192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65592" y="1783080"/>
            <a:ext cx="3611880" cy="10972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2039112"/>
            <a:ext cx="1371600" cy="731520"/>
          </a:xfrm>
          <a:prstGeom prst="rect">
            <a:avLst/>
          </a:prstGeom>
          <a:noFill/>
        </p:spPr>
        <p:txBody>
          <a:bodyPr wrap="square" anchor="t">
            <a:spAutoFit/>
          </a:bodyPr>
          <a:lstStyle/>
          <a:p>
            <a:pPr algn="l"/>
            <a:r>
              <a:rPr sz="3400" b="1" i="0">
                <a:solidFill>
                  <a:srgbClr val="AA2E26"/>
                </a:solidFill>
                <a:latin typeface="Hiragino Sans"/>
              </a:rPr>
              <a:t>03</a:t>
            </a:r>
          </a:p>
        </p:txBody>
      </p:sp>
      <p:sp>
        <p:nvSpPr>
          <p:cNvPr id="23" name="TextBox 22"/>
          <p:cNvSpPr txBox="1"/>
          <p:nvPr/>
        </p:nvSpPr>
        <p:spPr>
          <a:xfrm>
            <a:off x="8439912" y="2834640"/>
            <a:ext cx="3063240" cy="1005840"/>
          </a:xfrm>
          <a:prstGeom prst="rect">
            <a:avLst/>
          </a:prstGeom>
          <a:noFill/>
        </p:spPr>
        <p:txBody>
          <a:bodyPr wrap="square" anchor="t">
            <a:spAutoFit/>
          </a:bodyPr>
          <a:lstStyle/>
          <a:p>
            <a:pPr algn="l">
              <a:lnSpc>
                <a:spcPct val="110000"/>
              </a:lnSpc>
            </a:pPr>
            <a:r>
              <a:rPr sz="1600" b="1" i="0">
                <a:solidFill>
                  <a:srgbClr val="1A1A1A"/>
                </a:solidFill>
                <a:latin typeface="Hiragino Sans"/>
              </a:rPr>
              <a:t>説明しても、読まれない・伝わらない</a:t>
            </a:r>
          </a:p>
        </p:txBody>
      </p:sp>
      <p:sp>
        <p:nvSpPr>
          <p:cNvPr id="24" name="Rectangle 23"/>
          <p:cNvSpPr/>
          <p:nvPr/>
        </p:nvSpPr>
        <p:spPr>
          <a:xfrm>
            <a:off x="8439912" y="3931920"/>
            <a:ext cx="3063240"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9912" y="4114800"/>
            <a:ext cx="3063240" cy="1463040"/>
          </a:xfrm>
          <a:prstGeom prst="rect">
            <a:avLst/>
          </a:prstGeom>
          <a:noFill/>
        </p:spPr>
        <p:txBody>
          <a:bodyPr wrap="square" anchor="t">
            <a:spAutoFit/>
          </a:bodyPr>
          <a:lstStyle/>
          <a:p>
            <a:pPr algn="l">
              <a:lnSpc>
                <a:spcPct val="125000"/>
              </a:lnSpc>
            </a:pPr>
            <a:r>
              <a:rPr sz="1200" b="0" i="0">
                <a:solidFill>
                  <a:srgbClr val="6E6E6E"/>
                </a:solidFill>
                <a:latin typeface="Hiragino Sans"/>
              </a:rPr>
              <a:t>「説明も掲示もしているのに読まない患者が多すぎる」</a:t>
            </a:r>
          </a:p>
          <a:p>
            <a:pPr algn="l">
              <a:lnSpc>
                <a:spcPct val="125000"/>
              </a:lnSpc>
            </a:pPr>
            <a:r>
              <a:rPr sz="1200" b="0" i="0">
                <a:solidFill>
                  <a:srgbClr val="6E6E6E"/>
                </a:solidFill>
                <a:latin typeface="Hiragino Sans"/>
              </a:rPr>
              <a:t>→ 紙・掲示では届かない。</a:t>
            </a:r>
          </a:p>
        </p:txBody>
      </p:sp>
      <p:sp>
        <p:nvSpPr>
          <p:cNvPr id="26" name="Rectangle 25"/>
          <p:cNvSpPr/>
          <p:nvPr/>
        </p:nvSpPr>
        <p:spPr>
          <a:xfrm>
            <a:off x="502920" y="5879592"/>
            <a:ext cx="10817352" cy="457200"/>
          </a:xfrm>
          <a:prstGeom prst="rect">
            <a:avLst/>
          </a:prstGeom>
          <a:solidFill>
            <a:srgbClr val="F4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879592"/>
            <a:ext cx="91440" cy="4572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5879592"/>
            <a:ext cx="10515600" cy="457200"/>
          </a:xfrm>
          <a:prstGeom prst="rect">
            <a:avLst/>
          </a:prstGeom>
          <a:noFill/>
        </p:spPr>
        <p:txBody>
          <a:bodyPr wrap="square" anchor="ctr">
            <a:spAutoFit/>
          </a:bodyPr>
          <a:lstStyle/>
          <a:p>
            <a:pPr algn="l"/>
            <a:r>
              <a:rPr sz="1150" b="1" i="0">
                <a:solidFill>
                  <a:srgbClr val="8C241D"/>
                </a:solidFill>
                <a:latin typeface="Hiragino Sans"/>
              </a:rPr>
              <a:t>＋ HP導線：外来受付・化学物質過敏症の問い合わせが「電話して」導線になっている → 事務の電話対応をさらに増やしている。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6400800"/>
            <a:ext cx="11274552"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73952"/>
            <a:ext cx="9144000" cy="292608"/>
          </a:xfrm>
          <a:prstGeom prst="rect">
            <a:avLst/>
          </a:prstGeom>
          <a:noFill/>
        </p:spPr>
        <p:txBody>
          <a:bodyPr wrap="square" anchor="t">
            <a:spAutoFit/>
          </a:bodyPr>
          <a:lstStyle/>
          <a:p>
            <a:pPr algn="l"/>
            <a:r>
              <a:rPr sz="900" b="0" i="0">
                <a:solidFill>
                  <a:srgbClr val="6E6E6E"/>
                </a:solidFill>
                <a:latin typeface="Hiragino Sans"/>
              </a:rPr>
              <a:t>京橋クリニック  ｜  LINE活用 実装案  ｜  AI医療コンサル</a:t>
            </a:r>
          </a:p>
        </p:txBody>
      </p:sp>
      <p:sp>
        <p:nvSpPr>
          <p:cNvPr id="4" name="TextBox 3"/>
          <p:cNvSpPr txBox="1"/>
          <p:nvPr/>
        </p:nvSpPr>
        <p:spPr>
          <a:xfrm>
            <a:off x="548640" y="365760"/>
            <a:ext cx="10972800" cy="365760"/>
          </a:xfrm>
          <a:prstGeom prst="rect">
            <a:avLst/>
          </a:prstGeom>
          <a:noFill/>
        </p:spPr>
        <p:txBody>
          <a:bodyPr wrap="square" anchor="t">
            <a:spAutoFit/>
          </a:bodyPr>
          <a:lstStyle/>
          <a:p>
            <a:pPr algn="l"/>
            <a:r>
              <a:rPr sz="1300" b="1" i="0">
                <a:solidFill>
                  <a:srgbClr val="AA2E26"/>
                </a:solidFill>
                <a:latin typeface="Hiragino Sans"/>
              </a:rPr>
              <a:t>THE SOLUTION</a:t>
            </a:r>
          </a:p>
        </p:txBody>
      </p:sp>
      <p:sp>
        <p:nvSpPr>
          <p:cNvPr id="5" name="Rectangle 4"/>
          <p:cNvSpPr/>
          <p:nvPr/>
        </p:nvSpPr>
        <p:spPr>
          <a:xfrm>
            <a:off x="566928" y="713232"/>
            <a:ext cx="1554480" cy="381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1064240" cy="502920"/>
          </a:xfrm>
          <a:prstGeom prst="rect">
            <a:avLst/>
          </a:prstGeom>
          <a:noFill/>
        </p:spPr>
        <p:txBody>
          <a:bodyPr wrap="square" anchor="t">
            <a:spAutoFit/>
          </a:bodyPr>
          <a:lstStyle/>
          <a:p>
            <a:pPr algn="l"/>
            <a:r>
              <a:rPr sz="2300" b="1" i="0">
                <a:solidFill>
                  <a:srgbClr val="1A1A1A"/>
                </a:solidFill>
                <a:latin typeface="Hiragino Sans"/>
              </a:rPr>
              <a:t>その主因、LINEでこう減らせます</a:t>
            </a:r>
          </a:p>
        </p:txBody>
      </p:sp>
      <p:sp>
        <p:nvSpPr>
          <p:cNvPr id="7" name="TextBox 6"/>
          <p:cNvSpPr txBox="1"/>
          <p:nvPr/>
        </p:nvSpPr>
        <p:spPr>
          <a:xfrm>
            <a:off x="566928" y="1316736"/>
            <a:ext cx="11064240" cy="274320"/>
          </a:xfrm>
          <a:prstGeom prst="rect">
            <a:avLst/>
          </a:prstGeom>
          <a:noFill/>
        </p:spPr>
        <p:txBody>
          <a:bodyPr wrap="square" anchor="t">
            <a:spAutoFit/>
          </a:bodyPr>
          <a:lstStyle/>
          <a:p>
            <a:pPr algn="l"/>
            <a:r>
              <a:rPr sz="1150" b="0" i="0">
                <a:solidFill>
                  <a:srgbClr val="6E6E6E"/>
                </a:solidFill>
                <a:latin typeface="Hiragino Sans"/>
              </a:rPr>
              <a:t>アンケートの声（Before）→ LINE導線（After）。重い見積りでなく、まず1つ試す前提</a:t>
            </a:r>
          </a:p>
        </p:txBody>
      </p:sp>
      <p:graphicFrame>
        <p:nvGraphicFramePr>
          <p:cNvPr id="8" name="Table 7"/>
          <p:cNvGraphicFramePr>
            <a:graphicFrameLocks noGrp="1"/>
          </p:cNvGraphicFramePr>
          <p:nvPr/>
        </p:nvGraphicFramePr>
        <p:xfrm>
          <a:off x="502920" y="1783080"/>
          <a:ext cx="11183112" cy="3657600"/>
        </p:xfrm>
        <a:graphic>
          <a:graphicData uri="http://schemas.openxmlformats.org/drawingml/2006/table">
            <a:tbl>
              <a:tblPr>
                <a:tableStyleId>{5C22544A-7EE6-4342-B048-85BDC9FD1C3A}</a:tableStyleId>
              </a:tblPr>
              <a:tblGrid>
                <a:gridCol w="2743200"/>
                <a:gridCol w="4023360"/>
                <a:gridCol w="4416552"/>
              </a:tblGrid>
              <a:tr h="914400">
                <a:tc>
                  <a:txBody>
                    <a:bodyPr/>
                    <a:lstStyle/>
                    <a:p>
                      <a:pPr algn="l"/>
                      <a:r>
                        <a:rPr sz="1300" b="1">
                          <a:solidFill>
                            <a:srgbClr val="FFFFFF"/>
                          </a:solidFill>
                          <a:latin typeface="Hiragino Sans"/>
                        </a:rPr>
                        <a:t>機能</a:t>
                      </a:r>
                    </a:p>
                  </a:txBody>
                  <a:tcPr anchor="ctr" marL="91440" marR="73152" marT="45720" marB="45720">
                    <a:solidFill>
                      <a:srgbClr val="AA2E26"/>
                    </a:solidFill>
                  </a:tcPr>
                </a:tc>
                <a:tc>
                  <a:txBody>
                    <a:bodyPr/>
                    <a:lstStyle/>
                    <a:p>
                      <a:pPr algn="l"/>
                      <a:r>
                        <a:rPr sz="1300" b="1">
                          <a:solidFill>
                            <a:srgbClr val="FFFFFF"/>
                          </a:solidFill>
                          <a:latin typeface="Hiragino Sans"/>
                        </a:rPr>
                        <a:t>Before（アンケートの声）</a:t>
                      </a:r>
                    </a:p>
                  </a:txBody>
                  <a:tcPr anchor="ctr" marL="91440" marR="73152" marT="45720" marB="45720">
                    <a:solidFill>
                      <a:srgbClr val="AA2E26"/>
                    </a:solidFill>
                  </a:tcPr>
                </a:tc>
                <a:tc>
                  <a:txBody>
                    <a:bodyPr/>
                    <a:lstStyle/>
                    <a:p>
                      <a:pPr algn="l"/>
                      <a:r>
                        <a:rPr sz="1300" b="1">
                          <a:solidFill>
                            <a:srgbClr val="FFFFFF"/>
                          </a:solidFill>
                          <a:latin typeface="Hiragino Sans"/>
                        </a:rPr>
                        <a:t>After（LINE導線で）</a:t>
                      </a:r>
                    </a:p>
                  </a:txBody>
                  <a:tcPr anchor="ctr" marL="91440" marR="73152" marT="45720" marB="45720">
                    <a:solidFill>
                      <a:srgbClr val="8C241D"/>
                    </a:solidFill>
                  </a:tcPr>
                </a:tc>
              </a:tr>
              <a:tr h="914400">
                <a:tc>
                  <a:txBody>
                    <a:bodyPr/>
                    <a:lstStyle/>
                    <a:p>
                      <a:pPr algn="l"/>
                      <a:r>
                        <a:rPr sz="1200" b="1">
                          <a:solidFill>
                            <a:srgbClr val="1A1A1A"/>
                          </a:solidFill>
                          <a:latin typeface="Hiragino Sans"/>
                        </a:rPr>
                        <a:t>① 再診リマインド ★まず1つ</a:t>
                      </a:r>
                    </a:p>
                  </a:txBody>
                  <a:tcPr anchor="ctr" marL="91440" marR="73152" marT="45720" marB="45720">
                    <a:solidFill>
                      <a:srgbClr val="F1ECE1"/>
                    </a:solidFill>
                  </a:tcPr>
                </a:tc>
                <a:tc>
                  <a:txBody>
                    <a:bodyPr/>
                    <a:lstStyle/>
                    <a:p>
                      <a:pPr algn="l"/>
                      <a:r>
                        <a:rPr sz="1200" b="0">
                          <a:solidFill>
                            <a:srgbClr val="3A3A3A"/>
                          </a:solidFill>
                          <a:latin typeface="Hiragino Sans"/>
                        </a:rPr>
                        <a:t>CPAPが毎月来ない→月末まとめ会計で残業爆発</a:t>
                      </a:r>
                    </a:p>
                  </a:txBody>
                  <a:tcPr anchor="ctr" marL="91440" marR="73152" marT="45720" marB="45720">
                    <a:solidFill>
                      <a:srgbClr val="F1ECE1"/>
                    </a:solidFill>
                  </a:tcPr>
                </a:tc>
                <a:tc>
                  <a:txBody>
                    <a:bodyPr/>
                    <a:lstStyle/>
                    <a:p>
                      <a:pPr algn="l"/>
                      <a:r>
                        <a:rPr sz="1200" b="1">
                          <a:solidFill>
                            <a:srgbClr val="AA2E26"/>
                          </a:solidFill>
                          <a:latin typeface="Hiragino Sans"/>
                        </a:rPr>
                        <a:t>予約日前にLINE自動リマインド→来院率UP→月末残業を平準化（効果が数字で出る）</a:t>
                      </a:r>
                    </a:p>
                  </a:txBody>
                  <a:tcPr anchor="ctr" marL="91440" marR="73152" marT="45720" marB="45720">
                    <a:solidFill>
                      <a:srgbClr val="F4E4E2"/>
                    </a:solidFill>
                  </a:tcPr>
                </a:tc>
              </a:tr>
              <a:tr h="914400">
                <a:tc>
                  <a:txBody>
                    <a:bodyPr/>
                    <a:lstStyle/>
                    <a:p>
                      <a:pPr algn="l"/>
                      <a:r>
                        <a:rPr sz="1200" b="1">
                          <a:solidFill>
                            <a:srgbClr val="1A1A1A"/>
                          </a:solidFill>
                          <a:latin typeface="Hiragino Sans"/>
                        </a:rPr>
                        <a:t>② 順番・待ち時間の通知</a:t>
                      </a:r>
                    </a:p>
                  </a:txBody>
                  <a:tcPr anchor="ctr" marL="91440" marR="73152" marT="45720" marB="45720">
                    <a:solidFill>
                      <a:srgbClr val="F9F6EF"/>
                    </a:solidFill>
                  </a:tcPr>
                </a:tc>
                <a:tc>
                  <a:txBody>
                    <a:bodyPr/>
                    <a:lstStyle/>
                    <a:p>
                      <a:pPr algn="l"/>
                      <a:r>
                        <a:rPr sz="1200" b="0">
                          <a:solidFill>
                            <a:srgbClr val="3A3A3A"/>
                          </a:solidFill>
                          <a:latin typeface="Hiragino Sans"/>
                        </a:rPr>
                        <a:t>順番を取っても来ない／注意を読まない→受付がクレーム</a:t>
                      </a:r>
                    </a:p>
                  </a:txBody>
                  <a:tcPr anchor="ctr" marL="91440" marR="73152" marT="45720" marB="45720">
                    <a:solidFill>
                      <a:srgbClr val="F9F6EF"/>
                    </a:solidFill>
                  </a:tcPr>
                </a:tc>
                <a:tc>
                  <a:txBody>
                    <a:bodyPr/>
                    <a:lstStyle/>
                    <a:p>
                      <a:pPr algn="l"/>
                      <a:r>
                        <a:rPr sz="1200" b="1">
                          <a:solidFill>
                            <a:srgbClr val="AA2E26"/>
                          </a:solidFill>
                          <a:latin typeface="Hiragino Sans"/>
                        </a:rPr>
                        <a:t>順番接近で「あと◯人／受付期限◯分前」を自動プッシュ→受付の口頭対応を削減</a:t>
                      </a:r>
                    </a:p>
                  </a:txBody>
                  <a:tcPr anchor="ctr" marL="91440" marR="73152" marT="45720" marB="45720">
                    <a:solidFill>
                      <a:srgbClr val="F4E4E2"/>
                    </a:solidFill>
                  </a:tcPr>
                </a:tc>
              </a:tr>
              <a:tr h="914400">
                <a:tc>
                  <a:txBody>
                    <a:bodyPr/>
                    <a:lstStyle/>
                    <a:p>
                      <a:pPr algn="l"/>
                      <a:r>
                        <a:rPr sz="1200" b="1">
                          <a:solidFill>
                            <a:srgbClr val="1A1A1A"/>
                          </a:solidFill>
                          <a:latin typeface="Hiragino Sans"/>
                        </a:rPr>
                        <a:t>③ 周知・HP導線の整理</a:t>
                      </a:r>
                    </a:p>
                  </a:txBody>
                  <a:tcPr anchor="ctr" marL="91440" marR="73152" marT="45720" marB="45720">
                    <a:solidFill>
                      <a:srgbClr val="F1ECE1"/>
                    </a:solidFill>
                  </a:tcPr>
                </a:tc>
                <a:tc>
                  <a:txBody>
                    <a:bodyPr/>
                    <a:lstStyle/>
                    <a:p>
                      <a:pPr algn="l"/>
                      <a:r>
                        <a:rPr sz="1200" b="0">
                          <a:solidFill>
                            <a:srgbClr val="3A3A3A"/>
                          </a:solidFill>
                          <a:latin typeface="Hiragino Sans"/>
                        </a:rPr>
                        <a:t>説明・掲示しても読まない／HP問い合わせが電話導線</a:t>
                      </a:r>
                    </a:p>
                  </a:txBody>
                  <a:tcPr anchor="ctr" marL="91440" marR="73152" marT="45720" marB="45720">
                    <a:solidFill>
                      <a:srgbClr val="F1ECE1"/>
                    </a:solidFill>
                  </a:tcPr>
                </a:tc>
                <a:tc>
                  <a:txBody>
                    <a:bodyPr/>
                    <a:lstStyle/>
                    <a:p>
                      <a:pPr algn="l"/>
                      <a:r>
                        <a:rPr sz="1200" b="1">
                          <a:solidFill>
                            <a:srgbClr val="AA2E26"/>
                          </a:solidFill>
                          <a:latin typeface="Hiragino Sans"/>
                        </a:rPr>
                        <a:t>リッチメニューに受付ルール・CPAP説明を集約。HPは電話→LINE/Web完結へ改修</a:t>
                      </a:r>
                    </a:p>
                  </a:txBody>
                  <a:tcPr anchor="ctr" marL="91440" marR="73152" marT="45720" marB="45720">
                    <a:solidFill>
                      <a:srgbClr val="F4E4E2"/>
                    </a:solidFill>
                  </a:tcPr>
                </a:tc>
              </a:tr>
            </a:tbl>
          </a:graphicData>
        </a:graphic>
      </p:graphicFrame>
      <p:sp>
        <p:nvSpPr>
          <p:cNvPr id="9" name="TextBox 8"/>
          <p:cNvSpPr txBox="1"/>
          <p:nvPr/>
        </p:nvSpPr>
        <p:spPr>
          <a:xfrm>
            <a:off x="502920" y="5577840"/>
            <a:ext cx="11155680" cy="457200"/>
          </a:xfrm>
          <a:prstGeom prst="rect">
            <a:avLst/>
          </a:prstGeom>
          <a:noFill/>
        </p:spPr>
        <p:txBody>
          <a:bodyPr wrap="square" anchor="t">
            <a:spAutoFit/>
          </a:bodyPr>
          <a:lstStyle/>
          <a:p>
            <a:pPr algn="l"/>
            <a:r>
              <a:rPr sz="1200" b="1" i="0">
                <a:solidFill>
                  <a:srgbClr val="8C241D"/>
                </a:solidFill>
                <a:latin typeface="Hiragino Sans"/>
              </a:rPr>
              <a:t>★ 最初の一手は①再診リマインド。来院率と月末残業の変化を1〜2ヶ月測れば、効果が「数字」で見える＝成果報酬の入口。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6400800"/>
            <a:ext cx="11274552"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73952"/>
            <a:ext cx="9144000" cy="292608"/>
          </a:xfrm>
          <a:prstGeom prst="rect">
            <a:avLst/>
          </a:prstGeom>
          <a:noFill/>
        </p:spPr>
        <p:txBody>
          <a:bodyPr wrap="square" anchor="t">
            <a:spAutoFit/>
          </a:bodyPr>
          <a:lstStyle/>
          <a:p>
            <a:pPr algn="l"/>
            <a:r>
              <a:rPr sz="900" b="0" i="0">
                <a:solidFill>
                  <a:srgbClr val="6E6E6E"/>
                </a:solidFill>
                <a:latin typeface="Hiragino Sans"/>
              </a:rPr>
              <a:t>京橋クリニック  ｜  LINE活用 実装案  ｜  AI医療コンサル</a:t>
            </a:r>
          </a:p>
        </p:txBody>
      </p:sp>
      <p:sp>
        <p:nvSpPr>
          <p:cNvPr id="4" name="TextBox 3"/>
          <p:cNvSpPr txBox="1"/>
          <p:nvPr/>
        </p:nvSpPr>
        <p:spPr>
          <a:xfrm>
            <a:off x="548640" y="365760"/>
            <a:ext cx="10972800" cy="365760"/>
          </a:xfrm>
          <a:prstGeom prst="rect">
            <a:avLst/>
          </a:prstGeom>
          <a:noFill/>
        </p:spPr>
        <p:txBody>
          <a:bodyPr wrap="square" anchor="t">
            <a:spAutoFit/>
          </a:bodyPr>
          <a:lstStyle/>
          <a:p>
            <a:pPr algn="l"/>
            <a:r>
              <a:rPr sz="1300" b="1" i="0">
                <a:solidFill>
                  <a:srgbClr val="AA2E26"/>
                </a:solidFill>
                <a:latin typeface="Hiragino Sans"/>
              </a:rPr>
              <a:t>ARCHITECTURE</a:t>
            </a:r>
          </a:p>
        </p:txBody>
      </p:sp>
      <p:sp>
        <p:nvSpPr>
          <p:cNvPr id="5" name="Rectangle 4"/>
          <p:cNvSpPr/>
          <p:nvPr/>
        </p:nvSpPr>
        <p:spPr>
          <a:xfrm>
            <a:off x="566928" y="713232"/>
            <a:ext cx="1554480" cy="381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1064240" cy="502920"/>
          </a:xfrm>
          <a:prstGeom prst="rect">
            <a:avLst/>
          </a:prstGeom>
          <a:noFill/>
        </p:spPr>
        <p:txBody>
          <a:bodyPr wrap="square" anchor="t">
            <a:spAutoFit/>
          </a:bodyPr>
          <a:lstStyle/>
          <a:p>
            <a:pPr algn="l"/>
            <a:r>
              <a:rPr sz="2300" b="1" i="0">
                <a:solidFill>
                  <a:srgbClr val="1A1A1A"/>
                </a:solidFill>
                <a:latin typeface="Hiragino Sans"/>
              </a:rPr>
              <a:t>実装の構成 ── 何を、どう繋ぐか</a:t>
            </a:r>
          </a:p>
        </p:txBody>
      </p:sp>
      <p:sp>
        <p:nvSpPr>
          <p:cNvPr id="7" name="TextBox 6"/>
          <p:cNvSpPr txBox="1"/>
          <p:nvPr/>
        </p:nvSpPr>
        <p:spPr>
          <a:xfrm>
            <a:off x="566928" y="1316736"/>
            <a:ext cx="11064240" cy="274320"/>
          </a:xfrm>
          <a:prstGeom prst="rect">
            <a:avLst/>
          </a:prstGeom>
          <a:noFill/>
        </p:spPr>
        <p:txBody>
          <a:bodyPr wrap="square" anchor="t">
            <a:spAutoFit/>
          </a:bodyPr>
          <a:lstStyle/>
          <a:p>
            <a:pPr algn="l"/>
            <a:r>
              <a:rPr sz="1150" b="0" i="0">
                <a:solidFill>
                  <a:srgbClr val="6E6E6E"/>
                </a:solidFill>
                <a:latin typeface="Hiragino Sans"/>
              </a:rPr>
              <a:t>市販ツールの組合せで実現。特別な開発は不要。初期構築・設定は当社が巻き取り</a:t>
            </a:r>
          </a:p>
        </p:txBody>
      </p:sp>
      <p:sp>
        <p:nvSpPr>
          <p:cNvPr id="8" name="Rectangle 7"/>
          <p:cNvSpPr/>
          <p:nvPr/>
        </p:nvSpPr>
        <p:spPr>
          <a:xfrm>
            <a:off x="502920" y="1965960"/>
            <a:ext cx="2542032" cy="2468880"/>
          </a:xfrm>
          <a:prstGeom prst="rect">
            <a:avLst/>
          </a:prstGeom>
          <a:solidFill>
            <a:srgbClr val="F9F6EF"/>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965960"/>
            <a:ext cx="2542032" cy="77724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075688"/>
            <a:ext cx="2542032" cy="320040"/>
          </a:xfrm>
          <a:prstGeom prst="rect">
            <a:avLst/>
          </a:prstGeom>
          <a:noFill/>
        </p:spPr>
        <p:txBody>
          <a:bodyPr wrap="square" anchor="t">
            <a:spAutoFit/>
          </a:bodyPr>
          <a:lstStyle/>
          <a:p>
            <a:pPr algn="ctr"/>
            <a:r>
              <a:rPr sz="1200" b="1" i="0">
                <a:solidFill>
                  <a:srgbClr val="FFFFFF"/>
                </a:solidFill>
                <a:latin typeface="Hiragino Sans"/>
              </a:rPr>
              <a:t>患者のスマホ</a:t>
            </a:r>
          </a:p>
        </p:txBody>
      </p:sp>
      <p:sp>
        <p:nvSpPr>
          <p:cNvPr id="11" name="TextBox 10"/>
          <p:cNvSpPr txBox="1"/>
          <p:nvPr/>
        </p:nvSpPr>
        <p:spPr>
          <a:xfrm>
            <a:off x="502920" y="2377440"/>
            <a:ext cx="2542032" cy="365760"/>
          </a:xfrm>
          <a:prstGeom prst="rect">
            <a:avLst/>
          </a:prstGeom>
          <a:noFill/>
        </p:spPr>
        <p:txBody>
          <a:bodyPr wrap="square" anchor="t">
            <a:spAutoFit/>
          </a:bodyPr>
          <a:lstStyle/>
          <a:p>
            <a:pPr algn="ctr"/>
            <a:r>
              <a:rPr sz="1400" b="1" i="0">
                <a:solidFill>
                  <a:srgbClr val="FFFFFF"/>
                </a:solidFill>
                <a:latin typeface="Hiragino Sans"/>
              </a:rPr>
              <a:t>LINE</a:t>
            </a:r>
          </a:p>
        </p:txBody>
      </p:sp>
      <p:sp>
        <p:nvSpPr>
          <p:cNvPr id="12" name="TextBox 11"/>
          <p:cNvSpPr txBox="1"/>
          <p:nvPr/>
        </p:nvSpPr>
        <p:spPr>
          <a:xfrm>
            <a:off x="685800" y="2926080"/>
            <a:ext cx="2176272" cy="1371600"/>
          </a:xfrm>
          <a:prstGeom prst="rect">
            <a:avLst/>
          </a:prstGeom>
          <a:noFill/>
        </p:spPr>
        <p:txBody>
          <a:bodyPr wrap="square" anchor="t">
            <a:spAutoFit/>
          </a:bodyPr>
          <a:lstStyle/>
          <a:p>
            <a:pPr algn="ctr">
              <a:lnSpc>
                <a:spcPct val="120000"/>
              </a:lnSpc>
            </a:pPr>
            <a:r>
              <a:rPr sz="1100" b="0" i="0">
                <a:solidFill>
                  <a:srgbClr val="6E6E6E"/>
                </a:solidFill>
                <a:latin typeface="Hiragino Sans"/>
              </a:rPr>
              <a:t>順番通知・再診リマインド・</a:t>
            </a:r>
          </a:p>
          <a:p>
            <a:pPr algn="ctr">
              <a:lnSpc>
                <a:spcPct val="120000"/>
              </a:lnSpc>
            </a:pPr>
            <a:r>
              <a:rPr sz="1100" b="0" i="0">
                <a:solidFill>
                  <a:srgbClr val="6E6E6E"/>
                </a:solidFill>
                <a:latin typeface="Hiragino Sans"/>
              </a:rPr>
              <a:t>受付ルールを受け取る</a:t>
            </a:r>
          </a:p>
        </p:txBody>
      </p:sp>
      <p:sp>
        <p:nvSpPr>
          <p:cNvPr id="13" name="Right Arrow 12"/>
          <p:cNvSpPr/>
          <p:nvPr/>
        </p:nvSpPr>
        <p:spPr>
          <a:xfrm>
            <a:off x="3063240" y="2926080"/>
            <a:ext cx="274320" cy="457200"/>
          </a:xfrm>
          <a:prstGeom prst="rightArrow">
            <a:avLst/>
          </a:prstGeom>
          <a:solidFill>
            <a:srgbClr val="C96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965960"/>
            <a:ext cx="2542032" cy="2468880"/>
          </a:xfrm>
          <a:prstGeom prst="rect">
            <a:avLst/>
          </a:prstGeom>
          <a:solidFill>
            <a:srgbClr val="F9F6EF"/>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5848" y="1965960"/>
            <a:ext cx="2542032" cy="7772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2075688"/>
            <a:ext cx="2542032" cy="320040"/>
          </a:xfrm>
          <a:prstGeom prst="rect">
            <a:avLst/>
          </a:prstGeom>
          <a:noFill/>
        </p:spPr>
        <p:txBody>
          <a:bodyPr wrap="square" anchor="t">
            <a:spAutoFit/>
          </a:bodyPr>
          <a:lstStyle/>
          <a:p>
            <a:pPr algn="ctr"/>
            <a:r>
              <a:rPr sz="1200" b="1" i="0">
                <a:solidFill>
                  <a:srgbClr val="FFFFFF"/>
                </a:solidFill>
                <a:latin typeface="Hiragino Sans"/>
              </a:rPr>
              <a:t>LINE公式アカウント</a:t>
            </a:r>
          </a:p>
        </p:txBody>
      </p:sp>
      <p:sp>
        <p:nvSpPr>
          <p:cNvPr id="17" name="TextBox 16"/>
          <p:cNvSpPr txBox="1"/>
          <p:nvPr/>
        </p:nvSpPr>
        <p:spPr>
          <a:xfrm>
            <a:off x="3355848" y="2377440"/>
            <a:ext cx="2542032" cy="365760"/>
          </a:xfrm>
          <a:prstGeom prst="rect">
            <a:avLst/>
          </a:prstGeom>
          <a:noFill/>
        </p:spPr>
        <p:txBody>
          <a:bodyPr wrap="square" anchor="t">
            <a:spAutoFit/>
          </a:bodyPr>
          <a:lstStyle/>
          <a:p>
            <a:pPr algn="ctr"/>
            <a:r>
              <a:rPr sz="1400" b="1" i="0">
                <a:solidFill>
                  <a:srgbClr val="FFFFFF"/>
                </a:solidFill>
                <a:latin typeface="Hiragino Sans"/>
              </a:rPr>
              <a:t>無料開設</a:t>
            </a:r>
          </a:p>
        </p:txBody>
      </p:sp>
      <p:sp>
        <p:nvSpPr>
          <p:cNvPr id="18" name="TextBox 17"/>
          <p:cNvSpPr txBox="1"/>
          <p:nvPr/>
        </p:nvSpPr>
        <p:spPr>
          <a:xfrm>
            <a:off x="3538728" y="2926080"/>
            <a:ext cx="2176272" cy="1371600"/>
          </a:xfrm>
          <a:prstGeom prst="rect">
            <a:avLst/>
          </a:prstGeom>
          <a:noFill/>
        </p:spPr>
        <p:txBody>
          <a:bodyPr wrap="square" anchor="t">
            <a:spAutoFit/>
          </a:bodyPr>
          <a:lstStyle/>
          <a:p>
            <a:pPr algn="ctr">
              <a:lnSpc>
                <a:spcPct val="120000"/>
              </a:lnSpc>
            </a:pPr>
            <a:r>
              <a:rPr sz="1100" b="0" i="0">
                <a:solidFill>
                  <a:srgbClr val="6E6E6E"/>
                </a:solidFill>
                <a:latin typeface="Hiragino Sans"/>
              </a:rPr>
              <a:t>クリニックの公式窓口。</a:t>
            </a:r>
          </a:p>
          <a:p>
            <a:pPr algn="ctr">
              <a:lnSpc>
                <a:spcPct val="120000"/>
              </a:lnSpc>
            </a:pPr>
            <a:r>
              <a:rPr sz="1100" b="0" i="0">
                <a:solidFill>
                  <a:srgbClr val="6E6E6E"/>
                </a:solidFill>
                <a:latin typeface="Hiragino Sans"/>
              </a:rPr>
              <a:t>リッチメニューで常設案内</a:t>
            </a:r>
          </a:p>
        </p:txBody>
      </p:sp>
      <p:sp>
        <p:nvSpPr>
          <p:cNvPr id="19" name="Right Arrow 18"/>
          <p:cNvSpPr/>
          <p:nvPr/>
        </p:nvSpPr>
        <p:spPr>
          <a:xfrm>
            <a:off x="5916168" y="2926080"/>
            <a:ext cx="274320" cy="457200"/>
          </a:xfrm>
          <a:prstGeom prst="rightArrow">
            <a:avLst/>
          </a:prstGeom>
          <a:solidFill>
            <a:srgbClr val="C96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8776" y="1965960"/>
            <a:ext cx="2542032" cy="246888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1965960"/>
            <a:ext cx="2542032" cy="777240"/>
          </a:xfrm>
          <a:prstGeom prst="rect">
            <a:avLst/>
          </a:prstGeom>
          <a:solidFill>
            <a:srgbClr val="F1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08776" y="2075688"/>
            <a:ext cx="2542032" cy="320040"/>
          </a:xfrm>
          <a:prstGeom prst="rect">
            <a:avLst/>
          </a:prstGeom>
          <a:noFill/>
        </p:spPr>
        <p:txBody>
          <a:bodyPr wrap="square" anchor="t">
            <a:spAutoFit/>
          </a:bodyPr>
          <a:lstStyle/>
          <a:p>
            <a:pPr algn="ctr"/>
            <a:r>
              <a:rPr sz="1200" b="1" i="0">
                <a:solidFill>
                  <a:srgbClr val="1A1A1A"/>
                </a:solidFill>
                <a:latin typeface="Hiragino Sans"/>
              </a:rPr>
              <a:t>配信ツール</a:t>
            </a:r>
          </a:p>
        </p:txBody>
      </p:sp>
      <p:sp>
        <p:nvSpPr>
          <p:cNvPr id="23" name="TextBox 22"/>
          <p:cNvSpPr txBox="1"/>
          <p:nvPr/>
        </p:nvSpPr>
        <p:spPr>
          <a:xfrm>
            <a:off x="6208776" y="2377440"/>
            <a:ext cx="2542032" cy="365760"/>
          </a:xfrm>
          <a:prstGeom prst="rect">
            <a:avLst/>
          </a:prstGeom>
          <a:noFill/>
        </p:spPr>
        <p:txBody>
          <a:bodyPr wrap="square" anchor="t">
            <a:spAutoFit/>
          </a:bodyPr>
          <a:lstStyle/>
          <a:p>
            <a:pPr algn="ctr"/>
            <a:r>
              <a:rPr sz="1400" b="1" i="0">
                <a:solidFill>
                  <a:srgbClr val="1A1A1A"/>
                </a:solidFill>
                <a:latin typeface="Hiragino Sans"/>
              </a:rPr>
              <a:t>エルメ / Lステップ</a:t>
            </a:r>
          </a:p>
        </p:txBody>
      </p:sp>
      <p:sp>
        <p:nvSpPr>
          <p:cNvPr id="24" name="TextBox 23"/>
          <p:cNvSpPr txBox="1"/>
          <p:nvPr/>
        </p:nvSpPr>
        <p:spPr>
          <a:xfrm>
            <a:off x="6391656" y="2926080"/>
            <a:ext cx="2176272" cy="1371600"/>
          </a:xfrm>
          <a:prstGeom prst="rect">
            <a:avLst/>
          </a:prstGeom>
          <a:noFill/>
        </p:spPr>
        <p:txBody>
          <a:bodyPr wrap="square" anchor="t">
            <a:spAutoFit/>
          </a:bodyPr>
          <a:lstStyle/>
          <a:p>
            <a:pPr algn="ctr">
              <a:lnSpc>
                <a:spcPct val="120000"/>
              </a:lnSpc>
            </a:pPr>
            <a:r>
              <a:rPr sz="1100" b="0" i="0">
                <a:solidFill>
                  <a:srgbClr val="6E6E6E"/>
                </a:solidFill>
                <a:latin typeface="Hiragino Sans"/>
              </a:rPr>
              <a:t>CPAP等をタグ分け→</a:t>
            </a:r>
          </a:p>
          <a:p>
            <a:pPr algn="ctr">
              <a:lnSpc>
                <a:spcPct val="120000"/>
              </a:lnSpc>
            </a:pPr>
            <a:r>
              <a:rPr sz="1100" b="0" i="0">
                <a:solidFill>
                  <a:srgbClr val="6E6E6E"/>
                </a:solidFill>
                <a:latin typeface="Hiragino Sans"/>
              </a:rPr>
              <a:t>予約日リマインドを自動配信</a:t>
            </a:r>
          </a:p>
        </p:txBody>
      </p:sp>
      <p:sp>
        <p:nvSpPr>
          <p:cNvPr id="25" name="Right Arrow 24"/>
          <p:cNvSpPr/>
          <p:nvPr/>
        </p:nvSpPr>
        <p:spPr>
          <a:xfrm>
            <a:off x="8769096" y="2926080"/>
            <a:ext cx="274320" cy="457200"/>
          </a:xfrm>
          <a:prstGeom prst="rightArrow">
            <a:avLst/>
          </a:prstGeom>
          <a:solidFill>
            <a:srgbClr val="C96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61704" y="1965960"/>
            <a:ext cx="2542032" cy="2468880"/>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61704" y="1965960"/>
            <a:ext cx="2542032" cy="777240"/>
          </a:xfrm>
          <a:prstGeom prst="rect">
            <a:avLst/>
          </a:prstGeom>
          <a:solidFill>
            <a:srgbClr val="F1EC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61704" y="2075688"/>
            <a:ext cx="2542032" cy="320040"/>
          </a:xfrm>
          <a:prstGeom prst="rect">
            <a:avLst/>
          </a:prstGeom>
          <a:noFill/>
        </p:spPr>
        <p:txBody>
          <a:bodyPr wrap="square" anchor="t">
            <a:spAutoFit/>
          </a:bodyPr>
          <a:lstStyle/>
          <a:p>
            <a:pPr algn="ctr"/>
            <a:r>
              <a:rPr sz="1200" b="1" i="0">
                <a:solidFill>
                  <a:srgbClr val="1A1A1A"/>
                </a:solidFill>
                <a:latin typeface="Hiragino Sans"/>
              </a:rPr>
              <a:t>流入導線</a:t>
            </a:r>
          </a:p>
        </p:txBody>
      </p:sp>
      <p:sp>
        <p:nvSpPr>
          <p:cNvPr id="29" name="TextBox 28"/>
          <p:cNvSpPr txBox="1"/>
          <p:nvPr/>
        </p:nvSpPr>
        <p:spPr>
          <a:xfrm>
            <a:off x="9061704" y="2377440"/>
            <a:ext cx="2542032" cy="365760"/>
          </a:xfrm>
          <a:prstGeom prst="rect">
            <a:avLst/>
          </a:prstGeom>
          <a:noFill/>
        </p:spPr>
        <p:txBody>
          <a:bodyPr wrap="square" anchor="t">
            <a:spAutoFit/>
          </a:bodyPr>
          <a:lstStyle/>
          <a:p>
            <a:pPr algn="ctr"/>
            <a:r>
              <a:rPr sz="1400" b="1" i="0">
                <a:solidFill>
                  <a:srgbClr val="1A1A1A"/>
                </a:solidFill>
                <a:latin typeface="Hiragino Sans"/>
              </a:rPr>
              <a:t>HP・院内QR</a:t>
            </a:r>
          </a:p>
        </p:txBody>
      </p:sp>
      <p:sp>
        <p:nvSpPr>
          <p:cNvPr id="30" name="TextBox 29"/>
          <p:cNvSpPr txBox="1"/>
          <p:nvPr/>
        </p:nvSpPr>
        <p:spPr>
          <a:xfrm>
            <a:off x="9244584" y="2926080"/>
            <a:ext cx="2176272" cy="1371600"/>
          </a:xfrm>
          <a:prstGeom prst="rect">
            <a:avLst/>
          </a:prstGeom>
          <a:noFill/>
        </p:spPr>
        <p:txBody>
          <a:bodyPr wrap="square" anchor="t">
            <a:spAutoFit/>
          </a:bodyPr>
          <a:lstStyle/>
          <a:p>
            <a:pPr algn="ctr">
              <a:lnSpc>
                <a:spcPct val="120000"/>
              </a:lnSpc>
            </a:pPr>
            <a:r>
              <a:rPr sz="1100" b="0" i="0">
                <a:solidFill>
                  <a:srgbClr val="6E6E6E"/>
                </a:solidFill>
                <a:latin typeface="Hiragino Sans"/>
              </a:rPr>
              <a:t>HPと受付QRからLINE登録。</a:t>
            </a:r>
          </a:p>
          <a:p>
            <a:pPr algn="ctr">
              <a:lnSpc>
                <a:spcPct val="120000"/>
              </a:lnSpc>
            </a:pPr>
            <a:r>
              <a:rPr sz="1100" b="0" i="0">
                <a:solidFill>
                  <a:srgbClr val="6E6E6E"/>
                </a:solidFill>
                <a:latin typeface="Hiragino Sans"/>
              </a:rPr>
              <a:t>将来HPリプレイス</a:t>
            </a:r>
          </a:p>
        </p:txBody>
      </p:sp>
      <p:sp>
        <p:nvSpPr>
          <p:cNvPr id="31" name="Rectangle 30"/>
          <p:cNvSpPr/>
          <p:nvPr/>
        </p:nvSpPr>
        <p:spPr>
          <a:xfrm>
            <a:off x="502920" y="4663440"/>
            <a:ext cx="10817352" cy="502920"/>
          </a:xfrm>
          <a:prstGeom prst="rect">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4663440"/>
            <a:ext cx="91440" cy="50292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663440"/>
            <a:ext cx="10515600" cy="502920"/>
          </a:xfrm>
          <a:prstGeom prst="rect">
            <a:avLst/>
          </a:prstGeom>
          <a:noFill/>
        </p:spPr>
        <p:txBody>
          <a:bodyPr wrap="square" anchor="ctr">
            <a:spAutoFit/>
          </a:bodyPr>
          <a:lstStyle/>
          <a:p>
            <a:pPr algn="l"/>
            <a:r>
              <a:rPr sz="1150" b="1" i="0">
                <a:solidFill>
                  <a:srgbClr val="8C241D"/>
                </a:solidFill>
                <a:latin typeface="Hiragino Sans"/>
              </a:rPr>
              <a:t>⚠ 順番通知（②）は、既存「アイコール」のLINE連携可否を要確認。連携できない場合は受付ボタンで対象者へ通知する簡易運用で代替します。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6400800"/>
            <a:ext cx="11274552"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473952"/>
            <a:ext cx="9144000" cy="292608"/>
          </a:xfrm>
          <a:prstGeom prst="rect">
            <a:avLst/>
          </a:prstGeom>
          <a:noFill/>
        </p:spPr>
        <p:txBody>
          <a:bodyPr wrap="square" anchor="t">
            <a:spAutoFit/>
          </a:bodyPr>
          <a:lstStyle/>
          <a:p>
            <a:pPr algn="l"/>
            <a:r>
              <a:rPr sz="900" b="0" i="0">
                <a:solidFill>
                  <a:srgbClr val="6E6E6E"/>
                </a:solidFill>
                <a:latin typeface="Hiragino Sans"/>
              </a:rPr>
              <a:t>京橋クリニック  ｜  LINE活用 実装案  ｜  AI医療コンサル</a:t>
            </a:r>
          </a:p>
        </p:txBody>
      </p:sp>
      <p:sp>
        <p:nvSpPr>
          <p:cNvPr id="4" name="TextBox 3"/>
          <p:cNvSpPr txBox="1"/>
          <p:nvPr/>
        </p:nvSpPr>
        <p:spPr>
          <a:xfrm>
            <a:off x="548640" y="365760"/>
            <a:ext cx="10972800" cy="365760"/>
          </a:xfrm>
          <a:prstGeom prst="rect">
            <a:avLst/>
          </a:prstGeom>
          <a:noFill/>
        </p:spPr>
        <p:txBody>
          <a:bodyPr wrap="square" anchor="t">
            <a:spAutoFit/>
          </a:bodyPr>
          <a:lstStyle/>
          <a:p>
            <a:pPr algn="l"/>
            <a:r>
              <a:rPr sz="1300" b="1" i="0">
                <a:solidFill>
                  <a:srgbClr val="AA2E26"/>
                </a:solidFill>
                <a:latin typeface="Hiragino Sans"/>
              </a:rPr>
              <a:t>ROADMAP</a:t>
            </a:r>
          </a:p>
        </p:txBody>
      </p:sp>
      <p:sp>
        <p:nvSpPr>
          <p:cNvPr id="5" name="Rectangle 4"/>
          <p:cNvSpPr/>
          <p:nvPr/>
        </p:nvSpPr>
        <p:spPr>
          <a:xfrm>
            <a:off x="566928" y="713232"/>
            <a:ext cx="1554480" cy="3810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822960"/>
            <a:ext cx="11064240" cy="502920"/>
          </a:xfrm>
          <a:prstGeom prst="rect">
            <a:avLst/>
          </a:prstGeom>
          <a:noFill/>
        </p:spPr>
        <p:txBody>
          <a:bodyPr wrap="square" anchor="t">
            <a:spAutoFit/>
          </a:bodyPr>
          <a:lstStyle/>
          <a:p>
            <a:pPr algn="l"/>
            <a:r>
              <a:rPr sz="2300" b="1" i="0">
                <a:solidFill>
                  <a:srgbClr val="1A1A1A"/>
                </a:solidFill>
                <a:latin typeface="Hiragino Sans"/>
              </a:rPr>
              <a:t>小さく速く始める ── 4段階</a:t>
            </a:r>
          </a:p>
        </p:txBody>
      </p:sp>
      <p:sp>
        <p:nvSpPr>
          <p:cNvPr id="7" name="TextBox 6"/>
          <p:cNvSpPr txBox="1"/>
          <p:nvPr/>
        </p:nvSpPr>
        <p:spPr>
          <a:xfrm>
            <a:off x="566928" y="1316736"/>
            <a:ext cx="11064240" cy="274320"/>
          </a:xfrm>
          <a:prstGeom prst="rect">
            <a:avLst/>
          </a:prstGeom>
          <a:noFill/>
        </p:spPr>
        <p:txBody>
          <a:bodyPr wrap="square" anchor="t">
            <a:spAutoFit/>
          </a:bodyPr>
          <a:lstStyle/>
          <a:p>
            <a:pPr algn="l"/>
            <a:r>
              <a:rPr sz="1150" b="0" i="0">
                <a:solidFill>
                  <a:srgbClr val="6E6E6E"/>
                </a:solidFill>
                <a:latin typeface="Hiragino Sans"/>
              </a:rPr>
              <a:t>いきなり全部やらない。効果が出る順に、無料で着手できる所から</a:t>
            </a:r>
          </a:p>
        </p:txBody>
      </p:sp>
      <p:graphicFrame>
        <p:nvGraphicFramePr>
          <p:cNvPr id="8" name="Table 7"/>
          <p:cNvGraphicFramePr>
            <a:graphicFrameLocks noGrp="1"/>
          </p:cNvGraphicFramePr>
          <p:nvPr/>
        </p:nvGraphicFramePr>
        <p:xfrm>
          <a:off x="502920" y="1783080"/>
          <a:ext cx="11183112" cy="3931920"/>
        </p:xfrm>
        <a:graphic>
          <a:graphicData uri="http://schemas.openxmlformats.org/drawingml/2006/table">
            <a:tbl>
              <a:tblPr>
                <a:tableStyleId>{5C22544A-7EE6-4342-B048-85BDC9FD1C3A}</a:tableStyleId>
              </a:tblPr>
              <a:tblGrid>
                <a:gridCol w="3017520"/>
                <a:gridCol w="4846320"/>
                <a:gridCol w="3319272"/>
              </a:tblGrid>
              <a:tr h="786384">
                <a:tc>
                  <a:txBody>
                    <a:bodyPr/>
                    <a:lstStyle/>
                    <a:p>
                      <a:pPr algn="l"/>
                      <a:r>
                        <a:rPr sz="1300" b="1">
                          <a:solidFill>
                            <a:srgbClr val="FFFFFF"/>
                          </a:solidFill>
                          <a:latin typeface="Hiragino Sans"/>
                        </a:rPr>
                        <a:t>フェーズ</a:t>
                      </a:r>
                    </a:p>
                  </a:txBody>
                  <a:tcPr anchor="ctr" marL="91440" marR="73152" marT="45720" marB="45720">
                    <a:solidFill>
                      <a:srgbClr val="AA2E26"/>
                    </a:solidFill>
                  </a:tcPr>
                </a:tc>
                <a:tc>
                  <a:txBody>
                    <a:bodyPr/>
                    <a:lstStyle/>
                    <a:p>
                      <a:pPr algn="l"/>
                      <a:r>
                        <a:rPr sz="1300" b="1">
                          <a:solidFill>
                            <a:srgbClr val="FFFFFF"/>
                          </a:solidFill>
                          <a:latin typeface="Hiragino Sans"/>
                        </a:rPr>
                        <a:t>やること</a:t>
                      </a:r>
                    </a:p>
                  </a:txBody>
                  <a:tcPr anchor="ctr" marL="91440" marR="73152" marT="45720" marB="45720">
                    <a:solidFill>
                      <a:srgbClr val="AA2E26"/>
                    </a:solidFill>
                  </a:tcPr>
                </a:tc>
                <a:tc>
                  <a:txBody>
                    <a:bodyPr/>
                    <a:lstStyle/>
                    <a:p>
                      <a:pPr algn="l"/>
                      <a:r>
                        <a:rPr sz="1300" b="1">
                          <a:solidFill>
                            <a:srgbClr val="FFFFFF"/>
                          </a:solidFill>
                          <a:latin typeface="Hiragino Sans"/>
                        </a:rPr>
                        <a:t>ねらい・効果</a:t>
                      </a:r>
                    </a:p>
                  </a:txBody>
                  <a:tcPr anchor="ctr" marL="91440" marR="73152" marT="45720" marB="45720">
                    <a:solidFill>
                      <a:srgbClr val="8C241D"/>
                    </a:solidFill>
                  </a:tcPr>
                </a:tc>
              </a:tr>
              <a:tr h="786384">
                <a:tc>
                  <a:txBody>
                    <a:bodyPr/>
                    <a:lstStyle/>
                    <a:p>
                      <a:pPr algn="l"/>
                      <a:r>
                        <a:rPr sz="1200" b="1">
                          <a:solidFill>
                            <a:srgbClr val="1A1A1A"/>
                          </a:solidFill>
                          <a:latin typeface="Hiragino Sans"/>
                        </a:rPr>
                        <a:t>Phase 0（即・ほぼ0円）</a:t>
                      </a:r>
                    </a:p>
                  </a:txBody>
                  <a:tcPr anchor="ctr" marL="91440" marR="73152" marT="45720" marB="45720">
                    <a:solidFill>
                      <a:srgbClr val="F1ECE1"/>
                    </a:solidFill>
                  </a:tcPr>
                </a:tc>
                <a:tc>
                  <a:txBody>
                    <a:bodyPr/>
                    <a:lstStyle/>
                    <a:p>
                      <a:pPr algn="l"/>
                      <a:r>
                        <a:rPr sz="1200" b="0">
                          <a:solidFill>
                            <a:srgbClr val="3A3A3A"/>
                          </a:solidFill>
                          <a:latin typeface="Hiragino Sans"/>
                        </a:rPr>
                        <a:t>LINE公式開設＋リッチメニュー＋HP/受付にLINE登録QR</a:t>
                      </a:r>
                    </a:p>
                  </a:txBody>
                  <a:tcPr anchor="ctr" marL="91440" marR="73152" marT="45720" marB="45720">
                    <a:solidFill>
                      <a:srgbClr val="F1ECE1"/>
                    </a:solidFill>
                  </a:tcPr>
                </a:tc>
                <a:tc>
                  <a:txBody>
                    <a:bodyPr/>
                    <a:lstStyle/>
                    <a:p>
                      <a:pPr algn="l"/>
                      <a:r>
                        <a:rPr sz="1200" b="1">
                          <a:solidFill>
                            <a:srgbClr val="AA2E26"/>
                          </a:solidFill>
                          <a:latin typeface="Hiragino Sans"/>
                        </a:rPr>
                        <a:t>「読まない」をプッシュで届ける土台をつくる</a:t>
                      </a:r>
                    </a:p>
                  </a:txBody>
                  <a:tcPr anchor="ctr" marL="91440" marR="73152" marT="45720" marB="45720">
                    <a:solidFill>
                      <a:srgbClr val="F4E4E2"/>
                    </a:solidFill>
                  </a:tcPr>
                </a:tc>
              </a:tr>
              <a:tr h="786384">
                <a:tc>
                  <a:txBody>
                    <a:bodyPr/>
                    <a:lstStyle/>
                    <a:p>
                      <a:pPr algn="l"/>
                      <a:r>
                        <a:rPr sz="1200" b="1">
                          <a:solidFill>
                            <a:srgbClr val="1A1A1A"/>
                          </a:solidFill>
                          <a:latin typeface="Hiragino Sans"/>
                        </a:rPr>
                        <a:t>Phase 1（再診リマインド）★</a:t>
                      </a:r>
                    </a:p>
                  </a:txBody>
                  <a:tcPr anchor="ctr" marL="91440" marR="73152" marT="45720" marB="45720">
                    <a:solidFill>
                      <a:srgbClr val="F9F6EF"/>
                    </a:solidFill>
                  </a:tcPr>
                </a:tc>
                <a:tc>
                  <a:txBody>
                    <a:bodyPr/>
                    <a:lstStyle/>
                    <a:p>
                      <a:pPr algn="l"/>
                      <a:r>
                        <a:rPr sz="1200" b="0">
                          <a:solidFill>
                            <a:srgbClr val="3A3A3A"/>
                          </a:solidFill>
                          <a:latin typeface="Hiragino Sans"/>
                        </a:rPr>
                        <a:t>CPAP・再診をLINEで分類→月次リマインドを自動配信</a:t>
                      </a:r>
                    </a:p>
                  </a:txBody>
                  <a:tcPr anchor="ctr" marL="91440" marR="73152" marT="45720" marB="45720">
                    <a:solidFill>
                      <a:srgbClr val="F9F6EF"/>
                    </a:solidFill>
                  </a:tcPr>
                </a:tc>
                <a:tc>
                  <a:txBody>
                    <a:bodyPr/>
                    <a:lstStyle/>
                    <a:p>
                      <a:pPr algn="l"/>
                      <a:r>
                        <a:rPr sz="1200" b="1">
                          <a:solidFill>
                            <a:srgbClr val="AA2E26"/>
                          </a:solidFill>
                          <a:latin typeface="Hiragino Sans"/>
                        </a:rPr>
                        <a:t>来院率UP→月末残業を削減。効果測定を開始（成果報酬の入口）</a:t>
                      </a:r>
                    </a:p>
                  </a:txBody>
                  <a:tcPr anchor="ctr" marL="91440" marR="73152" marT="45720" marB="45720">
                    <a:solidFill>
                      <a:srgbClr val="F4E4E2"/>
                    </a:solidFill>
                  </a:tcPr>
                </a:tc>
              </a:tr>
              <a:tr h="786384">
                <a:tc>
                  <a:txBody>
                    <a:bodyPr/>
                    <a:lstStyle/>
                    <a:p>
                      <a:pPr algn="l"/>
                      <a:r>
                        <a:rPr sz="1200" b="1">
                          <a:solidFill>
                            <a:srgbClr val="1A1A1A"/>
                          </a:solidFill>
                          <a:latin typeface="Hiragino Sans"/>
                        </a:rPr>
                        <a:t>Phase 2（順番通知）</a:t>
                      </a:r>
                    </a:p>
                  </a:txBody>
                  <a:tcPr anchor="ctr" marL="91440" marR="73152" marT="45720" marB="45720">
                    <a:solidFill>
                      <a:srgbClr val="F1ECE1"/>
                    </a:solidFill>
                  </a:tcPr>
                </a:tc>
                <a:tc>
                  <a:txBody>
                    <a:bodyPr/>
                    <a:lstStyle/>
                    <a:p>
                      <a:pPr algn="l"/>
                      <a:r>
                        <a:rPr sz="1200" b="0">
                          <a:solidFill>
                            <a:srgbClr val="3A3A3A"/>
                          </a:solidFill>
                          <a:latin typeface="Hiragino Sans"/>
                        </a:rPr>
                        <a:t>アイコール連携を確認→順番・待ち時間のLINE通知</a:t>
                      </a:r>
                    </a:p>
                  </a:txBody>
                  <a:tcPr anchor="ctr" marL="91440" marR="73152" marT="45720" marB="45720">
                    <a:solidFill>
                      <a:srgbClr val="F1ECE1"/>
                    </a:solidFill>
                  </a:tcPr>
                </a:tc>
                <a:tc>
                  <a:txBody>
                    <a:bodyPr/>
                    <a:lstStyle/>
                    <a:p>
                      <a:pPr algn="l"/>
                      <a:r>
                        <a:rPr sz="1200" b="1">
                          <a:solidFill>
                            <a:srgbClr val="AA2E26"/>
                          </a:solidFill>
                          <a:latin typeface="Hiragino Sans"/>
                        </a:rPr>
                        <a:t>受付のクレーム・口頭対応を削減</a:t>
                      </a:r>
                    </a:p>
                  </a:txBody>
                  <a:tcPr anchor="ctr" marL="91440" marR="73152" marT="45720" marB="45720">
                    <a:solidFill>
                      <a:srgbClr val="F4E4E2"/>
                    </a:solidFill>
                  </a:tcPr>
                </a:tc>
              </a:tr>
              <a:tr h="786384">
                <a:tc>
                  <a:txBody>
                    <a:bodyPr/>
                    <a:lstStyle/>
                    <a:p>
                      <a:pPr algn="l"/>
                      <a:r>
                        <a:rPr sz="1200" b="1">
                          <a:solidFill>
                            <a:srgbClr val="1A1A1A"/>
                          </a:solidFill>
                          <a:latin typeface="Hiragino Sans"/>
                        </a:rPr>
                        <a:t>Phase 3（HPリプレイス）</a:t>
                      </a:r>
                    </a:p>
                  </a:txBody>
                  <a:tcPr anchor="ctr" marL="91440" marR="73152" marT="45720" marB="45720">
                    <a:solidFill>
                      <a:srgbClr val="F9F6EF"/>
                    </a:solidFill>
                  </a:tcPr>
                </a:tc>
                <a:tc>
                  <a:txBody>
                    <a:bodyPr/>
                    <a:lstStyle/>
                    <a:p>
                      <a:pPr algn="l"/>
                      <a:r>
                        <a:rPr sz="1200" b="0">
                          <a:solidFill>
                            <a:srgbClr val="3A3A3A"/>
                          </a:solidFill>
                          <a:latin typeface="Hiragino Sans"/>
                        </a:rPr>
                        <a:t>HP全面改修・Web問診/予約・マーケ巻き取り</a:t>
                      </a:r>
                    </a:p>
                  </a:txBody>
                  <a:tcPr anchor="ctr" marL="91440" marR="73152" marT="45720" marB="45720">
                    <a:solidFill>
                      <a:srgbClr val="F9F6EF"/>
                    </a:solidFill>
                  </a:tcPr>
                </a:tc>
                <a:tc>
                  <a:txBody>
                    <a:bodyPr/>
                    <a:lstStyle/>
                    <a:p>
                      <a:pPr algn="l"/>
                      <a:r>
                        <a:rPr sz="1200" b="1">
                          <a:solidFill>
                            <a:srgbClr val="AA2E26"/>
                          </a:solidFill>
                          <a:latin typeface="Hiragino Sans"/>
                        </a:rPr>
                        <a:t>電話導線を解消し、集患まで一気通貫</a:t>
                      </a:r>
                    </a:p>
                  </a:txBody>
                  <a:tcPr anchor="ctr" marL="91440" marR="73152" marT="45720" marB="45720">
                    <a:solidFill>
                      <a:srgbClr val="F4E4E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6EF"/>
        </a:solidFill>
        <a:effectLst/>
      </p:bgPr>
    </p:bg>
    <p:spTree>
      <p:nvGrpSpPr>
        <p:cNvPr id="1" name=""/>
        <p:cNvGrpSpPr/>
        <p:nvPr/>
      </p:nvGrpSpPr>
      <p:grpSpPr/>
      <p:sp>
        <p:nvSpPr>
          <p:cNvPr id="2" name="Rectangle 1"/>
          <p:cNvSpPr/>
          <p:nvPr/>
        </p:nvSpPr>
        <p:spPr>
          <a:xfrm>
            <a:off x="457200" y="411480"/>
            <a:ext cx="50800" cy="60350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058400" cy="365760"/>
          </a:xfrm>
          <a:prstGeom prst="rect">
            <a:avLst/>
          </a:prstGeom>
          <a:noFill/>
        </p:spPr>
        <p:txBody>
          <a:bodyPr wrap="square" anchor="t">
            <a:spAutoFit/>
          </a:bodyPr>
          <a:lstStyle/>
          <a:p>
            <a:pPr algn="l"/>
            <a:r>
              <a:rPr sz="1400" b="1" i="0">
                <a:solidFill>
                  <a:srgbClr val="AA2E26"/>
                </a:solidFill>
                <a:latin typeface="Hiragino Sans"/>
              </a:rPr>
              <a:t>HOW TO START</a:t>
            </a:r>
          </a:p>
        </p:txBody>
      </p:sp>
      <p:sp>
        <p:nvSpPr>
          <p:cNvPr id="4" name="TextBox 3"/>
          <p:cNvSpPr txBox="1"/>
          <p:nvPr/>
        </p:nvSpPr>
        <p:spPr>
          <a:xfrm>
            <a:off x="822960" y="1051560"/>
            <a:ext cx="10698480" cy="731520"/>
          </a:xfrm>
          <a:prstGeom prst="rect">
            <a:avLst/>
          </a:prstGeom>
          <a:noFill/>
        </p:spPr>
        <p:txBody>
          <a:bodyPr wrap="square" anchor="t">
            <a:spAutoFit/>
          </a:bodyPr>
          <a:lstStyle/>
          <a:p>
            <a:pPr algn="l"/>
            <a:r>
              <a:rPr sz="3000" b="1" i="0">
                <a:solidFill>
                  <a:srgbClr val="1A1A1A"/>
                </a:solidFill>
                <a:latin typeface="Hiragino Sans"/>
              </a:rPr>
              <a:t>まず、再診リマインド「1つ」から。</a:t>
            </a:r>
          </a:p>
        </p:txBody>
      </p:sp>
      <p:sp>
        <p:nvSpPr>
          <p:cNvPr id="5" name="TextBox 4"/>
          <p:cNvSpPr txBox="1"/>
          <p:nvPr/>
        </p:nvSpPr>
        <p:spPr>
          <a:xfrm>
            <a:off x="841248" y="1828800"/>
            <a:ext cx="10515600" cy="457200"/>
          </a:xfrm>
          <a:prstGeom prst="rect">
            <a:avLst/>
          </a:prstGeom>
          <a:noFill/>
        </p:spPr>
        <p:txBody>
          <a:bodyPr wrap="square" anchor="t">
            <a:spAutoFit/>
          </a:bodyPr>
          <a:lstStyle/>
          <a:p>
            <a:pPr algn="l"/>
            <a:r>
              <a:rPr sz="1400" b="0" i="0">
                <a:solidFill>
                  <a:srgbClr val="6E6E6E"/>
                </a:solidFill>
                <a:latin typeface="Hiragino Sans"/>
              </a:rPr>
              <a:t>全部を一度にやりません。効果が数字で出る①だけを無料で試して、続きはそれから決めます。</a:t>
            </a:r>
          </a:p>
        </p:txBody>
      </p:sp>
      <p:sp>
        <p:nvSpPr>
          <p:cNvPr id="6" name="Rectangle 5"/>
          <p:cNvSpPr/>
          <p:nvPr/>
        </p:nvSpPr>
        <p:spPr>
          <a:xfrm>
            <a:off x="822960" y="2468880"/>
            <a:ext cx="6492240" cy="932688"/>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4864" cy="93268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578608"/>
            <a:ext cx="6126480" cy="365760"/>
          </a:xfrm>
          <a:prstGeom prst="rect">
            <a:avLst/>
          </a:prstGeom>
          <a:noFill/>
        </p:spPr>
        <p:txBody>
          <a:bodyPr wrap="square" anchor="t">
            <a:spAutoFit/>
          </a:bodyPr>
          <a:lstStyle/>
          <a:p>
            <a:pPr algn="l"/>
            <a:r>
              <a:rPr sz="1500" b="1" i="0">
                <a:solidFill>
                  <a:srgbClr val="AA2E26"/>
                </a:solidFill>
                <a:latin typeface="Hiragino Sans"/>
              </a:rPr>
              <a:t>✓ 初期構築は当社が巻き取り</a:t>
            </a:r>
          </a:p>
        </p:txBody>
      </p:sp>
      <p:sp>
        <p:nvSpPr>
          <p:cNvPr id="9" name="TextBox 8"/>
          <p:cNvSpPr txBox="1"/>
          <p:nvPr/>
        </p:nvSpPr>
        <p:spPr>
          <a:xfrm>
            <a:off x="1051560" y="2926080"/>
            <a:ext cx="6126480" cy="411480"/>
          </a:xfrm>
          <a:prstGeom prst="rect">
            <a:avLst/>
          </a:prstGeom>
          <a:noFill/>
        </p:spPr>
        <p:txBody>
          <a:bodyPr wrap="square" anchor="t">
            <a:spAutoFit/>
          </a:bodyPr>
          <a:lstStyle/>
          <a:p>
            <a:pPr algn="l">
              <a:lnSpc>
                <a:spcPct val="105000"/>
              </a:lnSpc>
            </a:pPr>
            <a:r>
              <a:rPr sz="1150" b="0" i="0">
                <a:solidFill>
                  <a:srgbClr val="6E6E6E"/>
                </a:solidFill>
                <a:latin typeface="Hiragino Sans"/>
              </a:rPr>
              <a:t>LINE公式の開設・配信設定・文面づくりまで当社が実施。先生・事務の手間はゼロ。</a:t>
            </a:r>
          </a:p>
        </p:txBody>
      </p:sp>
      <p:sp>
        <p:nvSpPr>
          <p:cNvPr id="10" name="Rectangle 9"/>
          <p:cNvSpPr/>
          <p:nvPr/>
        </p:nvSpPr>
        <p:spPr>
          <a:xfrm>
            <a:off x="822960" y="3547872"/>
            <a:ext cx="6492240" cy="932688"/>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547872"/>
            <a:ext cx="54864" cy="93268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657600"/>
            <a:ext cx="6126480" cy="365760"/>
          </a:xfrm>
          <a:prstGeom prst="rect">
            <a:avLst/>
          </a:prstGeom>
          <a:noFill/>
        </p:spPr>
        <p:txBody>
          <a:bodyPr wrap="square" anchor="t">
            <a:spAutoFit/>
          </a:bodyPr>
          <a:lstStyle/>
          <a:p>
            <a:pPr algn="l"/>
            <a:r>
              <a:rPr sz="1500" b="1" i="0">
                <a:solidFill>
                  <a:srgbClr val="AA2E26"/>
                </a:solidFill>
                <a:latin typeface="Hiragino Sans"/>
              </a:rPr>
              <a:t>✓ 効果を1〜2ヶ月測る</a:t>
            </a:r>
          </a:p>
        </p:txBody>
      </p:sp>
      <p:sp>
        <p:nvSpPr>
          <p:cNvPr id="13" name="TextBox 12"/>
          <p:cNvSpPr txBox="1"/>
          <p:nvPr/>
        </p:nvSpPr>
        <p:spPr>
          <a:xfrm>
            <a:off x="1051560" y="4005072"/>
            <a:ext cx="6126480" cy="411480"/>
          </a:xfrm>
          <a:prstGeom prst="rect">
            <a:avLst/>
          </a:prstGeom>
          <a:noFill/>
        </p:spPr>
        <p:txBody>
          <a:bodyPr wrap="square" anchor="t">
            <a:spAutoFit/>
          </a:bodyPr>
          <a:lstStyle/>
          <a:p>
            <a:pPr algn="l">
              <a:lnSpc>
                <a:spcPct val="105000"/>
              </a:lnSpc>
            </a:pPr>
            <a:r>
              <a:rPr sz="1150" b="0" i="0">
                <a:solidFill>
                  <a:srgbClr val="6E6E6E"/>
                </a:solidFill>
                <a:latin typeface="Hiragino Sans"/>
              </a:rPr>
              <a:t>来院率と月末残業の変化を可視化。「数字」で続ける/やめるを判断できる。</a:t>
            </a:r>
          </a:p>
        </p:txBody>
      </p:sp>
      <p:sp>
        <p:nvSpPr>
          <p:cNvPr id="14" name="Rectangle 13"/>
          <p:cNvSpPr/>
          <p:nvPr/>
        </p:nvSpPr>
        <p:spPr>
          <a:xfrm>
            <a:off x="822960" y="4626864"/>
            <a:ext cx="6492240" cy="932688"/>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626864"/>
            <a:ext cx="54864" cy="932688"/>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736592"/>
            <a:ext cx="6126480" cy="365760"/>
          </a:xfrm>
          <a:prstGeom prst="rect">
            <a:avLst/>
          </a:prstGeom>
          <a:noFill/>
        </p:spPr>
        <p:txBody>
          <a:bodyPr wrap="square" anchor="t">
            <a:spAutoFit/>
          </a:bodyPr>
          <a:lstStyle/>
          <a:p>
            <a:pPr algn="l"/>
            <a:r>
              <a:rPr sz="1500" b="1" i="0">
                <a:solidFill>
                  <a:srgbClr val="AA2E26"/>
                </a:solidFill>
                <a:latin typeface="Hiragino Sans"/>
              </a:rPr>
              <a:t>✓ 着手はほぼ0円</a:t>
            </a:r>
          </a:p>
        </p:txBody>
      </p:sp>
      <p:sp>
        <p:nvSpPr>
          <p:cNvPr id="17" name="TextBox 16"/>
          <p:cNvSpPr txBox="1"/>
          <p:nvPr/>
        </p:nvSpPr>
        <p:spPr>
          <a:xfrm>
            <a:off x="1051560" y="5084064"/>
            <a:ext cx="6126480" cy="411480"/>
          </a:xfrm>
          <a:prstGeom prst="rect">
            <a:avLst/>
          </a:prstGeom>
          <a:noFill/>
        </p:spPr>
        <p:txBody>
          <a:bodyPr wrap="square" anchor="t">
            <a:spAutoFit/>
          </a:bodyPr>
          <a:lstStyle/>
          <a:p>
            <a:pPr algn="l">
              <a:lnSpc>
                <a:spcPct val="105000"/>
              </a:lnSpc>
            </a:pPr>
            <a:r>
              <a:rPr sz="1150" b="0" i="0">
                <a:solidFill>
                  <a:srgbClr val="6E6E6E"/>
                </a:solidFill>
                <a:latin typeface="Hiragino Sans"/>
              </a:rPr>
              <a:t>LINE公式（無料枠）＋配信ツール無料プランで開始。本格運用でも月5千〜2万円程度。</a:t>
            </a:r>
          </a:p>
        </p:txBody>
      </p:sp>
      <p:sp>
        <p:nvSpPr>
          <p:cNvPr id="18" name="Rectangle 17"/>
          <p:cNvSpPr/>
          <p:nvPr/>
        </p:nvSpPr>
        <p:spPr>
          <a:xfrm>
            <a:off x="7589520" y="2468880"/>
            <a:ext cx="3794760" cy="3255264"/>
          </a:xfrm>
          <a:prstGeom prst="rect">
            <a:avLst/>
          </a:prstGeom>
          <a:solidFill>
            <a:srgbClr val="F1ECE1"/>
          </a:solidFill>
          <a:ln w="12700">
            <a:solidFill>
              <a:srgbClr val="E1DA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89520" y="2468880"/>
            <a:ext cx="3794760" cy="54864"/>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2651760"/>
            <a:ext cx="3794760" cy="365760"/>
          </a:xfrm>
          <a:prstGeom prst="rect">
            <a:avLst/>
          </a:prstGeom>
          <a:noFill/>
        </p:spPr>
        <p:txBody>
          <a:bodyPr wrap="square" anchor="t">
            <a:spAutoFit/>
          </a:bodyPr>
          <a:lstStyle/>
          <a:p>
            <a:pPr algn="ctr"/>
            <a:r>
              <a:rPr sz="1500" b="1" i="0">
                <a:solidFill>
                  <a:srgbClr val="AA2E26"/>
                </a:solidFill>
                <a:latin typeface="Hiragino Sans"/>
              </a:rPr>
              <a:t>役割分担</a:t>
            </a:r>
          </a:p>
        </p:txBody>
      </p:sp>
      <p:sp>
        <p:nvSpPr>
          <p:cNvPr id="21" name="Rectangle 20"/>
          <p:cNvSpPr/>
          <p:nvPr/>
        </p:nvSpPr>
        <p:spPr>
          <a:xfrm>
            <a:off x="7818120" y="3200400"/>
            <a:ext cx="3337560" cy="1097280"/>
          </a:xfrm>
          <a:prstGeom prst="rect">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79" y="3291840"/>
            <a:ext cx="3108960" cy="320040"/>
          </a:xfrm>
          <a:prstGeom prst="rect">
            <a:avLst/>
          </a:prstGeom>
          <a:noFill/>
        </p:spPr>
        <p:txBody>
          <a:bodyPr wrap="square" anchor="t">
            <a:spAutoFit/>
          </a:bodyPr>
          <a:lstStyle/>
          <a:p>
            <a:pPr algn="l"/>
            <a:r>
              <a:rPr sz="1300" b="1" i="0">
                <a:solidFill>
                  <a:srgbClr val="1A1A1A"/>
                </a:solidFill>
                <a:latin typeface="Hiragino Sans"/>
              </a:rPr>
              <a:t>宮崎</a:t>
            </a:r>
          </a:p>
        </p:txBody>
      </p:sp>
      <p:sp>
        <p:nvSpPr>
          <p:cNvPr id="23" name="TextBox 22"/>
          <p:cNvSpPr txBox="1"/>
          <p:nvPr/>
        </p:nvSpPr>
        <p:spPr>
          <a:xfrm>
            <a:off x="7955279" y="3611880"/>
            <a:ext cx="3108960" cy="640080"/>
          </a:xfrm>
          <a:prstGeom prst="rect">
            <a:avLst/>
          </a:prstGeom>
          <a:noFill/>
        </p:spPr>
        <p:txBody>
          <a:bodyPr wrap="square" anchor="t">
            <a:spAutoFit/>
          </a:bodyPr>
          <a:lstStyle/>
          <a:p>
            <a:pPr algn="l">
              <a:lnSpc>
                <a:spcPct val="115000"/>
              </a:lnSpc>
            </a:pPr>
            <a:r>
              <a:rPr sz="1100" b="0" i="0">
                <a:solidFill>
                  <a:srgbClr val="6E6E6E"/>
                </a:solidFill>
                <a:latin typeface="Hiragino Sans"/>
              </a:rPr>
              <a:t>技術：Stream Deck／</a:t>
            </a:r>
          </a:p>
          <a:p>
            <a:pPr algn="l">
              <a:lnSpc>
                <a:spcPct val="115000"/>
              </a:lnSpc>
            </a:pPr>
            <a:r>
              <a:rPr sz="1100" b="0" i="0">
                <a:solidFill>
                  <a:srgbClr val="6E6E6E"/>
                </a:solidFill>
                <a:latin typeface="Hiragino Sans"/>
              </a:rPr>
              <a:t>電子カルテからの自動抽出・入力連携</a:t>
            </a:r>
          </a:p>
        </p:txBody>
      </p:sp>
      <p:sp>
        <p:nvSpPr>
          <p:cNvPr id="24" name="Rectangle 23"/>
          <p:cNvSpPr/>
          <p:nvPr/>
        </p:nvSpPr>
        <p:spPr>
          <a:xfrm>
            <a:off x="7818120" y="4434840"/>
            <a:ext cx="3337560" cy="1143000"/>
          </a:xfrm>
          <a:prstGeom prst="rect">
            <a:avLst/>
          </a:prstGeom>
          <a:solidFill>
            <a:srgbClr val="F4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79" y="4526280"/>
            <a:ext cx="3108960" cy="320040"/>
          </a:xfrm>
          <a:prstGeom prst="rect">
            <a:avLst/>
          </a:prstGeom>
          <a:noFill/>
        </p:spPr>
        <p:txBody>
          <a:bodyPr wrap="square" anchor="t">
            <a:spAutoFit/>
          </a:bodyPr>
          <a:lstStyle/>
          <a:p>
            <a:pPr algn="l"/>
            <a:r>
              <a:rPr sz="1300" b="1" i="0">
                <a:solidFill>
                  <a:srgbClr val="AA2E26"/>
                </a:solidFill>
                <a:latin typeface="Hiragino Sans"/>
              </a:rPr>
              <a:t>菊池</a:t>
            </a:r>
          </a:p>
        </p:txBody>
      </p:sp>
      <p:sp>
        <p:nvSpPr>
          <p:cNvPr id="26" name="TextBox 25"/>
          <p:cNvSpPr txBox="1"/>
          <p:nvPr/>
        </p:nvSpPr>
        <p:spPr>
          <a:xfrm>
            <a:off x="7955279" y="4846320"/>
            <a:ext cx="3108960" cy="640080"/>
          </a:xfrm>
          <a:prstGeom prst="rect">
            <a:avLst/>
          </a:prstGeom>
          <a:noFill/>
        </p:spPr>
        <p:txBody>
          <a:bodyPr wrap="square" anchor="t">
            <a:spAutoFit/>
          </a:bodyPr>
          <a:lstStyle/>
          <a:p>
            <a:pPr algn="l">
              <a:lnSpc>
                <a:spcPct val="115000"/>
              </a:lnSpc>
            </a:pPr>
            <a:r>
              <a:rPr sz="1100" b="0" i="0">
                <a:solidFill>
                  <a:srgbClr val="1A1A1A"/>
                </a:solidFill>
                <a:latin typeface="Hiragino Sans"/>
              </a:rPr>
              <a:t>患者導線：LINE／HP／マーケ</a:t>
            </a:r>
          </a:p>
          <a:p>
            <a:pPr algn="l">
              <a:lnSpc>
                <a:spcPct val="115000"/>
              </a:lnSpc>
            </a:pPr>
            <a:r>
              <a:rPr sz="1100" b="0" i="0">
                <a:solidFill>
                  <a:srgbClr val="1A1A1A"/>
                </a:solidFill>
                <a:latin typeface="Hiragino Sans"/>
              </a:rPr>
              <a:t>＋アンケートを「残業削減」に翻訳</a:t>
            </a:r>
          </a:p>
        </p:txBody>
      </p:sp>
      <p:sp>
        <p:nvSpPr>
          <p:cNvPr id="27" name="Rectangle 26"/>
          <p:cNvSpPr/>
          <p:nvPr/>
        </p:nvSpPr>
        <p:spPr>
          <a:xfrm>
            <a:off x="822960" y="5943600"/>
            <a:ext cx="10561320" cy="15240"/>
          </a:xfrm>
          <a:prstGeom prst="rect">
            <a:avLst/>
          </a:prstGeom>
          <a:solidFill>
            <a:srgbClr val="DA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6053328"/>
            <a:ext cx="10515600" cy="365760"/>
          </a:xfrm>
          <a:prstGeom prst="rect">
            <a:avLst/>
          </a:prstGeom>
          <a:noFill/>
        </p:spPr>
        <p:txBody>
          <a:bodyPr wrap="square" anchor="t">
            <a:spAutoFit/>
          </a:bodyPr>
          <a:lstStyle/>
          <a:p>
            <a:pPr algn="l"/>
            <a:r>
              <a:rPr sz="1250" b="1" i="0">
                <a:solidFill>
                  <a:srgbClr val="1A1A1A"/>
                </a:solidFill>
                <a:latin typeface="Hiragino Sans"/>
              </a:rPr>
              <a:t>押し売りはしません。アンケートの声に、まず1つで応える形でご提案します。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
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6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411480"/>
            <a:ext cx="50800" cy="6035040"/>
          </a:xfrm>
          <a:prstGeom prst="rect">
            <a:avLst/>
          </a:prstGeom>
          <a:solidFill>
            <a:srgbClr val="AA2E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1371600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1">
                <a:solidFill>
                  <a:srgbClr val="AA2E26"/>
                </a:solidFill>
                <a:latin typeface="Hiragino Sans"/>
              </a:rPr>
              <a:t>京橋クリニック様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04672" y="1874519"/>
            <a:ext cx="1051560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400" b="1">
                <a:solidFill>
                  <a:srgbClr val="1A1A1A"/>
                </a:solidFill>
                <a:latin typeface="Hiragino Sans"/>
              </a:rPr>
              <a:t>業務削減シミュレーション報告書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2697480"/>
            <a:ext cx="105156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000" b="1">
                <a:solidFill>
                  <a:srgbClr val="AA2E26"/>
                </a:solidFill>
                <a:latin typeface="Hiragino Sans"/>
              </a:rPr>
              <a:t>＋ オンライン診療（初診から）導入のご提案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41248" y="3383280"/>
            <a:ext cx="100584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350" b="0">
                <a:solidFill>
                  <a:srgbClr val="6E6E6E"/>
                </a:solidFill>
                <a:latin typeface="Hiragino Sans"/>
              </a:rPr>
              <a:t>御院の現状を拝見し、削減できるポイントと進め方をまとめました。</a:t>
            </a:r>
          </a:p>
          <a:p>
            <a:pPr algn="l">
              <a:lnSpc>
                <a:spcPct val="130000"/>
              </a:lnSpc>
            </a:pPr>
            <a:r>
              <a:rPr sz="1350" b="0">
                <a:solidFill>
                  <a:srgbClr val="6E6E6E"/>
                </a:solidFill>
                <a:latin typeface="Hiragino Sans"/>
              </a:rPr>
              <a:t>初期費用0円・成果報酬型。御院の持ち出しはゼロから始められます。</a:t>
            </a:r>
          </a:p>
        </p:txBody>
      </p:sp>
      <p:sp>
        <p:nvSpPr>
          <p:cNvPr id="7" name="Rectangle 6"/>
          <p:cNvSpPr/>
          <p:nvPr/>
        </p:nvSpPr>
        <p:spPr>
          <a:xfrm>
            <a:off x="822960" y="4480560"/>
            <a:ext cx="2240280" cy="1097280"/>
          </a:xfrm>
          <a:prstGeom prst="rect">
            <a:avLst/>
          </a:prstGeom>
          <a:solidFill>
            <a:srgbClr val="F1ECE1"/>
          </a:solidFill>
          <a:ln w="12700">
            <a:solidFill>
              <a:srgbClr val="E1DAC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822960" y="4480560"/>
            <a:ext cx="2240280" cy="54864"/>
          </a:xfrm>
          <a:prstGeom prst="rect">
            <a:avLst/>
          </a:prstGeom>
          <a:solidFill>
            <a:srgbClr val="AA2E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22960" y="4617720"/>
            <a:ext cx="22402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200" b="0">
                <a:solidFill>
                  <a:srgbClr val="6E6E6E"/>
                </a:solidFill>
                <a:latin typeface="Hiragino Sans"/>
              </a:rPr>
              <a:t>初期費用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60" y="4864608"/>
            <a:ext cx="224028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3200" b="1">
                <a:solidFill>
                  <a:srgbClr val="AA2E26"/>
                </a:solidFill>
                <a:latin typeface="Hiragino Sans"/>
              </a:rPr>
              <a:t>0円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227832" y="4480560"/>
            <a:ext cx="2240280" cy="1097280"/>
          </a:xfrm>
          <a:prstGeom prst="rect">
            <a:avLst/>
          </a:prstGeom>
          <a:solidFill>
            <a:srgbClr val="F1ECE1"/>
          </a:solidFill>
          <a:ln w="12700">
            <a:solidFill>
              <a:srgbClr val="E1DAC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3227832" y="4480560"/>
            <a:ext cx="2240280" cy="54864"/>
          </a:xfrm>
          <a:prstGeom prst="rect">
            <a:avLst/>
          </a:prstGeom>
          <a:solidFill>
            <a:srgbClr val="AA2E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227832" y="4617720"/>
            <a:ext cx="22402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200" b="0">
                <a:solidFill>
                  <a:srgbClr val="6E6E6E"/>
                </a:solidFill>
                <a:latin typeface="Hiragino Sans"/>
              </a:rPr>
              <a:t>月額基本料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227832" y="4864608"/>
            <a:ext cx="224028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3200" b="1">
                <a:solidFill>
                  <a:srgbClr val="AA2E26"/>
                </a:solidFill>
                <a:latin typeface="Hiragino Sans"/>
              </a:rPr>
              <a:t>0円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632704" y="4480560"/>
            <a:ext cx="2240280" cy="1097280"/>
          </a:xfrm>
          <a:prstGeom prst="rect">
            <a:avLst/>
          </a:prstGeom>
          <a:solidFill>
            <a:srgbClr val="F1ECE1"/>
          </a:solidFill>
          <a:ln w="12700">
            <a:solidFill>
              <a:srgbClr val="E1DAC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5632704" y="4480560"/>
            <a:ext cx="2240280" cy="54864"/>
          </a:xfrm>
          <a:prstGeom prst="rect">
            <a:avLst/>
          </a:prstGeom>
          <a:solidFill>
            <a:srgbClr val="AA2E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632704" y="4617720"/>
            <a:ext cx="22402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200" b="0">
                <a:solidFill>
                  <a:srgbClr val="6E6E6E"/>
                </a:solidFill>
                <a:latin typeface="Hiragino Sans"/>
              </a:rPr>
              <a:t>成果報酬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632704" y="4864608"/>
            <a:ext cx="224028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3200" b="1">
                <a:solidFill>
                  <a:srgbClr val="AA2E26"/>
                </a:solidFill>
                <a:latin typeface="Hiragino Sans"/>
              </a:rPr>
              <a:t>40%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22960" y="5760720"/>
            <a:ext cx="10515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>
                <a:solidFill>
                  <a:srgbClr val="8C241D"/>
                </a:solidFill>
                <a:latin typeface="Hiragino Sans"/>
              </a:rPr>
              <a:t>※成果報酬は最初の6ヶ月のみ。7ヶ月目以降は月5万円の保守（月1回の運用相談込み）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22960" y="6263640"/>
            <a:ext cx="10058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>
                <a:solidFill>
                  <a:srgbClr val="6E6E6E"/>
                </a:solidFill>
                <a:latin typeface="Hiragino Sans"/>
              </a:rPr>
              <a:t>テナントアシスト・ウイン株式会社 ｜ 菊池 研太　2026.06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6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6400800"/>
            <a:ext cx="11274552" cy="15240"/>
          </a:xfrm>
          <a:prstGeom prst="rect">
            <a:avLst/>
          </a:prstGeom>
          <a:solidFill>
            <a:srgbClr val="DAD6C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6473952"/>
            <a:ext cx="914400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6E6E6E"/>
                </a:solidFill>
                <a:latin typeface="Hiragino Sans"/>
              </a:rPr>
              <a:t>テナントアシスト・ウイン株式会社 ｜ 菊池 研太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0" y="6473952"/>
            <a:ext cx="73152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900" b="0">
                <a:solidFill>
                  <a:srgbClr val="6E6E6E"/>
                </a:solidFill>
                <a:latin typeface="Hiragino Sans"/>
              </a:rPr>
              <a:t>2 / 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365760"/>
            <a:ext cx="109728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>
                <a:solidFill>
                  <a:srgbClr val="AA2E26"/>
                </a:solidFill>
                <a:latin typeface="Hiragino Sans"/>
              </a:rPr>
              <a:t>YOUR CLINIC</a:t>
            </a:r>
          </a:p>
        </p:txBody>
      </p:sp>
      <p:sp>
        <p:nvSpPr>
          <p:cNvPr id="6" name="Rectangle 5"/>
          <p:cNvSpPr/>
          <p:nvPr/>
        </p:nvSpPr>
        <p:spPr>
          <a:xfrm>
            <a:off x="566928" y="713232"/>
            <a:ext cx="1554480" cy="38100"/>
          </a:xfrm>
          <a:prstGeom prst="rect">
            <a:avLst/>
          </a:prstGeom>
          <a:solidFill>
            <a:srgbClr val="AA2E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822960"/>
            <a:ext cx="1106424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200" b="1">
                <a:solidFill>
                  <a:srgbClr val="1A1A1A"/>
                </a:solidFill>
                <a:latin typeface="Hiragino Sans"/>
              </a:rPr>
              <a:t>御院の現状 ── お困りごとを拝見しました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66928" y="1316736"/>
            <a:ext cx="110642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50" b="0">
                <a:solidFill>
                  <a:srgbClr val="6E6E6E"/>
                </a:solidFill>
                <a:latin typeface="Hiragino Sans"/>
              </a:rPr>
              <a:t>現場のお声と日々の業務から、負担が大きい5つのポイント</a:t>
            </a:r>
          </a:p>
        </p:txBody>
      </p:sp>
      <p:sp>
        <p:nvSpPr>
          <p:cNvPr id="9" name="Rectangle 8"/>
          <p:cNvSpPr/>
          <p:nvPr/>
        </p:nvSpPr>
        <p:spPr>
          <a:xfrm>
            <a:off x="548640" y="1783080"/>
            <a:ext cx="11064240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E1DAC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548640" y="1783080"/>
            <a:ext cx="91440" cy="713232"/>
          </a:xfrm>
          <a:prstGeom prst="rect">
            <a:avLst/>
          </a:prstGeom>
          <a:solidFill>
            <a:srgbClr val="AA2E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777240" y="1956816"/>
            <a:ext cx="1371600" cy="384048"/>
          </a:xfrm>
          <a:prstGeom prst="rect">
            <a:avLst/>
          </a:prstGeom>
          <a:solidFill>
            <a:srgbClr val="AA2E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77240" y="1956816"/>
            <a:ext cx="1371600" cy="3840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Hiragino Sans"/>
              </a:rPr>
              <a:t>電話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377440" y="1783080"/>
            <a:ext cx="9144000" cy="71323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300" b="0">
                <a:solidFill>
                  <a:srgbClr val="1A1A1A"/>
                </a:solidFill>
                <a:latin typeface="Hiragino Sans"/>
              </a:rPr>
              <a:t>回線が受付人数より多く、問い合わせ対応が長くなりがち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48640" y="2624328"/>
            <a:ext cx="11064240" cy="713232"/>
          </a:xfrm>
          <a:prstGeom prst="rect">
            <a:avLst/>
          </a:prstGeom>
          <a:solidFill>
            <a:srgbClr val="F1ECE1"/>
          </a:solidFill>
          <a:ln w="12700">
            <a:solidFill>
              <a:srgbClr val="E1DAC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548640" y="2624328"/>
            <a:ext cx="91440" cy="713232"/>
          </a:xfrm>
          <a:prstGeom prst="rect">
            <a:avLst/>
          </a:prstGeom>
          <a:solidFill>
            <a:srgbClr val="AA2E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777240" y="2798064"/>
            <a:ext cx="1371600" cy="384048"/>
          </a:xfrm>
          <a:prstGeom prst="rect">
            <a:avLst/>
          </a:prstGeom>
          <a:solidFill>
            <a:srgbClr val="AA2E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77240" y="2798064"/>
            <a:ext cx="1371600" cy="3840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Hiragino Sans"/>
              </a:rPr>
              <a:t>予約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377440" y="2624328"/>
            <a:ext cx="9144000" cy="71323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300" b="0">
                <a:solidFill>
                  <a:srgbClr val="1A1A1A"/>
                </a:solidFill>
                <a:latin typeface="Hiragino Sans"/>
              </a:rPr>
              <a:t>ご予約（アイコール）の行き違いで、診察が長引き・順番も前後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48640" y="3465576"/>
            <a:ext cx="11064240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E1DAC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548640" y="3465576"/>
            <a:ext cx="91440" cy="713232"/>
          </a:xfrm>
          <a:prstGeom prst="rect">
            <a:avLst/>
          </a:prstGeom>
          <a:solidFill>
            <a:srgbClr val="AA2E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777240" y="3639312"/>
            <a:ext cx="1371600" cy="384048"/>
          </a:xfrm>
          <a:prstGeom prst="rect">
            <a:avLst/>
          </a:prstGeom>
          <a:solidFill>
            <a:srgbClr val="AA2E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77240" y="3639312"/>
            <a:ext cx="1371600" cy="3840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Hiragino Sans"/>
              </a:rPr>
              <a:t>問診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377440" y="3465576"/>
            <a:ext cx="9144000" cy="71323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300" b="0">
                <a:solidFill>
                  <a:srgbClr val="1A1A1A"/>
                </a:solidFill>
                <a:latin typeface="Hiragino Sans"/>
              </a:rPr>
              <a:t>紙の問診票を、毎日手で入力し直している</a:t>
            </a:r>
          </a:p>
        </p:txBody>
      </p:sp>
      <p:sp>
        <p:nvSpPr>
          <p:cNvPr id="24" name="Rectangle 23"/>
          <p:cNvSpPr/>
          <p:nvPr/>
        </p:nvSpPr>
        <p:spPr>
          <a:xfrm>
            <a:off x="548640" y="4306824"/>
            <a:ext cx="11064240" cy="713232"/>
          </a:xfrm>
          <a:prstGeom prst="rect">
            <a:avLst/>
          </a:prstGeom>
          <a:solidFill>
            <a:srgbClr val="F1ECE1"/>
          </a:solidFill>
          <a:ln w="12700">
            <a:solidFill>
              <a:srgbClr val="E1DAC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548640" y="4306824"/>
            <a:ext cx="91440" cy="713232"/>
          </a:xfrm>
          <a:prstGeom prst="rect">
            <a:avLst/>
          </a:prstGeom>
          <a:solidFill>
            <a:srgbClr val="AA2E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777240" y="4480560"/>
            <a:ext cx="1371600" cy="384048"/>
          </a:xfrm>
          <a:prstGeom prst="rect">
            <a:avLst/>
          </a:prstGeom>
          <a:solidFill>
            <a:srgbClr val="AA2E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777240" y="4480560"/>
            <a:ext cx="1371600" cy="3840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Hiragino Sans"/>
              </a:rPr>
              <a:t>書類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2377440" y="4306824"/>
            <a:ext cx="9144000" cy="71323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300" b="0">
                <a:solidFill>
                  <a:srgbClr val="1A1A1A"/>
                </a:solidFill>
                <a:latin typeface="Hiragino Sans"/>
              </a:rPr>
              <a:t>紹介状の作成に二度手間が生じている</a:t>
            </a:r>
          </a:p>
        </p:txBody>
      </p:sp>
      <p:sp>
        <p:nvSpPr>
          <p:cNvPr id="29" name="Rectangle 28"/>
          <p:cNvSpPr/>
          <p:nvPr/>
        </p:nvSpPr>
        <p:spPr>
          <a:xfrm>
            <a:off x="548640" y="5148072"/>
            <a:ext cx="11064240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E1DAC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548640" y="5148072"/>
            <a:ext cx="91440" cy="713232"/>
          </a:xfrm>
          <a:prstGeom prst="rect">
            <a:avLst/>
          </a:prstGeom>
          <a:solidFill>
            <a:srgbClr val="AA2E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777240" y="5321808"/>
            <a:ext cx="1371600" cy="384048"/>
          </a:xfrm>
          <a:prstGeom prst="rect">
            <a:avLst/>
          </a:prstGeom>
          <a:solidFill>
            <a:srgbClr val="AA2E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777240" y="5321808"/>
            <a:ext cx="1371600" cy="3840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Hiragino Sans"/>
              </a:rPr>
              <a:t>レセプト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2377440" y="5148072"/>
            <a:ext cx="9144000" cy="71323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300" b="0">
                <a:solidFill>
                  <a:srgbClr val="1A1A1A"/>
                </a:solidFill>
                <a:latin typeface="Hiragino Sans"/>
              </a:rPr>
              <a:t>月初の点検に、まとまった時間がかかる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548640" y="6080760"/>
            <a:ext cx="10972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50" b="1">
                <a:solidFill>
                  <a:srgbClr val="2E7D32"/>
                </a:solidFill>
                <a:latin typeface="Hiragino Sans"/>
              </a:rPr>
              <a:t>→ 事務スタッフの負担を軽くすることが、定着にもつながります。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6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6400800"/>
            <a:ext cx="11274552" cy="15240"/>
          </a:xfrm>
          <a:prstGeom prst="rect">
            <a:avLst/>
          </a:prstGeom>
          <a:solidFill>
            <a:srgbClr val="DAD6C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6473952"/>
            <a:ext cx="914400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6E6E6E"/>
                </a:solidFill>
                <a:latin typeface="Hiragino Sans"/>
              </a:rPr>
              <a:t>テナントアシスト・ウイン株式会社 ｜ 菊池 研太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0" y="6473952"/>
            <a:ext cx="73152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900" b="0">
                <a:solidFill>
                  <a:srgbClr val="6E6E6E"/>
                </a:solidFill>
                <a:latin typeface="Hiragino Sans"/>
              </a:rPr>
              <a:t>3 / 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365760"/>
            <a:ext cx="109728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>
                <a:solidFill>
                  <a:srgbClr val="AA2E26"/>
                </a:solidFill>
                <a:latin typeface="Hiragino Sans"/>
              </a:rPr>
              <a:t>SIMULATION</a:t>
            </a:r>
          </a:p>
        </p:txBody>
      </p:sp>
      <p:sp>
        <p:nvSpPr>
          <p:cNvPr id="6" name="Rectangle 5"/>
          <p:cNvSpPr/>
          <p:nvPr/>
        </p:nvSpPr>
        <p:spPr>
          <a:xfrm>
            <a:off x="566928" y="713232"/>
            <a:ext cx="1554480" cy="38100"/>
          </a:xfrm>
          <a:prstGeom prst="rect">
            <a:avLst/>
          </a:prstGeom>
          <a:solidFill>
            <a:srgbClr val="AA2E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822960"/>
            <a:ext cx="1106424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200" b="1">
                <a:solidFill>
                  <a:srgbClr val="1A1A1A"/>
                </a:solidFill>
                <a:latin typeface="Hiragino Sans"/>
              </a:rPr>
              <a:t>削減シミュレーション ── 御院に、いくら残るか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66928" y="1316736"/>
            <a:ext cx="110642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50" b="0">
                <a:solidFill>
                  <a:srgbClr val="6E6E6E"/>
                </a:solidFill>
                <a:latin typeface="Hiragino Sans"/>
              </a:rPr>
              <a:t>標準モデル（事務3名・月24万円削減）。当日、御院の実数で計算し直します</a:t>
            </a:r>
          </a:p>
        </p:txBody>
      </p:sp>
      <p:pic>
        <p:nvPicPr>
          <p:cNvPr id="9" name="Picture 8" descr="_savings_char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691640"/>
            <a:ext cx="7498079" cy="4055759"/>
          </a:xfrm>
          <a:prstGeom prst="rect">
            <a:avLst/>
          </a:prstGeom>
        </p:spPr>
      </p:pic>
      <p:sp>
        <p:nvSpPr>
          <p:cNvPr id="10" name="Rectangle 9"/>
          <p:cNvSpPr/>
          <p:nvPr/>
        </p:nvSpPr>
        <p:spPr>
          <a:xfrm>
            <a:off x="8229600" y="1737360"/>
            <a:ext cx="3520440" cy="2011680"/>
          </a:xfrm>
          <a:prstGeom prst="rect">
            <a:avLst/>
          </a:prstGeom>
          <a:solidFill>
            <a:srgbClr val="F1ECE1"/>
          </a:solidFill>
          <a:ln w="12700">
            <a:solidFill>
              <a:srgbClr val="E1DAC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412480" y="1847088"/>
            <a:ext cx="31546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>
                <a:solidFill>
                  <a:srgbClr val="AA2E26"/>
                </a:solidFill>
                <a:latin typeface="Hiragino Sans"/>
              </a:rPr>
              <a:t>御院に残る効果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458200" y="2194560"/>
            <a:ext cx="14630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>
                <a:solidFill>
                  <a:srgbClr val="1A1A1A"/>
                </a:solidFill>
                <a:latin typeface="Hiragino Sans"/>
              </a:rPr>
              <a:t>1〜6ヶ月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692640" y="2194560"/>
            <a:ext cx="1828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500" b="1">
                <a:solidFill>
                  <a:srgbClr val="8C241D"/>
                </a:solidFill>
                <a:latin typeface="Hiragino Sans"/>
              </a:rPr>
              <a:t>月 14.4万円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458200" y="2606040"/>
            <a:ext cx="14630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>
                <a:solidFill>
                  <a:srgbClr val="1A1A1A"/>
                </a:solidFill>
                <a:latin typeface="Hiragino Sans"/>
              </a:rPr>
              <a:t>7ヶ月目〜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692640" y="2606040"/>
            <a:ext cx="1828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500" b="1">
                <a:solidFill>
                  <a:srgbClr val="8C241D"/>
                </a:solidFill>
                <a:latin typeface="Hiragino Sans"/>
              </a:rPr>
              <a:t>月 19万円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458200" y="3017520"/>
            <a:ext cx="14630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>
                <a:solidFill>
                  <a:srgbClr val="1A1A1A"/>
                </a:solidFill>
                <a:latin typeface="Hiragino Sans"/>
              </a:rPr>
              <a:t>12ヶ月 累計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692640" y="3017520"/>
            <a:ext cx="1828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500" b="1">
                <a:solidFill>
                  <a:srgbClr val="8C241D"/>
                </a:solidFill>
                <a:latin typeface="Hiragino Sans"/>
              </a:rPr>
              <a:t>約 200万円</a:t>
            </a:r>
          </a:p>
        </p:txBody>
      </p:sp>
      <p:sp>
        <p:nvSpPr>
          <p:cNvPr id="18" name="Rectangle 17"/>
          <p:cNvSpPr/>
          <p:nvPr/>
        </p:nvSpPr>
        <p:spPr>
          <a:xfrm>
            <a:off x="8229600" y="3977639"/>
            <a:ext cx="3520440" cy="2103120"/>
          </a:xfrm>
          <a:prstGeom prst="rect">
            <a:avLst/>
          </a:prstGeom>
          <a:solidFill>
            <a:srgbClr val="FFFFFF"/>
          </a:solidFill>
          <a:ln w="12700">
            <a:solidFill>
              <a:srgbClr val="E1DAC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8229600" y="3977639"/>
            <a:ext cx="3520440" cy="54864"/>
          </a:xfrm>
          <a:prstGeom prst="rect">
            <a:avLst/>
          </a:prstGeom>
          <a:solidFill>
            <a:srgbClr val="AA2E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412480" y="4096512"/>
            <a:ext cx="31546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>
                <a:solidFill>
                  <a:srgbClr val="AA2E26"/>
                </a:solidFill>
                <a:latin typeface="Hiragino Sans"/>
              </a:rPr>
              <a:t>安心の設計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430768" y="4434840"/>
            <a:ext cx="3118104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50" b="1">
                <a:solidFill>
                  <a:srgbClr val="1A1A1A"/>
                </a:solidFill>
                <a:latin typeface="Hiragino Sans"/>
              </a:rPr>
              <a:t>✓ 効果が出なければ 費用0円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430768" y="4828032"/>
            <a:ext cx="3118104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50" b="1">
                <a:solidFill>
                  <a:srgbClr val="1A1A1A"/>
                </a:solidFill>
                <a:latin typeface="Hiragino Sans"/>
              </a:rPr>
              <a:t>✓ 測定の手間は全部こちらが巻き取る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430768" y="5221224"/>
            <a:ext cx="3118104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50" b="1">
                <a:solidFill>
                  <a:srgbClr val="1A1A1A"/>
                </a:solidFill>
                <a:latin typeface="Hiragino Sans"/>
              </a:rPr>
              <a:t>✓ 患者情報の扱いは最初に書面ルール化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430768" y="5614416"/>
            <a:ext cx="3118104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50" b="1">
                <a:solidFill>
                  <a:srgbClr val="1A1A1A"/>
                </a:solidFill>
                <a:latin typeface="Hiragino Sans"/>
              </a:rPr>
              <a:t>✓ ロックインなし・30日前通知で解約可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6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6400800"/>
            <a:ext cx="11274552" cy="15240"/>
          </a:xfrm>
          <a:prstGeom prst="rect">
            <a:avLst/>
          </a:prstGeom>
          <a:solidFill>
            <a:srgbClr val="DAD6C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6473952"/>
            <a:ext cx="914400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6E6E6E"/>
                </a:solidFill>
                <a:latin typeface="Hiragino Sans"/>
              </a:rPr>
              <a:t>テナントアシスト・ウイン株式会社 ｜ 菊池 研太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0" y="6473952"/>
            <a:ext cx="73152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900" b="0">
                <a:solidFill>
                  <a:srgbClr val="6E6E6E"/>
                </a:solidFill>
                <a:latin typeface="Hiragino Sans"/>
              </a:rPr>
              <a:t>4 / 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365760"/>
            <a:ext cx="109728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>
                <a:solidFill>
                  <a:srgbClr val="AA2E26"/>
                </a:solidFill>
                <a:latin typeface="Hiragino Sans"/>
              </a:rPr>
              <a:t>ONLINE CONSULTATION</a:t>
            </a:r>
          </a:p>
        </p:txBody>
      </p:sp>
      <p:sp>
        <p:nvSpPr>
          <p:cNvPr id="6" name="Rectangle 5"/>
          <p:cNvSpPr/>
          <p:nvPr/>
        </p:nvSpPr>
        <p:spPr>
          <a:xfrm>
            <a:off x="566928" y="713232"/>
            <a:ext cx="1554480" cy="38100"/>
          </a:xfrm>
          <a:prstGeom prst="rect">
            <a:avLst/>
          </a:prstGeom>
          <a:solidFill>
            <a:srgbClr val="AA2E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822960"/>
            <a:ext cx="1106424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200" b="1">
                <a:solidFill>
                  <a:srgbClr val="1A1A1A"/>
                </a:solidFill>
                <a:latin typeface="Hiragino Sans"/>
              </a:rPr>
              <a:t>オンライン診療（初診から）の進め方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66928" y="1316736"/>
            <a:ext cx="110642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50" b="0">
                <a:solidFill>
                  <a:srgbClr val="6E6E6E"/>
                </a:solidFill>
                <a:latin typeface="Hiragino Sans"/>
              </a:rPr>
              <a:t>先生が一番やりたいこと。今のカルテを変えずに、追加で始められます</a:t>
            </a:r>
          </a:p>
        </p:txBody>
      </p:sp>
      <p:sp>
        <p:nvSpPr>
          <p:cNvPr id="9" name="Rectangle 8"/>
          <p:cNvSpPr/>
          <p:nvPr/>
        </p:nvSpPr>
        <p:spPr>
          <a:xfrm>
            <a:off x="548640" y="1783080"/>
            <a:ext cx="5486400" cy="4206240"/>
          </a:xfrm>
          <a:prstGeom prst="rect">
            <a:avLst/>
          </a:prstGeom>
          <a:solidFill>
            <a:srgbClr val="F1ECE1"/>
          </a:solidFill>
          <a:ln w="12700">
            <a:solidFill>
              <a:srgbClr val="E1DAC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548640" y="1783080"/>
            <a:ext cx="5486400" cy="54864"/>
          </a:xfrm>
          <a:prstGeom prst="rect">
            <a:avLst/>
          </a:prstGeom>
          <a:solidFill>
            <a:srgbClr val="AA2E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31520" y="1901952"/>
            <a:ext cx="5120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>
                <a:solidFill>
                  <a:srgbClr val="AA2E26"/>
                </a:solidFill>
                <a:latin typeface="Hiragino Sans"/>
              </a:rPr>
              <a:t>進め方（低リスク）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31520" y="2286000"/>
            <a:ext cx="384048" cy="384048"/>
          </a:xfrm>
          <a:prstGeom prst="rect">
            <a:avLst/>
          </a:prstGeom>
          <a:solidFill>
            <a:srgbClr val="AA2E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31520" y="2286000"/>
            <a:ext cx="384048" cy="3840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Hiragino Sans"/>
              </a:rPr>
              <a:t>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280160" y="2267712"/>
            <a:ext cx="4572000" cy="6400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200" b="0">
                <a:solidFill>
                  <a:srgbClr val="1A1A1A"/>
                </a:solidFill>
                <a:latin typeface="Hiragino Sans"/>
              </a:rPr>
              <a:t>今の電子カルテ（Medicom）はそのまま継続</a:t>
            </a:r>
          </a:p>
        </p:txBody>
      </p:sp>
      <p:sp>
        <p:nvSpPr>
          <p:cNvPr id="15" name="Rectangle 14"/>
          <p:cNvSpPr/>
          <p:nvPr/>
        </p:nvSpPr>
        <p:spPr>
          <a:xfrm>
            <a:off x="731520" y="2999232"/>
            <a:ext cx="384048" cy="384048"/>
          </a:xfrm>
          <a:prstGeom prst="rect">
            <a:avLst/>
          </a:prstGeom>
          <a:solidFill>
            <a:srgbClr val="AA2E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31520" y="2999232"/>
            <a:ext cx="384048" cy="3840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Hiragino Sans"/>
              </a:rPr>
              <a:t>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280160" y="2980944"/>
            <a:ext cx="4572000" cy="6400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200" b="0">
                <a:solidFill>
                  <a:srgbClr val="1A1A1A"/>
                </a:solidFill>
                <a:latin typeface="Hiragino Sans"/>
              </a:rPr>
              <a:t>オンライン診療を追加で導入（予約→問診→ビデオ→決済）</a:t>
            </a:r>
          </a:p>
        </p:txBody>
      </p:sp>
      <p:sp>
        <p:nvSpPr>
          <p:cNvPr id="18" name="Rectangle 17"/>
          <p:cNvSpPr/>
          <p:nvPr/>
        </p:nvSpPr>
        <p:spPr>
          <a:xfrm>
            <a:off x="731520" y="3712464"/>
            <a:ext cx="384048" cy="384048"/>
          </a:xfrm>
          <a:prstGeom prst="rect">
            <a:avLst/>
          </a:prstGeom>
          <a:solidFill>
            <a:srgbClr val="AA2E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31520" y="3712464"/>
            <a:ext cx="384048" cy="3840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Hiragino Sans"/>
              </a:rPr>
              <a:t>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280160" y="3694176"/>
            <a:ext cx="4572000" cy="6400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200" b="0">
                <a:solidFill>
                  <a:srgbClr val="1A1A1A"/>
                </a:solidFill>
                <a:latin typeface="Hiragino Sans"/>
              </a:rPr>
              <a:t>iPadで運用。現場の操作はこちらで設定・伴走</a:t>
            </a:r>
          </a:p>
        </p:txBody>
      </p:sp>
      <p:sp>
        <p:nvSpPr>
          <p:cNvPr id="21" name="Rectangle 20"/>
          <p:cNvSpPr/>
          <p:nvPr/>
        </p:nvSpPr>
        <p:spPr>
          <a:xfrm>
            <a:off x="731520" y="4425696"/>
            <a:ext cx="384048" cy="384048"/>
          </a:xfrm>
          <a:prstGeom prst="rect">
            <a:avLst/>
          </a:prstGeom>
          <a:solidFill>
            <a:srgbClr val="AA2E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31520" y="4425696"/>
            <a:ext cx="384048" cy="3840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Hiragino Sans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280160" y="4407408"/>
            <a:ext cx="4572000" cy="6400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200" b="0">
                <a:solidFill>
                  <a:srgbClr val="1A1A1A"/>
                </a:solidFill>
                <a:latin typeface="Hiragino Sans"/>
              </a:rPr>
              <a:t>IT導入補助金（今期7/21締切）に間に合えば、コストを圧縮</a:t>
            </a:r>
          </a:p>
        </p:txBody>
      </p:sp>
      <p:sp>
        <p:nvSpPr>
          <p:cNvPr id="24" name="Rectangle 23"/>
          <p:cNvSpPr/>
          <p:nvPr/>
        </p:nvSpPr>
        <p:spPr>
          <a:xfrm>
            <a:off x="6263640" y="1783080"/>
            <a:ext cx="5349240" cy="4206240"/>
          </a:xfrm>
          <a:prstGeom prst="rect">
            <a:avLst/>
          </a:prstGeom>
          <a:solidFill>
            <a:srgbClr val="FFFFFF"/>
          </a:solidFill>
          <a:ln w="12700">
            <a:solidFill>
              <a:srgbClr val="E1DAC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6263640" y="1783080"/>
            <a:ext cx="5349240" cy="54864"/>
          </a:xfrm>
          <a:prstGeom prst="rect">
            <a:avLst/>
          </a:prstGeom>
          <a:solidFill>
            <a:srgbClr val="AA2E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446520" y="1901952"/>
            <a:ext cx="5029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>
                <a:solidFill>
                  <a:srgbClr val="AA2E26"/>
                </a:solidFill>
                <a:latin typeface="Hiragino Sans"/>
              </a:rPr>
              <a:t>「初診から」やるための前提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464808" y="2286000"/>
            <a:ext cx="5029200" cy="3566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200" b="0">
                <a:solidFill>
                  <a:srgbClr val="1A1A1A"/>
                </a:solidFill>
                <a:latin typeface="Hiragino Sans"/>
              </a:rPr>
              <a:t>・2026年4月施行の改訂指針に沿って運用します。</a:t>
            </a:r>
          </a:p>
          <a:p>
            <a:pPr algn="l">
              <a:lnSpc>
                <a:spcPct val="125000"/>
              </a:lnSpc>
            </a:pPr>
            <a:r>
              <a:rPr sz="1200" b="0">
                <a:solidFill>
                  <a:srgbClr val="1A1A1A"/>
                </a:solidFill>
                <a:latin typeface="Hiragino Sans"/>
              </a:rPr>
              <a:t/>
            </a:r>
          </a:p>
          <a:p>
            <a:pPr algn="l">
              <a:lnSpc>
                <a:spcPct val="125000"/>
              </a:lnSpc>
            </a:pPr>
            <a:r>
              <a:rPr sz="1200" b="0">
                <a:solidFill>
                  <a:srgbClr val="1A1A1A"/>
                </a:solidFill>
                <a:latin typeface="Hiragino Sans"/>
              </a:rPr>
              <a:t>・初診のオンライン診療も、既往歴・服薬・アレルギー等を把握でき、医師が可能と判断した場合に実施できます。</a:t>
            </a:r>
          </a:p>
          <a:p>
            <a:pPr algn="l">
              <a:lnSpc>
                <a:spcPct val="125000"/>
              </a:lnSpc>
            </a:pPr>
            <a:r>
              <a:rPr sz="1200" b="0">
                <a:solidFill>
                  <a:srgbClr val="1A1A1A"/>
                </a:solidFill>
                <a:latin typeface="Hiragino Sans"/>
              </a:rPr>
              <a:t/>
            </a:r>
          </a:p>
          <a:p>
            <a:pPr algn="l">
              <a:lnSpc>
                <a:spcPct val="125000"/>
              </a:lnSpc>
            </a:pPr>
            <a:r>
              <a:rPr sz="1200" b="0">
                <a:solidFill>
                  <a:srgbClr val="1A1A1A"/>
                </a:solidFill>
                <a:latin typeface="Hiragino Sans"/>
              </a:rPr>
              <a:t>・初診は原則、顔写真付きの本人確認（マイナンバーカード・運転免許等）を行います。</a:t>
            </a:r>
          </a:p>
          <a:p>
            <a:pPr algn="l">
              <a:lnSpc>
                <a:spcPct val="125000"/>
              </a:lnSpc>
            </a:pPr>
            <a:r>
              <a:rPr sz="1200" b="0">
                <a:solidFill>
                  <a:srgbClr val="1A1A1A"/>
                </a:solidFill>
                <a:latin typeface="Hiragino Sans"/>
              </a:rPr>
              <a:t/>
            </a:r>
          </a:p>
          <a:p>
            <a:pPr algn="l">
              <a:lnSpc>
                <a:spcPct val="125000"/>
              </a:lnSpc>
            </a:pPr>
            <a:r>
              <a:rPr sz="1200" b="0">
                <a:solidFill>
                  <a:srgbClr val="1A1A1A"/>
                </a:solidFill>
                <a:latin typeface="Hiragino Sans"/>
              </a:rPr>
              <a:t>・対面とオンラインを適切に組み合わせる前提で、御院の方針に合わせて設計します。</a:t>
            </a:r>
          </a:p>
          <a:p>
            <a:pPr algn="l">
              <a:lnSpc>
                <a:spcPct val="125000"/>
              </a:lnSpc>
            </a:pPr>
            <a:r>
              <a:rPr sz="1200" b="0">
                <a:solidFill>
                  <a:srgbClr val="1A1A1A"/>
                </a:solidFill>
                <a:latin typeface="Hiragino Sans"/>
              </a:rPr>
              <a:t/>
            </a:r>
          </a:p>
          <a:p>
            <a:pPr algn="l">
              <a:lnSpc>
                <a:spcPct val="125000"/>
              </a:lnSpc>
            </a:pPr>
            <a:r>
              <a:rPr sz="1200" b="0">
                <a:solidFill>
                  <a:srgbClr val="1A1A1A"/>
                </a:solidFill>
                <a:latin typeface="Hiragino Sans"/>
              </a:rPr>
              <a:t>※最新の施行版指針に沿って、運用ルールを書面で取り決めます。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6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6400800"/>
            <a:ext cx="11274552" cy="15240"/>
          </a:xfrm>
          <a:prstGeom prst="rect">
            <a:avLst/>
          </a:prstGeom>
          <a:solidFill>
            <a:srgbClr val="DAD6C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6473952"/>
            <a:ext cx="914400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6E6E6E"/>
                </a:solidFill>
                <a:latin typeface="Hiragino Sans"/>
              </a:rPr>
              <a:t>テナントアシスト・ウイン株式会社 ｜ 菊池 研太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0" y="6473952"/>
            <a:ext cx="73152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900" b="0">
                <a:solidFill>
                  <a:srgbClr val="6E6E6E"/>
                </a:solidFill>
                <a:latin typeface="Hiragino Sans"/>
              </a:rPr>
              <a:t>5 / 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365760"/>
            <a:ext cx="109728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>
                <a:solidFill>
                  <a:srgbClr val="AA2E26"/>
                </a:solidFill>
                <a:latin typeface="Hiragino Sans"/>
              </a:rPr>
              <a:t>NEXT STEP</a:t>
            </a:r>
          </a:p>
        </p:txBody>
      </p:sp>
      <p:sp>
        <p:nvSpPr>
          <p:cNvPr id="6" name="Rectangle 5"/>
          <p:cNvSpPr/>
          <p:nvPr/>
        </p:nvSpPr>
        <p:spPr>
          <a:xfrm>
            <a:off x="566928" y="713232"/>
            <a:ext cx="1554480" cy="38100"/>
          </a:xfrm>
          <a:prstGeom prst="rect">
            <a:avLst/>
          </a:prstGeom>
          <a:solidFill>
            <a:srgbClr val="AA2E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822960"/>
            <a:ext cx="1106424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200" b="1">
                <a:solidFill>
                  <a:srgbClr val="1A1A1A"/>
                </a:solidFill>
                <a:latin typeface="Hiragino Sans"/>
              </a:rPr>
              <a:t>進め方 ── 効果を確認してから、導入へ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66928" y="1316736"/>
            <a:ext cx="110642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50" b="0">
                <a:solidFill>
                  <a:srgbClr val="6E6E6E"/>
                </a:solidFill>
                <a:latin typeface="Hiragino Sans"/>
              </a:rPr>
              <a:t>費用が発生するのは、効果が数字で確認できた後だけです</a:t>
            </a:r>
          </a:p>
        </p:txBody>
      </p:sp>
      <p:sp>
        <p:nvSpPr>
          <p:cNvPr id="9" name="Rectangle 8"/>
          <p:cNvSpPr/>
          <p:nvPr/>
        </p:nvSpPr>
        <p:spPr>
          <a:xfrm>
            <a:off x="502920" y="1828800"/>
            <a:ext cx="3611880" cy="2651760"/>
          </a:xfrm>
          <a:prstGeom prst="rect">
            <a:avLst/>
          </a:prstGeom>
          <a:solidFill>
            <a:srgbClr val="F1ECE1"/>
          </a:solidFill>
          <a:ln w="12700">
            <a:solidFill>
              <a:srgbClr val="E1DAC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502920" y="1828800"/>
            <a:ext cx="3611880" cy="640080"/>
          </a:xfrm>
          <a:prstGeom prst="rect">
            <a:avLst/>
          </a:prstGeom>
          <a:solidFill>
            <a:srgbClr val="AA2E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02920" y="1938528"/>
            <a:ext cx="361188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700" b="1">
                <a:solidFill>
                  <a:srgbClr val="FFFFFF"/>
                </a:solidFill>
                <a:latin typeface="Hiragino Sans"/>
              </a:rPr>
              <a:t>STEP 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85800" y="2651760"/>
            <a:ext cx="324612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500" b="1">
                <a:solidFill>
                  <a:srgbClr val="1A1A1A"/>
                </a:solidFill>
                <a:latin typeface="Hiragino Sans"/>
              </a:rPr>
              <a:t>無料の業務診断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31520" y="3291840"/>
            <a:ext cx="3154680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20000"/>
              </a:lnSpc>
            </a:pPr>
            <a:r>
              <a:rPr sz="1150" b="0">
                <a:solidFill>
                  <a:srgbClr val="6E6E6E"/>
                </a:solidFill>
                <a:latin typeface="Hiragino Sans"/>
              </a:rPr>
              <a:t>本報告書＋現場の業務を拝見し、削減ポイントを特定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334256" y="1828800"/>
            <a:ext cx="3611880" cy="2651760"/>
          </a:xfrm>
          <a:prstGeom prst="rect">
            <a:avLst/>
          </a:prstGeom>
          <a:solidFill>
            <a:srgbClr val="F1ECE1"/>
          </a:solidFill>
          <a:ln w="12700">
            <a:solidFill>
              <a:srgbClr val="E1DAC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4334256" y="1828800"/>
            <a:ext cx="3611880" cy="640080"/>
          </a:xfrm>
          <a:prstGeom prst="rect">
            <a:avLst/>
          </a:prstGeom>
          <a:solidFill>
            <a:srgbClr val="AA2E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334256" y="1938528"/>
            <a:ext cx="361188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700" b="1">
                <a:solidFill>
                  <a:srgbClr val="FFFFFF"/>
                </a:solidFill>
                <a:latin typeface="Hiragino Sans"/>
              </a:rPr>
              <a:t>STEP 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17136" y="2651760"/>
            <a:ext cx="324612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500" b="1">
                <a:solidFill>
                  <a:srgbClr val="1A1A1A"/>
                </a:solidFill>
                <a:latin typeface="Hiragino Sans"/>
              </a:rPr>
              <a:t>段階導入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562856" y="3291840"/>
            <a:ext cx="3154680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20000"/>
              </a:lnSpc>
            </a:pPr>
            <a:r>
              <a:rPr sz="1150" b="0">
                <a:solidFill>
                  <a:srgbClr val="6E6E6E"/>
                </a:solidFill>
                <a:latin typeface="Hiragino Sans"/>
              </a:rPr>
              <a:t>オンライン診療・入力時短など、効果の大きい所から少しずつ</a:t>
            </a:r>
          </a:p>
        </p:txBody>
      </p:sp>
      <p:sp>
        <p:nvSpPr>
          <p:cNvPr id="19" name="Rectangle 18"/>
          <p:cNvSpPr/>
          <p:nvPr/>
        </p:nvSpPr>
        <p:spPr>
          <a:xfrm>
            <a:off x="8165592" y="1828800"/>
            <a:ext cx="3611880" cy="2651760"/>
          </a:xfrm>
          <a:prstGeom prst="rect">
            <a:avLst/>
          </a:prstGeom>
          <a:solidFill>
            <a:srgbClr val="F1ECE1"/>
          </a:solidFill>
          <a:ln w="12700">
            <a:solidFill>
              <a:srgbClr val="E1DAC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8165592" y="1828800"/>
            <a:ext cx="3611880" cy="640080"/>
          </a:xfrm>
          <a:prstGeom prst="rect">
            <a:avLst/>
          </a:prstGeom>
          <a:solidFill>
            <a:srgbClr val="AA2E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165592" y="1938528"/>
            <a:ext cx="361188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700" b="1">
                <a:solidFill>
                  <a:srgbClr val="FFFFFF"/>
                </a:solidFill>
                <a:latin typeface="Hiragino Sans"/>
              </a:rPr>
              <a:t>STEP 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348472" y="2651760"/>
            <a:ext cx="324612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500" b="1">
                <a:solidFill>
                  <a:srgbClr val="1A1A1A"/>
                </a:solidFill>
                <a:latin typeface="Hiragino Sans"/>
              </a:rPr>
              <a:t>効果測定・精算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394192" y="3291840"/>
            <a:ext cx="3154680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20000"/>
              </a:lnSpc>
            </a:pPr>
            <a:r>
              <a:rPr sz="1150" b="0">
                <a:solidFill>
                  <a:srgbClr val="6E6E6E"/>
                </a:solidFill>
                <a:latin typeface="Hiragino Sans"/>
              </a:rPr>
              <a:t>測定は当方が実施。確認できた削減分の40%のみご精算</a:t>
            </a:r>
          </a:p>
        </p:txBody>
      </p:sp>
      <p:sp>
        <p:nvSpPr>
          <p:cNvPr id="24" name="Rectangle 23"/>
          <p:cNvSpPr/>
          <p:nvPr/>
        </p:nvSpPr>
        <p:spPr>
          <a:xfrm>
            <a:off x="502920" y="4709160"/>
            <a:ext cx="11183112" cy="868680"/>
          </a:xfrm>
          <a:prstGeom prst="rect">
            <a:avLst/>
          </a:prstGeom>
          <a:solidFill>
            <a:srgbClr val="F4E4E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502920" y="4709160"/>
            <a:ext cx="91440" cy="868680"/>
          </a:xfrm>
          <a:prstGeom prst="rect">
            <a:avLst/>
          </a:prstGeom>
          <a:solidFill>
            <a:srgbClr val="AA2E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777240" y="4800600"/>
            <a:ext cx="106070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1">
                <a:solidFill>
                  <a:srgbClr val="8C241D"/>
                </a:solidFill>
                <a:latin typeface="Hiragino Sans"/>
              </a:rPr>
              <a:t>御院の持ち出しはゼロから。効果が出た分だけ、私たちはいただきます。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77240" y="5202936"/>
            <a:ext cx="1060704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50" b="1">
                <a:solidFill>
                  <a:srgbClr val="1A1A1A"/>
                </a:solidFill>
                <a:latin typeface="Hiragino Sans"/>
              </a:rPr>
              <a:t>✓ 成果報酬は最初の6ヶ月だけ（以降は月5万の保守のみ）　✓ IT導入補助金サポート　✓ 3ヶ月伴走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
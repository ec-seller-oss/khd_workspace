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0800" cy="5943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京橋クリニック 御中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5448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A1A1A"/>
                </a:solidFill>
                <a:latin typeface="Hiragino Sans"/>
              </a:rPr>
              <a:t>全体設計：システム × 動線</a:t>
            </a:r>
          </a:p>
          <a:p>
            <a:pPr algn="l">
              <a:lnSpc>
                <a:spcPct val="112000"/>
              </a:lnSpc>
            </a:pPr>
            <a:r>
              <a:rPr sz="2600" b="1">
                <a:solidFill>
                  <a:srgbClr val="1A1A1A"/>
                </a:solidFill>
                <a:latin typeface="Hiragino Sans"/>
              </a:rPr>
              <a:t>体系比較（人の動きまで）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747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E6E6E"/>
                </a:solidFill>
                <a:latin typeface="Hiragino Sans"/>
              </a:rPr>
              <a:t>どのシステムが何を担い、患者さん・スタッフの動きが、現状からどう変わるか。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1051560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206240"/>
            <a:ext cx="91440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8C241D"/>
                </a:solidFill>
                <a:latin typeface="Hiragino Sans"/>
              </a:rPr>
              <a:t>システムの体系（誰が何を担う）→ 動線の比較（人の動き）。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8C241D"/>
                </a:solidFill>
                <a:latin typeface="Hiragino Sans"/>
              </a:rPr>
              <a:t>初診／睡眠時無呼吸(CPAP)／再診の3つの動きを、現状とLINE後で並べます。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全体設計：システム×動線 体系比較（人の動きまで）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システムの体系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どのシステムが、何を担うか（5つの層）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役割を層で分ける。重ねるが、置き換えない。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1183112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09728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1828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集患層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783080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HP・MEO（Googleマップ）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83080"/>
            <a:ext cx="54864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見つけてもらう（検索・地図・口コミ）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97480"/>
            <a:ext cx="11183112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109728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97480"/>
            <a:ext cx="1828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接点層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697480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公式LINE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697480"/>
            <a:ext cx="54864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問診・予約・お知らせ・リマインド・追客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11880"/>
            <a:ext cx="11183112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11880"/>
            <a:ext cx="109728" cy="841248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11880"/>
            <a:ext cx="1828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E6E6E"/>
                </a:solidFill>
                <a:latin typeface="Hiragino Sans"/>
              </a:rPr>
              <a:t>受付層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611880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i-CALL（アイコール）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611880"/>
            <a:ext cx="54864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当日の順番受付・電話受付・混雑表示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26280"/>
            <a:ext cx="11183112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526280"/>
            <a:ext cx="109728" cy="841248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1828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E6E6E"/>
                </a:solidFill>
                <a:latin typeface="Hiragino Sans"/>
              </a:rPr>
              <a:t>記録層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526280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電子カルテ Medicom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526280"/>
            <a:ext cx="54864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診療の記録・レセプト（将来：問診を取込）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440680"/>
            <a:ext cx="11183112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440680"/>
            <a:ext cx="109728" cy="841248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40680"/>
            <a:ext cx="18288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E6E6E"/>
                </a:solidFill>
                <a:latin typeface="Hiragino Sans"/>
              </a:rPr>
              <a:t>管理層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5440680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CPAP機器・遠隔モニタリング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440680"/>
            <a:ext cx="54864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CPAPの使用データを確認（機器側）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8C241D"/>
                </a:solidFill>
                <a:latin typeface="Hiragino Sans"/>
              </a:rPr>
              <a:t>赤＝今回うちが足す/磨く層（集患・接点）。グレー＝既存のまま（受付・記録・機器）。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全体設計：システム×動線 体系比較（人の動きまで）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システム比較（機能ごと）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機能 × いま × LINE導入後 × 担い手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どの機能を、どのシステムが担うか。重複と空白をなくす。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3108960"/>
                <a:gridCol w="3566160"/>
                <a:gridCol w="231343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機能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いま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LINE導入後</a:t>
                      </a:r>
                    </a:p>
                  </a:txBody>
                  <a:tcPr anchor="ctr" marL="73152" marR="45720" marT="18288" marB="18288"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担い手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集患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口コミ・看板頼み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HP/MEOで検索・地図流入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HP・MEO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問い合わせ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電話に集中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LINE FAQ自動＋難問のみ電話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公式LINE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問診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紙→カルテ転記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来院前にWeb問診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LINE→電カル(将来)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予約・順番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電話・i-CALL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i-CALL(順番)＋LINE(健診/予約)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i-CALL／LINE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お知らせ・リマインド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掲示・口頭(読まれない)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LINEで自動配信(届く)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公式LINE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再診・CPAP管理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人力(記憶・架電)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タグ＋次回予約・自動リマインド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公式LINE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記録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紙＋Medicomで二度入力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Web問診をMedicomへ(将来)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電カル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全体設計：システム×動線 体系比較（人の動きまで）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動線① 初診の患者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人の動き：現状 → LINE後（患=患者／事=受付）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同じ来院でも、誰がどこで動くかが変わる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4572000"/>
                <a:gridCol w="4599432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段階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現状（人の動き）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LINE後（人の動き）</a:t>
                      </a:r>
                    </a:p>
                  </a:txBody>
                  <a:tcPr anchor="ctr" marL="73152" marR="45720" marT="18288" marB="18288">
                    <a:solidFill>
                      <a:srgbClr val="0F6E5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見つける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患:口コミ/たまたま→電話で確認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患:検索/地図でHP→LINE友だち追加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問い合わせ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患:電話　事:1件ずつ口頭対応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患:LINEで自己解決　事:難問だけ対応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来院前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（何もなし）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患:スマホでWeb問診を記入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受付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患:紙問診を記入　事:カルテへ転記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患:記入済で受付　事:転記ほぼゼロ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診察〜会計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事:本人確認の紙コピー等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事:情報が揃い、聞き直しが減る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257800"/>
            <a:ext cx="11183112" cy="64008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257800"/>
            <a:ext cx="91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25780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変わる人の動き：患者は「電話・紙」→「スマホで完結」。受付は「転記・聞き取り」が消える。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全体設計：システム×動線 体系比較（人の動きまで）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動線② 睡眠時無呼吸（CPAP）の患者 ★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ここが京橋の最大の詰まり：CPAP定期に来ない→月末残業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標準のSASパスを参考（斉藤内科の詳細は非公開）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4572000"/>
                <a:gridCol w="4599432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段階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現状（人の動き）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LINE後（人の動き）</a:t>
                      </a:r>
                    </a:p>
                  </a:txBody>
                  <a:tcPr anchor="ctr" marL="73152" marR="45720" marT="18288" marB="18288">
                    <a:solidFill>
                      <a:srgbClr val="0F6E5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気づき・受診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患:いびき/眠気で来院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患:同じ＋LINEでESS事前記入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スクリーニング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事:紙のESSを記入・採点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患:ESSを事前回答→自動採点で候補に印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簡易検査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事:口頭で案内・日程調整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患:LINEで日程案内・リマインド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CPAP導入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医:導入・説明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医:同じ（人が行う）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定期フォロー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患:次回を忘れ来ない　事:月末に架電・残業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患:次回予約をLINEで取得→自動リマインド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257800"/>
            <a:ext cx="11183112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257800"/>
            <a:ext cx="91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25780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効きどころ：CPAP定期の「来ない→架電→月末残業」を、次回予約LINE＋自動リマインドで断つ。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全体設計：システム×動線 体系比較（人の動きまで）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動線③ 再診・離脱しかけの患者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人の動き：現状 → LINE後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事務の架電を、仕組みで肩代わり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4572000"/>
                <a:gridCol w="4599432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段階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現状（人の動き）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LINE後（人の動き）</a:t>
                      </a:r>
                    </a:p>
                  </a:txBody>
                  <a:tcPr anchor="ctr" marL="73152" marR="45720" marT="18288" marB="18288">
                    <a:solidFill>
                      <a:srgbClr val="0F6E5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受診後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事:次回を口頭で（取りこぼし）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患:次回予約をLINEで取得・記録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通院の谷間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（接点なし）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患:リマインドが届く（お知らせ止まり）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離脱しかけ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事:最近来ない人へ一人ずつ架電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事:LINEで次回予約導線→自動で促す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不在・出張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事:つながらず何度も架電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患:都合よい時にLINEで予約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先生フォロー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医:多くの人に電話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医:本当に必要な人だけに集中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257800"/>
            <a:ext cx="11183112" cy="64008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257800"/>
            <a:ext cx="91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25780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変わる人の動き：事務の「一人ずつ架電」が減り、不在でも患者が自分で予約できる。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全体設計：システム×動線 体系比較（人の動きまで）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人の動きの差分 ── 誰の・どの動作が、どう変わるか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減る動作（事務）と、増える接点（患者）を一望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297680"/>
                <a:gridCol w="4782312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誰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減る動作（負担）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増える/良くなる動き</a:t>
                      </a:r>
                    </a:p>
                  </a:txBody>
                  <a:tcPr anchor="ctr" marL="73152" marR="45720" marT="18288" marB="18288">
                    <a:solidFill>
                      <a:srgbClr val="0F6E5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患者さん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電話・紙の記入・順番の問い合わせ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スマホで問診・予約・お知らせ受信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受付・事務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転記・聞き取り・架電・月末残業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本当に要る対応に集中できる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看護師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紙ESSの採点・二度手間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事前データで準備が早い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先生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多数への架電・情報の聞き直し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必要な人だけ・情報が揃った状態で診療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経営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流入が見えない・取りこぼし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6E56"/>
                          </a:solidFill>
                          <a:latin typeface="Hiragino Sans"/>
                        </a:rPr>
                        <a:t>流入が数値化・再診が継続（売上の土台）</a:t>
                      </a:r>
                    </a:p>
                  </a:txBody>
                  <a:tcPr anchor="ctr" marL="73152" marR="45720" marT="18288" marB="18288"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440680"/>
            <a:ext cx="11183112" cy="868680"/>
          </a:xfrm>
          <a:prstGeom prst="rect">
            <a:avLst/>
          </a:prstGeom>
          <a:solidFill>
            <a:srgbClr val="E1F5EE"/>
          </a:solidFill>
          <a:ln w="1524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440680"/>
            <a:ext cx="91440" cy="86868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440680"/>
            <a:ext cx="10789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6E56"/>
                </a:solidFill>
                <a:latin typeface="Hiragino Sans"/>
              </a:rPr>
              <a:t>要点：システムは「足すだけ・置き換えない」。人の動きは「事務の手間が減り、患者の接点が増える」。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
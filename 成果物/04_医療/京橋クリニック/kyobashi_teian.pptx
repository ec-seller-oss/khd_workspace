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Sans"/>
              </a:rPr>
              <a:t>京橋クリニック 御中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9659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A1A1A"/>
                </a:solidFill>
                <a:latin typeface="Hiragino Sans"/>
              </a:rPr>
              <a:t>公式LINE 導入のご提案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AA2E26"/>
                </a:solidFill>
                <a:latin typeface="Hiragino Sans"/>
              </a:rPr>
              <a:t>患者さん・スタッフの皆さま・先生、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01568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AA2E26"/>
                </a:solidFill>
                <a:latin typeface="Hiragino Sans"/>
              </a:rPr>
              <a:t>みんなが少し楽になります。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20624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E6E6E"/>
                </a:solidFill>
                <a:latin typeface="Hiragino Sans"/>
              </a:rPr>
              <a:t>スタッフの皆さまのアンケート（事務・看護師の声）をもとに、御院に合わせて準備しました。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6E6E6E"/>
                </a:solidFill>
                <a:latin typeface="Hiragino Sans"/>
              </a:rPr>
              <a:t>面倒な一次対応を公式LINEが引き受け、皆さんが患者さんに向き合える時間を増やすご提案です。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852160"/>
            <a:ext cx="10515600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Hiragino Sans"/>
              </a:rPr>
              <a:t>ご提案：KHD（AI医療コンサル）　｜　まずは小さく、いつでも見直せます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公式LINE 導入のご提案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いま起きていること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アンケートから見えた、現場の4つの負担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スタッフの皆さまの声をそのまま起点にしています（＝御院の実態に合わせています）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5486400" cy="18288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109728" cy="18288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2996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Hiragino Sans"/>
              </a:rPr>
              <a:t>鳴り止まない電話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69748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6E6E"/>
                </a:solidFill>
                <a:latin typeface="Hiragino Sans"/>
              </a:rPr>
              <a:t>「番号取ったのに」等の問い合わせ対応で、つい手が止まる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5486400" cy="18288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109728" cy="18288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02996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Hiragino Sans"/>
              </a:rPr>
              <a:t>受付の聞き取り・転記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269748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6E6E"/>
                </a:solidFill>
                <a:latin typeface="Hiragino Sans"/>
              </a:rPr>
              <a:t>紙に書いて電子カルテに写す——同じことを二度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77640"/>
            <a:ext cx="5486400" cy="18288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977640"/>
            <a:ext cx="109728" cy="18288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7880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Hiragino Sans"/>
              </a:rPr>
              <a:t>待ち時間の問い合わせ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484632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6E6E"/>
                </a:solidFill>
                <a:latin typeface="Hiragino Sans"/>
              </a:rPr>
              <a:t>順番・待ち時間を何度も聞かれ、説明しても伝わりにくい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977640"/>
            <a:ext cx="5486400" cy="18288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977640"/>
            <a:ext cx="109728" cy="18288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17880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Hiragino Sans"/>
              </a:rPr>
              <a:t>月末のいそがしさ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484632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6E6E"/>
                </a:solidFill>
                <a:latin typeface="Hiragino Sans"/>
              </a:rPr>
              <a:t>定期受診の取りこぼし→月末にまとめて会計→残業に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C241D"/>
                </a:solidFill>
                <a:latin typeface="Hiragino Sans"/>
              </a:rPr>
              <a:t>→ この「面倒な一次対応」を公式LINEが引き受け、皆さんは患者さんに向き合えます。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公式LINE 導入のご提案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よくある運用との比較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一般的なクリニックの運用と、LINEで改善した院の違い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ひと目で「御院がどう変わるか」が分かるように（ご説明用）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783080"/>
          <a:ext cx="1136599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3108960"/>
                <a:gridCol w="3246120"/>
                <a:gridCol w="3319272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場面</a:t>
                      </a:r>
                    </a:p>
                  </a:txBody>
                  <a:tcPr anchor="ctr" marL="82296" marR="54864" marT="27432" marB="27432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よくある運用（一般的な院）</a:t>
                      </a:r>
                    </a:p>
                  </a:txBody>
                  <a:tcPr anchor="ctr" marL="82296" marR="54864" marT="27432" marB="27432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LINEを活かした院では</a:t>
                      </a:r>
                    </a:p>
                  </a:txBody>
                  <a:tcPr anchor="ctr" marL="82296" marR="54864" marT="27432" marB="27432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京橋クリニックでは</a:t>
                      </a:r>
                    </a:p>
                  </a:txBody>
                  <a:tcPr anchor="ctr" marL="82296" marR="54864" marT="27432" marB="27432">
                    <a:solidFill>
                      <a:srgbClr val="8C241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問い合わせ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ほぼ全部 電話でスタッフが対応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自動応答が一次対応、難しい分だけ電話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6E56"/>
                          </a:solidFill>
                          <a:latin typeface="Hiragino Sans"/>
                        </a:rPr>
                        <a:t>当日受付制に合わせFAQ＋順番通知</a:t>
                      </a:r>
                    </a:p>
                  </a:txBody>
                  <a:tcPr anchor="ctr" marL="82296" marR="54864" marT="27432" marB="27432">
                    <a:solidFill>
                      <a:srgbClr val="E1F5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受付・記入</a:t>
                      </a:r>
                    </a:p>
                  </a:txBody>
                  <a:tcPr anchor="ctr" marL="82296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紙に記入 → 電子カルテへ転記</a:t>
                      </a:r>
                    </a:p>
                  </a:txBody>
                  <a:tcPr anchor="ctr" marL="82296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来院前にスマホでWeb問診</a:t>
                      </a:r>
                    </a:p>
                  </a:txBody>
                  <a:tcPr anchor="ctr" marL="82296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6E56"/>
                          </a:solidFill>
                          <a:latin typeface="Hiragino Sans"/>
                        </a:rPr>
                        <a:t>Web問診で受付の手間を軽く</a:t>
                      </a:r>
                    </a:p>
                  </a:txBody>
                  <a:tcPr anchor="ctr" marL="82296" marR="54864" marT="27432" marB="27432">
                    <a:solidFill>
                      <a:srgbClr val="E1F5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順番・待ち時間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口頭で都度ご説明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順番が近づくとLINEで自動通知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6E56"/>
                          </a:solidFill>
                          <a:latin typeface="Hiragino Sans"/>
                        </a:rPr>
                        <a:t>「あと◯人」をLINEでお知らせ</a:t>
                      </a:r>
                    </a:p>
                  </a:txBody>
                  <a:tcPr anchor="ctr" marL="82296" marR="54864" marT="27432" marB="27432">
                    <a:solidFill>
                      <a:srgbClr val="E1F5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お知らせ</a:t>
                      </a:r>
                    </a:p>
                  </a:txBody>
                  <a:tcPr anchor="ctr" marL="82296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掲示・口頭（読まれにくい）</a:t>
                      </a:r>
                    </a:p>
                  </a:txBody>
                  <a:tcPr anchor="ctr" marL="82296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LINEで届く・読まれる</a:t>
                      </a:r>
                    </a:p>
                  </a:txBody>
                  <a:tcPr anchor="ctr" marL="82296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6E56"/>
                          </a:solidFill>
                          <a:latin typeface="Hiragino Sans"/>
                        </a:rPr>
                        <a:t>定期受診（CPAP等）にリマインド</a:t>
                      </a:r>
                    </a:p>
                  </a:txBody>
                  <a:tcPr anchor="ctr" marL="82296" marR="54864" marT="27432" marB="27432">
                    <a:solidFill>
                      <a:srgbClr val="E1F5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効果の把握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測っていないことが多い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電話・残業の減り方を数字で確認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6E56"/>
                          </a:solidFill>
                          <a:latin typeface="Hiragino Sans"/>
                        </a:rPr>
                        <a:t>導入の前後を一緒に測る</a:t>
                      </a:r>
                    </a:p>
                  </a:txBody>
                  <a:tcPr anchor="ctr" marL="82296" marR="54864" marT="27432" marB="27432">
                    <a:solidFill>
                      <a:srgbClr val="E1F5E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580644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※ 公開されている導入事例でも、電話対応や残業の削減が報告されています（院により差はあります）。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公式LINE 導入のご提案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どう変わるか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公式LINEで、患者さんの流れがこう変わる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来院の流れに沿って、LINEが受付の一次対応を担います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2121408" cy="21031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2121408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18470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AA2E26"/>
                </a:solidFill>
                <a:latin typeface="Hiragino Sans"/>
              </a:rPr>
              <a:t>①問い合わせ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184708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「やってる?」等に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LINEが自動で回答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24328" y="2926080"/>
            <a:ext cx="182880" cy="411480"/>
          </a:xfrm>
          <a:prstGeom prst="rightArrow">
            <a:avLst/>
          </a:prstGeom>
          <a:solidFill>
            <a:srgbClr val="C9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2103120"/>
            <a:ext cx="2121408" cy="21031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8920" y="2103120"/>
            <a:ext cx="2121408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2331720"/>
            <a:ext cx="18470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AA2E26"/>
                </a:solidFill>
                <a:latin typeface="Hiragino Sans"/>
              </a:rPr>
              <a:t>②順番・受付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971800"/>
            <a:ext cx="184708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当日の順番が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近づくとLINE通知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910328" y="2926080"/>
            <a:ext cx="182880" cy="411480"/>
          </a:xfrm>
          <a:prstGeom prst="rightArrow">
            <a:avLst/>
          </a:prstGeom>
          <a:solidFill>
            <a:srgbClr val="C9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74920" y="2103120"/>
            <a:ext cx="2121408" cy="21031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74920" y="2103120"/>
            <a:ext cx="2121408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2331720"/>
            <a:ext cx="18470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AA2E26"/>
                </a:solidFill>
                <a:latin typeface="Hiragino Sans"/>
              </a:rPr>
              <a:t>③来院前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971800"/>
            <a:ext cx="184708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スマホでWeb問診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（待ち時間が短縮）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96328" y="2926080"/>
            <a:ext cx="182880" cy="411480"/>
          </a:xfrm>
          <a:prstGeom prst="rightArrow">
            <a:avLst/>
          </a:prstGeom>
          <a:solidFill>
            <a:srgbClr val="C9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60920" y="2103120"/>
            <a:ext cx="2121408" cy="21031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60920" y="2103120"/>
            <a:ext cx="2121408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0" y="2331720"/>
            <a:ext cx="18470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AA2E26"/>
                </a:solidFill>
                <a:latin typeface="Hiragino Sans"/>
              </a:rPr>
              <a:t>④来院・受付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2971800"/>
            <a:ext cx="184708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受付はスムーズ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転記の手間も軽く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482328" y="2926080"/>
            <a:ext cx="182880" cy="411480"/>
          </a:xfrm>
          <a:prstGeom prst="rightArrow">
            <a:avLst/>
          </a:prstGeom>
          <a:solidFill>
            <a:srgbClr val="C9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46920" y="2103120"/>
            <a:ext cx="2121408" cy="21031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46920" y="2103120"/>
            <a:ext cx="2121408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2331720"/>
            <a:ext cx="18470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AA2E26"/>
                </a:solidFill>
                <a:latin typeface="Hiragino Sans"/>
              </a:rPr>
              <a:t>⑤次回へ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971800"/>
            <a:ext cx="184708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定期受診の方へ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リマインドでご案内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6634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C241D"/>
                </a:solidFill>
                <a:latin typeface="Hiragino Sans"/>
              </a:rPr>
              <a:t>患者さんは電話せずLINEで完結。スタッフは「問い合わせ対応の波」から解放されます。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257800"/>
            <a:ext cx="11183112" cy="64008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5257800"/>
            <a:ext cx="9144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5257800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Hiragino Sans"/>
              </a:rPr>
              <a:t>※ 京橋クリニックは「当日の順番受付制」。健康診断・化学物質過敏症など予約制サービスは専用フォームでお申し込みいただけます。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公式LINE 導入のご提案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皆さまのメリット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スタッフの皆さま と 先生、それぞれに効きます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どちらか一方でなく、クリニック全体が少し楽になります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486400" cy="3246120"/>
          </a:xfrm>
          <a:prstGeom prst="rect">
            <a:avLst/>
          </a:prstGeom>
          <a:solidFill>
            <a:srgbClr val="E1F5EE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86400" cy="54864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4767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6E56"/>
                </a:solidFill>
                <a:latin typeface="Hiragino Sans"/>
              </a:rPr>
              <a:t>医療事務・看護師の皆さま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87168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・鳴り止まない電話 → 自動応答が一次対応してくれます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90672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・聞き取り・転記 → 来院前のWeb問診でぐっと楽に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94176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・待ち時間の問い合わせ → 順番をLINEが自動でお知らせ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9768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・面倒な一次対応が減り、患者さんに向き合う時間が増えます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5486400" cy="32461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178308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94767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C241D"/>
                </a:solidFill>
                <a:latin typeface="Hiragino Sans"/>
              </a:rPr>
              <a:t>先生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487168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・残業が減り、スタッフが長く働きやすい環境に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090672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・患者満足（待ち時間・連絡のスムーズさ）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694176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・書類や連絡のご負担も軽くなります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29768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・効果は「数字」で見える形でご報告します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212080"/>
            <a:ext cx="11183112" cy="713232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212080"/>
            <a:ext cx="91440" cy="71323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212080"/>
            <a:ext cx="107899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8C241D"/>
                </a:solidFill>
                <a:latin typeface="Hiragino Sans"/>
              </a:rPr>
              <a:t>※ LINEは受付の「代わり」ではありません。面倒な一次対応を引き受け、皆さんが患者さんに向き合う時間を増やすための仕組みです。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公式LINE 導入のご提案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実際の画面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御院の公式LINEは、もう実際にこう動いています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下は本物のスクリーンショットです（当日はスマホで実機もお見せします）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783080"/>
            <a:ext cx="2286000" cy="41148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20240" y="1783080"/>
            <a:ext cx="22860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128" y="1874519"/>
            <a:ext cx="1787611" cy="3886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594360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E6E6E"/>
                </a:solidFill>
                <a:latin typeface="Hiragino Sans"/>
              </a:rPr>
              <a:t>メニュー → 順番・健診予約・ごあいさつ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783080"/>
            <a:ext cx="2286000" cy="41148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37760" y="1783080"/>
            <a:ext cx="22860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648" y="1874519"/>
            <a:ext cx="1787611" cy="3886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46320" y="594360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E6E6E"/>
                </a:solidFill>
                <a:latin typeface="Hiragino Sans"/>
              </a:rPr>
              <a:t>診療時間・アクセス・FAQに自動で回答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0" y="1783080"/>
            <a:ext cx="2286000" cy="41148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80" y="1783080"/>
            <a:ext cx="22860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c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168" y="1874519"/>
            <a:ext cx="1787611" cy="3886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863840" y="594360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E6E6E"/>
                </a:solidFill>
                <a:latin typeface="Hiragino Sans"/>
              </a:rPr>
              <a:t>持ち物・Web問診の受付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公式LINE 導入のご提案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効果の測り方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効果は、一緒に「数字」で確かめます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いまの状態を測ってから、導入後と比べます（無理なく測れるものだけ）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828800"/>
          <a:ext cx="11183112" cy="3383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0"/>
                <a:gridCol w="6611112"/>
              </a:tblGrid>
              <a:tr h="5638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見る指標（例）</a:t>
                      </a:r>
                    </a:p>
                  </a:txBody>
                  <a:tcPr anchor="ctr" marL="109728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どう良くなるか</a:t>
                      </a:r>
                    </a:p>
                  </a:txBody>
                  <a:tcPr anchor="ctr" marL="109728" marT="36576" marB="36576">
                    <a:solidFill>
                      <a:srgbClr val="AA2E26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受付の電話本数 / 日</a:t>
                      </a:r>
                    </a:p>
                  </a:txBody>
                  <a:tcPr anchor="ctr" marL="109728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自動応答が一次対応 → 件数が減る</a:t>
                      </a:r>
                    </a:p>
                  </a:txBody>
                  <a:tcPr anchor="ctr" marL="109728" marT="36576" marB="36576">
                    <a:solidFill>
                      <a:srgbClr val="F1ECE1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Web問診の事前記入率</a:t>
                      </a:r>
                    </a:p>
                  </a:txBody>
                  <a:tcPr anchor="ctr" marL="109728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来院前に取得 → 聞き取り・転記が減る</a:t>
                      </a:r>
                    </a:p>
                  </a:txBody>
                  <a:tcPr anchor="ctr" marL="109728" marT="36576" marB="36576">
                    <a:solidFill>
                      <a:srgbClr val="F9F6E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待ち時間・順番の問い合わせ</a:t>
                      </a:r>
                    </a:p>
                  </a:txBody>
                  <a:tcPr anchor="ctr" marL="109728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順番をLINE通知 → 減る</a:t>
                      </a:r>
                    </a:p>
                  </a:txBody>
                  <a:tcPr anchor="ctr" marL="109728" marT="36576" marB="36576">
                    <a:solidFill>
                      <a:srgbClr val="F1ECE1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定期受診の来院率</a:t>
                      </a:r>
                    </a:p>
                  </a:txBody>
                  <a:tcPr anchor="ctr" marL="109728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リマインドで取りこぼし防止 → 上がる</a:t>
                      </a:r>
                    </a:p>
                  </a:txBody>
                  <a:tcPr anchor="ctr" marL="109728" marT="36576" marB="36576">
                    <a:solidFill>
                      <a:srgbClr val="F9F6E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月末の残業</a:t>
                      </a:r>
                    </a:p>
                  </a:txBody>
                  <a:tcPr anchor="ctr" marL="109728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通院の平準化 → 月末の山が減る</a:t>
                      </a:r>
                    </a:p>
                  </a:txBody>
                  <a:tcPr anchor="ctr" marL="109728" marT="36576" marB="36576">
                    <a:solidFill>
                      <a:srgbClr val="F1ECE1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2920" y="5440680"/>
            <a:ext cx="11183112" cy="64008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440680"/>
            <a:ext cx="9144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5440680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8C241D"/>
                </a:solidFill>
                <a:latin typeface="Hiragino Sans"/>
              </a:rPr>
              <a:t>どの指標を見るかは、医療事務の皆さまと相談して決めます。スタッフを評価するためではなく、楽になったかを確かめるためです。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公式LINE 導入のご提案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一緒に良くする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皆さんの目で、もっと良くしてください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現場の皆さんが、患者さんの動きを一番ご存知です。今日は「一緒に作る」時間にしたいです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5486400" cy="16916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109728" cy="16916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57399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C241D"/>
                </a:solidFill>
                <a:latin typeface="Hiragino Sans"/>
              </a:rPr>
              <a:t>他院で「これいいな」は？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651759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E6E6E"/>
                </a:solidFill>
                <a:latin typeface="Hiragino Sans"/>
              </a:rPr>
              <a:t>他のクリニックで見た良い仕組み・工夫があれば、ぜひ教えてください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874519"/>
            <a:ext cx="5486400" cy="16916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74519"/>
            <a:ext cx="109728" cy="16916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057399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C241D"/>
                </a:solidFill>
                <a:latin typeface="Hiragino Sans"/>
              </a:rPr>
              <a:t>この文面・順番、伝わりますか？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2651759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E6E6E"/>
                </a:solidFill>
                <a:latin typeface="Hiragino Sans"/>
              </a:rPr>
              <a:t>患者さんに伝わりにくい所・言い回しは、遠慮なくご指摘ください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40479"/>
            <a:ext cx="5486400" cy="16916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840479"/>
            <a:ext cx="109728" cy="16916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23359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C241D"/>
                </a:solidFill>
                <a:latin typeface="Hiragino Sans"/>
              </a:rPr>
              <a:t>現場の「困りごと」、まだありますか？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4617719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E6E6E"/>
                </a:solidFill>
                <a:latin typeface="Hiragino Sans"/>
              </a:rPr>
              <a:t>ここでしか分からない手間・ヒヤリは、まだ拾いきれていないかも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840479"/>
            <a:ext cx="5486400" cy="16916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840479"/>
            <a:ext cx="109728" cy="16916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023359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C241D"/>
                </a:solidFill>
                <a:latin typeface="Hiragino Sans"/>
              </a:rPr>
              <a:t>うまくいかなそうな所は？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4617719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E6E6E"/>
                </a:solidFill>
                <a:latin typeface="Hiragino Sans"/>
              </a:rPr>
              <a:t>「これは無理そう」というダメ出しこそ、改善のヒントになります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943600"/>
            <a:ext cx="11183112" cy="54864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943600"/>
            <a:ext cx="91440" cy="5486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943600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8C241D"/>
                </a:solidFill>
                <a:latin typeface="Hiragino Sans"/>
              </a:rPr>
              <a:t>今日は「提案を聞く場」でなく、皆さんと「一緒に作る場」。一言いただくほど、患者さんもスタッフも楽になります。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公式LINE 導入のご提案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全体の連動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患者さんの「ひとつのLINE」に、院内の仕組みがつながる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順番・予約・問診・受付が一つの窓口に集約。バラバラを「ひとつ」に。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3063240"/>
            <a:ext cx="3044952" cy="1280160"/>
          </a:xfrm>
          <a:prstGeom prst="rect">
            <a:avLst/>
          </a:prstGeom>
          <a:solidFill>
            <a:srgbClr val="AA2E26"/>
          </a:solidFill>
          <a:ln w="19050">
            <a:solidFill>
              <a:srgbClr val="8C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282696"/>
            <a:ext cx="30449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iragino Sans"/>
              </a:rPr>
              <a:t>京橋クリニック 公式LINE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776472"/>
            <a:ext cx="30449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7DDDA"/>
                </a:solidFill>
                <a:latin typeface="Hiragino Sans"/>
              </a:rPr>
              <a:t>患者さんの「ひとつの窓口」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810512"/>
            <a:ext cx="1947672" cy="777240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810512"/>
            <a:ext cx="194767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6E56"/>
                </a:solidFill>
                <a:latin typeface="Hiragino Sans"/>
              </a:rPr>
              <a:t>患者さん（スマホ）</a:t>
            </a:r>
          </a:p>
        </p:txBody>
      </p:sp>
      <p:sp>
        <p:nvSpPr>
          <p:cNvPr id="13" name="Up-Down Arrow 12"/>
          <p:cNvSpPr/>
          <p:nvPr/>
        </p:nvSpPr>
        <p:spPr>
          <a:xfrm>
            <a:off x="5870448" y="2587752"/>
            <a:ext cx="457200" cy="502920"/>
          </a:xfrm>
          <a:prstGeom prst="upDownArrow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200400"/>
            <a:ext cx="2788920" cy="10058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200400"/>
            <a:ext cx="91440" cy="10058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328416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Hiragino Sans"/>
              </a:rPr>
              <a:t>i-CALL（順番受付）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730752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順番が近づくとLINEで通知</a:t>
            </a:r>
          </a:p>
        </p:txBody>
      </p:sp>
      <p:sp>
        <p:nvSpPr>
          <p:cNvPr id="18" name="Left-Right Arrow 17"/>
          <p:cNvSpPr/>
          <p:nvPr/>
        </p:nvSpPr>
        <p:spPr>
          <a:xfrm>
            <a:off x="3520440" y="3502152"/>
            <a:ext cx="960120" cy="457200"/>
          </a:xfrm>
          <a:prstGeom prst="leftRightArrow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59952" y="3200400"/>
            <a:ext cx="2788920" cy="10058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457432" y="3200400"/>
            <a:ext cx="91440" cy="10058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3328416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Hiragino Sans"/>
              </a:rPr>
              <a:t>電子カルテ Medicom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3730752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問診・予約の情報を連携</a:t>
            </a:r>
          </a:p>
        </p:txBody>
      </p:sp>
      <p:sp>
        <p:nvSpPr>
          <p:cNvPr id="23" name="Left-Right Arrow 22"/>
          <p:cNvSpPr/>
          <p:nvPr/>
        </p:nvSpPr>
        <p:spPr>
          <a:xfrm>
            <a:off x="7708392" y="3502152"/>
            <a:ext cx="960120" cy="457200"/>
          </a:xfrm>
          <a:prstGeom prst="leftRightArrow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46320" y="4864608"/>
            <a:ext cx="2496312" cy="841248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4919472"/>
            <a:ext cx="24963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F6E56"/>
                </a:solidFill>
                <a:latin typeface="Hiragino Sans"/>
              </a:rPr>
              <a:t>Stream Deck（受付操作）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5285232"/>
            <a:ext cx="24963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0F6E56"/>
                </a:solidFill>
                <a:latin typeface="Hiragino Sans"/>
              </a:rPr>
              <a:t>定型対応をワンタッチ</a:t>
            </a:r>
          </a:p>
        </p:txBody>
      </p:sp>
      <p:sp>
        <p:nvSpPr>
          <p:cNvPr id="27" name="Up-Down Arrow 26"/>
          <p:cNvSpPr/>
          <p:nvPr/>
        </p:nvSpPr>
        <p:spPr>
          <a:xfrm>
            <a:off x="5870448" y="4343400"/>
            <a:ext cx="457200" cy="502920"/>
          </a:xfrm>
          <a:prstGeom prst="upDownArrow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989320"/>
            <a:ext cx="11183112" cy="566928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5989320"/>
            <a:ext cx="91440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598932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8C241D"/>
                </a:solidFill>
                <a:latin typeface="Hiragino Sans"/>
              </a:rPr>
              <a:t>中央ビジコム Medicom は i-CALL の連携対応リストに有り＝電カル側の整合がとりやすい。※連携の可否は確認中（将来の連動イメージ）。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Sans"/>
              </a:rPr>
              <a:t>はじめ方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23444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Hiragino Sans"/>
              </a:rPr>
              <a:t>まず1つだけ、無料で試しませんか？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01168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  <a:latin typeface="Hiragino Sans"/>
              </a:rPr>
              <a:t>全部を一度に始めません。効果が出た所から、少しずつ広げます。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34640"/>
            <a:ext cx="3611880" cy="20116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834640"/>
            <a:ext cx="361188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44368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iragino Sans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1188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Hiragino Sans"/>
              </a:rPr>
              <a:t>まず1つ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114800"/>
            <a:ext cx="3154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E6E6E"/>
                </a:solidFill>
                <a:latin typeface="Hiragino Sans"/>
              </a:rPr>
              <a:t>再診リマインド か FAQ自動応答 を無料で開始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54296" y="2834640"/>
            <a:ext cx="3611880" cy="20116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54296" y="2834640"/>
            <a:ext cx="361188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2944368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iragino Sans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361188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Hiragino Sans"/>
              </a:rPr>
              <a:t>一緒に測る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2896" y="4114800"/>
            <a:ext cx="3154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E6E6E"/>
                </a:solidFill>
                <a:latin typeface="Hiragino Sans"/>
              </a:rPr>
              <a:t>導入前→1〜2ヶ月で、楽になったかを数字でご報告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85632" y="2834640"/>
            <a:ext cx="3611880" cy="20116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85632" y="2834640"/>
            <a:ext cx="361188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2944368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iragino Sans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361188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Hiragino Sans"/>
              </a:rPr>
              <a:t>広げる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4232" y="4114800"/>
            <a:ext cx="3154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E6E6E"/>
                </a:solidFill>
                <a:latin typeface="Hiragino Sans"/>
              </a:rPr>
              <a:t>効いた所だけ広げます。合わなければ見直せます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212080"/>
            <a:ext cx="10515600" cy="77724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5212080"/>
            <a:ext cx="91440" cy="7772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21208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C241D"/>
                </a:solidFill>
                <a:latin typeface="Hiragino Sans"/>
              </a:rPr>
              <a:t>御院に合うかどうか、一緒に確かめながら進めます。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
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2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377440"/>
            <a:ext cx="12191695" cy="73152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9F6EF"/>
                </a:solidFill>
                <a:latin typeface="Hiragino Kaku Gothic ProN"/>
              </a:rPr>
              <a:t>KHD 03 / 土地から新築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Hiragino Kaku Gothic ProN"/>
              </a:rPr>
              <a:t>「土地から新築」精査フロー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9F6EF"/>
                </a:solidFill>
                <a:latin typeface="Hiragino Kaku Gothic ProN"/>
              </a:rPr>
              <a:t>マイソク1枚から「何階・何造・何戸・粗利が出るか」を</a:t>
            </a:r>
          </a:p>
          <a:p>
            <a:pPr algn="l"/>
            <a:r>
              <a:rPr sz="2200" b="0">
                <a:solidFill>
                  <a:srgbClr val="F9F6EF"/>
                </a:solidFill>
                <a:latin typeface="Hiragino Kaku Gothic ProN"/>
              </a:rPr>
              <a:t>自分で叩くための再現パイプライン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菊池研太 / 自前スキル化メモ（建築基準法・自治体条例の一般原則に基づく一次スクリーニング）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2A28"/>
                </a:solidFill>
                <a:latin typeface="Hiragino Kaku Gothic ProN"/>
              </a:rPr>
              <a:t>全体像：マイソク → ボリューム → 仕入判断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011680" cy="5486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12140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2121408" cy="6400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1214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Kaku Gothic ProN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A2E26"/>
                </a:solidFill>
                <a:latin typeface="Hiragino Kaku Gothic ProN"/>
              </a:rPr>
              <a:t>敷地を読む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212140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用途/建蔽/容積</a:t>
            </a:r>
          </a:p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防火指定/斜線/日影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" y="2194560"/>
            <a:ext cx="212140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71216" y="2194560"/>
            <a:ext cx="2121408" cy="6400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1216" y="2286000"/>
            <a:ext cx="21214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Kaku Gothic ProN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297180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A2E26"/>
                </a:solidFill>
                <a:latin typeface="Hiragino Kaku Gothic ProN"/>
              </a:rPr>
              <a:t>駐車場を先に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6" y="3566160"/>
            <a:ext cx="212140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建物より先に</a:t>
            </a:r>
          </a:p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台数と配置を決める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2194560"/>
            <a:ext cx="212140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02352" y="2194560"/>
            <a:ext cx="2121408" cy="6400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2286000"/>
            <a:ext cx="21214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Kaku Gothic ProN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297180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A2E26"/>
                </a:solidFill>
                <a:latin typeface="Hiragino Kaku Gothic ProN"/>
              </a:rPr>
              <a:t>建築可能範囲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3566160"/>
            <a:ext cx="212140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斜線・離隔・</a:t>
            </a:r>
          </a:p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敷地内通路で外形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2194560"/>
            <a:ext cx="212140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33488" y="2194560"/>
            <a:ext cx="2121408" cy="6400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2286000"/>
            <a:ext cx="21214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Kaku Gothic ProN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297180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A2E26"/>
                </a:solidFill>
                <a:latin typeface="Hiragino Kaku Gothic ProN"/>
              </a:rPr>
              <a:t>構造3択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3566160"/>
            <a:ext cx="212140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木造200㎡→木三共</a:t>
            </a:r>
          </a:p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→耐火木造→RC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64624" y="2194560"/>
            <a:ext cx="212140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64624" y="2194560"/>
            <a:ext cx="2121408" cy="64008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64624" y="2286000"/>
            <a:ext cx="21214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Kaku Gothic ProN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4624" y="2971800"/>
            <a:ext cx="21214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A2E26"/>
                </a:solidFill>
                <a:latin typeface="Hiragino Kaku Gothic ProN"/>
              </a:rPr>
              <a:t>戸数を絞る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3566160"/>
            <a:ext cx="212140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単純割り算を</a:t>
            </a:r>
          </a:p>
          <a:p>
            <a:pPr algn="ctr"/>
            <a:r>
              <a:rPr sz="1300" b="0">
                <a:solidFill>
                  <a:srgbClr val="6B605C"/>
                </a:solidFill>
                <a:latin typeface="Hiragino Kaku Gothic ProN"/>
              </a:rPr>
              <a:t>信じない（×0.75）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46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▶ この5ステップを毎回同じ順で回す。順番（特に②駐車場先行）を崩さないのが要。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2A28"/>
                </a:solidFill>
                <a:latin typeface="Hiragino Kaku Gothic ProN"/>
              </a:rPr>
              <a:t>▶ 出力＝「3階／木三共 or 耐火木造／約◯戸」の当たり → 加工費・出口価格で粗利試算へ接続。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2A28"/>
                </a:solidFill>
                <a:latin typeface="Hiragino Kaku Gothic ProN"/>
              </a:rPr>
              <a:t>敷地を正確に読む（法定上限を出す）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011680" cy="5486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64592" cy="9144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AA2E26"/>
                </a:solidFill>
                <a:latin typeface="Hiragino Kaku Gothic ProN"/>
              </a:rPr>
              <a:t>実効容積率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103120"/>
            <a:ext cx="7315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指定容積と「道路幅員×係数(住居0.4/商業0.6)×100」の小さい方。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前面道路が狭いと容積を使い切れない。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164592" cy="9144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AA2E26"/>
                </a:solidFill>
                <a:latin typeface="Hiragino Kaku Gothic ProN"/>
              </a:rPr>
              <a:t>延床・建築面積の上限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154680"/>
            <a:ext cx="7315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延床上限＝敷地×実効容積。建築面積上限＝敷地×建蔽。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ここが戸数の天井になる。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164592" cy="9144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AA2E26"/>
                </a:solidFill>
                <a:latin typeface="Hiragino Kaku Gothic ProN"/>
              </a:rPr>
              <a:t>防火指定を必ず確認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206240"/>
            <a:ext cx="7315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「なし」を勝手に建蔽+10%しない。法22条/準防火/防火で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構造・コストが変わる。毎回チェック。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57800"/>
            <a:ext cx="164592" cy="9144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257800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AA2E26"/>
                </a:solidFill>
                <a:latin typeface="Hiragino Kaku Gothic ProN"/>
              </a:rPr>
              <a:t>規制フラグ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257800"/>
            <a:ext cx="7315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北側斜線/高度地区・日影・ワンルーム条例・敷地内通路。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自治体ごとに全く違う＝エリア独自ルールを調べる癖。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STEP 2-3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2A28"/>
                </a:solidFill>
                <a:latin typeface="Hiragino Kaku Gothic ProN"/>
              </a:rPr>
              <a:t>駐車場を先に置く → 斜線・離隔で外形を決める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011680" cy="5486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035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AA2E26"/>
                </a:solidFill>
                <a:latin typeface="Hiragino Kaku Gothic ProN"/>
              </a:rPr>
              <a:t>STEP2 駐車場（建物より先）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8463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・建物から考えると駐車場が収まらない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・まず「車路なし」で何台置けるか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・足りなければ車路を引く判断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・配置パターン（直角／一列）を比較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・台数が出口（賃料・売却）に直結する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  地域では台数を死守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035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AA2E26"/>
                </a:solidFill>
                <a:latin typeface="Hiragino Kaku Gothic ProN"/>
              </a:rPr>
              <a:t>STEP3 建築可能範囲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48463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・道路斜線：幅員×勾配(住居1.25/商業1.5)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・北側斜線/高度地区 → 北側を削る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・日影規制 → 高さ10m超(4階〜)は要注意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  東西に長い敷地ほど不利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・隣地離隔 約0.5〜0.6m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・敷地内通路／窓先空地（自治体条例）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2A28"/>
                </a:solidFill>
                <a:latin typeface="Hiragino Kaku Gothic ProN"/>
              </a:rPr>
              <a:t>構造3択を法規から逆算する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011680" cy="5486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5661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566160" cy="59436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Kaku Gothic ProN"/>
              </a:rPr>
              <a:t>最有利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AA2E26"/>
                </a:solidFill>
                <a:latin typeface="Hiragino Kaku Gothic ProN"/>
              </a:rPr>
              <a:t>木造（200㎡未満）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3566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32A28"/>
                </a:solidFill>
                <a:latin typeface="Hiragino Kaku Gothic ProN"/>
              </a:rPr>
              <a:t>延床200㎡未満×3階以下なら</a:t>
            </a:r>
          </a:p>
          <a:p>
            <a:pPr algn="ctr"/>
            <a:r>
              <a:rPr sz="1400" b="0">
                <a:solidFill>
                  <a:srgbClr val="332A28"/>
                </a:solidFill>
                <a:latin typeface="Hiragino Kaku Gothic ProN"/>
              </a:rPr>
              <a:t>避難・採光の規制が一気に緩む。</a:t>
            </a:r>
          </a:p>
          <a:p>
            <a:pPr algn="ctr"/>
            <a:r>
              <a:rPr sz="1400" b="0">
                <a:solidFill>
                  <a:srgbClr val="332A28"/>
                </a:solidFill>
                <a:latin typeface="Hiragino Kaku Gothic ProN"/>
              </a:rPr>
              <a:t>狭小地の最有利ゾーン。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94560"/>
            <a:ext cx="35661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194560"/>
            <a:ext cx="3566160" cy="59436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94560"/>
            <a:ext cx="3566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Kaku Gothic ProN"/>
              </a:rPr>
              <a:t>コスト軸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1752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AA2E26"/>
                </a:solidFill>
                <a:latin typeface="Hiragino Kaku Gothic ProN"/>
              </a:rPr>
              <a:t>木三共 / 耐火木造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749040"/>
            <a:ext cx="3566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32A28"/>
                </a:solidFill>
                <a:latin typeface="Hiragino Kaku Gothic ProN"/>
              </a:rPr>
              <a:t>木三共=コスト最安級だが延床</a:t>
            </a:r>
          </a:p>
          <a:p>
            <a:pPr algn="ctr"/>
            <a:r>
              <a:rPr sz="1400" b="0">
                <a:solidFill>
                  <a:srgbClr val="332A28"/>
                </a:solidFill>
                <a:latin typeface="Hiragino Kaku Gothic ProN"/>
              </a:rPr>
              <a:t>伸びにくい。伸ばしたい時は</a:t>
            </a:r>
          </a:p>
          <a:p>
            <a:pPr algn="ctr"/>
            <a:r>
              <a:rPr sz="1400" b="0">
                <a:solidFill>
                  <a:srgbClr val="332A28"/>
                </a:solidFill>
                <a:latin typeface="Hiragino Kaku Gothic ProN"/>
              </a:rPr>
              <a:t>耐火木造で共用部を屋内化。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94560"/>
            <a:ext cx="35661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194560"/>
            <a:ext cx="3566160" cy="59436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94560"/>
            <a:ext cx="3566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Kaku Gothic ProN"/>
              </a:rPr>
              <a:t>容積軸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1752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AA2E26"/>
                </a:solidFill>
                <a:latin typeface="Hiragino Kaku Gothic ProN"/>
              </a:rPr>
              <a:t>RC造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749040"/>
            <a:ext cx="3566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32A28"/>
                </a:solidFill>
                <a:latin typeface="Hiragino Kaku Gothic ProN"/>
              </a:rPr>
              <a:t>4階以上・容積を使い切る時。</a:t>
            </a:r>
          </a:p>
          <a:p>
            <a:pPr algn="ctr"/>
            <a:r>
              <a:rPr sz="1400" b="0">
                <a:solidFill>
                  <a:srgbClr val="332A28"/>
                </a:solidFill>
                <a:latin typeface="Hiragino Kaku Gothic ProN"/>
              </a:rPr>
              <a:t>コスト高。日影/斜線をRCで</a:t>
            </a:r>
          </a:p>
          <a:p>
            <a:pPr algn="ctr"/>
            <a:r>
              <a:rPr sz="1400" b="0">
                <a:solidFill>
                  <a:srgbClr val="332A28"/>
                </a:solidFill>
                <a:latin typeface="Hiragino Kaku Gothic ProN"/>
              </a:rPr>
              <a:t>詰める。王道とは限らない。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2A28"/>
                </a:solidFill>
                <a:latin typeface="Hiragino Kaku Gothic ProN"/>
              </a:rPr>
              <a:t>▶ 選ぶ順番：木造200㎡未満 → 木三共 → 耐火木造 → RC。日影・容積・コストから逆算する。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2A28"/>
                </a:solidFill>
                <a:latin typeface="Hiragino Kaku Gothic ProN"/>
              </a:rPr>
              <a:t>戸数を現実に絞る（単純割り算を信じない）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011680" cy="5486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881360" cy="13716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「容積 ÷ 住戸面積 ＝ 戸数」は“上限の幻”。</a:t>
            </a:r>
          </a:p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廊下・階段・EV・バルコニー・避難通路で、現実は約75%に落ちる。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2A28"/>
                </a:solidFill>
                <a:latin typeface="Hiragino Kaku Gothic ProN"/>
              </a:rPr>
              <a:t>例：延床上限288㎡ ÷ 専有25㎡ ＝ 11.5戸（幻）  →  ×0.75 ＝ 現実 約8戸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・業者の「容積いっぱいで◯戸」を鵜呑みにしない。即座に「廊下と避難通路で減る」と返せる。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・重層長屋・法的採光の工夫など、戸数を伸ばす打ち手は別途（建築士と詰める領域）。</a:t>
            </a:r>
          </a:p>
          <a:p>
            <a:pPr algn="l"/>
            <a:r>
              <a:rPr sz="1500" b="0">
                <a:solidFill>
                  <a:srgbClr val="332A28"/>
                </a:solidFill>
                <a:latin typeface="Hiragino Kaku Gothic ProN"/>
              </a:rPr>
              <a:t>・戸数×想定賃料 or 分譲単価 → 売上 → 粗利率20%以上か（KHD仕入基準）で足切り。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2A28"/>
                </a:solidFill>
                <a:latin typeface="Hiragino Kaku Gothic ProN"/>
              </a:rPr>
              <a:t>KHD 仕入KPIゲート（玉川式・辛口基準）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011680" cy="5486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017520" cy="548640"/>
          </a:xfrm>
          <a:prstGeom prst="roundRect">
            <a:avLst/>
          </a:prstGeom>
          <a:solidFill>
            <a:srgbClr val="33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2148840"/>
            <a:ext cx="2194560" cy="548640"/>
          </a:xfrm>
          <a:prstGeom prst="roundRect">
            <a:avLst/>
          </a:prstGeom>
          <a:solidFill>
            <a:srgbClr val="33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2148840"/>
            <a:ext cx="5669280" cy="548640"/>
          </a:xfrm>
          <a:prstGeom prst="roundRect">
            <a:avLst/>
          </a:prstGeom>
          <a:solidFill>
            <a:srgbClr val="33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指標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基準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148840"/>
            <a:ext cx="5669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意味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97480"/>
            <a:ext cx="301752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2697480"/>
            <a:ext cx="219456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0" y="2697480"/>
            <a:ext cx="56692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32A28"/>
                </a:solidFill>
                <a:latin typeface="Hiragino Kaku Gothic ProN"/>
              </a:rPr>
              <a:t>土地値割合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Kaku Gothic ProN"/>
              </a:rPr>
              <a:t>0.4 以上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605C"/>
                </a:solidFill>
                <a:latin typeface="Hiragino Kaku Gothic ProN"/>
              </a:rPr>
              <a:t>路線価×面積 ÷ 仕入価格。担保価値の最低ライン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37560"/>
            <a:ext cx="3017520" cy="640080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0" y="3337560"/>
            <a:ext cx="2194560" cy="640080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52160" y="3337560"/>
            <a:ext cx="5669280" cy="640080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3756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32A28"/>
                </a:solidFill>
                <a:latin typeface="Hiragino Kaku Gothic ProN"/>
              </a:rPr>
              <a:t>粗利率（キャピタル）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33756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Kaku Gothic ProN"/>
              </a:rPr>
              <a:t>20% 以上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337560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605C"/>
                </a:solidFill>
                <a:latin typeface="Hiragino Kaku Gothic ProN"/>
              </a:rPr>
              <a:t>粗利益 ÷ 売上予定額。1人デベの主軸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77640"/>
            <a:ext cx="301752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0" y="3977640"/>
            <a:ext cx="219456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852160" y="3977640"/>
            <a:ext cx="56692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7764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32A28"/>
                </a:solidFill>
                <a:latin typeface="Hiragino Kaku Gothic ProN"/>
              </a:rPr>
              <a:t>CF率（保有時）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97764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Kaku Gothic ProN"/>
              </a:rPr>
              <a:t>1.5〜2.0%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977640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605C"/>
                </a:solidFill>
                <a:latin typeface="Hiragino Kaku Gothic ProN"/>
              </a:rPr>
              <a:t>税引前CF ÷ 購入価格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17720"/>
            <a:ext cx="3017520" cy="640080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57600" y="4617720"/>
            <a:ext cx="2194560" cy="640080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52160" y="4617720"/>
            <a:ext cx="5669280" cy="640080"/>
          </a:xfrm>
          <a:prstGeom prst="roundRect">
            <a:avLst/>
          </a:prstGeom>
          <a:solidFill>
            <a:srgbClr val="F9F6E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61772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32A28"/>
                </a:solidFill>
                <a:latin typeface="Hiragino Kaku Gothic ProN"/>
              </a:rPr>
              <a:t>CCR（保有時）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61772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Kaku Gothic ProN"/>
              </a:rPr>
              <a:t>15〜20%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617720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605C"/>
                </a:solidFill>
                <a:latin typeface="Hiragino Kaku Gothic ProN"/>
              </a:rPr>
              <a:t>税引前CF ÷ 自己資金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257800"/>
            <a:ext cx="301752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57600" y="5257800"/>
            <a:ext cx="219456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52160" y="5257800"/>
            <a:ext cx="56692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6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25780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32A28"/>
                </a:solidFill>
                <a:latin typeface="Hiragino Kaku Gothic ProN"/>
              </a:rPr>
              <a:t>再建築・接道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25780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A2E26"/>
                </a:solidFill>
                <a:latin typeface="Hiragino Kaku Gothic ProN"/>
              </a:rPr>
              <a:t>可 / 要確認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57800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605C"/>
                </a:solidFill>
                <a:latin typeface="Hiragino Kaku Gothic ProN"/>
              </a:rPr>
              <a:t>再建不可は出口が限定。越境・共有も現調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2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371600"/>
            <a:ext cx="12191695" cy="73152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A2E26"/>
                </a:solidFill>
                <a:latin typeface="Hiragino Kaku Gothic ProN"/>
              </a:rPr>
              <a:t>これからの運用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iragino Kaku Gothic ProN"/>
              </a:rPr>
              <a:t>メンバーシップに頼らず、自分の資産で回す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>① 自前ツール  land_screening_pipeline.py</a:t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>    → マイソク数値を入れて5ステップの当たりを即出力（仕入の足切り）</a:t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/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>② 要点ノート（Notion・自分の言葉）</a:t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>    → ボリューム検討マスター／実例メソッド。考え方の引き出し</a:t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/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>③ 正式判断は建築士・自治体窓口</a:t>
            </a:r>
          </a:p>
          <a:p>
            <a:pPr algn="l"/>
            <a:r>
              <a:rPr sz="1700" b="0">
                <a:solidFill>
                  <a:srgbClr val="F9F6EF"/>
                </a:solidFill>
                <a:latin typeface="Hiragino Kaku Gothic ProN"/>
              </a:rPr>
              <a:t>    → ツールは“当たり”まで。詰めは専門家と現調で。ここは外注思考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